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1"/>
  </p:notesMasterIdLst>
  <p:handoutMasterIdLst>
    <p:handoutMasterId r:id="rId152"/>
  </p:handoutMasterIdLst>
  <p:sldIdLst>
    <p:sldId id="257" r:id="rId2"/>
    <p:sldId id="256" r:id="rId3"/>
    <p:sldId id="266" r:id="rId4"/>
    <p:sldId id="268" r:id="rId5"/>
    <p:sldId id="286" r:id="rId6"/>
    <p:sldId id="287" r:id="rId7"/>
    <p:sldId id="288" r:id="rId8"/>
    <p:sldId id="270" r:id="rId9"/>
    <p:sldId id="271" r:id="rId10"/>
    <p:sldId id="272" r:id="rId11"/>
    <p:sldId id="273" r:id="rId12"/>
    <p:sldId id="275" r:id="rId13"/>
    <p:sldId id="276" r:id="rId14"/>
    <p:sldId id="277" r:id="rId15"/>
    <p:sldId id="278" r:id="rId16"/>
    <p:sldId id="279" r:id="rId17"/>
    <p:sldId id="291" r:id="rId18"/>
    <p:sldId id="292" r:id="rId19"/>
    <p:sldId id="293" r:id="rId20"/>
    <p:sldId id="294" r:id="rId21"/>
    <p:sldId id="295" r:id="rId22"/>
    <p:sldId id="298" r:id="rId23"/>
    <p:sldId id="312" r:id="rId24"/>
    <p:sldId id="296" r:id="rId25"/>
    <p:sldId id="297" r:id="rId26"/>
    <p:sldId id="299" r:id="rId27"/>
    <p:sldId id="303" r:id="rId28"/>
    <p:sldId id="314" r:id="rId29"/>
    <p:sldId id="300" r:id="rId30"/>
    <p:sldId id="302" r:id="rId31"/>
    <p:sldId id="304" r:id="rId32"/>
    <p:sldId id="305" r:id="rId33"/>
    <p:sldId id="308" r:id="rId34"/>
    <p:sldId id="309" r:id="rId35"/>
    <p:sldId id="310" r:id="rId36"/>
    <p:sldId id="311" r:id="rId37"/>
    <p:sldId id="307" r:id="rId38"/>
    <p:sldId id="313" r:id="rId39"/>
    <p:sldId id="315" r:id="rId40"/>
    <p:sldId id="316" r:id="rId41"/>
    <p:sldId id="317" r:id="rId42"/>
    <p:sldId id="318" r:id="rId43"/>
    <p:sldId id="335" r:id="rId44"/>
    <p:sldId id="338" r:id="rId45"/>
    <p:sldId id="337" r:id="rId46"/>
    <p:sldId id="336" r:id="rId47"/>
    <p:sldId id="339" r:id="rId48"/>
    <p:sldId id="341" r:id="rId49"/>
    <p:sldId id="342" r:id="rId50"/>
    <p:sldId id="375" r:id="rId51"/>
    <p:sldId id="374" r:id="rId52"/>
    <p:sldId id="345" r:id="rId53"/>
    <p:sldId id="346" r:id="rId54"/>
    <p:sldId id="347" r:id="rId55"/>
    <p:sldId id="348" r:id="rId56"/>
    <p:sldId id="349" r:id="rId57"/>
    <p:sldId id="350" r:id="rId58"/>
    <p:sldId id="351" r:id="rId59"/>
    <p:sldId id="352" r:id="rId60"/>
    <p:sldId id="353" r:id="rId61"/>
    <p:sldId id="354" r:id="rId62"/>
    <p:sldId id="355" r:id="rId63"/>
    <p:sldId id="356" r:id="rId64"/>
    <p:sldId id="357" r:id="rId65"/>
    <p:sldId id="358" r:id="rId66"/>
    <p:sldId id="359" r:id="rId67"/>
    <p:sldId id="361" r:id="rId68"/>
    <p:sldId id="362" r:id="rId69"/>
    <p:sldId id="363" r:id="rId70"/>
    <p:sldId id="376" r:id="rId71"/>
    <p:sldId id="364" r:id="rId72"/>
    <p:sldId id="368" r:id="rId73"/>
    <p:sldId id="369" r:id="rId74"/>
    <p:sldId id="372" r:id="rId75"/>
    <p:sldId id="373" r:id="rId76"/>
    <p:sldId id="403" r:id="rId77"/>
    <p:sldId id="405" r:id="rId78"/>
    <p:sldId id="404" r:id="rId79"/>
    <p:sldId id="407" r:id="rId80"/>
    <p:sldId id="408" r:id="rId81"/>
    <p:sldId id="412" r:id="rId82"/>
    <p:sldId id="414" r:id="rId83"/>
    <p:sldId id="413" r:id="rId84"/>
    <p:sldId id="415" r:id="rId85"/>
    <p:sldId id="416" r:id="rId86"/>
    <p:sldId id="417" r:id="rId87"/>
    <p:sldId id="419" r:id="rId88"/>
    <p:sldId id="420" r:id="rId89"/>
    <p:sldId id="421" r:id="rId90"/>
    <p:sldId id="422" r:id="rId91"/>
    <p:sldId id="434" r:id="rId92"/>
    <p:sldId id="423" r:id="rId93"/>
    <p:sldId id="427" r:id="rId94"/>
    <p:sldId id="425" r:id="rId95"/>
    <p:sldId id="426" r:id="rId96"/>
    <p:sldId id="435" r:id="rId97"/>
    <p:sldId id="436" r:id="rId98"/>
    <p:sldId id="437" r:id="rId99"/>
    <p:sldId id="439" r:id="rId100"/>
    <p:sldId id="440" r:id="rId101"/>
    <p:sldId id="441" r:id="rId102"/>
    <p:sldId id="442" r:id="rId103"/>
    <p:sldId id="443" r:id="rId104"/>
    <p:sldId id="444" r:id="rId105"/>
    <p:sldId id="445" r:id="rId106"/>
    <p:sldId id="447" r:id="rId107"/>
    <p:sldId id="449" r:id="rId108"/>
    <p:sldId id="453" r:id="rId109"/>
    <p:sldId id="466" r:id="rId110"/>
    <p:sldId id="468" r:id="rId111"/>
    <p:sldId id="467" r:id="rId112"/>
    <p:sldId id="469" r:id="rId113"/>
    <p:sldId id="470" r:id="rId114"/>
    <p:sldId id="472" r:id="rId115"/>
    <p:sldId id="471" r:id="rId116"/>
    <p:sldId id="473" r:id="rId117"/>
    <p:sldId id="474" r:id="rId118"/>
    <p:sldId id="481" r:id="rId119"/>
    <p:sldId id="478" r:id="rId120"/>
    <p:sldId id="480" r:id="rId121"/>
    <p:sldId id="533" r:id="rId122"/>
    <p:sldId id="482" r:id="rId123"/>
    <p:sldId id="484" r:id="rId124"/>
    <p:sldId id="487" r:id="rId125"/>
    <p:sldId id="488" r:id="rId126"/>
    <p:sldId id="502" r:id="rId127"/>
    <p:sldId id="511" r:id="rId128"/>
    <p:sldId id="510" r:id="rId129"/>
    <p:sldId id="509" r:id="rId130"/>
    <p:sldId id="508" r:id="rId131"/>
    <p:sldId id="507" r:id="rId132"/>
    <p:sldId id="506" r:id="rId133"/>
    <p:sldId id="512" r:id="rId134"/>
    <p:sldId id="516" r:id="rId135"/>
    <p:sldId id="515" r:id="rId136"/>
    <p:sldId id="514" r:id="rId137"/>
    <p:sldId id="513" r:id="rId138"/>
    <p:sldId id="517" r:id="rId139"/>
    <p:sldId id="518" r:id="rId140"/>
    <p:sldId id="520" r:id="rId141"/>
    <p:sldId id="524" r:id="rId142"/>
    <p:sldId id="519" r:id="rId143"/>
    <p:sldId id="526" r:id="rId144"/>
    <p:sldId id="530" r:id="rId145"/>
    <p:sldId id="531" r:id="rId146"/>
    <p:sldId id="532" r:id="rId147"/>
    <p:sldId id="527" r:id="rId148"/>
    <p:sldId id="529" r:id="rId149"/>
    <p:sldId id="258" r:id="rId15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6C8A"/>
    <a:srgbClr val="FF564F"/>
    <a:srgbClr val="595959"/>
    <a:srgbClr val="358EF2"/>
    <a:srgbClr val="202020"/>
    <a:srgbClr val="FFD700"/>
    <a:srgbClr val="FFC000"/>
    <a:srgbClr val="FFC9C9"/>
    <a:srgbClr val="B2B2B2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43" autoAdjust="0"/>
    <p:restoredTop sz="79575" autoAdjust="0"/>
  </p:normalViewPr>
  <p:slideViewPr>
    <p:cSldViewPr snapToGrid="0" showGuides="1">
      <p:cViewPr varScale="1">
        <p:scale>
          <a:sx n="90" d="100"/>
          <a:sy n="90" d="100"/>
        </p:scale>
        <p:origin x="828" y="90"/>
      </p:cViewPr>
      <p:guideLst>
        <p:guide orient="horz" pos="2160"/>
        <p:guide pos="3838"/>
      </p:guideLst>
    </p:cSldViewPr>
  </p:slideViewPr>
  <p:outlineViewPr>
    <p:cViewPr>
      <p:scale>
        <a:sx n="33" d="100"/>
        <a:sy n="33" d="100"/>
      </p:scale>
      <p:origin x="0" y="-6924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notesMaster" Target="notesMasters/notesMaster1.xml"/><Relationship Id="rId15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Martins" userId="f8f09c98-71f0-450b-b670-36841d96801a" providerId="ADAL" clId="{07907399-BF75-C144-9A62-FD816DAED566}"/>
    <pc:docChg chg="custSel addSld delSld modSld">
      <pc:chgData name="Samuel Martins" userId="f8f09c98-71f0-450b-b670-36841d96801a" providerId="ADAL" clId="{07907399-BF75-C144-9A62-FD816DAED566}" dt="2021-11-19T15:08:44.583" v="112" actId="2696"/>
      <pc:docMkLst>
        <pc:docMk/>
      </pc:docMkLst>
      <pc:sldChg chg="modSp">
        <pc:chgData name="Samuel Martins" userId="f8f09c98-71f0-450b-b670-36841d96801a" providerId="ADAL" clId="{07907399-BF75-C144-9A62-FD816DAED566}" dt="2021-11-19T15:01:41.683" v="1" actId="6549"/>
        <pc:sldMkLst>
          <pc:docMk/>
          <pc:sldMk cId="0" sldId="345"/>
        </pc:sldMkLst>
        <pc:spChg chg="mod">
          <ac:chgData name="Samuel Martins" userId="f8f09c98-71f0-450b-b670-36841d96801a" providerId="ADAL" clId="{07907399-BF75-C144-9A62-FD816DAED566}" dt="2021-11-19T15:01:41.683" v="1" actId="6549"/>
          <ac:spMkLst>
            <pc:docMk/>
            <pc:sldMk cId="0" sldId="345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1:45.779" v="3" actId="6549"/>
        <pc:sldMkLst>
          <pc:docMk/>
          <pc:sldMk cId="0" sldId="346"/>
        </pc:sldMkLst>
        <pc:spChg chg="mod">
          <ac:chgData name="Samuel Martins" userId="f8f09c98-71f0-450b-b670-36841d96801a" providerId="ADAL" clId="{07907399-BF75-C144-9A62-FD816DAED566}" dt="2021-11-19T15:01:45.779" v="3" actId="6549"/>
          <ac:spMkLst>
            <pc:docMk/>
            <pc:sldMk cId="0" sldId="346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1:49.658" v="5" actId="6549"/>
        <pc:sldMkLst>
          <pc:docMk/>
          <pc:sldMk cId="0" sldId="347"/>
        </pc:sldMkLst>
        <pc:spChg chg="mod">
          <ac:chgData name="Samuel Martins" userId="f8f09c98-71f0-450b-b670-36841d96801a" providerId="ADAL" clId="{07907399-BF75-C144-9A62-FD816DAED566}" dt="2021-11-19T15:01:49.658" v="5" actId="6549"/>
          <ac:spMkLst>
            <pc:docMk/>
            <pc:sldMk cId="0" sldId="347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1:54.290" v="7" actId="6549"/>
        <pc:sldMkLst>
          <pc:docMk/>
          <pc:sldMk cId="0" sldId="348"/>
        </pc:sldMkLst>
        <pc:spChg chg="mod">
          <ac:chgData name="Samuel Martins" userId="f8f09c98-71f0-450b-b670-36841d96801a" providerId="ADAL" clId="{07907399-BF75-C144-9A62-FD816DAED566}" dt="2021-11-19T15:01:54.290" v="7" actId="6549"/>
          <ac:spMkLst>
            <pc:docMk/>
            <pc:sldMk cId="0" sldId="348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1:58.877" v="8"/>
        <pc:sldMkLst>
          <pc:docMk/>
          <pc:sldMk cId="0" sldId="349"/>
        </pc:sldMkLst>
        <pc:spChg chg="mod">
          <ac:chgData name="Samuel Martins" userId="f8f09c98-71f0-450b-b670-36841d96801a" providerId="ADAL" clId="{07907399-BF75-C144-9A62-FD816DAED566}" dt="2021-11-19T15:01:58.877" v="8"/>
          <ac:spMkLst>
            <pc:docMk/>
            <pc:sldMk cId="0" sldId="349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01.236" v="9"/>
        <pc:sldMkLst>
          <pc:docMk/>
          <pc:sldMk cId="0" sldId="350"/>
        </pc:sldMkLst>
        <pc:spChg chg="mod">
          <ac:chgData name="Samuel Martins" userId="f8f09c98-71f0-450b-b670-36841d96801a" providerId="ADAL" clId="{07907399-BF75-C144-9A62-FD816DAED566}" dt="2021-11-19T15:02:01.236" v="9"/>
          <ac:spMkLst>
            <pc:docMk/>
            <pc:sldMk cId="0" sldId="350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04.221" v="10"/>
        <pc:sldMkLst>
          <pc:docMk/>
          <pc:sldMk cId="0" sldId="351"/>
        </pc:sldMkLst>
        <pc:spChg chg="mod">
          <ac:chgData name="Samuel Martins" userId="f8f09c98-71f0-450b-b670-36841d96801a" providerId="ADAL" clId="{07907399-BF75-C144-9A62-FD816DAED566}" dt="2021-11-19T15:02:04.221" v="10"/>
          <ac:spMkLst>
            <pc:docMk/>
            <pc:sldMk cId="0" sldId="351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06.291" v="11"/>
        <pc:sldMkLst>
          <pc:docMk/>
          <pc:sldMk cId="0" sldId="352"/>
        </pc:sldMkLst>
        <pc:spChg chg="mod">
          <ac:chgData name="Samuel Martins" userId="f8f09c98-71f0-450b-b670-36841d96801a" providerId="ADAL" clId="{07907399-BF75-C144-9A62-FD816DAED566}" dt="2021-11-19T15:02:06.291" v="11"/>
          <ac:spMkLst>
            <pc:docMk/>
            <pc:sldMk cId="0" sldId="352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08.540" v="12"/>
        <pc:sldMkLst>
          <pc:docMk/>
          <pc:sldMk cId="0" sldId="353"/>
        </pc:sldMkLst>
        <pc:spChg chg="mod">
          <ac:chgData name="Samuel Martins" userId="f8f09c98-71f0-450b-b670-36841d96801a" providerId="ADAL" clId="{07907399-BF75-C144-9A62-FD816DAED566}" dt="2021-11-19T15:02:08.540" v="12"/>
          <ac:spMkLst>
            <pc:docMk/>
            <pc:sldMk cId="0" sldId="353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10.650" v="13"/>
        <pc:sldMkLst>
          <pc:docMk/>
          <pc:sldMk cId="0" sldId="354"/>
        </pc:sldMkLst>
        <pc:spChg chg="mod">
          <ac:chgData name="Samuel Martins" userId="f8f09c98-71f0-450b-b670-36841d96801a" providerId="ADAL" clId="{07907399-BF75-C144-9A62-FD816DAED566}" dt="2021-11-19T15:02:10.650" v="13"/>
          <ac:spMkLst>
            <pc:docMk/>
            <pc:sldMk cId="0" sldId="354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13.605" v="14"/>
        <pc:sldMkLst>
          <pc:docMk/>
          <pc:sldMk cId="0" sldId="355"/>
        </pc:sldMkLst>
        <pc:spChg chg="mod">
          <ac:chgData name="Samuel Martins" userId="f8f09c98-71f0-450b-b670-36841d96801a" providerId="ADAL" clId="{07907399-BF75-C144-9A62-FD816DAED566}" dt="2021-11-19T15:02:13.605" v="14"/>
          <ac:spMkLst>
            <pc:docMk/>
            <pc:sldMk cId="0" sldId="355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15.594" v="15"/>
        <pc:sldMkLst>
          <pc:docMk/>
          <pc:sldMk cId="0" sldId="356"/>
        </pc:sldMkLst>
        <pc:spChg chg="mod">
          <ac:chgData name="Samuel Martins" userId="f8f09c98-71f0-450b-b670-36841d96801a" providerId="ADAL" clId="{07907399-BF75-C144-9A62-FD816DAED566}" dt="2021-11-19T15:02:15.594" v="15"/>
          <ac:spMkLst>
            <pc:docMk/>
            <pc:sldMk cId="0" sldId="356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17.586" v="16"/>
        <pc:sldMkLst>
          <pc:docMk/>
          <pc:sldMk cId="0" sldId="357"/>
        </pc:sldMkLst>
        <pc:spChg chg="mod">
          <ac:chgData name="Samuel Martins" userId="f8f09c98-71f0-450b-b670-36841d96801a" providerId="ADAL" clId="{07907399-BF75-C144-9A62-FD816DAED566}" dt="2021-11-19T15:02:17.586" v="16"/>
          <ac:spMkLst>
            <pc:docMk/>
            <pc:sldMk cId="0" sldId="357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20.946" v="17"/>
        <pc:sldMkLst>
          <pc:docMk/>
          <pc:sldMk cId="0" sldId="358"/>
        </pc:sldMkLst>
        <pc:spChg chg="mod">
          <ac:chgData name="Samuel Martins" userId="f8f09c98-71f0-450b-b670-36841d96801a" providerId="ADAL" clId="{07907399-BF75-C144-9A62-FD816DAED566}" dt="2021-11-19T15:02:20.946" v="17"/>
          <ac:spMkLst>
            <pc:docMk/>
            <pc:sldMk cId="0" sldId="358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23.938" v="18"/>
        <pc:sldMkLst>
          <pc:docMk/>
          <pc:sldMk cId="0" sldId="359"/>
        </pc:sldMkLst>
        <pc:spChg chg="mod">
          <ac:chgData name="Samuel Martins" userId="f8f09c98-71f0-450b-b670-36841d96801a" providerId="ADAL" clId="{07907399-BF75-C144-9A62-FD816DAED566}" dt="2021-11-19T15:02:23.938" v="18"/>
          <ac:spMkLst>
            <pc:docMk/>
            <pc:sldMk cId="0" sldId="359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26.169" v="19"/>
        <pc:sldMkLst>
          <pc:docMk/>
          <pc:sldMk cId="0" sldId="361"/>
        </pc:sldMkLst>
        <pc:spChg chg="mod">
          <ac:chgData name="Samuel Martins" userId="f8f09c98-71f0-450b-b670-36841d96801a" providerId="ADAL" clId="{07907399-BF75-C144-9A62-FD816DAED566}" dt="2021-11-19T15:02:26.169" v="19"/>
          <ac:spMkLst>
            <pc:docMk/>
            <pc:sldMk cId="0" sldId="361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28.877" v="20"/>
        <pc:sldMkLst>
          <pc:docMk/>
          <pc:sldMk cId="0" sldId="362"/>
        </pc:sldMkLst>
        <pc:spChg chg="mod">
          <ac:chgData name="Samuel Martins" userId="f8f09c98-71f0-450b-b670-36841d96801a" providerId="ADAL" clId="{07907399-BF75-C144-9A62-FD816DAED566}" dt="2021-11-19T15:02:28.877" v="20"/>
          <ac:spMkLst>
            <pc:docMk/>
            <pc:sldMk cId="0" sldId="362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30.653" v="21"/>
        <pc:sldMkLst>
          <pc:docMk/>
          <pc:sldMk cId="0" sldId="363"/>
        </pc:sldMkLst>
        <pc:spChg chg="mod">
          <ac:chgData name="Samuel Martins" userId="f8f09c98-71f0-450b-b670-36841d96801a" providerId="ADAL" clId="{07907399-BF75-C144-9A62-FD816DAED566}" dt="2021-11-19T15:02:30.653" v="21"/>
          <ac:spMkLst>
            <pc:docMk/>
            <pc:sldMk cId="0" sldId="363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35.606" v="23"/>
        <pc:sldMkLst>
          <pc:docMk/>
          <pc:sldMk cId="0" sldId="364"/>
        </pc:sldMkLst>
        <pc:spChg chg="mod">
          <ac:chgData name="Samuel Martins" userId="f8f09c98-71f0-450b-b670-36841d96801a" providerId="ADAL" clId="{07907399-BF75-C144-9A62-FD816DAED566}" dt="2021-11-19T15:02:35.606" v="23"/>
          <ac:spMkLst>
            <pc:docMk/>
            <pc:sldMk cId="0" sldId="364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38.020" v="24"/>
        <pc:sldMkLst>
          <pc:docMk/>
          <pc:sldMk cId="0" sldId="368"/>
        </pc:sldMkLst>
        <pc:spChg chg="mod">
          <ac:chgData name="Samuel Martins" userId="f8f09c98-71f0-450b-b670-36841d96801a" providerId="ADAL" clId="{07907399-BF75-C144-9A62-FD816DAED566}" dt="2021-11-19T15:02:38.020" v="24"/>
          <ac:spMkLst>
            <pc:docMk/>
            <pc:sldMk cId="0" sldId="368"/>
            <ac:spMk id="37" creationId="{00000000-0000-0000-0000-000000000000}"/>
          </ac:spMkLst>
        </pc:spChg>
      </pc:sldChg>
      <pc:sldChg chg="modSp">
        <pc:chgData name="Samuel Martins" userId="f8f09c98-71f0-450b-b670-36841d96801a" providerId="ADAL" clId="{07907399-BF75-C144-9A62-FD816DAED566}" dt="2021-11-19T15:02:32.740" v="22"/>
        <pc:sldMkLst>
          <pc:docMk/>
          <pc:sldMk cId="0" sldId="376"/>
        </pc:sldMkLst>
        <pc:spChg chg="mod">
          <ac:chgData name="Samuel Martins" userId="f8f09c98-71f0-450b-b670-36841d96801a" providerId="ADAL" clId="{07907399-BF75-C144-9A62-FD816DAED566}" dt="2021-11-19T15:02:32.740" v="22"/>
          <ac:spMkLst>
            <pc:docMk/>
            <pc:sldMk cId="0" sldId="376"/>
            <ac:spMk id="37" creationId="{00000000-0000-0000-0000-000000000000}"/>
          </ac:spMkLst>
        </pc:spChg>
      </pc:sldChg>
      <pc:sldChg chg="del">
        <pc:chgData name="Samuel Martins" userId="f8f09c98-71f0-450b-b670-36841d96801a" providerId="ADAL" clId="{07907399-BF75-C144-9A62-FD816DAED566}" dt="2021-11-19T15:08:44.583" v="112" actId="2696"/>
        <pc:sldMkLst>
          <pc:docMk/>
          <pc:sldMk cId="0" sldId="483"/>
        </pc:sldMkLst>
      </pc:sldChg>
      <pc:sldChg chg="addSp delSp modSp add">
        <pc:chgData name="Samuel Martins" userId="f8f09c98-71f0-450b-b670-36841d96801a" providerId="ADAL" clId="{07907399-BF75-C144-9A62-FD816DAED566}" dt="2021-11-19T15:08:22.451" v="111" actId="207"/>
        <pc:sldMkLst>
          <pc:docMk/>
          <pc:sldMk cId="867599152" sldId="533"/>
        </pc:sldMkLst>
        <pc:spChg chg="mod">
          <ac:chgData name="Samuel Martins" userId="f8f09c98-71f0-450b-b670-36841d96801a" providerId="ADAL" clId="{07907399-BF75-C144-9A62-FD816DAED566}" dt="2021-11-19T15:06:31.286" v="26" actId="20577"/>
          <ac:spMkLst>
            <pc:docMk/>
            <pc:sldMk cId="867599152" sldId="533"/>
            <ac:spMk id="20" creationId="{00000000-0000-0000-0000-000000000000}"/>
          </ac:spMkLst>
        </pc:spChg>
        <pc:spChg chg="add mod">
          <ac:chgData name="Samuel Martins" userId="f8f09c98-71f0-450b-b670-36841d96801a" providerId="ADAL" clId="{07907399-BF75-C144-9A62-FD816DAED566}" dt="2021-11-19T15:07:56.629" v="76" actId="113"/>
          <ac:spMkLst>
            <pc:docMk/>
            <pc:sldMk cId="867599152" sldId="533"/>
            <ac:spMk id="23" creationId="{015B56AA-C218-4A4D-91AF-8329DB2A3578}"/>
          </ac:spMkLst>
        </pc:spChg>
        <pc:spChg chg="add mod">
          <ac:chgData name="Samuel Martins" userId="f8f09c98-71f0-450b-b670-36841d96801a" providerId="ADAL" clId="{07907399-BF75-C144-9A62-FD816DAED566}" dt="2021-11-19T15:08:22.451" v="111" actId="207"/>
          <ac:spMkLst>
            <pc:docMk/>
            <pc:sldMk cId="867599152" sldId="533"/>
            <ac:spMk id="24" creationId="{9CD174B2-5F45-BF4A-A27E-9C05B76D6CB4}"/>
          </ac:spMkLst>
        </pc:spChg>
        <pc:grpChg chg="del">
          <ac:chgData name="Samuel Martins" userId="f8f09c98-71f0-450b-b670-36841d96801a" providerId="ADAL" clId="{07907399-BF75-C144-9A62-FD816DAED566}" dt="2021-11-19T15:06:33.094" v="27" actId="478"/>
          <ac:grpSpMkLst>
            <pc:docMk/>
            <pc:sldMk cId="867599152" sldId="533"/>
            <ac:grpSpMk id="19" creationId="{00000000-0000-0000-0000-000000000000}"/>
          </ac:grpSpMkLst>
        </pc:grpChg>
        <pc:picChg chg="add mod modCrop">
          <ac:chgData name="Samuel Martins" userId="f8f09c98-71f0-450b-b670-36841d96801a" providerId="ADAL" clId="{07907399-BF75-C144-9A62-FD816DAED566}" dt="2021-11-19T15:07:00.248" v="34" actId="732"/>
          <ac:picMkLst>
            <pc:docMk/>
            <pc:sldMk cId="867599152" sldId="533"/>
            <ac:picMk id="9" creationId="{DC00F2AC-3C4D-1E41-BBDB-B21DBD9A587F}"/>
          </ac:picMkLst>
        </pc:picChg>
        <pc:picChg chg="add mod modCrop">
          <ac:chgData name="Samuel Martins" userId="f8f09c98-71f0-450b-b670-36841d96801a" providerId="ADAL" clId="{07907399-BF75-C144-9A62-FD816DAED566}" dt="2021-11-19T15:07:14.444" v="37" actId="1076"/>
          <ac:picMkLst>
            <pc:docMk/>
            <pc:sldMk cId="867599152" sldId="533"/>
            <ac:picMk id="22" creationId="{FB8617C0-D359-6144-8F83-6C4BFD2F2EBB}"/>
          </ac:picMkLst>
        </pc:picChg>
      </pc:sldChg>
    </pc:docChg>
  </pc:docChgLst>
  <pc:docChgLst>
    <pc:chgData name="Samuel Martins" userId="f8f09c98-71f0-450b-b670-36841d96801a" providerId="ADAL" clId="{90854B24-80A6-C44D-8129-C99CFB873540}"/>
    <pc:docChg chg="custSel modSld">
      <pc:chgData name="Samuel Martins" userId="f8f09c98-71f0-450b-b670-36841d96801a" providerId="ADAL" clId="{90854B24-80A6-C44D-8129-C99CFB873540}" dt="2022-11-09T14:40:22.992" v="6" actId="207"/>
      <pc:docMkLst>
        <pc:docMk/>
      </pc:docMkLst>
      <pc:sldChg chg="delSp">
        <pc:chgData name="Samuel Martins" userId="f8f09c98-71f0-450b-b670-36841d96801a" providerId="ADAL" clId="{90854B24-80A6-C44D-8129-C99CFB873540}" dt="2022-10-20T19:17:57.855" v="0" actId="478"/>
        <pc:sldMkLst>
          <pc:docMk/>
          <pc:sldMk cId="0" sldId="257"/>
        </pc:sldMkLst>
        <pc:spChg chg="del">
          <ac:chgData name="Samuel Martins" userId="f8f09c98-71f0-450b-b670-36841d96801a" providerId="ADAL" clId="{90854B24-80A6-C44D-8129-C99CFB873540}" dt="2022-10-20T19:17:57.855" v="0" actId="478"/>
          <ac:spMkLst>
            <pc:docMk/>
            <pc:sldMk cId="0" sldId="257"/>
            <ac:spMk id="182" creationId="{00000000-0000-0000-0000-000000000000}"/>
          </ac:spMkLst>
        </pc:spChg>
      </pc:sldChg>
      <pc:sldChg chg="delSp">
        <pc:chgData name="Samuel Martins" userId="f8f09c98-71f0-450b-b670-36841d96801a" providerId="ADAL" clId="{90854B24-80A6-C44D-8129-C99CFB873540}" dt="2022-10-20T19:18:03.653" v="1" actId="478"/>
        <pc:sldMkLst>
          <pc:docMk/>
          <pc:sldMk cId="0" sldId="258"/>
        </pc:sldMkLst>
        <pc:spChg chg="del">
          <ac:chgData name="Samuel Martins" userId="f8f09c98-71f0-450b-b670-36841d96801a" providerId="ADAL" clId="{90854B24-80A6-C44D-8129-C99CFB873540}" dt="2022-10-20T19:18:03.653" v="1" actId="478"/>
          <ac:spMkLst>
            <pc:docMk/>
            <pc:sldMk cId="0" sldId="258"/>
            <ac:spMk id="182" creationId="{00000000-0000-0000-0000-000000000000}"/>
          </ac:spMkLst>
        </pc:spChg>
      </pc:sldChg>
      <pc:sldChg chg="addSp modSp">
        <pc:chgData name="Samuel Martins" userId="f8f09c98-71f0-450b-b670-36841d96801a" providerId="ADAL" clId="{90854B24-80A6-C44D-8129-C99CFB873540}" dt="2022-11-09T14:03:37.807" v="4" actId="164"/>
        <pc:sldMkLst>
          <pc:docMk/>
          <pc:sldMk cId="0" sldId="315"/>
        </pc:sldMkLst>
        <pc:spChg chg="mod">
          <ac:chgData name="Samuel Martins" userId="f8f09c98-71f0-450b-b670-36841d96801a" providerId="ADAL" clId="{90854B24-80A6-C44D-8129-C99CFB873540}" dt="2022-11-09T14:03:37.807" v="4" actId="164"/>
          <ac:spMkLst>
            <pc:docMk/>
            <pc:sldMk cId="0" sldId="315"/>
            <ac:spMk id="80" creationId="{00000000-0000-0000-0000-000000000000}"/>
          </ac:spMkLst>
        </pc:spChg>
        <pc:spChg chg="mod">
          <ac:chgData name="Samuel Martins" userId="f8f09c98-71f0-450b-b670-36841d96801a" providerId="ADAL" clId="{90854B24-80A6-C44D-8129-C99CFB873540}" dt="2022-11-09T14:03:37.807" v="4" actId="164"/>
          <ac:spMkLst>
            <pc:docMk/>
            <pc:sldMk cId="0" sldId="315"/>
            <ac:spMk id="85" creationId="{00000000-0000-0000-0000-000000000000}"/>
          </ac:spMkLst>
        </pc:spChg>
        <pc:spChg chg="mod">
          <ac:chgData name="Samuel Martins" userId="f8f09c98-71f0-450b-b670-36841d96801a" providerId="ADAL" clId="{90854B24-80A6-C44D-8129-C99CFB873540}" dt="2022-11-09T14:03:37.807" v="4" actId="164"/>
          <ac:spMkLst>
            <pc:docMk/>
            <pc:sldMk cId="0" sldId="315"/>
            <ac:spMk id="86" creationId="{00000000-0000-0000-0000-000000000000}"/>
          </ac:spMkLst>
        </pc:spChg>
        <pc:grpChg chg="add mod">
          <ac:chgData name="Samuel Martins" userId="f8f09c98-71f0-450b-b670-36841d96801a" providerId="ADAL" clId="{90854B24-80A6-C44D-8129-C99CFB873540}" dt="2022-11-09T14:03:36.029" v="3" actId="164"/>
          <ac:grpSpMkLst>
            <pc:docMk/>
            <pc:sldMk cId="0" sldId="315"/>
            <ac:grpSpMk id="3" creationId="{040EFB45-1E45-CF4D-B4EB-C366C5EE034B}"/>
          </ac:grpSpMkLst>
        </pc:grpChg>
        <pc:grpChg chg="add mod">
          <ac:chgData name="Samuel Martins" userId="f8f09c98-71f0-450b-b670-36841d96801a" providerId="ADAL" clId="{90854B24-80A6-C44D-8129-C99CFB873540}" dt="2022-11-09T14:03:37.807" v="4" actId="164"/>
          <ac:grpSpMkLst>
            <pc:docMk/>
            <pc:sldMk cId="0" sldId="315"/>
            <ac:grpSpMk id="4" creationId="{6C74039C-45A8-2D46-A370-920EF372871D}"/>
          </ac:grpSpMkLst>
        </pc:grpChg>
        <pc:grpChg chg="mod">
          <ac:chgData name="Samuel Martins" userId="f8f09c98-71f0-450b-b670-36841d96801a" providerId="ADAL" clId="{90854B24-80A6-C44D-8129-C99CFB873540}" dt="2022-11-09T14:03:37.807" v="4" actId="164"/>
          <ac:grpSpMkLst>
            <pc:docMk/>
            <pc:sldMk cId="0" sldId="315"/>
            <ac:grpSpMk id="16" creationId="{00000000-0000-0000-0000-000000000000}"/>
          </ac:grpSpMkLst>
        </pc:grpChg>
        <pc:grpChg chg="mod">
          <ac:chgData name="Samuel Martins" userId="f8f09c98-71f0-450b-b670-36841d96801a" providerId="ADAL" clId="{90854B24-80A6-C44D-8129-C99CFB873540}" dt="2022-11-09T14:03:37.807" v="4" actId="164"/>
          <ac:grpSpMkLst>
            <pc:docMk/>
            <pc:sldMk cId="0" sldId="315"/>
            <ac:grpSpMk id="89" creationId="{00000000-0000-0000-0000-000000000000}"/>
          </ac:grpSpMkLst>
        </pc:grpChg>
        <pc:cxnChg chg="mod">
          <ac:chgData name="Samuel Martins" userId="f8f09c98-71f0-450b-b670-36841d96801a" providerId="ADAL" clId="{90854B24-80A6-C44D-8129-C99CFB873540}" dt="2022-11-09T14:03:37.807" v="4" actId="164"/>
          <ac:cxnSpMkLst>
            <pc:docMk/>
            <pc:sldMk cId="0" sldId="315"/>
            <ac:cxnSpMk id="83" creationId="{00000000-0000-0000-0000-000000000000}"/>
          </ac:cxnSpMkLst>
        </pc:cxnChg>
        <pc:cxnChg chg="mod">
          <ac:chgData name="Samuel Martins" userId="f8f09c98-71f0-450b-b670-36841d96801a" providerId="ADAL" clId="{90854B24-80A6-C44D-8129-C99CFB873540}" dt="2022-11-09T14:03:37.807" v="4" actId="164"/>
          <ac:cxnSpMkLst>
            <pc:docMk/>
            <pc:sldMk cId="0" sldId="315"/>
            <ac:cxnSpMk id="84" creationId="{00000000-0000-0000-0000-000000000000}"/>
          </ac:cxnSpMkLst>
        </pc:cxnChg>
      </pc:sldChg>
      <pc:sldChg chg="modSp">
        <pc:chgData name="Samuel Martins" userId="f8f09c98-71f0-450b-b670-36841d96801a" providerId="ADAL" clId="{90854B24-80A6-C44D-8129-C99CFB873540}" dt="2022-11-09T14:28:33.358" v="5" actId="14100"/>
        <pc:sldMkLst>
          <pc:docMk/>
          <pc:sldMk cId="0" sldId="368"/>
        </pc:sldMkLst>
        <pc:spChg chg="mod">
          <ac:chgData name="Samuel Martins" userId="f8f09c98-71f0-450b-b670-36841d96801a" providerId="ADAL" clId="{90854B24-80A6-C44D-8129-C99CFB873540}" dt="2022-11-09T14:28:33.358" v="5" actId="14100"/>
          <ac:spMkLst>
            <pc:docMk/>
            <pc:sldMk cId="0" sldId="368"/>
            <ac:spMk id="12" creationId="{00000000-0000-0000-0000-000000000000}"/>
          </ac:spMkLst>
        </pc:spChg>
      </pc:sldChg>
      <pc:sldChg chg="modSp">
        <pc:chgData name="Samuel Martins" userId="f8f09c98-71f0-450b-b670-36841d96801a" providerId="ADAL" clId="{90854B24-80A6-C44D-8129-C99CFB873540}" dt="2022-11-09T14:40:22.992" v="6" actId="207"/>
        <pc:sldMkLst>
          <pc:docMk/>
          <pc:sldMk cId="0" sldId="427"/>
        </pc:sldMkLst>
        <pc:spChg chg="mod">
          <ac:chgData name="Samuel Martins" userId="f8f09c98-71f0-450b-b670-36841d96801a" providerId="ADAL" clId="{90854B24-80A6-C44D-8129-C99CFB873540}" dt="2022-11-09T14:40:22.992" v="6" actId="207"/>
          <ac:spMkLst>
            <pc:docMk/>
            <pc:sldMk cId="0" sldId="427"/>
            <ac:spMk id="54" creationId="{00000000-0000-0000-0000-000000000000}"/>
          </ac:spMkLst>
        </pc:spChg>
        <pc:grpChg chg="mod">
          <ac:chgData name="Samuel Martins" userId="f8f09c98-71f0-450b-b670-36841d96801a" providerId="ADAL" clId="{90854B24-80A6-C44D-8129-C99CFB873540}" dt="2022-11-09T14:40:22.992" v="6" actId="207"/>
          <ac:grpSpMkLst>
            <pc:docMk/>
            <pc:sldMk cId="0" sldId="427"/>
            <ac:grpSpMk id="12" creationId="{00000000-0000-0000-0000-000000000000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‹nº›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1" name="Google Shape;171;p1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- O Gini é como medir “o quão provável é pegar duas bolinhas de cores diferentes da urna”.</a:t>
            </a:r>
            <a:br>
              <a:rPr lang="pt-BR" dirty="0"/>
            </a:br>
            <a:r>
              <a:rPr lang="pt-BR" dirty="0"/>
              <a:t>- Se quase todas são da mesma cor, a chance é pequena → nó puro.</a:t>
            </a:r>
            <a:br>
              <a:rPr lang="pt-BR" dirty="0"/>
            </a:br>
            <a:r>
              <a:rPr lang="pt-BR" dirty="0"/>
              <a:t>- Se há várias cores equilibradas, a chance é alta → nó impuro.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997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147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53CDB-704C-C449-BB6D-492BC646F14B}" type="slidenum">
              <a:rPr lang="en-US" smtClean="0"/>
              <a:t>148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1" name="Google Shape;171;p1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‹nº›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‹nº›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‹nº›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‹nº›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‹nº›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‹nº›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‹nº›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2025/10/7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‹nº›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‹nº›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‹nº›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‹nº›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9.png"/><Relationship Id="rId9" Type="http://schemas.openxmlformats.org/officeDocument/2006/relationships/image" Target="../media/image26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8.png"/><Relationship Id="rId7" Type="http://schemas.openxmlformats.org/officeDocument/2006/relationships/image" Target="../media/image46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3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3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4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0"/>
          <p:cNvSpPr txBox="1"/>
          <p:nvPr/>
        </p:nvSpPr>
        <p:spPr>
          <a:xfrm>
            <a:off x="896724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p40"/>
          <p:cNvPicPr preferRelativeResize="0"/>
          <p:nvPr/>
        </p:nvPicPr>
        <p:blipFill rotWithShape="1">
          <a:blip r:embed="rId3"/>
          <a:srcRect l="6560" t="12703" r="7068" b="11590"/>
          <a:stretch>
            <a:fillRect/>
          </a:stretch>
        </p:blipFill>
        <p:spPr>
          <a:xfrm>
            <a:off x="10016640" y="5689440"/>
            <a:ext cx="1803600" cy="78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0"/>
          <p:cNvSpPr/>
          <p:nvPr/>
        </p:nvSpPr>
        <p:spPr>
          <a:xfrm>
            <a:off x="11400480" y="6422400"/>
            <a:ext cx="306720" cy="222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0"/>
          <p:cNvSpPr/>
          <p:nvPr/>
        </p:nvSpPr>
        <p:spPr>
          <a:xfrm>
            <a:off x="556350" y="798120"/>
            <a:ext cx="11079300" cy="1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Inteligência Artificial</a:t>
            </a:r>
            <a:endParaRPr sz="36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sp>
        <p:nvSpPr>
          <p:cNvPr id="178" name="Google Shape;178;p40"/>
          <p:cNvSpPr/>
          <p:nvPr/>
        </p:nvSpPr>
        <p:spPr>
          <a:xfrm>
            <a:off x="556200" y="3118860"/>
            <a:ext cx="11079360" cy="6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 algn="ctr"/>
            <a:r>
              <a:rPr lang="en-US" sz="3600" dirty="0">
                <a:solidFill>
                  <a:srgbClr val="303030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Decision Trees</a:t>
            </a:r>
          </a:p>
        </p:txBody>
      </p:sp>
      <p:sp>
        <p:nvSpPr>
          <p:cNvPr id="179" name="Google Shape;179;p40"/>
          <p:cNvSpPr/>
          <p:nvPr/>
        </p:nvSpPr>
        <p:spPr>
          <a:xfrm>
            <a:off x="3580350" y="5459400"/>
            <a:ext cx="5031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0000" bIns="45700" anchor="t" anchorCtr="0">
            <a:noAutofit/>
          </a:bodyPr>
          <a:lstStyle/>
          <a:p>
            <a:pPr lvl="0" algn="ctr"/>
            <a:r>
              <a:rPr lang="en-US" sz="2400" dirty="0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Prof. Dr. Samuel Martins (</a:t>
            </a:r>
            <a:r>
              <a:rPr lang="en-US" sz="2400" dirty="0" err="1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Samuka</a:t>
            </a:r>
            <a:r>
              <a:rPr lang="en-US" sz="2400" dirty="0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)</a:t>
            </a:r>
            <a:endParaRPr lang="en-US" sz="2400" dirty="0">
              <a:latin typeface="Candara" panose="020E0502030303020204" charset="0"/>
              <a:ea typeface="Mulish"/>
              <a:cs typeface="Candara" panose="020E0502030303020204" charset="0"/>
              <a:sym typeface="Mulish"/>
            </a:endParaRPr>
          </a:p>
          <a:p>
            <a:pPr lvl="0" algn="ctr"/>
            <a:r>
              <a:rPr lang="en-US" sz="1600" i="1" dirty="0" err="1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samuel.martins@ifsp.edu.br</a:t>
            </a:r>
            <a:endParaRPr lang="en-US" sz="1600" dirty="0">
              <a:latin typeface="Candara" panose="020E0502030303020204" charset="0"/>
              <a:ea typeface="Mulish"/>
              <a:cs typeface="Candara" panose="020E0502030303020204" charset="0"/>
              <a:sym typeface="Mulish"/>
            </a:endParaRPr>
          </a:p>
        </p:txBody>
      </p:sp>
      <p:pic>
        <p:nvPicPr>
          <p:cNvPr id="180" name="Google Shape;180;p4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71520" y="6034680"/>
            <a:ext cx="1306080" cy="45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0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424160" y="592560"/>
            <a:ext cx="1053360" cy="10533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/>
          <p:cNvGrpSpPr/>
          <p:nvPr/>
        </p:nvGrpSpPr>
        <p:grpSpPr>
          <a:xfrm rot="21240000">
            <a:off x="12672443" y="5265280"/>
            <a:ext cx="3928745" cy="953135"/>
            <a:chOff x="6928" y="8961"/>
            <a:chExt cx="6187" cy="15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Text Box 7"/>
            <p:cNvSpPr txBox="1"/>
            <p:nvPr/>
          </p:nvSpPr>
          <p:spPr>
            <a:xfrm>
              <a:off x="6928" y="8961"/>
              <a:ext cx="6187" cy="15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marL="457200"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It may be a good idea to treat the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cs typeface="Candara" panose="020E0502030303020204" charset="0"/>
                </a:rPr>
                <a:t>degree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for the polynomial features transform as a </a:t>
              </a:r>
              <a:r>
                <a:rPr lang="en-US" sz="1400" b="1" dirty="0">
                  <a:solidFill>
                    <a:srgbClr val="376C8A"/>
                  </a:solidFill>
                  <a:latin typeface="Candara" panose="020E0502030303020204" charset="0"/>
                  <a:cs typeface="Candara" panose="020E0502030303020204" charset="0"/>
                </a:rPr>
                <a:t>hyperparameter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and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evaluate different values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for your dataset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  <a:sym typeface="Wingdings" panose="05000000000000000000" pitchFamily="2" charset="2"/>
                </a:rPr>
                <a:t> </a:t>
              </a:r>
              <a:r>
                <a:rPr lang="en-US" sz="1400" b="1" dirty="0">
                  <a:solidFill>
                    <a:srgbClr val="376C8A"/>
                  </a:solidFill>
                  <a:latin typeface="Candara" panose="020E0502030303020204" charset="0"/>
                  <a:cs typeface="Candara" panose="020E0502030303020204" charset="0"/>
                  <a:sym typeface="Wingdings" panose="05000000000000000000" pitchFamily="2" charset="2"/>
                </a:rPr>
                <a:t>fine-tuning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  <a:sym typeface="Wingdings" panose="05000000000000000000" pitchFamily="2" charset="2"/>
                </a:rPr>
                <a:t>.</a:t>
              </a:r>
            </a:p>
          </p:txBody>
        </p:sp>
        <p:pic>
          <p:nvPicPr>
            <p:cNvPr id="14" name="Picture 13" descr="pngwing.com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93" y="9405"/>
              <a:ext cx="591" cy="591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/>
        </p:nvGrpSpPr>
        <p:grpSpPr>
          <a:xfrm>
            <a:off x="12498027" y="4275718"/>
            <a:ext cx="3139361" cy="737235"/>
            <a:chOff x="1186156" y="4185249"/>
            <a:chExt cx="3139361" cy="7372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Text Box 7"/>
            <p:cNvSpPr txBox="1"/>
            <p:nvPr/>
          </p:nvSpPr>
          <p:spPr>
            <a:xfrm rot="21435373">
              <a:off x="1186156" y="4185249"/>
              <a:ext cx="3139361" cy="7372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marL="457200"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You may even try to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cs typeface="Candara" panose="020E0502030303020204" charset="0"/>
                </a:rPr>
                <a:t>fit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cs typeface="Candara" panose="020E0502030303020204" charset="0"/>
                </a:rPr>
                <a:t>different lines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but the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prediction error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tends to be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high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.</a:t>
              </a:r>
            </a:p>
          </p:txBody>
        </p:sp>
        <p:pic>
          <p:nvPicPr>
            <p:cNvPr id="17" name="Picture 16" descr="warning-icon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240000">
              <a:off x="1243450" y="4380844"/>
              <a:ext cx="464820" cy="4648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Oval 2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>
            <a:stCxn id="3" idx="4"/>
            <a:endCxn id="7" idx="0"/>
          </p:cNvCxnSpPr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3" idx="4"/>
            <a:endCxn id="31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  <a:endCxn id="34" idx="0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4" idx="4"/>
            <a:endCxn id="38" idx="0"/>
          </p:cNvCxnSpPr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9" idx="0"/>
          </p:cNvCxnSpPr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Oval 2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3" idx="4"/>
            <a:endCxn id="31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  <a:endCxn id="34" idx="0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4" idx="4"/>
            <a:endCxn id="38" idx="0"/>
          </p:cNvCxnSpPr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9" idx="0"/>
          </p:cNvCxnSpPr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24" name="TextBox 123"/>
          <p:cNvSpPr txBox="1"/>
          <p:nvPr/>
        </p:nvSpPr>
        <p:spPr>
          <a:xfrm rot="21300000">
            <a:off x="1241425" y="1272540"/>
            <a:ext cx="2618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</a:rPr>
              <a:t>This is a </a:t>
            </a:r>
            <a:r>
              <a:rPr lang="en-US" sz="2800" b="1" dirty="0">
                <a:solidFill>
                  <a:srgbClr val="FF564F"/>
                </a:solidFill>
                <a:latin typeface="Candara" panose="020E0502030303020204" charset="0"/>
              </a:rPr>
              <a:t>Tree</a:t>
            </a:r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  <a:sym typeface="+mn-ea"/>
              </a:rPr>
              <a:t>...</a:t>
            </a:r>
            <a:endParaRPr lang="en-US" sz="2800" b="1" dirty="0">
              <a:solidFill>
                <a:srgbClr val="696969"/>
              </a:solidFill>
              <a:latin typeface="Candara" panose="020E0502030303020204" charset="0"/>
              <a:sym typeface="+mn-ea"/>
            </a:endParaRPr>
          </a:p>
        </p:txBody>
      </p:sp>
      <p:cxnSp>
        <p:nvCxnSpPr>
          <p:cNvPr id="67" name="Curved Connector 66"/>
          <p:cNvCxnSpPr>
            <a:stCxn id="124" idx="2"/>
          </p:cNvCxnSpPr>
          <p:nvPr/>
        </p:nvCxnSpPr>
        <p:spPr>
          <a:xfrm rot="5400000" flipV="1">
            <a:off x="2647315" y="1719580"/>
            <a:ext cx="1017905" cy="1165225"/>
          </a:xfrm>
          <a:prstGeom prst="curvedConnector2">
            <a:avLst/>
          </a:prstGeom>
          <a:ln w="31750">
            <a:solidFill>
              <a:srgbClr val="595959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Oval 2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3" idx="4"/>
            <a:endCxn id="31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  <a:endCxn id="34" idx="0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4" idx="4"/>
            <a:endCxn id="38" idx="0"/>
          </p:cNvCxnSpPr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9" idx="0"/>
          </p:cNvCxnSpPr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24" name="TextBox 123"/>
          <p:cNvSpPr txBox="1"/>
          <p:nvPr/>
        </p:nvSpPr>
        <p:spPr>
          <a:xfrm rot="21300000">
            <a:off x="596265" y="1276985"/>
            <a:ext cx="3796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</a:rPr>
              <a:t>This is a </a:t>
            </a:r>
            <a:r>
              <a:rPr lang="en-US" sz="2800" b="1" dirty="0">
                <a:solidFill>
                  <a:srgbClr val="FF564F"/>
                </a:solidFill>
                <a:latin typeface="Candara" panose="020E0502030303020204" charset="0"/>
              </a:rPr>
              <a:t>Decision</a:t>
            </a:r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</a:rPr>
              <a:t> </a:t>
            </a:r>
            <a:r>
              <a:rPr lang="en-US" sz="2800" b="1" dirty="0">
                <a:solidFill>
                  <a:srgbClr val="FF564F"/>
                </a:solidFill>
                <a:latin typeface="Candara" panose="020E0502030303020204" charset="0"/>
              </a:rPr>
              <a:t>Tree</a:t>
            </a:r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  <a:sym typeface="+mn-ea"/>
              </a:rPr>
              <a:t>...</a:t>
            </a:r>
            <a:endParaRPr lang="en-US" sz="2800" b="1" dirty="0">
              <a:solidFill>
                <a:srgbClr val="696969"/>
              </a:solidFill>
              <a:latin typeface="Candara" panose="020E0502030303020204" charset="0"/>
              <a:sym typeface="+mn-ea"/>
            </a:endParaRPr>
          </a:p>
        </p:txBody>
      </p:sp>
      <p:cxnSp>
        <p:nvCxnSpPr>
          <p:cNvPr id="67" name="Curved Connector 66"/>
          <p:cNvCxnSpPr>
            <a:stCxn id="124" idx="2"/>
          </p:cNvCxnSpPr>
          <p:nvPr/>
        </p:nvCxnSpPr>
        <p:spPr>
          <a:xfrm rot="5400000" flipV="1">
            <a:off x="2590800" y="1724025"/>
            <a:ext cx="1017905" cy="1165225"/>
          </a:xfrm>
          <a:prstGeom prst="curvedConnector2">
            <a:avLst/>
          </a:prstGeom>
          <a:ln w="31750">
            <a:solidFill>
              <a:srgbClr val="595959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9" name="Text Box 8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4445635" y="3070860"/>
            <a:ext cx="1085215" cy="601980"/>
            <a:chOff x="7057" y="4886"/>
            <a:chExt cx="1709" cy="948"/>
          </a:xfrm>
        </p:grpSpPr>
        <p:sp>
          <p:nvSpPr>
            <p:cNvPr id="10" name="Text Box 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63055" y="3070860"/>
            <a:ext cx="1085215" cy="601980"/>
            <a:chOff x="7057" y="4886"/>
            <a:chExt cx="1709" cy="948"/>
          </a:xfrm>
        </p:grpSpPr>
        <p:sp>
          <p:nvSpPr>
            <p:cNvPr id="35" name="Text Box 34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36" name="Text Box 35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221855" y="4425315"/>
            <a:ext cx="1085215" cy="601980"/>
            <a:chOff x="7057" y="4886"/>
            <a:chExt cx="1709" cy="948"/>
          </a:xfrm>
        </p:grpSpPr>
        <p:sp>
          <p:nvSpPr>
            <p:cNvPr id="40" name="Text Box 3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1" name="Text Box 40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43" name="Text Box 42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4" name="Text Box 43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6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Oval 2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3" idx="4"/>
            <a:endCxn id="31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  <a:endCxn id="34" idx="0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4" idx="4"/>
            <a:endCxn id="38" idx="0"/>
          </p:cNvCxnSpPr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9" idx="0"/>
          </p:cNvCxnSpPr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24" name="TextBox 123"/>
          <p:cNvSpPr txBox="1"/>
          <p:nvPr/>
        </p:nvSpPr>
        <p:spPr>
          <a:xfrm rot="21300000">
            <a:off x="596265" y="1276985"/>
            <a:ext cx="3796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</a:rPr>
              <a:t>This is a </a:t>
            </a:r>
            <a:r>
              <a:rPr lang="en-US" sz="2800" b="1" dirty="0">
                <a:solidFill>
                  <a:srgbClr val="FF564F"/>
                </a:solidFill>
                <a:latin typeface="Candara" panose="020E0502030303020204" charset="0"/>
              </a:rPr>
              <a:t>Decision</a:t>
            </a:r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</a:rPr>
              <a:t> </a:t>
            </a:r>
            <a:r>
              <a:rPr lang="en-US" sz="2800" b="1" dirty="0">
                <a:solidFill>
                  <a:srgbClr val="FF564F"/>
                </a:solidFill>
                <a:latin typeface="Candara" panose="020E0502030303020204" charset="0"/>
              </a:rPr>
              <a:t>Tree</a:t>
            </a:r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  <a:sym typeface="+mn-ea"/>
              </a:rPr>
              <a:t>...</a:t>
            </a:r>
            <a:endParaRPr lang="en-US" sz="2800" b="1" dirty="0">
              <a:solidFill>
                <a:srgbClr val="696969"/>
              </a:solidFill>
              <a:latin typeface="Candara" panose="020E0502030303020204" charset="0"/>
              <a:sym typeface="+mn-ea"/>
            </a:endParaRPr>
          </a:p>
        </p:txBody>
      </p:sp>
      <p:cxnSp>
        <p:nvCxnSpPr>
          <p:cNvPr id="67" name="Curved Connector 66"/>
          <p:cNvCxnSpPr>
            <a:stCxn id="124" idx="2"/>
          </p:cNvCxnSpPr>
          <p:nvPr/>
        </p:nvCxnSpPr>
        <p:spPr>
          <a:xfrm rot="5400000" flipV="1">
            <a:off x="2590800" y="1724025"/>
            <a:ext cx="1017905" cy="1165225"/>
          </a:xfrm>
          <a:prstGeom prst="curvedConnector2">
            <a:avLst/>
          </a:prstGeom>
          <a:ln w="31750">
            <a:solidFill>
              <a:srgbClr val="595959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9" name="Text Box 8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4445635" y="3070860"/>
            <a:ext cx="1085215" cy="601980"/>
            <a:chOff x="7057" y="4886"/>
            <a:chExt cx="1709" cy="948"/>
          </a:xfrm>
        </p:grpSpPr>
        <p:sp>
          <p:nvSpPr>
            <p:cNvPr id="10" name="Text Box 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63055" y="3070860"/>
            <a:ext cx="1085215" cy="601980"/>
            <a:chOff x="7057" y="4886"/>
            <a:chExt cx="1709" cy="948"/>
          </a:xfrm>
        </p:grpSpPr>
        <p:sp>
          <p:nvSpPr>
            <p:cNvPr id="35" name="Text Box 34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36" name="Text Box 35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221855" y="4425315"/>
            <a:ext cx="1085215" cy="601980"/>
            <a:chOff x="7057" y="4886"/>
            <a:chExt cx="1709" cy="948"/>
          </a:xfrm>
        </p:grpSpPr>
        <p:sp>
          <p:nvSpPr>
            <p:cNvPr id="40" name="Text Box 3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1" name="Text Box 40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43" name="Text Box 42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4" name="Text Box 43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21" name="TextBox 123"/>
          <p:cNvSpPr txBox="1"/>
          <p:nvPr/>
        </p:nvSpPr>
        <p:spPr>
          <a:xfrm>
            <a:off x="8169274" y="988251"/>
            <a:ext cx="2912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Each </a:t>
            </a:r>
            <a:r>
              <a:rPr lang="en-US" sz="1400" b="1" dirty="0">
                <a:solidFill>
                  <a:srgbClr val="358EF2"/>
                </a:solidFill>
                <a:latin typeface="Candara" panose="020E0502030303020204" charset="0"/>
              </a:rPr>
              <a:t>internal (blue) node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makes </a:t>
            </a:r>
            <a:r>
              <a:rPr lang="en-US" sz="1400" b="1" dirty="0">
                <a:latin typeface="Candara" panose="020E0502030303020204" charset="0"/>
              </a:rPr>
              <a:t>a statement (rule)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about a </a:t>
            </a:r>
            <a:r>
              <a:rPr lang="en-US" sz="1400" b="1" dirty="0">
                <a:latin typeface="Candara" panose="020E0502030303020204" charset="0"/>
              </a:rPr>
              <a:t>feature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and then </a:t>
            </a: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</a:rPr>
              <a:t>makes a decision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on such a statement (two or more options).</a:t>
            </a:r>
          </a:p>
        </p:txBody>
      </p:sp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Oval 2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3" idx="4"/>
            <a:endCxn id="31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Text Box 7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9" name="Text Box 8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4445635" y="3070860"/>
            <a:ext cx="1085215" cy="601980"/>
            <a:chOff x="7057" y="4886"/>
            <a:chExt cx="1709" cy="948"/>
          </a:xfrm>
        </p:grpSpPr>
        <p:sp>
          <p:nvSpPr>
            <p:cNvPr id="10" name="Text Box 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63055" y="3070860"/>
            <a:ext cx="1085215" cy="601980"/>
            <a:chOff x="7057" y="4886"/>
            <a:chExt cx="1709" cy="948"/>
          </a:xfrm>
        </p:grpSpPr>
        <p:sp>
          <p:nvSpPr>
            <p:cNvPr id="35" name="Text Box 34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36" name="Text Box 35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43" name="Text Box 42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4" name="Text Box 43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47" name="Rectangles 26"/>
          <p:cNvSpPr/>
          <p:nvPr/>
        </p:nvSpPr>
        <p:spPr>
          <a:xfrm>
            <a:off x="2709863" y="1071880"/>
            <a:ext cx="6772275" cy="474345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3922724" y="3462665"/>
            <a:ext cx="1724660" cy="1957070"/>
            <a:chOff x="6898640" y="3742055"/>
            <a:chExt cx="1724660" cy="1957070"/>
          </a:xfrm>
        </p:grpSpPr>
        <p:sp>
          <p:nvSpPr>
            <p:cNvPr id="60" name="Oval 59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/>
            <p:cNvCxnSpPr>
              <a:stCxn id="60" idx="4"/>
              <a:endCxn id="68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>
              <a:endCxn id="69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71"/>
            <p:cNvGrpSpPr/>
            <p:nvPr/>
          </p:nvGrpSpPr>
          <p:grpSpPr>
            <a:xfrm>
              <a:off x="7221855" y="4425315"/>
              <a:ext cx="1085215" cy="601980"/>
              <a:chOff x="7057" y="4886"/>
              <a:chExt cx="1709" cy="948"/>
            </a:xfrm>
          </p:grpSpPr>
          <p:sp>
            <p:nvSpPr>
              <p:cNvPr id="73" name="Text Box 39"/>
              <p:cNvSpPr txBox="1"/>
              <p:nvPr/>
            </p:nvSpPr>
            <p:spPr>
              <a:xfrm rot="18480000">
                <a:off x="6829" y="5143"/>
                <a:ext cx="890" cy="434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4" name="Text Box 40"/>
              <p:cNvSpPr txBox="1"/>
              <p:nvPr/>
            </p:nvSpPr>
            <p:spPr>
              <a:xfrm rot="3180000">
                <a:off x="8075" y="5143"/>
                <a:ext cx="948" cy="434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75" name="TextBox 74"/>
          <p:cNvSpPr txBox="1"/>
          <p:nvPr/>
        </p:nvSpPr>
        <p:spPr>
          <a:xfrm rot="21300000">
            <a:off x="596265" y="1276985"/>
            <a:ext cx="3796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</a:rPr>
              <a:t>This is a </a:t>
            </a:r>
            <a:r>
              <a:rPr lang="en-US" sz="2800" b="1" dirty="0">
                <a:solidFill>
                  <a:srgbClr val="FF564F"/>
                </a:solidFill>
                <a:latin typeface="Candara" panose="020E0502030303020204" charset="0"/>
              </a:rPr>
              <a:t>Decision</a:t>
            </a:r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</a:rPr>
              <a:t> </a:t>
            </a:r>
            <a:r>
              <a:rPr lang="en-US" sz="2800" b="1" dirty="0">
                <a:solidFill>
                  <a:srgbClr val="FF564F"/>
                </a:solidFill>
                <a:latin typeface="Candara" panose="020E0502030303020204" charset="0"/>
              </a:rPr>
              <a:t>Tree</a:t>
            </a:r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  <a:sym typeface="+mn-ea"/>
              </a:rPr>
              <a:t>...</a:t>
            </a:r>
            <a:endParaRPr lang="en-US" sz="2800" b="1" dirty="0">
              <a:solidFill>
                <a:srgbClr val="696969"/>
              </a:solidFill>
              <a:latin typeface="Candara" panose="020E0502030303020204" charset="0"/>
              <a:sym typeface="+mn-ea"/>
            </a:endParaRPr>
          </a:p>
        </p:txBody>
      </p:sp>
      <p:cxnSp>
        <p:nvCxnSpPr>
          <p:cNvPr id="76" name="Curved Connector 75"/>
          <p:cNvCxnSpPr>
            <a:stCxn id="75" idx="2"/>
          </p:cNvCxnSpPr>
          <p:nvPr/>
        </p:nvCxnSpPr>
        <p:spPr>
          <a:xfrm rot="5400000" flipV="1">
            <a:off x="2590800" y="1724025"/>
            <a:ext cx="1017905" cy="1165225"/>
          </a:xfrm>
          <a:prstGeom prst="curvedConnector2">
            <a:avLst/>
          </a:prstGeom>
          <a:ln w="31750">
            <a:solidFill>
              <a:srgbClr val="595959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6300097" y="5020905"/>
            <a:ext cx="2904687" cy="613061"/>
            <a:chOff x="6480721" y="5020905"/>
            <a:chExt cx="2904687" cy="613061"/>
          </a:xfrm>
        </p:grpSpPr>
        <p:grpSp>
          <p:nvGrpSpPr>
            <p:cNvPr id="104" name="Group 103"/>
            <p:cNvGrpSpPr/>
            <p:nvPr/>
          </p:nvGrpSpPr>
          <p:grpSpPr>
            <a:xfrm>
              <a:off x="6480721" y="5020905"/>
              <a:ext cx="1345743" cy="613061"/>
              <a:chOff x="5042" y="5019"/>
              <a:chExt cx="2700" cy="1230"/>
            </a:xfrm>
          </p:grpSpPr>
          <p:sp>
            <p:nvSpPr>
              <p:cNvPr id="108" name="Rounded Rectangle 107"/>
              <p:cNvSpPr/>
              <p:nvPr/>
            </p:nvSpPr>
            <p:spPr>
              <a:xfrm>
                <a:off x="5042" y="5019"/>
                <a:ext cx="2700" cy="1230"/>
              </a:xfrm>
              <a:prstGeom prst="round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latin typeface="Candara" panose="020E0502030303020204" charset="0"/>
                  <a:cs typeface="Candara" panose="020E0502030303020204" charset="0"/>
                </a:endParaRPr>
              </a:p>
            </p:txBody>
          </p:sp>
          <p:sp>
            <p:nvSpPr>
              <p:cNvPr id="109" name="Text Box 13"/>
              <p:cNvSpPr txBox="1"/>
              <p:nvPr/>
            </p:nvSpPr>
            <p:spPr>
              <a:xfrm>
                <a:off x="5042" y="5368"/>
                <a:ext cx="2699" cy="5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  <a:t>Wise Person</a:t>
                </a:r>
              </a:p>
            </p:txBody>
          </p:sp>
        </p:grpSp>
        <p:grpSp>
          <p:nvGrpSpPr>
            <p:cNvPr id="105" name="Group 104"/>
            <p:cNvGrpSpPr/>
            <p:nvPr/>
          </p:nvGrpSpPr>
          <p:grpSpPr>
            <a:xfrm>
              <a:off x="8039665" y="5020905"/>
              <a:ext cx="1345743" cy="613061"/>
              <a:chOff x="10950" y="5326"/>
              <a:chExt cx="2700" cy="1230"/>
            </a:xfrm>
          </p:grpSpPr>
          <p:sp>
            <p:nvSpPr>
              <p:cNvPr id="106" name="Rounded Rectangle 105"/>
              <p:cNvSpPr/>
              <p:nvPr/>
            </p:nvSpPr>
            <p:spPr>
              <a:xfrm>
                <a:off x="10950" y="5326"/>
                <a:ext cx="2700" cy="1230"/>
              </a:xfrm>
              <a:prstGeom prst="round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latin typeface="Candara" panose="020E0502030303020204" charset="0"/>
                  <a:cs typeface="Candara" panose="020E0502030303020204" charset="0"/>
                </a:endParaRPr>
              </a:p>
            </p:txBody>
          </p:sp>
          <p:sp>
            <p:nvSpPr>
              <p:cNvPr id="107" name="Text Box 17"/>
              <p:cNvSpPr txBox="1"/>
              <p:nvPr/>
            </p:nvSpPr>
            <p:spPr>
              <a:xfrm>
                <a:off x="10950" y="5481"/>
                <a:ext cx="2699" cy="9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  <a:t>Unhappy Person</a:t>
                </a:r>
              </a:p>
            </p:txBody>
          </p:sp>
        </p:grpSp>
      </p:grpSp>
      <p:cxnSp>
        <p:nvCxnSpPr>
          <p:cNvPr id="97" name="Straight Connector 96"/>
          <p:cNvCxnSpPr>
            <a:stCxn id="103" idx="2"/>
            <a:endCxn id="108" idx="0"/>
          </p:cNvCxnSpPr>
          <p:nvPr/>
        </p:nvCxnSpPr>
        <p:spPr>
          <a:xfrm flipH="1">
            <a:off x="6972969" y="4362987"/>
            <a:ext cx="779223" cy="657918"/>
          </a:xfrm>
          <a:prstGeom prst="line">
            <a:avLst/>
          </a:prstGeom>
          <a:ln w="28575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103" idx="2"/>
            <a:endCxn id="106" idx="0"/>
          </p:cNvCxnSpPr>
          <p:nvPr/>
        </p:nvCxnSpPr>
        <p:spPr>
          <a:xfrm>
            <a:off x="7752192" y="4362987"/>
            <a:ext cx="779721" cy="657918"/>
          </a:xfrm>
          <a:prstGeom prst="line">
            <a:avLst/>
          </a:prstGeom>
          <a:ln w="28575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7079569" y="3739459"/>
            <a:ext cx="1345743" cy="623528"/>
            <a:chOff x="8250" y="2868"/>
            <a:chExt cx="2700" cy="1251"/>
          </a:xfrm>
        </p:grpSpPr>
        <p:sp>
          <p:nvSpPr>
            <p:cNvPr id="102" name="Rounded Rectangle 101"/>
            <p:cNvSpPr/>
            <p:nvPr/>
          </p:nvSpPr>
          <p:spPr>
            <a:xfrm>
              <a:off x="8250" y="2868"/>
              <a:ext cx="2700" cy="1230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03" name="Text Box 23"/>
            <p:cNvSpPr txBox="1"/>
            <p:nvPr/>
          </p:nvSpPr>
          <p:spPr>
            <a:xfrm>
              <a:off x="8250" y="2888"/>
              <a:ext cx="2699" cy="12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Like classical Star Wars Trilogy</a:t>
              </a:r>
            </a:p>
          </p:txBody>
        </p:sp>
      </p:grpSp>
      <p:sp>
        <p:nvSpPr>
          <p:cNvPr id="100" name="Text Box 25"/>
          <p:cNvSpPr txBox="1"/>
          <p:nvPr/>
        </p:nvSpPr>
        <p:spPr>
          <a:xfrm rot="2436045">
            <a:off x="8025757" y="4574518"/>
            <a:ext cx="572593" cy="2616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1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01" name="Text Box 26"/>
          <p:cNvSpPr txBox="1"/>
          <p:nvPr/>
        </p:nvSpPr>
        <p:spPr>
          <a:xfrm rot="19266916">
            <a:off x="6907537" y="4581374"/>
            <a:ext cx="538930" cy="2616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1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1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4" name="TextBox 123"/>
          <p:cNvSpPr txBox="1"/>
          <p:nvPr/>
        </p:nvSpPr>
        <p:spPr>
          <a:xfrm>
            <a:off x="8169274" y="988251"/>
            <a:ext cx="2912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Each </a:t>
            </a:r>
            <a:r>
              <a:rPr lang="en-US" sz="1400" b="1" dirty="0">
                <a:solidFill>
                  <a:srgbClr val="358EF2"/>
                </a:solidFill>
                <a:latin typeface="Candara" panose="020E0502030303020204" charset="0"/>
              </a:rPr>
              <a:t>internal (blue) node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makes </a:t>
            </a:r>
            <a:r>
              <a:rPr lang="en-US" sz="1400" b="1" dirty="0">
                <a:latin typeface="Candara" panose="020E0502030303020204" charset="0"/>
              </a:rPr>
              <a:t>a statement (rule)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about a </a:t>
            </a:r>
            <a:r>
              <a:rPr lang="en-US" sz="1400" b="1" dirty="0">
                <a:latin typeface="Candara" panose="020E0502030303020204" charset="0"/>
              </a:rPr>
              <a:t>feature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and then </a:t>
            </a: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</a:rPr>
              <a:t>makes a decision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on such a statement (two or more options).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Oval 2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3" idx="4"/>
            <a:endCxn id="31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Text Box 7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9" name="Text Box 8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4445635" y="3070860"/>
            <a:ext cx="1085215" cy="601980"/>
            <a:chOff x="7057" y="4886"/>
            <a:chExt cx="1709" cy="948"/>
          </a:xfrm>
        </p:grpSpPr>
        <p:sp>
          <p:nvSpPr>
            <p:cNvPr id="10" name="Text Box 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63055" y="3070860"/>
            <a:ext cx="1085215" cy="601980"/>
            <a:chOff x="7057" y="4886"/>
            <a:chExt cx="1709" cy="948"/>
          </a:xfrm>
        </p:grpSpPr>
        <p:sp>
          <p:nvSpPr>
            <p:cNvPr id="35" name="Text Box 34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36" name="Text Box 35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43" name="Text Box 42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4" name="Text Box 43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47" name="Rectangles 26"/>
          <p:cNvSpPr/>
          <p:nvPr/>
        </p:nvSpPr>
        <p:spPr>
          <a:xfrm>
            <a:off x="2709863" y="1071880"/>
            <a:ext cx="6772275" cy="474345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3922724" y="3462665"/>
            <a:ext cx="1724660" cy="1957070"/>
            <a:chOff x="6898640" y="3742055"/>
            <a:chExt cx="1724660" cy="1957070"/>
          </a:xfrm>
        </p:grpSpPr>
        <p:sp>
          <p:nvSpPr>
            <p:cNvPr id="60" name="Oval 59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/>
            <p:cNvCxnSpPr>
              <a:stCxn id="60" idx="4"/>
              <a:endCxn id="68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>
              <a:endCxn id="69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71"/>
            <p:cNvGrpSpPr/>
            <p:nvPr/>
          </p:nvGrpSpPr>
          <p:grpSpPr>
            <a:xfrm>
              <a:off x="7221855" y="4425315"/>
              <a:ext cx="1085215" cy="601980"/>
              <a:chOff x="7057" y="4886"/>
              <a:chExt cx="1709" cy="948"/>
            </a:xfrm>
          </p:grpSpPr>
          <p:sp>
            <p:nvSpPr>
              <p:cNvPr id="73" name="Text Box 39"/>
              <p:cNvSpPr txBox="1"/>
              <p:nvPr/>
            </p:nvSpPr>
            <p:spPr>
              <a:xfrm rot="18480000">
                <a:off x="6829" y="5143"/>
                <a:ext cx="890" cy="434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4" name="Text Box 40"/>
              <p:cNvSpPr txBox="1"/>
              <p:nvPr/>
            </p:nvSpPr>
            <p:spPr>
              <a:xfrm rot="3180000">
                <a:off x="8075" y="5143"/>
                <a:ext cx="948" cy="434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75" name="TextBox 74"/>
          <p:cNvSpPr txBox="1"/>
          <p:nvPr/>
        </p:nvSpPr>
        <p:spPr>
          <a:xfrm rot="21300000">
            <a:off x="596265" y="1276985"/>
            <a:ext cx="3796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</a:rPr>
              <a:t>This is a </a:t>
            </a:r>
            <a:r>
              <a:rPr lang="en-US" sz="2800" b="1" dirty="0">
                <a:solidFill>
                  <a:srgbClr val="FF564F"/>
                </a:solidFill>
                <a:latin typeface="Candara" panose="020E0502030303020204" charset="0"/>
              </a:rPr>
              <a:t>Decision</a:t>
            </a:r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</a:rPr>
              <a:t> </a:t>
            </a:r>
            <a:r>
              <a:rPr lang="en-US" sz="2800" b="1" dirty="0">
                <a:solidFill>
                  <a:srgbClr val="FF564F"/>
                </a:solidFill>
                <a:latin typeface="Candara" panose="020E0502030303020204" charset="0"/>
              </a:rPr>
              <a:t>Tree</a:t>
            </a:r>
            <a:r>
              <a:rPr lang="en-US" sz="2800" dirty="0">
                <a:solidFill>
                  <a:srgbClr val="696969"/>
                </a:solidFill>
                <a:latin typeface="Candara" panose="020E0502030303020204" charset="0"/>
                <a:sym typeface="+mn-ea"/>
              </a:rPr>
              <a:t>...</a:t>
            </a:r>
            <a:endParaRPr lang="en-US" sz="2800" b="1" dirty="0">
              <a:solidFill>
                <a:srgbClr val="696969"/>
              </a:solidFill>
              <a:latin typeface="Candara" panose="020E0502030303020204" charset="0"/>
              <a:sym typeface="+mn-ea"/>
            </a:endParaRPr>
          </a:p>
        </p:txBody>
      </p:sp>
      <p:cxnSp>
        <p:nvCxnSpPr>
          <p:cNvPr id="76" name="Curved Connector 75"/>
          <p:cNvCxnSpPr>
            <a:stCxn id="75" idx="2"/>
          </p:cNvCxnSpPr>
          <p:nvPr/>
        </p:nvCxnSpPr>
        <p:spPr>
          <a:xfrm rot="5400000" flipV="1">
            <a:off x="2590800" y="1724025"/>
            <a:ext cx="1017905" cy="1165225"/>
          </a:xfrm>
          <a:prstGeom prst="curvedConnector2">
            <a:avLst/>
          </a:prstGeom>
          <a:ln w="31750">
            <a:solidFill>
              <a:srgbClr val="595959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6300097" y="5020905"/>
            <a:ext cx="2904687" cy="613061"/>
            <a:chOff x="6480721" y="5020905"/>
            <a:chExt cx="2904687" cy="613061"/>
          </a:xfrm>
        </p:grpSpPr>
        <p:grpSp>
          <p:nvGrpSpPr>
            <p:cNvPr id="104" name="Group 103"/>
            <p:cNvGrpSpPr/>
            <p:nvPr/>
          </p:nvGrpSpPr>
          <p:grpSpPr>
            <a:xfrm>
              <a:off x="6480721" y="5020905"/>
              <a:ext cx="1345743" cy="613061"/>
              <a:chOff x="5042" y="5019"/>
              <a:chExt cx="2700" cy="1230"/>
            </a:xfrm>
          </p:grpSpPr>
          <p:sp>
            <p:nvSpPr>
              <p:cNvPr id="108" name="Rounded Rectangle 107"/>
              <p:cNvSpPr/>
              <p:nvPr/>
            </p:nvSpPr>
            <p:spPr>
              <a:xfrm>
                <a:off x="5042" y="5019"/>
                <a:ext cx="2700" cy="1230"/>
              </a:xfrm>
              <a:prstGeom prst="round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latin typeface="Candara" panose="020E0502030303020204" charset="0"/>
                  <a:cs typeface="Candara" panose="020E0502030303020204" charset="0"/>
                </a:endParaRPr>
              </a:p>
            </p:txBody>
          </p:sp>
          <p:sp>
            <p:nvSpPr>
              <p:cNvPr id="109" name="Text Box 13"/>
              <p:cNvSpPr txBox="1"/>
              <p:nvPr/>
            </p:nvSpPr>
            <p:spPr>
              <a:xfrm>
                <a:off x="5042" y="5368"/>
                <a:ext cx="2699" cy="5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  <a:t>Wise Person</a:t>
                </a:r>
              </a:p>
            </p:txBody>
          </p:sp>
        </p:grpSp>
        <p:grpSp>
          <p:nvGrpSpPr>
            <p:cNvPr id="105" name="Group 104"/>
            <p:cNvGrpSpPr/>
            <p:nvPr/>
          </p:nvGrpSpPr>
          <p:grpSpPr>
            <a:xfrm>
              <a:off x="8039665" y="5020905"/>
              <a:ext cx="1345743" cy="613061"/>
              <a:chOff x="10950" y="5326"/>
              <a:chExt cx="2700" cy="1230"/>
            </a:xfrm>
          </p:grpSpPr>
          <p:sp>
            <p:nvSpPr>
              <p:cNvPr id="106" name="Rounded Rectangle 105"/>
              <p:cNvSpPr/>
              <p:nvPr/>
            </p:nvSpPr>
            <p:spPr>
              <a:xfrm>
                <a:off x="10950" y="5326"/>
                <a:ext cx="2700" cy="1230"/>
              </a:xfrm>
              <a:prstGeom prst="round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latin typeface="Candara" panose="020E0502030303020204" charset="0"/>
                  <a:cs typeface="Candara" panose="020E0502030303020204" charset="0"/>
                </a:endParaRPr>
              </a:p>
            </p:txBody>
          </p:sp>
          <p:sp>
            <p:nvSpPr>
              <p:cNvPr id="107" name="Text Box 17"/>
              <p:cNvSpPr txBox="1"/>
              <p:nvPr/>
            </p:nvSpPr>
            <p:spPr>
              <a:xfrm>
                <a:off x="10950" y="5481"/>
                <a:ext cx="2699" cy="9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  <a:t>Unhappy Person</a:t>
                </a:r>
              </a:p>
            </p:txBody>
          </p:sp>
        </p:grpSp>
      </p:grpSp>
      <p:cxnSp>
        <p:nvCxnSpPr>
          <p:cNvPr id="97" name="Straight Connector 96"/>
          <p:cNvCxnSpPr>
            <a:stCxn id="103" idx="2"/>
            <a:endCxn id="108" idx="0"/>
          </p:cNvCxnSpPr>
          <p:nvPr/>
        </p:nvCxnSpPr>
        <p:spPr>
          <a:xfrm flipH="1">
            <a:off x="6972969" y="4362987"/>
            <a:ext cx="779223" cy="657918"/>
          </a:xfrm>
          <a:prstGeom prst="line">
            <a:avLst/>
          </a:prstGeom>
          <a:ln w="28575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103" idx="2"/>
            <a:endCxn id="106" idx="0"/>
          </p:cNvCxnSpPr>
          <p:nvPr/>
        </p:nvCxnSpPr>
        <p:spPr>
          <a:xfrm>
            <a:off x="7752192" y="4362987"/>
            <a:ext cx="779721" cy="657918"/>
          </a:xfrm>
          <a:prstGeom prst="line">
            <a:avLst/>
          </a:prstGeom>
          <a:ln w="28575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7079569" y="3739459"/>
            <a:ext cx="1345743" cy="623528"/>
            <a:chOff x="8250" y="2868"/>
            <a:chExt cx="2700" cy="1251"/>
          </a:xfrm>
        </p:grpSpPr>
        <p:sp>
          <p:nvSpPr>
            <p:cNvPr id="102" name="Rounded Rectangle 101"/>
            <p:cNvSpPr/>
            <p:nvPr/>
          </p:nvSpPr>
          <p:spPr>
            <a:xfrm>
              <a:off x="8250" y="2868"/>
              <a:ext cx="2700" cy="1230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03" name="Text Box 23"/>
            <p:cNvSpPr txBox="1"/>
            <p:nvPr/>
          </p:nvSpPr>
          <p:spPr>
            <a:xfrm>
              <a:off x="8250" y="2888"/>
              <a:ext cx="2699" cy="12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Like classical Star Wars Trilogy</a:t>
              </a:r>
            </a:p>
          </p:txBody>
        </p:sp>
      </p:grpSp>
      <p:sp>
        <p:nvSpPr>
          <p:cNvPr id="100" name="Text Box 25"/>
          <p:cNvSpPr txBox="1"/>
          <p:nvPr/>
        </p:nvSpPr>
        <p:spPr>
          <a:xfrm rot="2436045">
            <a:off x="8025757" y="4574518"/>
            <a:ext cx="572593" cy="2616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1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01" name="Text Box 26"/>
          <p:cNvSpPr txBox="1"/>
          <p:nvPr/>
        </p:nvSpPr>
        <p:spPr>
          <a:xfrm rot="19266916">
            <a:off x="6907537" y="4581374"/>
            <a:ext cx="538930" cy="2616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1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grpSp>
        <p:nvGrpSpPr>
          <p:cNvPr id="110" name="Group 109"/>
          <p:cNvGrpSpPr/>
          <p:nvPr/>
        </p:nvGrpSpPr>
        <p:grpSpPr>
          <a:xfrm rot="21240000">
            <a:off x="8496300" y="2691893"/>
            <a:ext cx="2588895" cy="954405"/>
            <a:chOff x="6946" y="8791"/>
            <a:chExt cx="4077" cy="15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1" name="Text Box 7"/>
            <p:cNvSpPr txBox="1"/>
            <p:nvPr/>
          </p:nvSpPr>
          <p:spPr>
            <a:xfrm>
              <a:off x="6946" y="8791"/>
              <a:ext cx="4077" cy="15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marL="457200"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The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decision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</a:t>
              </a:r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may not be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necessarily </a:t>
              </a:r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binary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.</a:t>
              </a:r>
            </a:p>
            <a:p>
              <a:pPr marL="457200"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Some algorithms provide </a:t>
              </a:r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more than 2 options.</a:t>
              </a:r>
            </a:p>
          </p:txBody>
        </p:sp>
        <p:pic>
          <p:nvPicPr>
            <p:cNvPr id="112" name="Picture 111" descr="pngwing.co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96" y="9236"/>
              <a:ext cx="591" cy="591"/>
            </a:xfrm>
            <a:prstGeom prst="rect">
              <a:avLst/>
            </a:prstGeom>
          </p:spPr>
        </p:pic>
      </p:grpSp>
      <p:sp>
        <p:nvSpPr>
          <p:cNvPr id="6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TextBox 123"/>
          <p:cNvSpPr txBox="1"/>
          <p:nvPr/>
        </p:nvSpPr>
        <p:spPr>
          <a:xfrm>
            <a:off x="8169274" y="988251"/>
            <a:ext cx="2912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Each </a:t>
            </a:r>
            <a:r>
              <a:rPr lang="en-US" sz="1400" b="1" dirty="0">
                <a:solidFill>
                  <a:srgbClr val="358EF2"/>
                </a:solidFill>
                <a:latin typeface="Candara" panose="020E0502030303020204" charset="0"/>
              </a:rPr>
              <a:t>internal (blue) node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makes </a:t>
            </a:r>
            <a:r>
              <a:rPr lang="en-US" sz="1400" b="1" dirty="0">
                <a:latin typeface="Candara" panose="020E0502030303020204" charset="0"/>
              </a:rPr>
              <a:t>a statement (rule)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about a </a:t>
            </a:r>
            <a:r>
              <a:rPr lang="en-US" sz="1400" b="1" dirty="0">
                <a:latin typeface="Candara" panose="020E0502030303020204" charset="0"/>
              </a:rPr>
              <a:t>feature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and then </a:t>
            </a: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</a:rPr>
              <a:t>makes a decision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on such a statement (two or more options).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Oval 6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3" idx="4"/>
            <a:endCxn id="31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  <a:endCxn id="34" idx="0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4" idx="4"/>
            <a:endCxn id="38" idx="0"/>
          </p:cNvCxnSpPr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9" idx="0"/>
          </p:cNvCxnSpPr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Text Box 7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9" name="Text Box 8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4445635" y="3070860"/>
            <a:ext cx="1085215" cy="601980"/>
            <a:chOff x="7057" y="4886"/>
            <a:chExt cx="1709" cy="948"/>
          </a:xfrm>
        </p:grpSpPr>
        <p:sp>
          <p:nvSpPr>
            <p:cNvPr id="10" name="Text Box 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63055" y="3070860"/>
            <a:ext cx="1085215" cy="601980"/>
            <a:chOff x="7057" y="4886"/>
            <a:chExt cx="1709" cy="948"/>
          </a:xfrm>
        </p:grpSpPr>
        <p:sp>
          <p:nvSpPr>
            <p:cNvPr id="35" name="Text Box 34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36" name="Text Box 35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221855" y="4425315"/>
            <a:ext cx="1085215" cy="601980"/>
            <a:chOff x="7057" y="4886"/>
            <a:chExt cx="1709" cy="948"/>
          </a:xfrm>
        </p:grpSpPr>
        <p:sp>
          <p:nvSpPr>
            <p:cNvPr id="40" name="Text Box 3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1" name="Text Box 40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43" name="Text Box 42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4" name="Text Box 43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27" name="Rectangles 26"/>
          <p:cNvSpPr/>
          <p:nvPr/>
        </p:nvSpPr>
        <p:spPr>
          <a:xfrm>
            <a:off x="2709863" y="1071880"/>
            <a:ext cx="6772275" cy="474345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123"/>
          <p:cNvSpPr txBox="1"/>
          <p:nvPr/>
        </p:nvSpPr>
        <p:spPr>
          <a:xfrm>
            <a:off x="6415405" y="546735"/>
            <a:ext cx="1961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1. Root Node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represents the entire population or sample.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  <a:endCxn id="34" idx="0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4" idx="4"/>
            <a:endCxn id="38" idx="0"/>
          </p:cNvCxnSpPr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9" idx="0"/>
          </p:cNvCxnSpPr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445635" y="3070860"/>
            <a:ext cx="1085215" cy="601980"/>
            <a:chOff x="7057" y="4886"/>
            <a:chExt cx="1709" cy="948"/>
          </a:xfrm>
        </p:grpSpPr>
        <p:sp>
          <p:nvSpPr>
            <p:cNvPr id="10" name="Text Box 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63055" y="3070860"/>
            <a:ext cx="1085215" cy="601980"/>
            <a:chOff x="7057" y="4886"/>
            <a:chExt cx="1709" cy="948"/>
          </a:xfrm>
        </p:grpSpPr>
        <p:sp>
          <p:nvSpPr>
            <p:cNvPr id="35" name="Text Box 34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36" name="Text Box 35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221855" y="4425315"/>
            <a:ext cx="1085215" cy="601980"/>
            <a:chOff x="7057" y="4886"/>
            <a:chExt cx="1709" cy="948"/>
          </a:xfrm>
        </p:grpSpPr>
        <p:sp>
          <p:nvSpPr>
            <p:cNvPr id="40" name="Text Box 3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1" name="Text Box 40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43" name="Text Box 42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4" name="Text Box 43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27" name="Rectangles 26"/>
          <p:cNvSpPr/>
          <p:nvPr/>
        </p:nvSpPr>
        <p:spPr>
          <a:xfrm>
            <a:off x="2709863" y="1071880"/>
            <a:ext cx="6772275" cy="474345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5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7" name="Text Box 16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8" name="Oval 17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23"/>
          <p:cNvSpPr txBox="1"/>
          <p:nvPr/>
        </p:nvSpPr>
        <p:spPr>
          <a:xfrm>
            <a:off x="1580515" y="1245235"/>
            <a:ext cx="28067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2. Splitting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is the process of </a:t>
            </a:r>
            <a:r>
              <a:rPr lang="en-US" sz="1400" b="1" dirty="0">
                <a:solidFill>
                  <a:srgbClr val="595959"/>
                </a:solidFill>
                <a:latin typeface="Candara" panose="020E0502030303020204" charset="0"/>
              </a:rPr>
              <a:t>dividing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 node into two or more sub-nodes.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1" name="TextBox 123"/>
          <p:cNvSpPr txBox="1"/>
          <p:nvPr/>
        </p:nvSpPr>
        <p:spPr>
          <a:xfrm>
            <a:off x="6415405" y="546735"/>
            <a:ext cx="1961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1. Root Node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represents the entire population or sample.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  <a:endCxn id="34" idx="0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4" idx="4"/>
            <a:endCxn id="38" idx="0"/>
          </p:cNvCxnSpPr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9" idx="0"/>
          </p:cNvCxnSpPr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445635" y="3070860"/>
            <a:ext cx="1085215" cy="601980"/>
            <a:chOff x="7057" y="4886"/>
            <a:chExt cx="1709" cy="948"/>
          </a:xfrm>
        </p:grpSpPr>
        <p:sp>
          <p:nvSpPr>
            <p:cNvPr id="10" name="Text Box 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63055" y="3070860"/>
            <a:ext cx="1085215" cy="601980"/>
            <a:chOff x="7057" y="4886"/>
            <a:chExt cx="1709" cy="948"/>
          </a:xfrm>
        </p:grpSpPr>
        <p:sp>
          <p:nvSpPr>
            <p:cNvPr id="35" name="Text Box 34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36" name="Text Box 35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221855" y="4425315"/>
            <a:ext cx="1085215" cy="601980"/>
            <a:chOff x="7057" y="4886"/>
            <a:chExt cx="1709" cy="948"/>
          </a:xfrm>
        </p:grpSpPr>
        <p:sp>
          <p:nvSpPr>
            <p:cNvPr id="40" name="Text Box 3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1" name="Text Box 40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43" name="Text Box 42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4" name="Text Box 43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cxnSp>
        <p:nvCxnSpPr>
          <p:cNvPr id="14" name="Straight Connector 13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5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7" name="Text Box 16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8" name="Oval 17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s 26"/>
          <p:cNvSpPr/>
          <p:nvPr/>
        </p:nvSpPr>
        <p:spPr>
          <a:xfrm>
            <a:off x="2709863" y="1071880"/>
            <a:ext cx="6772275" cy="474345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23"/>
          <p:cNvSpPr txBox="1"/>
          <p:nvPr/>
        </p:nvSpPr>
        <p:spPr>
          <a:xfrm>
            <a:off x="6415405" y="546735"/>
            <a:ext cx="1961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1. Root Node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represents the entire population or sample.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9" name="TextBox 123"/>
          <p:cNvSpPr txBox="1"/>
          <p:nvPr/>
        </p:nvSpPr>
        <p:spPr>
          <a:xfrm>
            <a:off x="1580515" y="1245235"/>
            <a:ext cx="28067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2. Splitting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is the process of </a:t>
            </a:r>
            <a:r>
              <a:rPr lang="en-US" sz="1400" b="1" dirty="0">
                <a:solidFill>
                  <a:srgbClr val="595959"/>
                </a:solidFill>
                <a:latin typeface="Candara" panose="020E0502030303020204" charset="0"/>
              </a:rPr>
              <a:t>dividing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 node into two or more sub-nodes.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13" name="TextBox 123"/>
          <p:cNvSpPr txBox="1"/>
          <p:nvPr/>
        </p:nvSpPr>
        <p:spPr>
          <a:xfrm>
            <a:off x="7901940" y="2189480"/>
            <a:ext cx="30740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3. Internal/Decision Nodes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When a sub-node splits into further sub-nodes, it is called a decision node.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5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4" idx="4"/>
            <a:endCxn id="38" idx="0"/>
          </p:cNvCxnSpPr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9" idx="0"/>
          </p:cNvCxnSpPr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2" name="Text Box 11"/>
          <p:cNvSpPr txBox="1"/>
          <p:nvPr/>
        </p:nvSpPr>
        <p:spPr>
          <a:xfrm rot="3180000">
            <a:off x="5092065" y="3234055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35" name="Text Box 34"/>
          <p:cNvSpPr txBox="1"/>
          <p:nvPr/>
        </p:nvSpPr>
        <p:spPr>
          <a:xfrm rot="18480000">
            <a:off x="6518275" y="323405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7221855" y="4425315"/>
            <a:ext cx="1085215" cy="601980"/>
            <a:chOff x="7057" y="4886"/>
            <a:chExt cx="1709" cy="948"/>
          </a:xfrm>
        </p:grpSpPr>
        <p:sp>
          <p:nvSpPr>
            <p:cNvPr id="40" name="Text Box 3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1" name="Text Box 40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43" name="Text Box 42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4" name="Text Box 43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18" name="Oval 17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s 26"/>
          <p:cNvSpPr/>
          <p:nvPr/>
        </p:nvSpPr>
        <p:spPr>
          <a:xfrm>
            <a:off x="2709863" y="1071880"/>
            <a:ext cx="6772275" cy="474345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>
            <a:stCxn id="30" idx="4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 rot="18480000">
            <a:off x="4300855" y="323405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0" name="Text Box 19"/>
          <p:cNvSpPr txBox="1"/>
          <p:nvPr/>
        </p:nvSpPr>
        <p:spPr>
          <a:xfrm rot="3180000">
            <a:off x="7309485" y="3234055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4" name="Text Box 23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25" name="Oval 24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123"/>
          <p:cNvSpPr txBox="1"/>
          <p:nvPr/>
        </p:nvSpPr>
        <p:spPr>
          <a:xfrm>
            <a:off x="6415405" y="546735"/>
            <a:ext cx="1961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1. Root Node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represents the entire population or sample.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34" name="TextBox 123"/>
          <p:cNvSpPr txBox="1"/>
          <p:nvPr/>
        </p:nvSpPr>
        <p:spPr>
          <a:xfrm>
            <a:off x="1580515" y="1245235"/>
            <a:ext cx="28067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2. Splitting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is the process of </a:t>
            </a:r>
            <a:r>
              <a:rPr lang="en-US" sz="1400" b="1" dirty="0">
                <a:solidFill>
                  <a:srgbClr val="595959"/>
                </a:solidFill>
                <a:latin typeface="Candara" panose="020E0502030303020204" charset="0"/>
              </a:rPr>
              <a:t>dividing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 node into two or more sub-nodes.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5" name="TextBox 123"/>
          <p:cNvSpPr txBox="1"/>
          <p:nvPr/>
        </p:nvSpPr>
        <p:spPr>
          <a:xfrm>
            <a:off x="7901940" y="2189480"/>
            <a:ext cx="30740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3. Internal/Decision Nodes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When a sub-node splits into further sub-nodes, it is called a decision node.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6" name="TextBox 123"/>
          <p:cNvSpPr txBox="1"/>
          <p:nvPr/>
        </p:nvSpPr>
        <p:spPr>
          <a:xfrm>
            <a:off x="8623300" y="3119755"/>
            <a:ext cx="2357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They have  </a:t>
            </a:r>
            <a:r>
              <a:rPr lang="en-US" sz="1400" dirty="0">
                <a:solidFill>
                  <a:srgbClr val="FF564F"/>
                </a:solidFill>
                <a:latin typeface="Candara" panose="020E0502030303020204" charset="0"/>
              </a:rPr>
              <a:t>arrows 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pointing to them...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14" name="Straight Connector 13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5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7" name="Text Box 16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8" name="Oval 17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s 26"/>
          <p:cNvSpPr/>
          <p:nvPr/>
        </p:nvSpPr>
        <p:spPr>
          <a:xfrm>
            <a:off x="2709863" y="1071880"/>
            <a:ext cx="6772275" cy="474345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>
            <a:stCxn id="70" idx="4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0" idx="4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4445635" y="3070860"/>
            <a:ext cx="1085215" cy="601980"/>
            <a:chOff x="7057" y="4886"/>
            <a:chExt cx="1709" cy="948"/>
          </a:xfrm>
        </p:grpSpPr>
        <p:sp>
          <p:nvSpPr>
            <p:cNvPr id="28" name="Text Box 27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30" name="Text Box 29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31" name="Text Box 30"/>
          <p:cNvSpPr txBox="1"/>
          <p:nvPr/>
        </p:nvSpPr>
        <p:spPr>
          <a:xfrm rot="18480000">
            <a:off x="6518275" y="323405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34" name="Text Box 33"/>
          <p:cNvSpPr txBox="1"/>
          <p:nvPr/>
        </p:nvSpPr>
        <p:spPr>
          <a:xfrm rot="3180000">
            <a:off x="7309485" y="3234055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7221855" y="4425315"/>
            <a:ext cx="1085215" cy="601980"/>
            <a:chOff x="7057" y="4886"/>
            <a:chExt cx="1709" cy="948"/>
          </a:xfrm>
        </p:grpSpPr>
        <p:sp>
          <p:nvSpPr>
            <p:cNvPr id="46" name="Text Box 45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7" name="Text Box 46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51" name="Text Box 50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60" name="Text Box 59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67" name="Oval 66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123"/>
          <p:cNvSpPr txBox="1"/>
          <p:nvPr/>
        </p:nvSpPr>
        <p:spPr>
          <a:xfrm>
            <a:off x="6415405" y="546735"/>
            <a:ext cx="1961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1. Root Node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represents the entire population or sample.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72" name="TextBox 123"/>
          <p:cNvSpPr txBox="1"/>
          <p:nvPr/>
        </p:nvSpPr>
        <p:spPr>
          <a:xfrm>
            <a:off x="1580515" y="1245235"/>
            <a:ext cx="28067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2. Splitting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is the process of </a:t>
            </a:r>
            <a:r>
              <a:rPr lang="en-US" sz="1400" b="1" dirty="0">
                <a:solidFill>
                  <a:srgbClr val="595959"/>
                </a:solidFill>
                <a:latin typeface="Candara" panose="020E0502030303020204" charset="0"/>
              </a:rPr>
              <a:t>dividing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 node into two or more sub-nodes.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73" name="TextBox 123"/>
          <p:cNvSpPr txBox="1"/>
          <p:nvPr/>
        </p:nvSpPr>
        <p:spPr>
          <a:xfrm>
            <a:off x="7901940" y="2189480"/>
            <a:ext cx="30740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3. Internal/Decision Nodes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When a sub-node splits into further sub-nodes, it is called a decision node.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74" name="TextBox 123"/>
          <p:cNvSpPr txBox="1"/>
          <p:nvPr/>
        </p:nvSpPr>
        <p:spPr>
          <a:xfrm>
            <a:off x="8623300" y="3119755"/>
            <a:ext cx="2357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...and they have </a:t>
            </a:r>
            <a:r>
              <a:rPr lang="en-US" sz="1400" dirty="0">
                <a:solidFill>
                  <a:srgbClr val="FF564F"/>
                </a:solidFill>
                <a:latin typeface="Candara" panose="020E0502030303020204" charset="0"/>
              </a:rPr>
              <a:t>arrows 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pointing away from them.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  <a:endCxn id="34" idx="0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4" idx="4"/>
            <a:endCxn id="38" idx="0"/>
          </p:cNvCxnSpPr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9" idx="0"/>
          </p:cNvCxnSpPr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445635" y="3070860"/>
            <a:ext cx="1085215" cy="601980"/>
            <a:chOff x="7057" y="4886"/>
            <a:chExt cx="1709" cy="948"/>
          </a:xfrm>
        </p:grpSpPr>
        <p:sp>
          <p:nvSpPr>
            <p:cNvPr id="10" name="Text Box 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63055" y="3070860"/>
            <a:ext cx="1085215" cy="601980"/>
            <a:chOff x="7057" y="4886"/>
            <a:chExt cx="1709" cy="948"/>
          </a:xfrm>
        </p:grpSpPr>
        <p:sp>
          <p:nvSpPr>
            <p:cNvPr id="35" name="Text Box 34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36" name="Text Box 35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221855" y="4425315"/>
            <a:ext cx="1085215" cy="601980"/>
            <a:chOff x="7057" y="4886"/>
            <a:chExt cx="1709" cy="948"/>
          </a:xfrm>
        </p:grpSpPr>
        <p:sp>
          <p:nvSpPr>
            <p:cNvPr id="40" name="Text Box 3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1" name="Text Box 40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43" name="Text Box 42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4" name="Text Box 43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cxnSp>
        <p:nvCxnSpPr>
          <p:cNvPr id="14" name="Straight Connector 13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5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7" name="Text Box 16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8" name="Oval 17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s 26"/>
          <p:cNvSpPr/>
          <p:nvPr/>
        </p:nvSpPr>
        <p:spPr>
          <a:xfrm>
            <a:off x="2709863" y="1071880"/>
            <a:ext cx="6772275" cy="474345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23"/>
          <p:cNvSpPr txBox="1"/>
          <p:nvPr/>
        </p:nvSpPr>
        <p:spPr>
          <a:xfrm>
            <a:off x="6415405" y="546735"/>
            <a:ext cx="1961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1. Root Node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represents the entire population or sample.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4" name="TextBox 123"/>
          <p:cNvSpPr txBox="1"/>
          <p:nvPr/>
        </p:nvSpPr>
        <p:spPr>
          <a:xfrm>
            <a:off x="1580515" y="1245235"/>
            <a:ext cx="28067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2. Splitting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is the process of </a:t>
            </a:r>
            <a:r>
              <a:rPr lang="en-US" sz="1400" b="1" dirty="0">
                <a:solidFill>
                  <a:srgbClr val="595959"/>
                </a:solidFill>
                <a:latin typeface="Candara" panose="020E0502030303020204" charset="0"/>
              </a:rPr>
              <a:t>dividing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 node into two or more sub-nodes.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5" name="TextBox 123"/>
          <p:cNvSpPr txBox="1"/>
          <p:nvPr/>
        </p:nvSpPr>
        <p:spPr>
          <a:xfrm>
            <a:off x="7901940" y="2189480"/>
            <a:ext cx="30740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3. Internal/Decision Nodes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When a sub-node splits into further sub-nodes, it is called a decision node.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8" name="TextBox 123"/>
          <p:cNvSpPr txBox="1"/>
          <p:nvPr/>
        </p:nvSpPr>
        <p:spPr>
          <a:xfrm>
            <a:off x="371475" y="4869180"/>
            <a:ext cx="307403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4. Leaf/Terminal Nodes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Nodes that do not split.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  <a:endCxn id="34" idx="0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0" name="Text Box 9"/>
          <p:cNvSpPr txBox="1"/>
          <p:nvPr/>
        </p:nvSpPr>
        <p:spPr>
          <a:xfrm rot="18480000">
            <a:off x="4300855" y="323405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36" name="Text Box 35"/>
          <p:cNvSpPr txBox="1"/>
          <p:nvPr/>
        </p:nvSpPr>
        <p:spPr>
          <a:xfrm rot="3180000">
            <a:off x="7309485" y="3234055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5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7" name="Text Box 16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8" name="Oval 17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s 26"/>
          <p:cNvSpPr/>
          <p:nvPr/>
        </p:nvSpPr>
        <p:spPr>
          <a:xfrm>
            <a:off x="2709863" y="1071880"/>
            <a:ext cx="6772275" cy="474345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38100">
            <a:solidFill>
              <a:srgbClr val="FF564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32"/>
          <p:cNvSpPr txBox="1"/>
          <p:nvPr/>
        </p:nvSpPr>
        <p:spPr>
          <a:xfrm rot="3180000">
            <a:off x="5092065" y="3234055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34" name="Text Box 33"/>
          <p:cNvSpPr txBox="1"/>
          <p:nvPr/>
        </p:nvSpPr>
        <p:spPr>
          <a:xfrm rot="18480000">
            <a:off x="6518275" y="323405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38" name="Text Box 37"/>
          <p:cNvSpPr txBox="1"/>
          <p:nvPr/>
        </p:nvSpPr>
        <p:spPr>
          <a:xfrm rot="18480000">
            <a:off x="7077075" y="4588510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39" name="Text Box 38"/>
          <p:cNvSpPr txBox="1"/>
          <p:nvPr/>
        </p:nvSpPr>
        <p:spPr>
          <a:xfrm rot="3180000">
            <a:off x="7868285" y="458851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45" name="Text Box 44"/>
          <p:cNvSpPr txBox="1"/>
          <p:nvPr/>
        </p:nvSpPr>
        <p:spPr>
          <a:xfrm rot="18480000">
            <a:off x="3745230" y="4588510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46" name="Text Box 45"/>
          <p:cNvSpPr txBox="1"/>
          <p:nvPr/>
        </p:nvSpPr>
        <p:spPr>
          <a:xfrm rot="3180000">
            <a:off x="4536440" y="458851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47" name="Oval 46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123"/>
          <p:cNvSpPr txBox="1"/>
          <p:nvPr/>
        </p:nvSpPr>
        <p:spPr>
          <a:xfrm>
            <a:off x="6415405" y="546735"/>
            <a:ext cx="1961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1. Root Node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represents the entire population or sample.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68" name="TextBox 123"/>
          <p:cNvSpPr txBox="1"/>
          <p:nvPr/>
        </p:nvSpPr>
        <p:spPr>
          <a:xfrm>
            <a:off x="1580515" y="1245235"/>
            <a:ext cx="28067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2. Splitting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is the process of </a:t>
            </a:r>
            <a:r>
              <a:rPr lang="en-US" sz="1400" b="1" dirty="0">
                <a:solidFill>
                  <a:srgbClr val="595959"/>
                </a:solidFill>
                <a:latin typeface="Candara" panose="020E0502030303020204" charset="0"/>
              </a:rPr>
              <a:t>dividing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 node into two or more sub-nodes.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69" name="TextBox 123"/>
          <p:cNvSpPr txBox="1"/>
          <p:nvPr/>
        </p:nvSpPr>
        <p:spPr>
          <a:xfrm>
            <a:off x="7901940" y="2189480"/>
            <a:ext cx="30740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3. Internal/Decision Nodes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When a sub-node splits into further sub-nodes, it is called a decision node.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70" name="TextBox 123"/>
          <p:cNvSpPr txBox="1"/>
          <p:nvPr/>
        </p:nvSpPr>
        <p:spPr>
          <a:xfrm>
            <a:off x="371475" y="4869180"/>
            <a:ext cx="307403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4. Leaf/Terminal Nodes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Nodes that do not split.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71" name="TextBox 123"/>
          <p:cNvSpPr txBox="1"/>
          <p:nvPr/>
        </p:nvSpPr>
        <p:spPr>
          <a:xfrm>
            <a:off x="371475" y="5483225"/>
            <a:ext cx="23577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They have  </a:t>
            </a:r>
            <a:r>
              <a:rPr lang="en-US" sz="1400" dirty="0">
                <a:solidFill>
                  <a:srgbClr val="FF564F"/>
                </a:solidFill>
                <a:latin typeface="Candara" panose="020E0502030303020204" charset="0"/>
              </a:rPr>
              <a:t>arrows 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pointing to them but no arrows poiting away from them.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5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  <a:endCxn id="34" idx="0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4" idx="4"/>
            <a:endCxn id="38" idx="0"/>
          </p:cNvCxnSpPr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9" idx="0"/>
          </p:cNvCxnSpPr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445635" y="3070860"/>
            <a:ext cx="1085215" cy="601980"/>
            <a:chOff x="7057" y="4886"/>
            <a:chExt cx="1709" cy="948"/>
          </a:xfrm>
        </p:grpSpPr>
        <p:sp>
          <p:nvSpPr>
            <p:cNvPr id="10" name="Text Box 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63055" y="3070860"/>
            <a:ext cx="1085215" cy="601980"/>
            <a:chOff x="7057" y="4886"/>
            <a:chExt cx="1709" cy="948"/>
          </a:xfrm>
        </p:grpSpPr>
        <p:sp>
          <p:nvSpPr>
            <p:cNvPr id="35" name="Text Box 34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36" name="Text Box 35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221855" y="4425315"/>
            <a:ext cx="1085215" cy="601980"/>
            <a:chOff x="7057" y="4886"/>
            <a:chExt cx="1709" cy="948"/>
          </a:xfrm>
        </p:grpSpPr>
        <p:sp>
          <p:nvSpPr>
            <p:cNvPr id="40" name="Text Box 3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1" name="Text Box 40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43" name="Text Box 42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4" name="Text Box 43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cxnSp>
        <p:nvCxnSpPr>
          <p:cNvPr id="14" name="Straight Connector 13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5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7" name="Text Box 16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8" name="Oval 17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23"/>
          <p:cNvSpPr txBox="1"/>
          <p:nvPr/>
        </p:nvSpPr>
        <p:spPr>
          <a:xfrm>
            <a:off x="6415405" y="546735"/>
            <a:ext cx="1961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1. Root Node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represents the entire population or sample.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4" name="TextBox 123"/>
          <p:cNvSpPr txBox="1"/>
          <p:nvPr/>
        </p:nvSpPr>
        <p:spPr>
          <a:xfrm>
            <a:off x="1580515" y="1245235"/>
            <a:ext cx="28067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2. Splitting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is the process of </a:t>
            </a:r>
            <a:r>
              <a:rPr lang="en-US" sz="1400" b="1" dirty="0">
                <a:solidFill>
                  <a:srgbClr val="595959"/>
                </a:solidFill>
                <a:latin typeface="Candara" panose="020E0502030303020204" charset="0"/>
              </a:rPr>
              <a:t>dividing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 node into two or more sub-nodes.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5" name="TextBox 123"/>
          <p:cNvSpPr txBox="1"/>
          <p:nvPr/>
        </p:nvSpPr>
        <p:spPr>
          <a:xfrm>
            <a:off x="7901940" y="2189480"/>
            <a:ext cx="30740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3. Internal/Decision Nodes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When a sub-node splits into further sub-nodes, it is called a decision node.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8" name="TextBox 123"/>
          <p:cNvSpPr txBox="1"/>
          <p:nvPr/>
        </p:nvSpPr>
        <p:spPr>
          <a:xfrm>
            <a:off x="371475" y="4869180"/>
            <a:ext cx="307403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4. Leaf/Terminal Nodes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Nodes that do not split.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" name="Straight Connector 51"/>
          <p:cNvCxnSpPr>
            <a:stCxn id="7" idx="4"/>
            <a:endCxn id="46" idx="0"/>
          </p:cNvCxnSpPr>
          <p:nvPr/>
        </p:nvCxnSpPr>
        <p:spPr>
          <a:xfrm flipH="1">
            <a:off x="44310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7" idx="4"/>
            <a:endCxn id="11" idx="0"/>
          </p:cNvCxnSpPr>
          <p:nvPr/>
        </p:nvCxnSpPr>
        <p:spPr>
          <a:xfrm>
            <a:off x="49847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1" idx="4"/>
            <a:endCxn id="33" idx="0"/>
          </p:cNvCxnSpPr>
          <p:nvPr/>
        </p:nvCxnSpPr>
        <p:spPr>
          <a:xfrm flipH="1">
            <a:off x="665353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1" idx="4"/>
            <a:endCxn id="34" idx="0"/>
          </p:cNvCxnSpPr>
          <p:nvPr/>
        </p:nvCxnSpPr>
        <p:spPr>
          <a:xfrm>
            <a:off x="7207250" y="301942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4"/>
            <a:endCxn id="48" idx="0"/>
          </p:cNvCxnSpPr>
          <p:nvPr/>
        </p:nvCxnSpPr>
        <p:spPr>
          <a:xfrm flipH="1">
            <a:off x="387731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6" idx="4"/>
            <a:endCxn id="49" idx="0"/>
          </p:cNvCxnSpPr>
          <p:nvPr/>
        </p:nvCxnSpPr>
        <p:spPr>
          <a:xfrm>
            <a:off x="443103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4" idx="4"/>
            <a:endCxn id="38" idx="0"/>
          </p:cNvCxnSpPr>
          <p:nvPr/>
        </p:nvCxnSpPr>
        <p:spPr>
          <a:xfrm flipH="1">
            <a:off x="720725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9" idx="0"/>
          </p:cNvCxnSpPr>
          <p:nvPr/>
        </p:nvCxnSpPr>
        <p:spPr>
          <a:xfrm>
            <a:off x="7760970" y="4359275"/>
            <a:ext cx="553720" cy="722630"/>
          </a:xfrm>
          <a:prstGeom prst="line">
            <a:avLst/>
          </a:prstGeom>
          <a:ln w="25400">
            <a:solidFill>
              <a:srgbClr val="595959"/>
            </a:solidFill>
            <a:prstDash val="dash"/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445635" y="3070860"/>
            <a:ext cx="1085215" cy="601980"/>
            <a:chOff x="7057" y="4886"/>
            <a:chExt cx="1709" cy="948"/>
          </a:xfrm>
        </p:grpSpPr>
        <p:sp>
          <p:nvSpPr>
            <p:cNvPr id="10" name="Text Box 9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63055" y="3070860"/>
            <a:ext cx="1085215" cy="601980"/>
            <a:chOff x="7057" y="4886"/>
            <a:chExt cx="1709" cy="948"/>
          </a:xfrm>
        </p:grpSpPr>
        <p:sp>
          <p:nvSpPr>
            <p:cNvPr id="35" name="Text Box 34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36" name="Text Box 35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40" name="Text Box 39"/>
          <p:cNvSpPr txBox="1"/>
          <p:nvPr/>
        </p:nvSpPr>
        <p:spPr>
          <a:xfrm rot="18480000">
            <a:off x="7077075" y="4588510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3890010" y="4425315"/>
            <a:ext cx="1085215" cy="601980"/>
            <a:chOff x="7057" y="4886"/>
            <a:chExt cx="1709" cy="948"/>
          </a:xfrm>
        </p:grpSpPr>
        <p:sp>
          <p:nvSpPr>
            <p:cNvPr id="43" name="Text Box 42"/>
            <p:cNvSpPr txBox="1"/>
            <p:nvPr/>
          </p:nvSpPr>
          <p:spPr>
            <a:xfrm rot="18480000">
              <a:off x="6829" y="5143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4" name="Text Box 43"/>
            <p:cNvSpPr txBox="1"/>
            <p:nvPr/>
          </p:nvSpPr>
          <p:spPr>
            <a:xfrm rot="3180000">
              <a:off x="8075" y="5143"/>
              <a:ext cx="948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cxnSp>
        <p:nvCxnSpPr>
          <p:cNvPr id="14" name="Straight Connector 13"/>
          <p:cNvCxnSpPr/>
          <p:nvPr/>
        </p:nvCxnSpPr>
        <p:spPr>
          <a:xfrm flipH="1">
            <a:off x="4984750" y="1776730"/>
            <a:ext cx="112204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5" idx="0"/>
          </p:cNvCxnSpPr>
          <p:nvPr/>
        </p:nvCxnSpPr>
        <p:spPr>
          <a:xfrm>
            <a:off x="6106795" y="1776730"/>
            <a:ext cx="1100455" cy="62547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 rot="19860000">
            <a:off x="5020310" y="194373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7" name="Text Box 16"/>
          <p:cNvSpPr txBox="1"/>
          <p:nvPr/>
        </p:nvSpPr>
        <p:spPr>
          <a:xfrm rot="1800000">
            <a:off x="6649720" y="1978660"/>
            <a:ext cx="6019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8" name="Oval 17"/>
          <p:cNvSpPr/>
          <p:nvPr/>
        </p:nvSpPr>
        <p:spPr>
          <a:xfrm>
            <a:off x="5798185" y="1159510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745236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4122420" y="374205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6761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898640" y="2402205"/>
            <a:ext cx="617220" cy="617220"/>
          </a:xfrm>
          <a:prstGeom prst="ellipse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522986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344920" y="374205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8986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006080" y="5081905"/>
            <a:ext cx="617220" cy="617220"/>
          </a:xfrm>
          <a:prstGeom prst="ellipse">
            <a:avLst/>
          </a:prstGeom>
          <a:noFill/>
          <a:ln w="19050">
            <a:solidFill>
              <a:srgbClr val="595959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C00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56870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676140" y="5081905"/>
            <a:ext cx="617220" cy="61722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23"/>
          <p:cNvSpPr txBox="1"/>
          <p:nvPr/>
        </p:nvSpPr>
        <p:spPr>
          <a:xfrm>
            <a:off x="6415405" y="546735"/>
            <a:ext cx="1961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1. Root Node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represents the entire population or sample.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4" name="TextBox 123"/>
          <p:cNvSpPr txBox="1"/>
          <p:nvPr/>
        </p:nvSpPr>
        <p:spPr>
          <a:xfrm>
            <a:off x="1580515" y="1245235"/>
            <a:ext cx="28067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2. Splitting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It is the process of </a:t>
            </a:r>
            <a:r>
              <a:rPr lang="en-US" sz="1400" b="1" dirty="0">
                <a:solidFill>
                  <a:srgbClr val="595959"/>
                </a:solidFill>
                <a:latin typeface="Candara" panose="020E0502030303020204" charset="0"/>
              </a:rPr>
              <a:t>dividing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a node into two or more sub-nodes.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5" name="TextBox 123"/>
          <p:cNvSpPr txBox="1"/>
          <p:nvPr/>
        </p:nvSpPr>
        <p:spPr>
          <a:xfrm>
            <a:off x="7901940" y="2189480"/>
            <a:ext cx="30740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3. Internal/Decision Nodes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When a sub-node splits into further sub-nodes, it is called a decision node.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8" name="TextBox 123"/>
          <p:cNvSpPr txBox="1"/>
          <p:nvPr/>
        </p:nvSpPr>
        <p:spPr>
          <a:xfrm>
            <a:off x="371475" y="4869180"/>
            <a:ext cx="307403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4. Leaf/Terminal Nodes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Nodes that do not split.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8" name="TextBox 123"/>
          <p:cNvSpPr txBox="1"/>
          <p:nvPr/>
        </p:nvSpPr>
        <p:spPr>
          <a:xfrm>
            <a:off x="8804275" y="4418965"/>
            <a:ext cx="307403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andara" panose="020E0502030303020204" charset="0"/>
                <a:sym typeface="+mn-ea"/>
              </a:rPr>
              <a:t>5. Pruning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Process of removing sub-nodes of a decision node.</a:t>
            </a:r>
          </a:p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Some algorithms rely on </a:t>
            </a:r>
            <a:r>
              <a:rPr lang="en-US" sz="1400" i="1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pruning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to delete unnecessary nodes.</a:t>
            </a:r>
          </a:p>
        </p:txBody>
      </p:sp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Rectangle 6"/>
          <p:cNvSpPr/>
          <p:nvPr/>
        </p:nvSpPr>
        <p:spPr>
          <a:xfrm rot="16200000">
            <a:off x="-2173892" y="4901126"/>
            <a:ext cx="342692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ctangle 10"/>
          <p:cNvSpPr/>
          <p:nvPr/>
        </p:nvSpPr>
        <p:spPr>
          <a:xfrm rot="16200000">
            <a:off x="-2175785" y="1472305"/>
            <a:ext cx="3430715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Rectangle 12"/>
          <p:cNvSpPr/>
          <p:nvPr/>
        </p:nvSpPr>
        <p:spPr>
          <a:xfrm>
            <a:off x="-3239" y="6919252"/>
            <a:ext cx="6096034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ctangle 15"/>
          <p:cNvSpPr/>
          <p:nvPr/>
        </p:nvSpPr>
        <p:spPr>
          <a:xfrm>
            <a:off x="6099206" y="6919251"/>
            <a:ext cx="6092794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Group 3"/>
          <p:cNvGrpSpPr/>
          <p:nvPr/>
        </p:nvGrpSpPr>
        <p:grpSpPr>
          <a:xfrm>
            <a:off x="311738" y="508539"/>
            <a:ext cx="5466080" cy="2413635"/>
            <a:chOff x="371475" y="893897"/>
            <a:chExt cx="5466080" cy="2413635"/>
          </a:xfrm>
        </p:grpSpPr>
        <p:grpSp>
          <p:nvGrpSpPr>
            <p:cNvPr id="21" name="Group 20"/>
            <p:cNvGrpSpPr/>
            <p:nvPr/>
          </p:nvGrpSpPr>
          <p:grpSpPr>
            <a:xfrm>
              <a:off x="371475" y="2526482"/>
              <a:ext cx="5466080" cy="781050"/>
              <a:chOff x="5042" y="5019"/>
              <a:chExt cx="8608" cy="1230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5042" y="5019"/>
                <a:ext cx="2700" cy="1230"/>
                <a:chOff x="5042" y="5019"/>
                <a:chExt cx="2700" cy="1230"/>
              </a:xfrm>
            </p:grpSpPr>
            <p:sp>
              <p:nvSpPr>
                <p:cNvPr id="13" name="Rounded Rectangle 12"/>
                <p:cNvSpPr/>
                <p:nvPr/>
              </p:nvSpPr>
              <p:spPr>
                <a:xfrm>
                  <a:off x="5042" y="5019"/>
                  <a:ext cx="2700" cy="1230"/>
                </a:xfrm>
                <a:prstGeom prst="roundRect">
                  <a:avLst/>
                </a:prstGeom>
                <a:solidFill>
                  <a:srgbClr val="FFD700"/>
                </a:solidFill>
                <a:ln w="19050">
                  <a:solidFill>
                    <a:srgbClr val="59595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b="1">
                    <a:latin typeface="Candara" panose="020E0502030303020204" charset="0"/>
                    <a:cs typeface="Candara" panose="020E0502030303020204" charset="0"/>
                  </a:endParaRPr>
                </a:p>
              </p:txBody>
            </p:sp>
            <p:sp>
              <p:nvSpPr>
                <p:cNvPr id="14" name="Text Box 13"/>
                <p:cNvSpPr txBox="1"/>
                <p:nvPr/>
              </p:nvSpPr>
              <p:spPr>
                <a:xfrm>
                  <a:off x="5042" y="5368"/>
                  <a:ext cx="2699" cy="53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sz="2000" b="1" dirty="0">
                      <a:solidFill>
                        <a:schemeClr val="bg1"/>
                      </a:solidFill>
                      <a:latin typeface="Candara" panose="020E0502030303020204" charset="0"/>
                      <a:cs typeface="Candara" panose="020E0502030303020204" charset="0"/>
                      <a:sym typeface="+mn-ea"/>
                    </a:rPr>
                    <a:t>Wise Person</a:t>
                  </a:r>
                </a:p>
              </p:txBody>
            </p:sp>
          </p:grpSp>
          <p:grpSp>
            <p:nvGrpSpPr>
              <p:cNvPr id="20" name="Group 19"/>
              <p:cNvGrpSpPr/>
              <p:nvPr/>
            </p:nvGrpSpPr>
            <p:grpSpPr>
              <a:xfrm>
                <a:off x="10950" y="5019"/>
                <a:ext cx="2700" cy="1230"/>
                <a:chOff x="10950" y="5326"/>
                <a:chExt cx="2700" cy="1230"/>
              </a:xfrm>
            </p:grpSpPr>
            <p:sp>
              <p:nvSpPr>
                <p:cNvPr id="17" name="Rounded Rectangle 16"/>
                <p:cNvSpPr/>
                <p:nvPr/>
              </p:nvSpPr>
              <p:spPr>
                <a:xfrm>
                  <a:off x="10950" y="5326"/>
                  <a:ext cx="2700" cy="1230"/>
                </a:xfrm>
                <a:prstGeom prst="roundRect">
                  <a:avLst/>
                </a:prstGeom>
                <a:solidFill>
                  <a:srgbClr val="FFD700"/>
                </a:solidFill>
                <a:ln w="19050">
                  <a:solidFill>
                    <a:srgbClr val="59595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b="1">
                    <a:latin typeface="Candara" panose="020E0502030303020204" charset="0"/>
                    <a:cs typeface="Candara" panose="020E0502030303020204" charset="0"/>
                  </a:endParaRPr>
                </a:p>
              </p:txBody>
            </p:sp>
            <p:sp>
              <p:nvSpPr>
                <p:cNvPr id="18" name="Text Box 17"/>
                <p:cNvSpPr txBox="1"/>
                <p:nvPr/>
              </p:nvSpPr>
              <p:spPr>
                <a:xfrm>
                  <a:off x="10950" y="5481"/>
                  <a:ext cx="2699" cy="919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sz="2000" b="1" dirty="0">
                      <a:solidFill>
                        <a:schemeClr val="bg1"/>
                      </a:solidFill>
                      <a:latin typeface="Candara" panose="020E0502030303020204" charset="0"/>
                      <a:cs typeface="Candara" panose="020E0502030303020204" charset="0"/>
                      <a:sym typeface="+mn-ea"/>
                    </a:rPr>
                    <a:t>Unhappy Person</a:t>
                  </a:r>
                </a:p>
              </p:txBody>
            </p:sp>
          </p:grpSp>
        </p:grpSp>
        <p:cxnSp>
          <p:nvCxnSpPr>
            <p:cNvPr id="22" name="Straight Connector 21"/>
            <p:cNvCxnSpPr>
              <a:stCxn id="2" idx="2"/>
              <a:endCxn id="13" idx="0"/>
            </p:cNvCxnSpPr>
            <p:nvPr/>
          </p:nvCxnSpPr>
          <p:spPr>
            <a:xfrm flipH="1">
              <a:off x="1228725" y="1674947"/>
              <a:ext cx="1875790" cy="851535"/>
            </a:xfrm>
            <a:prstGeom prst="line">
              <a:avLst/>
            </a:prstGeom>
            <a:ln w="28575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endCxn id="17" idx="0"/>
            </p:cNvCxnSpPr>
            <p:nvPr/>
          </p:nvCxnSpPr>
          <p:spPr>
            <a:xfrm>
              <a:off x="3104515" y="1674947"/>
              <a:ext cx="1875790" cy="851535"/>
            </a:xfrm>
            <a:prstGeom prst="line">
              <a:avLst/>
            </a:prstGeom>
            <a:ln w="28575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2247265" y="893897"/>
              <a:ext cx="1714500" cy="781050"/>
              <a:chOff x="8250" y="2868"/>
              <a:chExt cx="2700" cy="1230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8250" y="2868"/>
                <a:ext cx="2700" cy="1230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b="1">
                  <a:latin typeface="Candara" panose="020E0502030303020204" charset="0"/>
                  <a:cs typeface="Candara" panose="020E0502030303020204" charset="0"/>
                </a:endParaRPr>
              </a:p>
            </p:txBody>
          </p:sp>
          <p:sp>
            <p:nvSpPr>
              <p:cNvPr id="24" name="Text Box 23"/>
              <p:cNvSpPr txBox="1"/>
              <p:nvPr/>
            </p:nvSpPr>
            <p:spPr>
              <a:xfrm>
                <a:off x="8250" y="2888"/>
                <a:ext cx="2699" cy="118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  <a:t>Like classical Star Wars Trilogy</a:t>
                </a:r>
              </a:p>
            </p:txBody>
          </p:sp>
        </p:grpSp>
        <p:sp>
          <p:nvSpPr>
            <p:cNvPr id="26" name="Text Box 25"/>
            <p:cNvSpPr txBox="1"/>
            <p:nvPr/>
          </p:nvSpPr>
          <p:spPr>
            <a:xfrm rot="1500000">
              <a:off x="4232170" y="2041124"/>
              <a:ext cx="678391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4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sp>
          <p:nvSpPr>
            <p:cNvPr id="27" name="Text Box 26"/>
            <p:cNvSpPr txBox="1"/>
            <p:nvPr/>
          </p:nvSpPr>
          <p:spPr>
            <a:xfrm rot="20160000">
              <a:off x="1346145" y="2037314"/>
              <a:ext cx="635110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4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</p:grpSp>
      <p:sp>
        <p:nvSpPr>
          <p:cNvPr id="28" name="TextBox 123"/>
          <p:cNvSpPr txBox="1"/>
          <p:nvPr/>
        </p:nvSpPr>
        <p:spPr>
          <a:xfrm>
            <a:off x="839883" y="3714533"/>
            <a:ext cx="44097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When a </a:t>
            </a:r>
            <a:r>
              <a:rPr lang="en-US" b="1" dirty="0">
                <a:latin typeface="Candara" panose="020E0502030303020204" charset="0"/>
              </a:rPr>
              <a:t>Decision Tree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estimates </a:t>
            </a:r>
            <a:r>
              <a:rPr lang="en-US" b="1" dirty="0">
                <a:latin typeface="Candara" panose="020E0502030303020204" charset="0"/>
              </a:rPr>
              <a:t>categories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it is called a </a:t>
            </a:r>
            <a:r>
              <a:rPr lang="en-US" sz="2400" b="1" dirty="0">
                <a:solidFill>
                  <a:srgbClr val="FF564F"/>
                </a:solidFill>
                <a:latin typeface="Candara" panose="020E0502030303020204" charset="0"/>
              </a:rPr>
              <a:t>Classification Tree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Rectangle 6"/>
          <p:cNvSpPr/>
          <p:nvPr/>
        </p:nvSpPr>
        <p:spPr>
          <a:xfrm rot="16200000">
            <a:off x="-2173892" y="4901126"/>
            <a:ext cx="342692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ctangle 10"/>
          <p:cNvSpPr/>
          <p:nvPr/>
        </p:nvSpPr>
        <p:spPr>
          <a:xfrm rot="16200000">
            <a:off x="-2175785" y="1472305"/>
            <a:ext cx="3430715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Rectangle 12"/>
          <p:cNvSpPr/>
          <p:nvPr/>
        </p:nvSpPr>
        <p:spPr>
          <a:xfrm>
            <a:off x="-3239" y="6919252"/>
            <a:ext cx="6096034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ctangle 15"/>
          <p:cNvSpPr/>
          <p:nvPr/>
        </p:nvSpPr>
        <p:spPr>
          <a:xfrm>
            <a:off x="6099206" y="6919251"/>
            <a:ext cx="6092794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Group 3"/>
          <p:cNvGrpSpPr/>
          <p:nvPr/>
        </p:nvGrpSpPr>
        <p:grpSpPr>
          <a:xfrm>
            <a:off x="311738" y="508539"/>
            <a:ext cx="5466080" cy="2413635"/>
            <a:chOff x="371475" y="893897"/>
            <a:chExt cx="5466080" cy="2413635"/>
          </a:xfrm>
        </p:grpSpPr>
        <p:grpSp>
          <p:nvGrpSpPr>
            <p:cNvPr id="21" name="Group 20"/>
            <p:cNvGrpSpPr/>
            <p:nvPr/>
          </p:nvGrpSpPr>
          <p:grpSpPr>
            <a:xfrm>
              <a:off x="371475" y="2526482"/>
              <a:ext cx="5466080" cy="781050"/>
              <a:chOff x="5042" y="5019"/>
              <a:chExt cx="8608" cy="1230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5042" y="5019"/>
                <a:ext cx="2700" cy="1230"/>
                <a:chOff x="5042" y="5019"/>
                <a:chExt cx="2700" cy="1230"/>
              </a:xfrm>
            </p:grpSpPr>
            <p:sp>
              <p:nvSpPr>
                <p:cNvPr id="13" name="Rounded Rectangle 12"/>
                <p:cNvSpPr/>
                <p:nvPr/>
              </p:nvSpPr>
              <p:spPr>
                <a:xfrm>
                  <a:off x="5042" y="5019"/>
                  <a:ext cx="2700" cy="1230"/>
                </a:xfrm>
                <a:prstGeom prst="roundRect">
                  <a:avLst/>
                </a:prstGeom>
                <a:solidFill>
                  <a:srgbClr val="FFD700"/>
                </a:solidFill>
                <a:ln w="19050">
                  <a:solidFill>
                    <a:srgbClr val="59595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b="1">
                    <a:latin typeface="Candara" panose="020E0502030303020204" charset="0"/>
                    <a:cs typeface="Candara" panose="020E0502030303020204" charset="0"/>
                  </a:endParaRPr>
                </a:p>
              </p:txBody>
            </p:sp>
            <p:sp>
              <p:nvSpPr>
                <p:cNvPr id="14" name="Text Box 13"/>
                <p:cNvSpPr txBox="1"/>
                <p:nvPr/>
              </p:nvSpPr>
              <p:spPr>
                <a:xfrm>
                  <a:off x="5042" y="5368"/>
                  <a:ext cx="2699" cy="53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sz="2000" b="1">
                      <a:solidFill>
                        <a:schemeClr val="bg1"/>
                      </a:solidFill>
                      <a:latin typeface="Candara" panose="020E0502030303020204" charset="0"/>
                      <a:cs typeface="Candara" panose="020E0502030303020204" charset="0"/>
                      <a:sym typeface="+mn-ea"/>
                    </a:rPr>
                    <a:t>Wise Person</a:t>
                  </a:r>
                </a:p>
              </p:txBody>
            </p:sp>
          </p:grpSp>
          <p:grpSp>
            <p:nvGrpSpPr>
              <p:cNvPr id="20" name="Group 19"/>
              <p:cNvGrpSpPr/>
              <p:nvPr/>
            </p:nvGrpSpPr>
            <p:grpSpPr>
              <a:xfrm>
                <a:off x="10950" y="5019"/>
                <a:ext cx="2700" cy="1230"/>
                <a:chOff x="10950" y="5326"/>
                <a:chExt cx="2700" cy="1230"/>
              </a:xfrm>
            </p:grpSpPr>
            <p:sp>
              <p:nvSpPr>
                <p:cNvPr id="17" name="Rounded Rectangle 16"/>
                <p:cNvSpPr/>
                <p:nvPr/>
              </p:nvSpPr>
              <p:spPr>
                <a:xfrm>
                  <a:off x="10950" y="5326"/>
                  <a:ext cx="2700" cy="1230"/>
                </a:xfrm>
                <a:prstGeom prst="roundRect">
                  <a:avLst/>
                </a:prstGeom>
                <a:solidFill>
                  <a:srgbClr val="FFD700"/>
                </a:solidFill>
                <a:ln w="19050">
                  <a:solidFill>
                    <a:srgbClr val="59595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b="1">
                    <a:latin typeface="Candara" panose="020E0502030303020204" charset="0"/>
                    <a:cs typeface="Candara" panose="020E0502030303020204" charset="0"/>
                  </a:endParaRPr>
                </a:p>
              </p:txBody>
            </p:sp>
            <p:sp>
              <p:nvSpPr>
                <p:cNvPr id="18" name="Text Box 17"/>
                <p:cNvSpPr txBox="1"/>
                <p:nvPr/>
              </p:nvSpPr>
              <p:spPr>
                <a:xfrm>
                  <a:off x="10950" y="5481"/>
                  <a:ext cx="2699" cy="919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sz="2000" b="1" dirty="0">
                      <a:solidFill>
                        <a:schemeClr val="bg1"/>
                      </a:solidFill>
                      <a:latin typeface="Candara" panose="020E0502030303020204" charset="0"/>
                      <a:cs typeface="Candara" panose="020E0502030303020204" charset="0"/>
                      <a:sym typeface="+mn-ea"/>
                    </a:rPr>
                    <a:t>Unhappy Person</a:t>
                  </a:r>
                </a:p>
              </p:txBody>
            </p:sp>
          </p:grpSp>
        </p:grpSp>
        <p:cxnSp>
          <p:nvCxnSpPr>
            <p:cNvPr id="22" name="Straight Connector 21"/>
            <p:cNvCxnSpPr>
              <a:stCxn id="2" idx="2"/>
              <a:endCxn id="13" idx="0"/>
            </p:cNvCxnSpPr>
            <p:nvPr/>
          </p:nvCxnSpPr>
          <p:spPr>
            <a:xfrm flipH="1">
              <a:off x="1228725" y="1674947"/>
              <a:ext cx="1875790" cy="851535"/>
            </a:xfrm>
            <a:prstGeom prst="line">
              <a:avLst/>
            </a:prstGeom>
            <a:ln w="28575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endCxn id="17" idx="0"/>
            </p:cNvCxnSpPr>
            <p:nvPr/>
          </p:nvCxnSpPr>
          <p:spPr>
            <a:xfrm>
              <a:off x="3104515" y="1674947"/>
              <a:ext cx="1875790" cy="851535"/>
            </a:xfrm>
            <a:prstGeom prst="line">
              <a:avLst/>
            </a:prstGeom>
            <a:ln w="28575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2247265" y="893897"/>
              <a:ext cx="1714500" cy="781050"/>
              <a:chOff x="8250" y="2868"/>
              <a:chExt cx="2700" cy="1230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8250" y="2868"/>
                <a:ext cx="2700" cy="1230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b="1">
                  <a:latin typeface="Candara" panose="020E0502030303020204" charset="0"/>
                  <a:cs typeface="Candara" panose="020E0502030303020204" charset="0"/>
                </a:endParaRPr>
              </a:p>
            </p:txBody>
          </p:sp>
          <p:sp>
            <p:nvSpPr>
              <p:cNvPr id="24" name="Text Box 23"/>
              <p:cNvSpPr txBox="1"/>
              <p:nvPr/>
            </p:nvSpPr>
            <p:spPr>
              <a:xfrm>
                <a:off x="8250" y="2888"/>
                <a:ext cx="2699" cy="118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  <a:t>Like classical Star Wars Trilogy</a:t>
                </a:r>
              </a:p>
            </p:txBody>
          </p:sp>
        </p:grpSp>
        <p:sp>
          <p:nvSpPr>
            <p:cNvPr id="26" name="Text Box 25"/>
            <p:cNvSpPr txBox="1"/>
            <p:nvPr/>
          </p:nvSpPr>
          <p:spPr>
            <a:xfrm rot="1500000">
              <a:off x="4232170" y="2041124"/>
              <a:ext cx="678391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4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sp>
          <p:nvSpPr>
            <p:cNvPr id="27" name="Text Box 26"/>
            <p:cNvSpPr txBox="1"/>
            <p:nvPr/>
          </p:nvSpPr>
          <p:spPr>
            <a:xfrm rot="20160000">
              <a:off x="1346145" y="2037314"/>
              <a:ext cx="635110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4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</p:grpSp>
      <p:sp>
        <p:nvSpPr>
          <p:cNvPr id="28" name="TextBox 123"/>
          <p:cNvSpPr txBox="1"/>
          <p:nvPr/>
        </p:nvSpPr>
        <p:spPr>
          <a:xfrm>
            <a:off x="839883" y="3714533"/>
            <a:ext cx="44097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When a </a:t>
            </a:r>
            <a:r>
              <a:rPr lang="en-US" b="1" dirty="0">
                <a:latin typeface="Candara" panose="020E0502030303020204" charset="0"/>
              </a:rPr>
              <a:t>Decision Tree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estimates </a:t>
            </a:r>
            <a:r>
              <a:rPr lang="en-US" b="1" dirty="0">
                <a:latin typeface="Candara" panose="020E0502030303020204" charset="0"/>
              </a:rPr>
              <a:t>categories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it is called a </a:t>
            </a:r>
            <a:r>
              <a:rPr lang="en-US" sz="2400" b="1" dirty="0">
                <a:solidFill>
                  <a:srgbClr val="FF564F"/>
                </a:solidFill>
                <a:latin typeface="Candara" panose="020E0502030303020204" charset="0"/>
              </a:rPr>
              <a:t>Classification Tree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412245" y="508539"/>
            <a:ext cx="5466398" cy="2413635"/>
            <a:chOff x="6412245" y="694404"/>
            <a:chExt cx="5466398" cy="2413635"/>
          </a:xfrm>
        </p:grpSpPr>
        <p:grpSp>
          <p:nvGrpSpPr>
            <p:cNvPr id="5" name="Group 4"/>
            <p:cNvGrpSpPr/>
            <p:nvPr/>
          </p:nvGrpSpPr>
          <p:grpSpPr>
            <a:xfrm>
              <a:off x="6412245" y="2326989"/>
              <a:ext cx="1714500" cy="781050"/>
              <a:chOff x="6412245" y="2326989"/>
              <a:chExt cx="1714500" cy="781050"/>
            </a:xfrm>
          </p:grpSpPr>
          <p:sp>
            <p:nvSpPr>
              <p:cNvPr id="42" name="Rounded Rectangle 41"/>
              <p:cNvSpPr/>
              <p:nvPr/>
            </p:nvSpPr>
            <p:spPr>
              <a:xfrm>
                <a:off x="6412245" y="2326989"/>
                <a:ext cx="1714500" cy="781050"/>
              </a:xfrm>
              <a:prstGeom prst="round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b="1">
                  <a:latin typeface="Candara" panose="020E0502030303020204" charset="0"/>
                  <a:cs typeface="Candara" panose="020E0502030303020204" charset="0"/>
                </a:endParaRPr>
              </a:p>
            </p:txBody>
          </p:sp>
          <p:sp>
            <p:nvSpPr>
              <p:cNvPr id="43" name="Text Box 13"/>
              <p:cNvSpPr txBox="1"/>
              <p:nvPr/>
            </p:nvSpPr>
            <p:spPr>
              <a:xfrm>
                <a:off x="6412563" y="2421921"/>
                <a:ext cx="1713865" cy="5911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000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  <a:t>Salary =</a:t>
                </a:r>
                <a:br>
                  <a:rPr lang="en-US" sz="2000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</a:br>
                <a:r>
                  <a:rPr lang="en-US" sz="2000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  <a:t>$ 60,000.0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10164143" y="2326989"/>
              <a:ext cx="1714500" cy="781050"/>
              <a:chOff x="10950" y="5326"/>
              <a:chExt cx="2700" cy="1230"/>
            </a:xfrm>
          </p:grpSpPr>
          <p:sp>
            <p:nvSpPr>
              <p:cNvPr id="40" name="Rounded Rectangle 39"/>
              <p:cNvSpPr/>
              <p:nvPr/>
            </p:nvSpPr>
            <p:spPr>
              <a:xfrm>
                <a:off x="10950" y="5326"/>
                <a:ext cx="2700" cy="1230"/>
              </a:xfrm>
              <a:prstGeom prst="round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b="1">
                  <a:latin typeface="Candara" panose="020E0502030303020204" charset="0"/>
                  <a:cs typeface="Candara" panose="020E0502030303020204" charset="0"/>
                </a:endParaRPr>
              </a:p>
            </p:txBody>
          </p:sp>
          <p:sp>
            <p:nvSpPr>
              <p:cNvPr id="41" name="Text Box 17"/>
              <p:cNvSpPr txBox="1"/>
              <p:nvPr/>
            </p:nvSpPr>
            <p:spPr>
              <a:xfrm>
                <a:off x="10950" y="5481"/>
                <a:ext cx="2699" cy="9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000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  <a:t>Salary =</a:t>
                </a:r>
                <a:br>
                  <a:rPr lang="en-US" sz="2000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</a:br>
                <a:r>
                  <a:rPr lang="en-US" sz="2000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  <a:t>$ 100,000.0</a:t>
                </a:r>
              </a:p>
            </p:txBody>
          </p:sp>
        </p:grpSp>
        <p:cxnSp>
          <p:nvCxnSpPr>
            <p:cNvPr id="31" name="Straight Connector 30"/>
            <p:cNvCxnSpPr>
              <a:stCxn id="36" idx="2"/>
              <a:endCxn id="42" idx="0"/>
            </p:cNvCxnSpPr>
            <p:nvPr/>
          </p:nvCxnSpPr>
          <p:spPr>
            <a:xfrm flipH="1">
              <a:off x="7269495" y="1475454"/>
              <a:ext cx="1876108" cy="851535"/>
            </a:xfrm>
            <a:prstGeom prst="line">
              <a:avLst/>
            </a:prstGeom>
            <a:ln w="28575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endCxn id="40" idx="0"/>
            </p:cNvCxnSpPr>
            <p:nvPr/>
          </p:nvCxnSpPr>
          <p:spPr>
            <a:xfrm>
              <a:off x="9145603" y="1475454"/>
              <a:ext cx="1875790" cy="851535"/>
            </a:xfrm>
            <a:prstGeom prst="line">
              <a:avLst/>
            </a:prstGeom>
            <a:ln w="28575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/>
            <p:cNvGrpSpPr/>
            <p:nvPr/>
          </p:nvGrpSpPr>
          <p:grpSpPr>
            <a:xfrm>
              <a:off x="8288353" y="694404"/>
              <a:ext cx="1714500" cy="781050"/>
              <a:chOff x="8288353" y="694404"/>
              <a:chExt cx="1714500" cy="781050"/>
            </a:xfrm>
          </p:grpSpPr>
          <p:sp>
            <p:nvSpPr>
              <p:cNvPr id="36" name="Rounded Rectangle 35"/>
              <p:cNvSpPr/>
              <p:nvPr/>
            </p:nvSpPr>
            <p:spPr>
              <a:xfrm>
                <a:off x="8288353" y="694404"/>
                <a:ext cx="1714500" cy="781050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b="1">
                  <a:latin typeface="Candara" panose="020E0502030303020204" charset="0"/>
                  <a:cs typeface="Candara" panose="020E0502030303020204" charset="0"/>
                </a:endParaRPr>
              </a:p>
            </p:txBody>
          </p:sp>
          <p:sp>
            <p:nvSpPr>
              <p:cNvPr id="37" name="Text Box 23"/>
              <p:cNvSpPr txBox="1"/>
              <p:nvPr/>
            </p:nvSpPr>
            <p:spPr>
              <a:xfrm>
                <a:off x="8288671" y="814419"/>
                <a:ext cx="1713865" cy="5410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  <a:sym typeface="+mn-ea"/>
                  </a:rPr>
                  <a:t>Experience </a:t>
                </a:r>
                <a:r>
                  <a:rPr lang="en-US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</a:rPr>
                  <a:t>≤ 10 years</a:t>
                </a:r>
                <a:endParaRPr lang="en-US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endParaRPr>
              </a:p>
            </p:txBody>
          </p:sp>
        </p:grpSp>
        <p:sp>
          <p:nvSpPr>
            <p:cNvPr id="34" name="Text Box 25"/>
            <p:cNvSpPr txBox="1"/>
            <p:nvPr/>
          </p:nvSpPr>
          <p:spPr>
            <a:xfrm rot="1500000">
              <a:off x="10273258" y="1841631"/>
              <a:ext cx="678391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4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sp>
          <p:nvSpPr>
            <p:cNvPr id="35" name="Text Box 26"/>
            <p:cNvSpPr txBox="1"/>
            <p:nvPr/>
          </p:nvSpPr>
          <p:spPr>
            <a:xfrm rot="20160000">
              <a:off x="7387233" y="1837821"/>
              <a:ext cx="635110" cy="3077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4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</p:grpSp>
      <p:sp>
        <p:nvSpPr>
          <p:cNvPr id="44" name="TextBox 123"/>
          <p:cNvSpPr txBox="1"/>
          <p:nvPr/>
        </p:nvSpPr>
        <p:spPr>
          <a:xfrm>
            <a:off x="6757903" y="3714533"/>
            <a:ext cx="47754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When a </a:t>
            </a:r>
            <a:r>
              <a:rPr lang="en-US" b="1" dirty="0">
                <a:latin typeface="Candara" panose="020E0502030303020204" charset="0"/>
              </a:rPr>
              <a:t>Decision Tree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predicts </a:t>
            </a:r>
            <a:r>
              <a:rPr lang="en-US" b="1" dirty="0">
                <a:latin typeface="Candara" panose="020E0502030303020204" charset="0"/>
              </a:rPr>
              <a:t>numeric values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it is called a </a:t>
            </a:r>
            <a:r>
              <a:rPr lang="en-US" sz="2400" b="1" dirty="0">
                <a:solidFill>
                  <a:srgbClr val="FF564F"/>
                </a:solidFill>
                <a:latin typeface="Candara" panose="020E0502030303020204" charset="0"/>
              </a:rPr>
              <a:t>Regression Tree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164864"/>
            <a:ext cx="11300910" cy="4528272"/>
            <a:chOff x="445546" y="880494"/>
            <a:chExt cx="11300910" cy="4528272"/>
          </a:xfrm>
        </p:grpSpPr>
        <p:grpSp>
          <p:nvGrpSpPr>
            <p:cNvPr id="80" name="Group 79"/>
            <p:cNvGrpSpPr/>
            <p:nvPr/>
          </p:nvGrpSpPr>
          <p:grpSpPr>
            <a:xfrm>
              <a:off x="445546" y="4853289"/>
              <a:ext cx="2670272" cy="555477"/>
              <a:chOff x="358933" y="4762433"/>
              <a:chExt cx="2670272" cy="5554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Sick</a:t>
                </a: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1086901" y="343068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02219" y="880494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82931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3176713" y="1512606"/>
              <a:ext cx="2919288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3240666" y="1713611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Candara" panose="020E0502030303020204" charset="0"/>
                    <a:cs typeface="Candara" panose="020E0502030303020204" charset="0"/>
                  </a:rPr>
                  <a:t>weight 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41" idx="2"/>
              <a:endCxn id="32" idx="0"/>
            </p:cNvCxnSpPr>
            <p:nvPr/>
          </p:nvCxnSpPr>
          <p:spPr>
            <a:xfrm flipH="1">
              <a:off x="1780683" y="2688534"/>
              <a:ext cx="1396030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1780683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1820834" y="2983201"/>
              <a:ext cx="2881123" cy="314611"/>
              <a:chOff x="1820834" y="2976831"/>
              <a:chExt cx="2881123" cy="314611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075873" y="4194524"/>
              <a:ext cx="1410520" cy="609462"/>
              <a:chOff x="1075873" y="4200654"/>
              <a:chExt cx="1410520" cy="609462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31093" y="43468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2043163" y="43668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114" name="TextBox 123"/>
          <p:cNvSpPr txBox="1"/>
          <p:nvPr/>
        </p:nvSpPr>
        <p:spPr>
          <a:xfrm>
            <a:off x="687693" y="677957"/>
            <a:ext cx="4044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Another example of a </a:t>
            </a:r>
            <a:r>
              <a:rPr lang="en-US" b="1" dirty="0">
                <a:latin typeface="Candara" panose="020E0502030303020204" charset="0"/>
              </a:rPr>
              <a:t>Decision Tree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that…</a:t>
            </a:r>
            <a:endParaRPr lang="en-US" sz="1600" b="1" dirty="0">
              <a:latin typeface="Candara" panose="020E0502030303020204" charset="0"/>
            </a:endParaRPr>
          </a:p>
        </p:txBody>
      </p: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123"/>
          <p:cNvSpPr txBox="1"/>
          <p:nvPr/>
        </p:nvSpPr>
        <p:spPr>
          <a:xfrm rot="691217">
            <a:off x="7782210" y="726399"/>
            <a:ext cx="2379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164864"/>
            <a:ext cx="11300910" cy="4528272"/>
            <a:chOff x="445546" y="880494"/>
            <a:chExt cx="11300910" cy="4528272"/>
          </a:xfrm>
        </p:grpSpPr>
        <p:grpSp>
          <p:nvGrpSpPr>
            <p:cNvPr id="80" name="Group 79"/>
            <p:cNvGrpSpPr/>
            <p:nvPr/>
          </p:nvGrpSpPr>
          <p:grpSpPr>
            <a:xfrm>
              <a:off x="445546" y="4853289"/>
              <a:ext cx="2670272" cy="555477"/>
              <a:chOff x="358933" y="4762433"/>
              <a:chExt cx="2670272" cy="5554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Sick</a:t>
                </a: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1086901" y="343068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02219" y="880494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82931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3176713" y="1512606"/>
              <a:ext cx="2919288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3240666" y="1713611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Candara" panose="020E0502030303020204" charset="0"/>
                    <a:cs typeface="Candara" panose="020E0502030303020204" charset="0"/>
                  </a:rPr>
                  <a:t>weight 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41" idx="2"/>
              <a:endCxn id="32" idx="0"/>
            </p:cNvCxnSpPr>
            <p:nvPr/>
          </p:nvCxnSpPr>
          <p:spPr>
            <a:xfrm flipH="1">
              <a:off x="1780683" y="2688534"/>
              <a:ext cx="1396030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1780683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1820834" y="2983201"/>
              <a:ext cx="2881123" cy="314611"/>
              <a:chOff x="1820834" y="2976831"/>
              <a:chExt cx="2881123" cy="314611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075873" y="4194524"/>
              <a:ext cx="1410520" cy="609462"/>
              <a:chOff x="1075873" y="4200654"/>
              <a:chExt cx="1410520" cy="609462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31093" y="43468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2043163" y="43668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114" name="TextBox 123"/>
          <p:cNvSpPr txBox="1"/>
          <p:nvPr/>
        </p:nvSpPr>
        <p:spPr>
          <a:xfrm>
            <a:off x="687693" y="677957"/>
            <a:ext cx="387342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Another example of a </a:t>
            </a:r>
            <a:r>
              <a:rPr lang="en-US" b="1" dirty="0">
                <a:latin typeface="Candara" panose="020E0502030303020204" charset="0"/>
              </a:rPr>
              <a:t>Decision Tree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that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combines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numeric data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…</a:t>
            </a:r>
          </a:p>
        </p:txBody>
      </p:sp>
      <p:sp>
        <p:nvSpPr>
          <p:cNvPr id="2" name="Oval 1"/>
          <p:cNvSpPr/>
          <p:nvPr/>
        </p:nvSpPr>
        <p:spPr>
          <a:xfrm>
            <a:off x="2144486" y="2177143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9336242" y="3516247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20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3" name="TextBox 123"/>
          <p:cNvSpPr txBox="1"/>
          <p:nvPr/>
        </p:nvSpPr>
        <p:spPr>
          <a:xfrm rot="691217">
            <a:off x="7782210" y="726399"/>
            <a:ext cx="2379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164864"/>
            <a:ext cx="11300910" cy="4528272"/>
            <a:chOff x="445546" y="880494"/>
            <a:chExt cx="11300910" cy="4528272"/>
          </a:xfrm>
        </p:grpSpPr>
        <p:grpSp>
          <p:nvGrpSpPr>
            <p:cNvPr id="80" name="Group 79"/>
            <p:cNvGrpSpPr/>
            <p:nvPr/>
          </p:nvGrpSpPr>
          <p:grpSpPr>
            <a:xfrm>
              <a:off x="445546" y="4853289"/>
              <a:ext cx="2670272" cy="555477"/>
              <a:chOff x="358933" y="4762433"/>
              <a:chExt cx="2670272" cy="5554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Sick</a:t>
                </a: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1086901" y="343068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02219" y="880494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82931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3176713" y="1512606"/>
              <a:ext cx="2919288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3240666" y="1713611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Candara" panose="020E0502030303020204" charset="0"/>
                    <a:cs typeface="Candara" panose="020E0502030303020204" charset="0"/>
                  </a:rPr>
                  <a:t>weight 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41" idx="2"/>
              <a:endCxn id="32" idx="0"/>
            </p:cNvCxnSpPr>
            <p:nvPr/>
          </p:nvCxnSpPr>
          <p:spPr>
            <a:xfrm flipH="1">
              <a:off x="1780683" y="2688534"/>
              <a:ext cx="1396030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1780683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1820834" y="2983201"/>
              <a:ext cx="2881123" cy="314611"/>
              <a:chOff x="1820834" y="2976831"/>
              <a:chExt cx="2881123" cy="314611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075873" y="4194524"/>
              <a:ext cx="1410520" cy="609462"/>
              <a:chOff x="1075873" y="4200654"/>
              <a:chExt cx="1410520" cy="609462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31093" y="43468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2043163" y="43668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114" name="TextBox 123"/>
          <p:cNvSpPr txBox="1"/>
          <p:nvPr/>
        </p:nvSpPr>
        <p:spPr>
          <a:xfrm>
            <a:off x="687693" y="677957"/>
            <a:ext cx="38734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Another example of a </a:t>
            </a:r>
            <a:r>
              <a:rPr lang="en-US" b="1" dirty="0">
                <a:latin typeface="Candara" panose="020E0502030303020204" charset="0"/>
              </a:rPr>
              <a:t>Decision Tree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that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combines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numeric data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with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categorical (binary) data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…</a:t>
            </a:r>
          </a:p>
        </p:txBody>
      </p:sp>
      <p:sp>
        <p:nvSpPr>
          <p:cNvPr id="2" name="Oval 1"/>
          <p:cNvSpPr/>
          <p:nvPr/>
        </p:nvSpPr>
        <p:spPr>
          <a:xfrm>
            <a:off x="5109672" y="994742"/>
            <a:ext cx="1979067" cy="972356"/>
          </a:xfrm>
          <a:prstGeom prst="ellipse">
            <a:avLst/>
          </a:prstGeom>
          <a:noFill/>
          <a:ln w="28575">
            <a:solidFill>
              <a:srgbClr val="358E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8022548" y="2177143"/>
            <a:ext cx="1979067" cy="972356"/>
          </a:xfrm>
          <a:prstGeom prst="ellipse">
            <a:avLst/>
          </a:prstGeom>
          <a:noFill/>
          <a:ln w="28575">
            <a:solidFill>
              <a:srgbClr val="358E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787432" y="3534043"/>
            <a:ext cx="1979067" cy="972356"/>
          </a:xfrm>
          <a:prstGeom prst="ellipse">
            <a:avLst/>
          </a:prstGeom>
          <a:noFill/>
          <a:ln w="28575">
            <a:solidFill>
              <a:srgbClr val="358E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144486" y="2177143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9336242" y="3516247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21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Box 123"/>
          <p:cNvSpPr txBox="1"/>
          <p:nvPr/>
        </p:nvSpPr>
        <p:spPr>
          <a:xfrm rot="691217">
            <a:off x="7782210" y="726399"/>
            <a:ext cx="2379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164864"/>
            <a:ext cx="11300910" cy="4528272"/>
            <a:chOff x="445546" y="880494"/>
            <a:chExt cx="11300910" cy="4528272"/>
          </a:xfrm>
        </p:grpSpPr>
        <p:grpSp>
          <p:nvGrpSpPr>
            <p:cNvPr id="80" name="Group 79"/>
            <p:cNvGrpSpPr/>
            <p:nvPr/>
          </p:nvGrpSpPr>
          <p:grpSpPr>
            <a:xfrm>
              <a:off x="445546" y="4853289"/>
              <a:ext cx="2670272" cy="555477"/>
              <a:chOff x="358933" y="4762433"/>
              <a:chExt cx="2670272" cy="5554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Sick</a:t>
                </a: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1086901" y="343068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02219" y="880494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82931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3176713" y="1512606"/>
              <a:ext cx="2919288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3240666" y="1713611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Candara" panose="020E0502030303020204" charset="0"/>
                    <a:cs typeface="Candara" panose="020E0502030303020204" charset="0"/>
                  </a:rPr>
                  <a:t>weight 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41" idx="2"/>
              <a:endCxn id="32" idx="0"/>
            </p:cNvCxnSpPr>
            <p:nvPr/>
          </p:nvCxnSpPr>
          <p:spPr>
            <a:xfrm flipH="1">
              <a:off x="1780683" y="2688534"/>
              <a:ext cx="1396030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1780683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1820834" y="2983201"/>
              <a:ext cx="2881123" cy="314611"/>
              <a:chOff x="1820834" y="2976831"/>
              <a:chExt cx="2881123" cy="314611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075873" y="4194524"/>
              <a:ext cx="1410520" cy="609462"/>
              <a:chOff x="1075873" y="4200654"/>
              <a:chExt cx="1410520" cy="609462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31093" y="43468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2043163" y="43668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114" name="TextBox 123"/>
          <p:cNvSpPr txBox="1"/>
          <p:nvPr/>
        </p:nvSpPr>
        <p:spPr>
          <a:xfrm>
            <a:off x="687693" y="677957"/>
            <a:ext cx="38734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Another example of a </a:t>
            </a:r>
            <a:r>
              <a:rPr lang="en-US" b="1" dirty="0">
                <a:latin typeface="Candara" panose="020E0502030303020204" charset="0"/>
              </a:rPr>
              <a:t>Decision Tree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that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combines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numeric data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with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categorical (binary) data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,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and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three classes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2" name="Oval 1"/>
          <p:cNvSpPr/>
          <p:nvPr/>
        </p:nvSpPr>
        <p:spPr>
          <a:xfrm>
            <a:off x="5109672" y="994742"/>
            <a:ext cx="1979067" cy="972356"/>
          </a:xfrm>
          <a:prstGeom prst="ellipse">
            <a:avLst/>
          </a:prstGeom>
          <a:noFill/>
          <a:ln w="28575">
            <a:solidFill>
              <a:srgbClr val="358E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8022548" y="2177143"/>
            <a:ext cx="1979067" cy="972356"/>
          </a:xfrm>
          <a:prstGeom prst="ellipse">
            <a:avLst/>
          </a:prstGeom>
          <a:noFill/>
          <a:ln w="28575">
            <a:solidFill>
              <a:srgbClr val="358E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787432" y="3534043"/>
            <a:ext cx="1979067" cy="972356"/>
          </a:xfrm>
          <a:prstGeom prst="ellipse">
            <a:avLst/>
          </a:prstGeom>
          <a:noFill/>
          <a:ln w="28575">
            <a:solidFill>
              <a:srgbClr val="358E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144486" y="2177143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9336242" y="3516247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39580" y="4929220"/>
            <a:ext cx="1635593" cy="972356"/>
          </a:xfrm>
          <a:prstGeom prst="ellipse">
            <a:avLst/>
          </a:prstGeom>
          <a:noFill/>
          <a:ln w="28575">
            <a:solidFill>
              <a:srgbClr val="FFD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704130" y="4922323"/>
            <a:ext cx="1635593" cy="972356"/>
          </a:xfrm>
          <a:prstGeom prst="ellipse">
            <a:avLst/>
          </a:prstGeom>
          <a:noFill/>
          <a:ln w="28575">
            <a:solidFill>
              <a:srgbClr val="FFD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3858105" y="3551402"/>
            <a:ext cx="1635593" cy="972356"/>
          </a:xfrm>
          <a:prstGeom prst="ellipse">
            <a:avLst/>
          </a:prstGeom>
          <a:noFill/>
          <a:ln w="28575">
            <a:solidFill>
              <a:srgbClr val="FFD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22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0" name="TextBox 123"/>
          <p:cNvSpPr txBox="1"/>
          <p:nvPr/>
        </p:nvSpPr>
        <p:spPr>
          <a:xfrm rot="691217">
            <a:off x="7782210" y="726399"/>
            <a:ext cx="2379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164864"/>
            <a:ext cx="11300910" cy="4528272"/>
            <a:chOff x="445546" y="880494"/>
            <a:chExt cx="11300910" cy="4528272"/>
          </a:xfrm>
        </p:grpSpPr>
        <p:grpSp>
          <p:nvGrpSpPr>
            <p:cNvPr id="80" name="Group 79"/>
            <p:cNvGrpSpPr/>
            <p:nvPr/>
          </p:nvGrpSpPr>
          <p:grpSpPr>
            <a:xfrm>
              <a:off x="445546" y="4853289"/>
              <a:ext cx="2670272" cy="555477"/>
              <a:chOff x="358933" y="4762433"/>
              <a:chExt cx="2670272" cy="5554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Sick</a:t>
                </a: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1086901" y="343068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02219" y="880494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82931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3176713" y="1512606"/>
              <a:ext cx="2919288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3240666" y="1713611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Candara" panose="020E0502030303020204" charset="0"/>
                    <a:cs typeface="Candara" panose="020E0502030303020204" charset="0"/>
                  </a:rPr>
                  <a:t>weight 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41" idx="2"/>
              <a:endCxn id="32" idx="0"/>
            </p:cNvCxnSpPr>
            <p:nvPr/>
          </p:nvCxnSpPr>
          <p:spPr>
            <a:xfrm flipH="1">
              <a:off x="1780683" y="2688534"/>
              <a:ext cx="1396030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1780683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1820834" y="2983201"/>
              <a:ext cx="2881123" cy="314611"/>
              <a:chOff x="1820834" y="2976831"/>
              <a:chExt cx="2881123" cy="314611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075873" y="4194524"/>
              <a:ext cx="1410520" cy="609462"/>
              <a:chOff x="1075873" y="4200654"/>
              <a:chExt cx="1410520" cy="609462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31093" y="43468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2043163" y="43668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114" name="TextBox 123"/>
          <p:cNvSpPr txBox="1"/>
          <p:nvPr/>
        </p:nvSpPr>
        <p:spPr>
          <a:xfrm>
            <a:off x="687693" y="677957"/>
            <a:ext cx="2850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Each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internal node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contains a </a:t>
            </a:r>
            <a:r>
              <a:rPr lang="en-US" sz="1600" b="1" dirty="0">
                <a:latin typeface="Candara" panose="020E0502030303020204" charset="0"/>
              </a:rPr>
              <a:t>statement/rule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about a single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feature/variable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sz="1600" b="1" dirty="0">
              <a:latin typeface="Candara" panose="020E0502030303020204" charset="0"/>
            </a:endParaRPr>
          </a:p>
        </p:txBody>
      </p: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23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123"/>
          <p:cNvSpPr txBox="1"/>
          <p:nvPr/>
        </p:nvSpPr>
        <p:spPr>
          <a:xfrm rot="691217">
            <a:off x="7782210" y="726399"/>
            <a:ext cx="2379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  <p:sp>
        <p:nvSpPr>
          <p:cNvPr id="53" name="Oval 52"/>
          <p:cNvSpPr/>
          <p:nvPr/>
        </p:nvSpPr>
        <p:spPr>
          <a:xfrm>
            <a:off x="2144486" y="2177143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5109672" y="994742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8022548" y="2183748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9421785" y="3544929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85486" y="3544929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164864"/>
            <a:ext cx="11300910" cy="4528272"/>
            <a:chOff x="445546" y="880494"/>
            <a:chExt cx="11300910" cy="4528272"/>
          </a:xfrm>
        </p:grpSpPr>
        <p:grpSp>
          <p:nvGrpSpPr>
            <p:cNvPr id="80" name="Group 79"/>
            <p:cNvGrpSpPr/>
            <p:nvPr/>
          </p:nvGrpSpPr>
          <p:grpSpPr>
            <a:xfrm>
              <a:off x="445546" y="4853289"/>
              <a:ext cx="2670272" cy="555477"/>
              <a:chOff x="358933" y="4762433"/>
              <a:chExt cx="2670272" cy="5554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Sick</a:t>
                </a: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1086901" y="343068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02219" y="880494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82931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3176713" y="1512606"/>
              <a:ext cx="2919288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3240666" y="1713611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Candara" panose="020E0502030303020204" charset="0"/>
                    <a:cs typeface="Candara" panose="020E0502030303020204" charset="0"/>
                  </a:rPr>
                  <a:t>weight 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41" idx="2"/>
              <a:endCxn id="32" idx="0"/>
            </p:cNvCxnSpPr>
            <p:nvPr/>
          </p:nvCxnSpPr>
          <p:spPr>
            <a:xfrm flipH="1">
              <a:off x="1780683" y="2688534"/>
              <a:ext cx="1396030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1780683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1820834" y="2983201"/>
              <a:ext cx="2881123" cy="314611"/>
              <a:chOff x="1820834" y="2976831"/>
              <a:chExt cx="2881123" cy="314611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075873" y="4194524"/>
              <a:ext cx="1410520" cy="609462"/>
              <a:chOff x="1075873" y="4200654"/>
              <a:chExt cx="1410520" cy="609462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31093" y="43468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2043163" y="43668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114" name="TextBox 123"/>
          <p:cNvSpPr txBox="1"/>
          <p:nvPr/>
        </p:nvSpPr>
        <p:spPr>
          <a:xfrm>
            <a:off x="269771" y="972852"/>
            <a:ext cx="3873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The </a:t>
            </a:r>
            <a:r>
              <a:rPr lang="en-US" sz="1600" b="1" dirty="0">
                <a:latin typeface="Candara" panose="020E0502030303020204" charset="0"/>
              </a:rPr>
              <a:t>same feature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can appear in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different nodes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…</a:t>
            </a:r>
          </a:p>
        </p:txBody>
      </p:sp>
      <p:sp>
        <p:nvSpPr>
          <p:cNvPr id="53" name="Oval 52"/>
          <p:cNvSpPr/>
          <p:nvPr/>
        </p:nvSpPr>
        <p:spPr>
          <a:xfrm>
            <a:off x="2144486" y="2177143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9336242" y="3516247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24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Box 123"/>
          <p:cNvSpPr txBox="1"/>
          <p:nvPr/>
        </p:nvSpPr>
        <p:spPr>
          <a:xfrm rot="691217">
            <a:off x="7782210" y="726399"/>
            <a:ext cx="2379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164864"/>
            <a:ext cx="11300910" cy="4528272"/>
            <a:chOff x="445546" y="880494"/>
            <a:chExt cx="11300910" cy="4528272"/>
          </a:xfrm>
        </p:grpSpPr>
        <p:grpSp>
          <p:nvGrpSpPr>
            <p:cNvPr id="80" name="Group 79"/>
            <p:cNvGrpSpPr/>
            <p:nvPr/>
          </p:nvGrpSpPr>
          <p:grpSpPr>
            <a:xfrm>
              <a:off x="445546" y="4853289"/>
              <a:ext cx="2670272" cy="555477"/>
              <a:chOff x="358933" y="4762433"/>
              <a:chExt cx="2670272" cy="5554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Sick</a:t>
                </a: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1086901" y="343068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02219" y="880494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82931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weight </a:t>
              </a:r>
              <a:r>
                <a:rPr lang="en-US" b="1" dirty="0">
                  <a:solidFill>
                    <a:srgbClr val="FFC000"/>
                  </a:solidFill>
                  <a:latin typeface="Candara" panose="020E0502030303020204" charset="0"/>
                  <a:cs typeface="Candara" panose="020E0502030303020204" charset="0"/>
                </a:rPr>
                <a:t>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3176713" y="1512606"/>
              <a:ext cx="2919288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3240666" y="1713611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Candara" panose="020E0502030303020204" charset="0"/>
                    <a:cs typeface="Candara" panose="020E0502030303020204" charset="0"/>
                  </a:rPr>
                  <a:t>weight </a:t>
                </a:r>
                <a:r>
                  <a:rPr lang="en-US" b="1" dirty="0">
                    <a:solidFill>
                      <a:srgbClr val="FFC000"/>
                    </a:solidFill>
                    <a:latin typeface="Candara" panose="020E0502030303020204" charset="0"/>
                    <a:cs typeface="Candara" panose="020E0502030303020204" charset="0"/>
                  </a:rPr>
                  <a:t>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41" idx="2"/>
              <a:endCxn id="32" idx="0"/>
            </p:cNvCxnSpPr>
            <p:nvPr/>
          </p:nvCxnSpPr>
          <p:spPr>
            <a:xfrm flipH="1">
              <a:off x="1780683" y="2688534"/>
              <a:ext cx="1396030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1780683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1820834" y="2983201"/>
              <a:ext cx="2881123" cy="314611"/>
              <a:chOff x="1820834" y="2976831"/>
              <a:chExt cx="2881123" cy="314611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075873" y="4194524"/>
              <a:ext cx="1410520" cy="609462"/>
              <a:chOff x="1075873" y="4200654"/>
              <a:chExt cx="1410520" cy="609462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31093" y="43468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2043163" y="43668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114" name="TextBox 123"/>
          <p:cNvSpPr txBox="1"/>
          <p:nvPr/>
        </p:nvSpPr>
        <p:spPr>
          <a:xfrm>
            <a:off x="269771" y="972852"/>
            <a:ext cx="4046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The </a:t>
            </a:r>
            <a:r>
              <a:rPr lang="en-US" sz="1600" b="1" dirty="0">
                <a:latin typeface="Candara" panose="020E0502030303020204" charset="0"/>
              </a:rPr>
              <a:t>same feature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can appear in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different nodes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and have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different rules (thresholds)</a:t>
            </a:r>
            <a:r>
              <a:rPr lang="en-US" sz="1600" dirty="0">
                <a:solidFill>
                  <a:srgbClr val="FFD700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53" name="Oval 52"/>
          <p:cNvSpPr/>
          <p:nvPr/>
        </p:nvSpPr>
        <p:spPr>
          <a:xfrm>
            <a:off x="2144486" y="2177143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9336242" y="3516247"/>
            <a:ext cx="1979067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25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123"/>
          <p:cNvSpPr txBox="1"/>
          <p:nvPr/>
        </p:nvSpPr>
        <p:spPr>
          <a:xfrm rot="691217">
            <a:off x="7782210" y="726399"/>
            <a:ext cx="2379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164864"/>
            <a:ext cx="11300910" cy="4528272"/>
            <a:chOff x="445546" y="880494"/>
            <a:chExt cx="11300910" cy="4528272"/>
          </a:xfrm>
        </p:grpSpPr>
        <p:grpSp>
          <p:nvGrpSpPr>
            <p:cNvPr id="80" name="Group 79"/>
            <p:cNvGrpSpPr/>
            <p:nvPr/>
          </p:nvGrpSpPr>
          <p:grpSpPr>
            <a:xfrm>
              <a:off x="445546" y="4853289"/>
              <a:ext cx="2670272" cy="555477"/>
              <a:chOff x="358933" y="4762433"/>
              <a:chExt cx="2670272" cy="5554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Sick</a:t>
                </a: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1086901" y="343068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02219" y="880494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82931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3176713" y="1512606"/>
              <a:ext cx="2919288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3240666" y="1713611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</a:rPr>
                  <a:t>weight 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41" idx="2"/>
              <a:endCxn id="32" idx="0"/>
            </p:cNvCxnSpPr>
            <p:nvPr/>
          </p:nvCxnSpPr>
          <p:spPr>
            <a:xfrm flipH="1">
              <a:off x="1780683" y="2688534"/>
              <a:ext cx="1396030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1780683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1820834" y="2983201"/>
              <a:ext cx="2881123" cy="314611"/>
              <a:chOff x="1820834" y="2976831"/>
              <a:chExt cx="2881123" cy="314611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075873" y="4194524"/>
              <a:ext cx="1410520" cy="609462"/>
              <a:chOff x="1075873" y="4200654"/>
              <a:chExt cx="1410520" cy="609462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31093" y="43468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2043163" y="43668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114" name="TextBox 123"/>
          <p:cNvSpPr txBox="1"/>
          <p:nvPr/>
        </p:nvSpPr>
        <p:spPr>
          <a:xfrm>
            <a:off x="269771" y="972852"/>
            <a:ext cx="2612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The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classes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can be </a:t>
            </a:r>
            <a:r>
              <a:rPr lang="en-US" sz="1600" b="1" dirty="0">
                <a:latin typeface="Candara" panose="020E0502030303020204" charset="0"/>
              </a:rPr>
              <a:t>repeated (in multiple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leaves</a:t>
            </a:r>
            <a:r>
              <a:rPr lang="en-US" sz="1600" b="1" dirty="0">
                <a:latin typeface="Candara" panose="020E0502030303020204" charset="0"/>
              </a:rPr>
              <a:t>)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53" name="Oval 52"/>
          <p:cNvSpPr/>
          <p:nvPr/>
        </p:nvSpPr>
        <p:spPr>
          <a:xfrm>
            <a:off x="293593" y="4960205"/>
            <a:ext cx="1486903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26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123"/>
          <p:cNvSpPr txBox="1"/>
          <p:nvPr/>
        </p:nvSpPr>
        <p:spPr>
          <a:xfrm rot="691217">
            <a:off x="7782210" y="726399"/>
            <a:ext cx="2379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  <p:sp>
        <p:nvSpPr>
          <p:cNvPr id="55" name="Oval 54"/>
          <p:cNvSpPr/>
          <p:nvPr/>
        </p:nvSpPr>
        <p:spPr>
          <a:xfrm>
            <a:off x="6736421" y="3589420"/>
            <a:ext cx="1486903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8891360" y="4929219"/>
            <a:ext cx="1486903" cy="972356"/>
          </a:xfrm>
          <a:prstGeom prst="ellipse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164864"/>
            <a:ext cx="11300910" cy="4528272"/>
            <a:chOff x="445546" y="880494"/>
            <a:chExt cx="11300910" cy="4528272"/>
          </a:xfrm>
        </p:grpSpPr>
        <p:grpSp>
          <p:nvGrpSpPr>
            <p:cNvPr id="80" name="Group 79"/>
            <p:cNvGrpSpPr/>
            <p:nvPr/>
          </p:nvGrpSpPr>
          <p:grpSpPr>
            <a:xfrm>
              <a:off x="445546" y="4853289"/>
              <a:ext cx="2670272" cy="555477"/>
              <a:chOff x="358933" y="4762433"/>
              <a:chExt cx="2670272" cy="5554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Sick</a:t>
                </a: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1086901" y="343068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02219" y="880494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82931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3176713" y="1512606"/>
              <a:ext cx="2919288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3240666" y="1713611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</a:rPr>
                  <a:t>weight 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41" idx="2"/>
              <a:endCxn id="32" idx="0"/>
            </p:cNvCxnSpPr>
            <p:nvPr/>
          </p:nvCxnSpPr>
          <p:spPr>
            <a:xfrm flipH="1">
              <a:off x="1780683" y="2688534"/>
              <a:ext cx="1396030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1780683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1820834" y="2983201"/>
              <a:ext cx="2881123" cy="314611"/>
              <a:chOff x="1820834" y="2976831"/>
              <a:chExt cx="2881123" cy="314611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075873" y="4194524"/>
              <a:ext cx="1410520" cy="609462"/>
              <a:chOff x="1075873" y="4200654"/>
              <a:chExt cx="1410520" cy="609462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31093" y="43468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2043163" y="43668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27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123"/>
          <p:cNvSpPr txBox="1"/>
          <p:nvPr/>
        </p:nvSpPr>
        <p:spPr>
          <a:xfrm rot="691217">
            <a:off x="7782210" y="726399"/>
            <a:ext cx="2379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  <p:grpSp>
        <p:nvGrpSpPr>
          <p:cNvPr id="54" name="Group 53"/>
          <p:cNvGrpSpPr/>
          <p:nvPr/>
        </p:nvGrpSpPr>
        <p:grpSpPr>
          <a:xfrm rot="21240000">
            <a:off x="794820" y="1098204"/>
            <a:ext cx="2761615" cy="584835"/>
            <a:chOff x="6928" y="9252"/>
            <a:chExt cx="4349" cy="9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7" name="Text Box 7"/>
            <p:cNvSpPr txBox="1"/>
            <p:nvPr/>
          </p:nvSpPr>
          <p:spPr>
            <a:xfrm>
              <a:off x="6928" y="9252"/>
              <a:ext cx="4349" cy="92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marL="457200" lvl="1"/>
              <a:r>
                <a:rPr lang="en-US" sz="1600" b="1" dirty="0">
                  <a:latin typeface="Candara" panose="020E0502030303020204" charset="0"/>
                  <a:cs typeface="Candara" panose="020E0502030303020204" charset="0"/>
                </a:rPr>
                <a:t>Decision Trees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</a:t>
              </a:r>
              <a:r>
                <a:rPr lang="en-US" sz="1600" dirty="0">
                  <a:latin typeface="Candara" panose="020E0502030303020204" charset="0"/>
                  <a:cs typeface="Candara" panose="020E0502030303020204" charset="0"/>
                </a:rPr>
                <a:t>do not require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</a:t>
              </a:r>
              <a:r>
                <a:rPr lang="en-US" sz="16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Feature Scaling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.</a:t>
              </a:r>
              <a:endPara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Wingdings" panose="05000000000000000000" pitchFamily="2" charset="2"/>
              </a:endParaRPr>
            </a:p>
          </p:txBody>
        </p:sp>
        <p:pic>
          <p:nvPicPr>
            <p:cNvPr id="59" name="Picture 58" descr="pngwing.co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93" y="9405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164864"/>
            <a:ext cx="11300910" cy="4528272"/>
            <a:chOff x="445546" y="880494"/>
            <a:chExt cx="11300910" cy="4528272"/>
          </a:xfrm>
        </p:grpSpPr>
        <p:grpSp>
          <p:nvGrpSpPr>
            <p:cNvPr id="80" name="Group 79"/>
            <p:cNvGrpSpPr/>
            <p:nvPr/>
          </p:nvGrpSpPr>
          <p:grpSpPr>
            <a:xfrm>
              <a:off x="445546" y="4853289"/>
              <a:ext cx="2670272" cy="555477"/>
              <a:chOff x="358933" y="4762433"/>
              <a:chExt cx="2670272" cy="5554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Sick</a:t>
                </a: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1086901" y="343068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02219" y="880494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82931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3176713" y="1512606"/>
              <a:ext cx="2919288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3240666" y="1713611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</a:rPr>
                  <a:t>weight 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41" idx="2"/>
              <a:endCxn id="32" idx="0"/>
            </p:cNvCxnSpPr>
            <p:nvPr/>
          </p:nvCxnSpPr>
          <p:spPr>
            <a:xfrm flipH="1">
              <a:off x="1780683" y="2688534"/>
              <a:ext cx="1396030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1780683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1820834" y="2983201"/>
              <a:ext cx="2881123" cy="314611"/>
              <a:chOff x="1820834" y="2976831"/>
              <a:chExt cx="2881123" cy="314611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075873" y="4194524"/>
              <a:ext cx="1410520" cy="609462"/>
              <a:chOff x="1075873" y="4200654"/>
              <a:chExt cx="1410520" cy="609462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31093" y="43468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2043163" y="43668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28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123"/>
          <p:cNvSpPr txBox="1"/>
          <p:nvPr/>
        </p:nvSpPr>
        <p:spPr>
          <a:xfrm rot="691217">
            <a:off x="7782210" y="726399"/>
            <a:ext cx="2379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64745" y="1480920"/>
            <a:ext cx="309434" cy="3944406"/>
            <a:chOff x="12073981" y="1470992"/>
            <a:chExt cx="309434" cy="3944406"/>
          </a:xfrm>
        </p:grpSpPr>
        <p:cxnSp>
          <p:nvCxnSpPr>
            <p:cNvPr id="81" name="Straight Connector 80"/>
            <p:cNvCxnSpPr/>
            <p:nvPr/>
          </p:nvCxnSpPr>
          <p:spPr>
            <a:xfrm flipV="1">
              <a:off x="12228698" y="1470992"/>
              <a:ext cx="0" cy="3944406"/>
            </a:xfrm>
            <a:prstGeom prst="line">
              <a:avLst/>
            </a:prstGeom>
            <a:ln w="28575">
              <a:solidFill>
                <a:srgbClr val="FF56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12073981" y="5415398"/>
              <a:ext cx="309434" cy="0"/>
            </a:xfrm>
            <a:prstGeom prst="line">
              <a:avLst/>
            </a:prstGeom>
            <a:ln w="28575">
              <a:solidFill>
                <a:srgbClr val="FF56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flipH="1">
              <a:off x="12073981" y="1470992"/>
              <a:ext cx="309434" cy="0"/>
            </a:xfrm>
            <a:prstGeom prst="line">
              <a:avLst/>
            </a:prstGeom>
            <a:ln w="28575">
              <a:solidFill>
                <a:srgbClr val="FF56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123"/>
          <p:cNvSpPr txBox="1"/>
          <p:nvPr/>
        </p:nvSpPr>
        <p:spPr>
          <a:xfrm>
            <a:off x="297323" y="1573993"/>
            <a:ext cx="1129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depth=3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164864"/>
            <a:ext cx="11300910" cy="4528272"/>
            <a:chOff x="445546" y="880494"/>
            <a:chExt cx="11300910" cy="4528272"/>
          </a:xfrm>
        </p:grpSpPr>
        <p:grpSp>
          <p:nvGrpSpPr>
            <p:cNvPr id="80" name="Group 79"/>
            <p:cNvGrpSpPr/>
            <p:nvPr/>
          </p:nvGrpSpPr>
          <p:grpSpPr>
            <a:xfrm>
              <a:off x="445546" y="4853289"/>
              <a:ext cx="2670272" cy="555477"/>
              <a:chOff x="358933" y="4762433"/>
              <a:chExt cx="2670272" cy="55547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C0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C0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Sick</a:t>
                </a:r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1086901" y="343068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02219" y="880494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82931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3176713" y="1512606"/>
              <a:ext cx="2919288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3240666" y="1713611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</a:rPr>
                  <a:t>weight 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C0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41" idx="2"/>
              <a:endCxn id="32" idx="0"/>
            </p:cNvCxnSpPr>
            <p:nvPr/>
          </p:nvCxnSpPr>
          <p:spPr>
            <a:xfrm flipH="1">
              <a:off x="1780683" y="2688534"/>
              <a:ext cx="1396030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C0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C0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1780683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1820834" y="2983201"/>
              <a:ext cx="2881123" cy="314611"/>
              <a:chOff x="1820834" y="2976831"/>
              <a:chExt cx="2881123" cy="314611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075873" y="4194524"/>
              <a:ext cx="1410520" cy="609462"/>
              <a:chOff x="1075873" y="4200654"/>
              <a:chExt cx="1410520" cy="609462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31093" y="43468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2043163" y="43668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29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7" name="Rectangles 26"/>
          <p:cNvSpPr/>
          <p:nvPr/>
        </p:nvSpPr>
        <p:spPr>
          <a:xfrm>
            <a:off x="345281" y="1071880"/>
            <a:ext cx="11475244" cy="474345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123"/>
          <p:cNvSpPr txBox="1"/>
          <p:nvPr/>
        </p:nvSpPr>
        <p:spPr>
          <a:xfrm>
            <a:off x="446564" y="487543"/>
            <a:ext cx="42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Predicting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a sample is simple:</a:t>
            </a:r>
          </a:p>
          <a:p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- Start at the </a:t>
            </a:r>
            <a:r>
              <a:rPr lang="en-US" b="1" i="1" dirty="0">
                <a:solidFill>
                  <a:srgbClr val="358EF2"/>
                </a:solidFill>
                <a:latin typeface="Candara" panose="020E0502030303020204" charset="0"/>
              </a:rPr>
              <a:t>root node</a:t>
            </a:r>
            <a:r>
              <a:rPr lang="en-US" i="1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  <a:p>
            <a:r>
              <a:rPr lang="en-US" i="1" dirty="0">
                <a:solidFill>
                  <a:srgbClr val="595959"/>
                </a:solidFill>
                <a:latin typeface="Candara" panose="020E0502030303020204" charset="0"/>
              </a:rPr>
              <a:t>-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Traverse the tree until reaching a </a:t>
            </a:r>
            <a:r>
              <a:rPr lang="en-US" b="1" dirty="0">
                <a:solidFill>
                  <a:srgbClr val="FFC000"/>
                </a:solidFill>
                <a:latin typeface="Candara" panose="020E0502030303020204" charset="0"/>
              </a:rPr>
              <a:t>leaf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72" name="TextBox 123"/>
          <p:cNvSpPr txBox="1"/>
          <p:nvPr/>
        </p:nvSpPr>
        <p:spPr>
          <a:xfrm>
            <a:off x="7338271" y="536226"/>
            <a:ext cx="397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this person have a heart disorder?</a:t>
            </a:r>
          </a:p>
        </p:txBody>
      </p:sp>
      <p:sp>
        <p:nvSpPr>
          <p:cNvPr id="73" name="TextBox 123"/>
          <p:cNvSpPr txBox="1"/>
          <p:nvPr/>
        </p:nvSpPr>
        <p:spPr>
          <a:xfrm>
            <a:off x="7352437" y="886253"/>
            <a:ext cx="39770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Candara" panose="020E0502030303020204" charset="0"/>
              </a:rPr>
              <a:t>Weight: 88 kg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Smoke: Yes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Work out: No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445545" y="1796976"/>
            <a:ext cx="11300910" cy="3896160"/>
            <a:chOff x="445546" y="1512606"/>
            <a:chExt cx="11300910" cy="3896160"/>
          </a:xfrm>
        </p:grpSpPr>
        <p:sp>
          <p:nvSpPr>
            <p:cNvPr id="7" name="Rectangle 6"/>
            <p:cNvSpPr/>
            <p:nvPr/>
          </p:nvSpPr>
          <p:spPr>
            <a:xfrm>
              <a:off x="445546" y="4853289"/>
              <a:ext cx="1192405" cy="555477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3554" y="3468999"/>
              <a:ext cx="1192405" cy="555477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506" y="2056422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9015288" y="2688534"/>
              <a:ext cx="1396032" cy="74214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Box 8"/>
            <p:cNvSpPr txBox="1"/>
            <p:nvPr/>
          </p:nvSpPr>
          <p:spPr>
            <a:xfrm rot="503120">
              <a:off x="8180476" y="1685076"/>
              <a:ext cx="6019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endCxn id="43" idx="0"/>
            </p:cNvCxnSpPr>
            <p:nvPr/>
          </p:nvCxnSpPr>
          <p:spPr>
            <a:xfrm>
              <a:off x="6096001" y="1512606"/>
              <a:ext cx="2919287" cy="54381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 flipH="1">
              <a:off x="6876044" y="3430681"/>
              <a:ext cx="4229058" cy="632112"/>
              <a:chOff x="935289" y="3786345"/>
              <a:chExt cx="4229058" cy="632112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935289" y="3786345"/>
                <a:ext cx="1387563" cy="632112"/>
              </a:xfrm>
              <a:prstGeom prst="roundRect">
                <a:avLst/>
              </a:prstGeom>
              <a:solidFill>
                <a:srgbClr val="358EF2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Candara" panose="020E0502030303020204" charset="0"/>
                    <a:cs typeface="Candara" panose="020E0502030303020204" charset="0"/>
                  </a:rPr>
                  <a:t>weight ≤ 84.5 kg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71942" y="3824663"/>
                <a:ext cx="1192405" cy="555477"/>
              </a:xfrm>
              <a:prstGeom prst="rect">
                <a:avLst/>
              </a:prstGeom>
              <a:solidFill>
                <a:srgbClr val="FFC0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</p:grpSp>
        <p:cxnSp>
          <p:nvCxnSpPr>
            <p:cNvPr id="71" name="Straight Connector 70"/>
            <p:cNvCxnSpPr>
              <a:stCxn id="43" idx="2"/>
              <a:endCxn id="69" idx="0"/>
            </p:cNvCxnSpPr>
            <p:nvPr/>
          </p:nvCxnSpPr>
          <p:spPr>
            <a:xfrm flipH="1">
              <a:off x="7472246" y="2688534"/>
              <a:ext cx="1543042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endCxn id="38" idx="0"/>
            </p:cNvCxnSpPr>
            <p:nvPr/>
          </p:nvCxnSpPr>
          <p:spPr>
            <a:xfrm>
              <a:off x="3176713" y="2688534"/>
              <a:ext cx="1543044" cy="78046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9076184" y="4853289"/>
              <a:ext cx="2670272" cy="555477"/>
              <a:chOff x="358933" y="4762433"/>
              <a:chExt cx="2670272" cy="555477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358933" y="4762433"/>
                <a:ext cx="1192405" cy="555477"/>
              </a:xfrm>
              <a:prstGeom prst="rect">
                <a:avLst/>
              </a:prstGeom>
              <a:solidFill>
                <a:srgbClr val="FFC0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Normal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836800" y="4762433"/>
                <a:ext cx="1192405" cy="555477"/>
              </a:xfrm>
              <a:prstGeom prst="rect">
                <a:avLst/>
              </a:prstGeom>
              <a:solidFill>
                <a:srgbClr val="FFC0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charset="0"/>
                  </a:rPr>
                  <a:t>Attention</a:t>
                </a:r>
              </a:p>
            </p:txBody>
          </p:sp>
        </p:grpSp>
        <p:cxnSp>
          <p:nvCxnSpPr>
            <p:cNvPr id="85" name="Straight Connector 84"/>
            <p:cNvCxnSpPr>
              <a:endCxn id="7" idx="0"/>
            </p:cNvCxnSpPr>
            <p:nvPr/>
          </p:nvCxnSpPr>
          <p:spPr>
            <a:xfrm flipH="1">
              <a:off x="1041749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9672387" y="4062793"/>
              <a:ext cx="738933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0411320" y="4062793"/>
              <a:ext cx="738934" cy="790496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 Box 7"/>
            <p:cNvSpPr txBox="1"/>
            <p:nvPr/>
          </p:nvSpPr>
          <p:spPr>
            <a:xfrm rot="1501825">
              <a:off x="4092495" y="3020813"/>
              <a:ext cx="609462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104" name="Group 103"/>
            <p:cNvGrpSpPr/>
            <p:nvPr/>
          </p:nvGrpSpPr>
          <p:grpSpPr>
            <a:xfrm>
              <a:off x="7574725" y="2983201"/>
              <a:ext cx="2881123" cy="314611"/>
              <a:chOff x="1820834" y="2976831"/>
              <a:chExt cx="2881123" cy="314611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20834" y="2976831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92495" y="3014443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107" name="Text Box 7"/>
            <p:cNvSpPr txBox="1"/>
            <p:nvPr/>
          </p:nvSpPr>
          <p:spPr>
            <a:xfrm rot="18671151">
              <a:off x="931093" y="4340753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9733903" y="4194524"/>
              <a:ext cx="1410520" cy="609462"/>
              <a:chOff x="1228273" y="4353054"/>
              <a:chExt cx="1410520" cy="609462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83493" y="4499283"/>
                <a:ext cx="565150" cy="2755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95563" y="4519285"/>
                <a:ext cx="609462" cy="276999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30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7" name="Rectangles 26"/>
          <p:cNvSpPr/>
          <p:nvPr/>
        </p:nvSpPr>
        <p:spPr>
          <a:xfrm>
            <a:off x="345281" y="1071880"/>
            <a:ext cx="11475244" cy="474345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923412" y="5137659"/>
            <a:ext cx="1192405" cy="555477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Sick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86900" y="371505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02218" y="1164864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82930" y="2340792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ndara" panose="020E0502030303020204" charset="0"/>
                <a:cs typeface="Candara" panose="020E0502030303020204" charset="0"/>
              </a:rPr>
              <a:t>weight ≤ 91.5 kg</a:t>
            </a:r>
          </a:p>
        </p:txBody>
      </p:sp>
      <p:cxnSp>
        <p:nvCxnSpPr>
          <p:cNvPr id="59" name="Straight Connector 58"/>
          <p:cNvCxnSpPr>
            <a:stCxn id="55" idx="2"/>
            <a:endCxn id="56" idx="0"/>
          </p:cNvCxnSpPr>
          <p:nvPr/>
        </p:nvCxnSpPr>
        <p:spPr>
          <a:xfrm flipH="1">
            <a:off x="3176712" y="1796976"/>
            <a:ext cx="2919288" cy="543816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Box 7"/>
          <p:cNvSpPr txBox="1"/>
          <p:nvPr/>
        </p:nvSpPr>
        <p:spPr>
          <a:xfrm rot="21016818">
            <a:off x="3240665" y="1997981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cxnSp>
        <p:nvCxnSpPr>
          <p:cNvPr id="74" name="Straight Connector 73"/>
          <p:cNvCxnSpPr>
            <a:stCxn id="56" idx="2"/>
            <a:endCxn id="54" idx="0"/>
          </p:cNvCxnSpPr>
          <p:nvPr/>
        </p:nvCxnSpPr>
        <p:spPr>
          <a:xfrm flipH="1">
            <a:off x="1780682" y="2972904"/>
            <a:ext cx="1396030" cy="742147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54" idx="2"/>
            <a:endCxn id="53" idx="0"/>
          </p:cNvCxnSpPr>
          <p:nvPr/>
        </p:nvCxnSpPr>
        <p:spPr>
          <a:xfrm>
            <a:off x="1780682" y="4347163"/>
            <a:ext cx="738933" cy="790496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 Box 7"/>
          <p:cNvSpPr txBox="1"/>
          <p:nvPr/>
        </p:nvSpPr>
        <p:spPr>
          <a:xfrm rot="19891182">
            <a:off x="1820833" y="3267571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79" name="Text Box 7"/>
          <p:cNvSpPr txBox="1"/>
          <p:nvPr/>
        </p:nvSpPr>
        <p:spPr>
          <a:xfrm rot="2812816">
            <a:off x="2043162" y="4645125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81" name="TextBox 123"/>
          <p:cNvSpPr txBox="1"/>
          <p:nvPr/>
        </p:nvSpPr>
        <p:spPr>
          <a:xfrm>
            <a:off x="446564" y="487543"/>
            <a:ext cx="42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Predicting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a sample is simple:</a:t>
            </a:r>
          </a:p>
          <a:p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- Start at the </a:t>
            </a:r>
            <a:r>
              <a:rPr lang="en-US" b="1" i="1" dirty="0">
                <a:solidFill>
                  <a:srgbClr val="358EF2"/>
                </a:solidFill>
                <a:latin typeface="Candara" panose="020E0502030303020204" charset="0"/>
              </a:rPr>
              <a:t>root node</a:t>
            </a:r>
            <a:r>
              <a:rPr lang="en-US" i="1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  <a:p>
            <a:r>
              <a:rPr lang="en-US" i="1" dirty="0">
                <a:solidFill>
                  <a:srgbClr val="595959"/>
                </a:solidFill>
                <a:latin typeface="Candara" panose="020E0502030303020204" charset="0"/>
              </a:rPr>
              <a:t>-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Traverse the tree until reaching a </a:t>
            </a:r>
            <a:r>
              <a:rPr lang="en-US" b="1" dirty="0">
                <a:solidFill>
                  <a:srgbClr val="FFC000"/>
                </a:solidFill>
                <a:latin typeface="Candara" panose="020E0502030303020204" charset="0"/>
              </a:rPr>
              <a:t>leaf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86" name="TextBox 123"/>
          <p:cNvSpPr txBox="1"/>
          <p:nvPr/>
        </p:nvSpPr>
        <p:spPr>
          <a:xfrm>
            <a:off x="7338271" y="536226"/>
            <a:ext cx="397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Does this person have a heart disorder?</a:t>
            </a:r>
          </a:p>
        </p:txBody>
      </p:sp>
      <p:sp>
        <p:nvSpPr>
          <p:cNvPr id="87" name="TextBox 123"/>
          <p:cNvSpPr txBox="1"/>
          <p:nvPr/>
        </p:nvSpPr>
        <p:spPr>
          <a:xfrm>
            <a:off x="7352437" y="886253"/>
            <a:ext cx="12449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Candara" panose="020E0502030303020204" charset="0"/>
              </a:rPr>
              <a:t>Weight: 88 kg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Smoke: Yes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Work out: No</a:t>
            </a:r>
          </a:p>
        </p:txBody>
      </p:sp>
      <p:sp>
        <p:nvSpPr>
          <p:cNvPr id="89" name="TextBox 123"/>
          <p:cNvSpPr txBox="1"/>
          <p:nvPr/>
        </p:nvSpPr>
        <p:spPr>
          <a:xfrm>
            <a:off x="9064462" y="1056491"/>
            <a:ext cx="844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ndara" panose="020E0502030303020204" charset="0"/>
              </a:rPr>
              <a:t>Sick</a:t>
            </a:r>
          </a:p>
        </p:txBody>
      </p:sp>
      <p:cxnSp>
        <p:nvCxnSpPr>
          <p:cNvPr id="3" name="Straight Arrow Connector 2"/>
          <p:cNvCxnSpPr>
            <a:stCxn id="87" idx="3"/>
            <a:endCxn id="89" idx="1"/>
          </p:cNvCxnSpPr>
          <p:nvPr/>
        </p:nvCxnSpPr>
        <p:spPr>
          <a:xfrm>
            <a:off x="8597348" y="1255585"/>
            <a:ext cx="467114" cy="9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54981" y="3135451"/>
            <a:ext cx="9082038" cy="587099"/>
            <a:chOff x="1554981" y="2841901"/>
            <a:chExt cx="9082038" cy="587099"/>
          </a:xfrm>
        </p:grpSpPr>
        <p:sp>
          <p:nvSpPr>
            <p:cNvPr id="5" name="Google Shape;208;p43"/>
            <p:cNvSpPr/>
            <p:nvPr/>
          </p:nvSpPr>
          <p:spPr>
            <a:xfrm>
              <a:off x="1554981" y="2841901"/>
              <a:ext cx="9082038" cy="577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lvl="0" algn="ctr"/>
              <a:r>
                <a:rPr lang="en-US" sz="3200" b="1" dirty="0">
                  <a:solidFill>
                    <a:srgbClr val="FF5657"/>
                  </a:solidFill>
                  <a:latin typeface="Arvo" panose="02000000000000000000"/>
                  <a:ea typeface="Arvo" panose="02000000000000000000"/>
                  <a:cs typeface="Arvo" panose="02000000000000000000"/>
                  <a:sym typeface="Arvo" panose="02000000000000000000"/>
                </a:rPr>
                <a:t>Training a Decision Tree</a:t>
              </a:r>
              <a:endPara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endParaRPr>
            </a:p>
          </p:txBody>
        </p:sp>
        <p:cxnSp>
          <p:nvCxnSpPr>
            <p:cNvPr id="6" name="Google Shape;211;p43"/>
            <p:cNvCxnSpPr/>
            <p:nvPr/>
          </p:nvCxnSpPr>
          <p:spPr>
            <a:xfrm flipH="1" flipV="1">
              <a:off x="3202813" y="3429000"/>
              <a:ext cx="5786375" cy="0"/>
            </a:xfrm>
            <a:prstGeom prst="straightConnector1">
              <a:avLst/>
            </a:prstGeom>
            <a:noFill/>
            <a:ln w="28575" cap="flat" cmpd="sng">
              <a:solidFill>
                <a:srgbClr val="FFC72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31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 rot="21240000">
            <a:off x="860784" y="1800671"/>
            <a:ext cx="4079240" cy="831215"/>
            <a:chOff x="6928" y="9058"/>
            <a:chExt cx="6424" cy="13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Text Box 7"/>
            <p:cNvSpPr txBox="1"/>
            <p:nvPr/>
          </p:nvSpPr>
          <p:spPr>
            <a:xfrm>
              <a:off x="6928" y="9058"/>
              <a:ext cx="6424" cy="130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We will consider the </a:t>
              </a:r>
              <a:r>
                <a:rPr lang="en-US" sz="1600" b="1" dirty="0">
                  <a:latin typeface="Candara" panose="020E0502030303020204" charset="0"/>
                  <a:cs typeface="Candara" panose="020E0502030303020204" charset="0"/>
                </a:rPr>
                <a:t>CART Algorithm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– </a:t>
              </a:r>
              <a:r>
                <a:rPr lang="en-US" sz="1600" b="1" u="sng" dirty="0">
                  <a:latin typeface="Candara" panose="020E0502030303020204" charset="0"/>
                  <a:cs typeface="Candara" panose="020E0502030303020204" charset="0"/>
                </a:rPr>
                <a:t>C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lassification </a:t>
              </a:r>
              <a:r>
                <a:rPr lang="en-US" sz="1600" b="1" u="sng" dirty="0">
                  <a:latin typeface="Candara" panose="020E0502030303020204" charset="0"/>
                  <a:cs typeface="Candara" panose="020E0502030303020204" charset="0"/>
                </a:rPr>
                <a:t>A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nd </a:t>
              </a:r>
              <a:r>
                <a:rPr lang="en-US" sz="1600" b="1" u="sng" dirty="0">
                  <a:latin typeface="Candara" panose="020E0502030303020204" charset="0"/>
                  <a:cs typeface="Candara" panose="020E0502030303020204" charset="0"/>
                </a:rPr>
                <a:t>R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egression </a:t>
              </a:r>
              <a:r>
                <a:rPr lang="en-US" sz="1600" b="1" u="sng" dirty="0">
                  <a:latin typeface="Candara" panose="020E0502030303020204" charset="0"/>
                  <a:cs typeface="Candara" panose="020E0502030303020204" charset="0"/>
                </a:rPr>
                <a:t>T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rees – which is used by </a:t>
              </a:r>
              <a:r>
                <a:rPr lang="en-US" sz="1600" dirty="0" err="1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Scikit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-Learn.</a:t>
              </a:r>
              <a:endPara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Wingdings" panose="05000000000000000000" pitchFamily="2" charset="2"/>
              </a:endParaRPr>
            </a:p>
          </p:txBody>
        </p:sp>
        <p:pic>
          <p:nvPicPr>
            <p:cNvPr id="11" name="Picture 10" descr="pngwing.co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93" y="9405"/>
              <a:ext cx="591" cy="591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 rot="21240000">
            <a:off x="6128269" y="1892683"/>
            <a:ext cx="4079240" cy="584835"/>
            <a:chOff x="6928" y="9252"/>
            <a:chExt cx="6424" cy="9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Text Box 7"/>
            <p:cNvSpPr txBox="1"/>
            <p:nvPr/>
          </p:nvSpPr>
          <p:spPr>
            <a:xfrm>
              <a:off x="6928" y="9252"/>
              <a:ext cx="6424" cy="92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These trees </a:t>
              </a:r>
              <a:r>
                <a:rPr lang="en-US" sz="1600" i="1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only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</a:t>
              </a:r>
              <a:r>
                <a:rPr lang="en-US" sz="1600" b="1" dirty="0">
                  <a:latin typeface="Candara" panose="020E0502030303020204" charset="0"/>
                  <a:cs typeface="Candara" panose="020E0502030303020204" charset="0"/>
                </a:rPr>
                <a:t>splits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the </a:t>
              </a:r>
              <a:r>
                <a:rPr lang="en-US" sz="1600" b="1" dirty="0">
                  <a:solidFill>
                    <a:srgbClr val="358EF2"/>
                  </a:solidFill>
                  <a:latin typeface="Candara" panose="020E0502030303020204" charset="0"/>
                  <a:cs typeface="Candara" panose="020E0502030303020204" charset="0"/>
                </a:rPr>
                <a:t>nodes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into </a:t>
              </a:r>
              <a:r>
                <a:rPr lang="en-US" sz="1600" b="1" dirty="0">
                  <a:latin typeface="Candara" panose="020E0502030303020204" charset="0"/>
                  <a:cs typeface="Candara" panose="020E0502030303020204" charset="0"/>
                </a:rPr>
                <a:t>two sub-nodes</a:t>
              </a:r>
              <a:r>
                <a:rPr lang="en-US" sz="16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.</a:t>
              </a:r>
              <a:endParaRPr lang="en-US" sz="16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Wingdings" panose="05000000000000000000" pitchFamily="2" charset="2"/>
              </a:endParaRPr>
            </a:p>
          </p:txBody>
        </p:sp>
        <p:pic>
          <p:nvPicPr>
            <p:cNvPr id="14" name="Picture 13" descr="pngwing.co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93" y="9405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32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TextBox 123"/>
          <p:cNvSpPr txBox="1"/>
          <p:nvPr/>
        </p:nvSpPr>
        <p:spPr>
          <a:xfrm>
            <a:off x="4761923" y="1832924"/>
            <a:ext cx="4205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Consider this simple (and fake) </a:t>
            </a:r>
            <a:r>
              <a:rPr lang="en-US" sz="1600" b="1" dirty="0">
                <a:latin typeface="Candara" panose="020E0502030303020204" charset="0"/>
              </a:rPr>
              <a:t>dataset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about </a:t>
            </a:r>
            <a:r>
              <a:rPr lang="en-US" sz="1600" b="1" dirty="0">
                <a:latin typeface="Candara" panose="020E0502030303020204" charset="0"/>
              </a:rPr>
              <a:t>heart condition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of a set of 100 people.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33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TextBox 123"/>
          <p:cNvSpPr txBox="1"/>
          <p:nvPr/>
        </p:nvSpPr>
        <p:spPr>
          <a:xfrm>
            <a:off x="4761923" y="1832924"/>
            <a:ext cx="4205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Consider this simple (and fake) </a:t>
            </a:r>
            <a:r>
              <a:rPr lang="en-US" sz="1600" b="1" dirty="0">
                <a:latin typeface="Candara" panose="020E0502030303020204" charset="0"/>
              </a:rPr>
              <a:t>dataset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about </a:t>
            </a:r>
            <a:r>
              <a:rPr lang="en-US" sz="1600" b="1" dirty="0">
                <a:latin typeface="Candara" panose="020E0502030303020204" charset="0"/>
              </a:rPr>
              <a:t>heart condition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of a set of 100 people.</a:t>
            </a:r>
          </a:p>
        </p:txBody>
      </p:sp>
      <p:sp>
        <p:nvSpPr>
          <p:cNvPr id="13" name="TextBox 123"/>
          <p:cNvSpPr txBox="1"/>
          <p:nvPr/>
        </p:nvSpPr>
        <p:spPr>
          <a:xfrm rot="20658383">
            <a:off x="903243" y="333695"/>
            <a:ext cx="2341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Does the person smoke?</a:t>
            </a:r>
          </a:p>
        </p:txBody>
      </p:sp>
      <p:sp>
        <p:nvSpPr>
          <p:cNvPr id="2" name="Rectangle 1"/>
          <p:cNvSpPr/>
          <p:nvPr/>
        </p:nvSpPr>
        <p:spPr>
          <a:xfrm>
            <a:off x="371475" y="1228481"/>
            <a:ext cx="761586" cy="3547001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urved Connector 3"/>
          <p:cNvCxnSpPr>
            <a:stCxn id="13" idx="1"/>
          </p:cNvCxnSpPr>
          <p:nvPr/>
        </p:nvCxnSpPr>
        <p:spPr>
          <a:xfrm rot="10800000" flipV="1">
            <a:off x="755374" y="819617"/>
            <a:ext cx="191508" cy="408864"/>
          </a:xfrm>
          <a:prstGeom prst="curvedConnector2">
            <a:avLst/>
          </a:prstGeom>
          <a:ln w="12700">
            <a:solidFill>
              <a:srgbClr val="FF56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34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TextBox 123"/>
          <p:cNvSpPr txBox="1"/>
          <p:nvPr/>
        </p:nvSpPr>
        <p:spPr>
          <a:xfrm>
            <a:off x="4761923" y="1832924"/>
            <a:ext cx="4205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Consider this simple (and fake) </a:t>
            </a:r>
            <a:r>
              <a:rPr lang="en-US" sz="1600" b="1" dirty="0">
                <a:latin typeface="Candara" panose="020E0502030303020204" charset="0"/>
              </a:rPr>
              <a:t>dataset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about </a:t>
            </a:r>
            <a:r>
              <a:rPr lang="en-US" sz="1600" b="1" dirty="0">
                <a:latin typeface="Candara" panose="020E0502030303020204" charset="0"/>
              </a:rPr>
              <a:t>heart condition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of a set of 100 people.</a:t>
            </a:r>
          </a:p>
        </p:txBody>
      </p:sp>
      <p:sp>
        <p:nvSpPr>
          <p:cNvPr id="13" name="TextBox 123"/>
          <p:cNvSpPr txBox="1"/>
          <p:nvPr/>
        </p:nvSpPr>
        <p:spPr>
          <a:xfrm rot="20658383">
            <a:off x="1741421" y="306595"/>
            <a:ext cx="1631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Does the person work out?</a:t>
            </a:r>
          </a:p>
        </p:txBody>
      </p:sp>
      <p:sp>
        <p:nvSpPr>
          <p:cNvPr id="2" name="Rectangle 1"/>
          <p:cNvSpPr/>
          <p:nvPr/>
        </p:nvSpPr>
        <p:spPr>
          <a:xfrm>
            <a:off x="1158342" y="1228481"/>
            <a:ext cx="837745" cy="3547001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urved Connector 3"/>
          <p:cNvCxnSpPr>
            <a:stCxn id="13" idx="1"/>
          </p:cNvCxnSpPr>
          <p:nvPr/>
        </p:nvCxnSpPr>
        <p:spPr>
          <a:xfrm rot="10800000" flipV="1">
            <a:off x="1580320" y="819618"/>
            <a:ext cx="191508" cy="408862"/>
          </a:xfrm>
          <a:prstGeom prst="curvedConnector2">
            <a:avLst/>
          </a:prstGeom>
          <a:ln w="12700">
            <a:solidFill>
              <a:srgbClr val="FF56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35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TextBox 123"/>
          <p:cNvSpPr txBox="1"/>
          <p:nvPr/>
        </p:nvSpPr>
        <p:spPr>
          <a:xfrm>
            <a:off x="4761923" y="1832924"/>
            <a:ext cx="4205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Consider this simple (and fake) </a:t>
            </a:r>
            <a:r>
              <a:rPr lang="en-US" sz="1600" b="1" dirty="0">
                <a:latin typeface="Candara" panose="020E0502030303020204" charset="0"/>
              </a:rPr>
              <a:t>dataset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about </a:t>
            </a:r>
            <a:r>
              <a:rPr lang="en-US" sz="1600" b="1" dirty="0">
                <a:latin typeface="Candara" panose="020E0502030303020204" charset="0"/>
              </a:rPr>
              <a:t>heart condition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of a set of 100 people.</a:t>
            </a:r>
          </a:p>
        </p:txBody>
      </p:sp>
      <p:sp>
        <p:nvSpPr>
          <p:cNvPr id="13" name="TextBox 123"/>
          <p:cNvSpPr txBox="1"/>
          <p:nvPr/>
        </p:nvSpPr>
        <p:spPr>
          <a:xfrm rot="20658383">
            <a:off x="2656272" y="237729"/>
            <a:ext cx="2140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What is the person’s weight (kg)?</a:t>
            </a:r>
          </a:p>
        </p:txBody>
      </p:sp>
      <p:sp>
        <p:nvSpPr>
          <p:cNvPr id="2" name="Rectangle 1"/>
          <p:cNvSpPr/>
          <p:nvPr/>
        </p:nvSpPr>
        <p:spPr>
          <a:xfrm>
            <a:off x="2082684" y="1228481"/>
            <a:ext cx="837745" cy="3547001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urved Connector 3"/>
          <p:cNvCxnSpPr>
            <a:stCxn id="13" idx="1"/>
          </p:cNvCxnSpPr>
          <p:nvPr/>
        </p:nvCxnSpPr>
        <p:spPr>
          <a:xfrm rot="10800000" flipV="1">
            <a:off x="2504662" y="819619"/>
            <a:ext cx="191508" cy="408858"/>
          </a:xfrm>
          <a:prstGeom prst="curvedConnector2">
            <a:avLst/>
          </a:prstGeom>
          <a:ln w="12700">
            <a:solidFill>
              <a:srgbClr val="FF56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36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TextBox 123"/>
          <p:cNvSpPr txBox="1"/>
          <p:nvPr/>
        </p:nvSpPr>
        <p:spPr>
          <a:xfrm>
            <a:off x="4761923" y="1832924"/>
            <a:ext cx="4205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Consider this simple (and fake) </a:t>
            </a:r>
            <a:r>
              <a:rPr lang="en-US" sz="1600" b="1" dirty="0">
                <a:latin typeface="Candara" panose="020E0502030303020204" charset="0"/>
              </a:rPr>
              <a:t>dataset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about </a:t>
            </a:r>
            <a:r>
              <a:rPr lang="en-US" sz="1600" b="1" dirty="0">
                <a:latin typeface="Candara" panose="020E0502030303020204" charset="0"/>
              </a:rPr>
              <a:t>heart condition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of a set of 100 people.</a:t>
            </a:r>
          </a:p>
        </p:txBody>
      </p:sp>
      <p:sp>
        <p:nvSpPr>
          <p:cNvPr id="13" name="TextBox 123"/>
          <p:cNvSpPr txBox="1"/>
          <p:nvPr/>
        </p:nvSpPr>
        <p:spPr>
          <a:xfrm rot="20658383">
            <a:off x="3686295" y="211260"/>
            <a:ext cx="2336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What is the person’s heart condition (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class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)?</a:t>
            </a:r>
          </a:p>
        </p:txBody>
      </p:sp>
      <p:sp>
        <p:nvSpPr>
          <p:cNvPr id="2" name="Rectangle 1"/>
          <p:cNvSpPr/>
          <p:nvPr/>
        </p:nvSpPr>
        <p:spPr>
          <a:xfrm>
            <a:off x="3116355" y="1228481"/>
            <a:ext cx="837745" cy="3547001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urved Connector 3"/>
          <p:cNvCxnSpPr>
            <a:stCxn id="13" idx="1"/>
          </p:cNvCxnSpPr>
          <p:nvPr/>
        </p:nvCxnSpPr>
        <p:spPr>
          <a:xfrm rot="10800000" flipV="1">
            <a:off x="3538333" y="819619"/>
            <a:ext cx="191508" cy="408858"/>
          </a:xfrm>
          <a:prstGeom prst="curvedConnector2">
            <a:avLst/>
          </a:prstGeom>
          <a:ln w="12700">
            <a:solidFill>
              <a:srgbClr val="FF56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37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Group 2"/>
          <p:cNvGrpSpPr/>
          <p:nvPr/>
        </p:nvGrpSpPr>
        <p:grpSpPr>
          <a:xfrm>
            <a:off x="7156726" y="145905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61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4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76" name="TextBox 123"/>
          <p:cNvSpPr txBox="1"/>
          <p:nvPr/>
        </p:nvSpPr>
        <p:spPr>
          <a:xfrm>
            <a:off x="4761923" y="1832924"/>
            <a:ext cx="26681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Let’s see how to </a:t>
            </a:r>
            <a:r>
              <a:rPr lang="en-US" sz="1600" b="1" dirty="0">
                <a:latin typeface="Candara" panose="020E0502030303020204" charset="0"/>
              </a:rPr>
              <a:t>train/build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Decision Tree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from a </a:t>
            </a:r>
            <a:r>
              <a:rPr lang="en-US" sz="1600" b="1" dirty="0">
                <a:latin typeface="Candara" panose="020E0502030303020204" charset="0"/>
              </a:rPr>
              <a:t>dataset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767441" y="2867223"/>
            <a:ext cx="2657119" cy="288677"/>
          </a:xfrm>
          <a:prstGeom prst="rightArrow">
            <a:avLst/>
          </a:prstGeom>
          <a:solidFill>
            <a:srgbClr val="59595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38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Group 2"/>
          <p:cNvGrpSpPr/>
          <p:nvPr/>
        </p:nvGrpSpPr>
        <p:grpSpPr>
          <a:xfrm>
            <a:off x="7156726" y="145905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?</a:t>
              </a:r>
              <a:endParaRPr lang="en-US" sz="1050" b="1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61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4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76" name="TextBox 123"/>
          <p:cNvSpPr txBox="1"/>
          <p:nvPr/>
        </p:nvSpPr>
        <p:spPr>
          <a:xfrm>
            <a:off x="7304432" y="616124"/>
            <a:ext cx="3502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Which </a:t>
            </a:r>
            <a:r>
              <a:rPr lang="en-US" sz="1600" b="1" dirty="0">
                <a:solidFill>
                  <a:srgbClr val="376C8A"/>
                </a:solidFill>
                <a:latin typeface="Candara" panose="020E0502030303020204" charset="0"/>
              </a:rPr>
              <a:t>feature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should be at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root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 flipH="1">
            <a:off x="8892735" y="954678"/>
            <a:ext cx="211084" cy="407778"/>
          </a:xfrm>
          <a:prstGeom prst="straightConnector1">
            <a:avLst/>
          </a:prstGeom>
          <a:ln w="28575">
            <a:solidFill>
              <a:srgbClr val="FF56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39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C74039C-45A8-2D46-A370-920EF372871D}"/>
              </a:ext>
            </a:extLst>
          </p:cNvPr>
          <p:cNvGrpSpPr/>
          <p:nvPr/>
        </p:nvGrpSpPr>
        <p:grpSpPr>
          <a:xfrm>
            <a:off x="6226115" y="788971"/>
            <a:ext cx="4780592" cy="2169904"/>
            <a:chOff x="6226115" y="788971"/>
            <a:chExt cx="4780592" cy="2169904"/>
          </a:xfrm>
        </p:grpSpPr>
        <p:sp>
          <p:nvSpPr>
            <p:cNvPr id="80" name="Rounded Rectangle 79"/>
            <p:cNvSpPr/>
            <p:nvPr/>
          </p:nvSpPr>
          <p:spPr>
            <a:xfrm flipH="1">
              <a:off x="7922630" y="788971"/>
              <a:ext cx="1387563" cy="632112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cxnSp>
          <p:nvCxnSpPr>
            <p:cNvPr id="83" name="Straight Connector 82"/>
            <p:cNvCxnSpPr>
              <a:stCxn id="80" idx="2"/>
              <a:endCxn id="87" idx="0"/>
            </p:cNvCxnSpPr>
            <p:nvPr/>
          </p:nvCxnSpPr>
          <p:spPr>
            <a:xfrm flipH="1">
              <a:off x="7182783" y="1421083"/>
              <a:ext cx="1433628" cy="607333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80" idx="2"/>
              <a:endCxn id="91" idx="0"/>
            </p:cNvCxnSpPr>
            <p:nvPr/>
          </p:nvCxnSpPr>
          <p:spPr>
            <a:xfrm>
              <a:off x="8616411" y="1421083"/>
              <a:ext cx="1424792" cy="607333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 Box 7"/>
            <p:cNvSpPr txBox="1"/>
            <p:nvPr/>
          </p:nvSpPr>
          <p:spPr>
            <a:xfrm rot="20168799">
              <a:off x="7302861" y="1579304"/>
              <a:ext cx="56515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86" name="Text Box 7"/>
            <p:cNvSpPr txBox="1"/>
            <p:nvPr/>
          </p:nvSpPr>
          <p:spPr>
            <a:xfrm rot="1362789">
              <a:off x="9400106" y="1613690"/>
              <a:ext cx="609462" cy="27699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6226115" y="2028416"/>
              <a:ext cx="1922172" cy="930459"/>
              <a:chOff x="6226115" y="2006160"/>
              <a:chExt cx="1922172" cy="93045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6226115" y="2344714"/>
                <a:ext cx="19097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  </a:t>
                </a:r>
                <a:r>
                  <a:rPr lang="en-US" sz="1600" dirty="0">
                    <a:latin typeface="Candara" panose="020E0502030303020204" charset="0"/>
                  </a:rPr>
                  <a:t>0           0            0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13" name="Straight Connector 12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/>
            <p:cNvGrpSpPr/>
            <p:nvPr/>
          </p:nvGrpSpPr>
          <p:grpSpPr>
            <a:xfrm>
              <a:off x="9084535" y="2028416"/>
              <a:ext cx="1922172" cy="930459"/>
              <a:chOff x="6226115" y="2006160"/>
              <a:chExt cx="1922172" cy="930459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6226115" y="2344714"/>
                <a:ext cx="19097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  </a:t>
                </a:r>
                <a:r>
                  <a:rPr lang="en-US" sz="1600" dirty="0">
                    <a:latin typeface="Candara" panose="020E0502030303020204" charset="0"/>
                  </a:rPr>
                  <a:t>0           0            0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93" name="Straight Connector 92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Rectangles 26"/>
          <p:cNvSpPr/>
          <p:nvPr/>
        </p:nvSpPr>
        <p:spPr>
          <a:xfrm>
            <a:off x="1133061" y="1235972"/>
            <a:ext cx="1877051" cy="3558669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371475" y="1228481"/>
            <a:ext cx="761586" cy="3547001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40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2783" y="1421083"/>
            <a:ext cx="1433628" cy="607333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1083"/>
            <a:ext cx="1424792" cy="607333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0           0            0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</a:rPr>
                <a:t>0           0             1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s 26"/>
          <p:cNvSpPr/>
          <p:nvPr/>
        </p:nvSpPr>
        <p:spPr>
          <a:xfrm>
            <a:off x="1133061" y="1235972"/>
            <a:ext cx="1877051" cy="3558669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371474" y="1778001"/>
            <a:ext cx="3663811" cy="250416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0619238" y="2620275"/>
            <a:ext cx="253386" cy="250416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41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2783" y="1421083"/>
            <a:ext cx="1433628" cy="607333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1083"/>
            <a:ext cx="1424792" cy="607333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0           0            0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1           0             1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s 26"/>
          <p:cNvSpPr/>
          <p:nvPr/>
        </p:nvSpPr>
        <p:spPr>
          <a:xfrm>
            <a:off x="1133061" y="1235972"/>
            <a:ext cx="1877051" cy="3558669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371474" y="2082802"/>
            <a:ext cx="3663811" cy="250416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9357705" y="2620275"/>
            <a:ext cx="253386" cy="250416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42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2783" y="1421083"/>
            <a:ext cx="1433628" cy="607333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1083"/>
            <a:ext cx="1424792" cy="607333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0           0            1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1           0             1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s 26"/>
          <p:cNvSpPr/>
          <p:nvPr/>
        </p:nvSpPr>
        <p:spPr>
          <a:xfrm>
            <a:off x="1133061" y="1235972"/>
            <a:ext cx="1877051" cy="3558669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371474" y="2404535"/>
            <a:ext cx="3663811" cy="250416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740358" y="2614560"/>
            <a:ext cx="253386" cy="250416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43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s 26"/>
          <p:cNvSpPr/>
          <p:nvPr/>
        </p:nvSpPr>
        <p:spPr>
          <a:xfrm>
            <a:off x="1133061" y="1235972"/>
            <a:ext cx="1877051" cy="3558669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123"/>
          <p:cNvSpPr txBox="1"/>
          <p:nvPr/>
        </p:nvSpPr>
        <p:spPr>
          <a:xfrm>
            <a:off x="4471035" y="2621915"/>
            <a:ext cx="12446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and so on...</a:t>
            </a:r>
          </a:p>
        </p:txBody>
      </p: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44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s 26"/>
          <p:cNvSpPr/>
          <p:nvPr/>
        </p:nvSpPr>
        <p:spPr>
          <a:xfrm>
            <a:off x="1133061" y="1235972"/>
            <a:ext cx="1877051" cy="3558669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grpSp>
        <p:nvGrpSpPr>
          <p:cNvPr id="9" name="Group 8"/>
          <p:cNvGrpSpPr/>
          <p:nvPr/>
        </p:nvGrpSpPr>
        <p:grpSpPr>
          <a:xfrm rot="21240000">
            <a:off x="7088751" y="3546081"/>
            <a:ext cx="2689225" cy="768350"/>
            <a:chOff x="6928" y="9058"/>
            <a:chExt cx="4235" cy="12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Text Box 7"/>
            <p:cNvSpPr txBox="1"/>
            <p:nvPr/>
          </p:nvSpPr>
          <p:spPr>
            <a:xfrm>
              <a:off x="6928" y="9058"/>
              <a:ext cx="4235" cy="121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Since these nodes have samples from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sym typeface="+mn-ea"/>
                </a:rPr>
                <a:t>different </a:t>
              </a:r>
              <a:r>
                <a:rPr lang="en-US" sz="1400" dirty="0">
                  <a:solidFill>
                    <a:srgbClr val="202020"/>
                  </a:solidFill>
                  <a:latin typeface="Candara" panose="020E0502030303020204" charset="0"/>
                  <a:sym typeface="+mn-ea"/>
                </a:rPr>
                <a:t>classes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, they are </a:t>
              </a:r>
              <a:r>
                <a:rPr lang="en-US" sz="16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impure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11" name="Picture 10" descr="pngwing.co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3" y="9405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45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s 26"/>
          <p:cNvSpPr/>
          <p:nvPr/>
        </p:nvSpPr>
        <p:spPr>
          <a:xfrm>
            <a:off x="1133061" y="1235972"/>
            <a:ext cx="1877051" cy="3558669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grpSp>
        <p:nvGrpSpPr>
          <p:cNvPr id="5" name="Group 4"/>
          <p:cNvGrpSpPr/>
          <p:nvPr/>
        </p:nvGrpSpPr>
        <p:grpSpPr>
          <a:xfrm rot="21240000">
            <a:off x="7223957" y="4598031"/>
            <a:ext cx="2475230" cy="768350"/>
            <a:chOff x="6928" y="9058"/>
            <a:chExt cx="3898" cy="12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Text Box 7"/>
            <p:cNvSpPr txBox="1"/>
            <p:nvPr/>
          </p:nvSpPr>
          <p:spPr>
            <a:xfrm>
              <a:off x="6928" y="9058"/>
              <a:ext cx="3898" cy="121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A node is </a:t>
              </a:r>
              <a:r>
                <a:rPr lang="en-US" sz="1600" b="1" dirty="0">
                  <a:solidFill>
                    <a:srgbClr val="358EF2"/>
                  </a:solidFill>
                  <a:latin typeface="Candara" panose="020E0502030303020204" charset="0"/>
                  <a:sym typeface="+mn-ea"/>
                </a:rPr>
                <a:t>pure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when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all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its samples belong to the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same class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7" name="Picture 6" descr="pngwing.co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3" y="9405"/>
              <a:ext cx="591" cy="591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 rot="21360000">
            <a:off x="9592885" y="5463131"/>
            <a:ext cx="1922172" cy="930459"/>
            <a:chOff x="6226115" y="2006160"/>
            <a:chExt cx="1922172" cy="930459"/>
          </a:xfrm>
        </p:grpSpPr>
        <p:sp>
          <p:nvSpPr>
            <p:cNvPr id="12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4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15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45</a:t>
              </a:r>
              <a:r>
                <a:rPr lang="en-US" sz="1600" dirty="0">
                  <a:latin typeface="Candara" panose="020E0502030303020204" charset="0"/>
                </a:rPr>
                <a:t>           0          0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Curved Connector 17"/>
          <p:cNvCxnSpPr>
            <a:stCxn id="6" idx="3"/>
            <a:endCxn id="14" idx="0"/>
          </p:cNvCxnSpPr>
          <p:nvPr/>
        </p:nvCxnSpPr>
        <p:spPr>
          <a:xfrm>
            <a:off x="9692640" y="4852670"/>
            <a:ext cx="824865" cy="612140"/>
          </a:xfrm>
          <a:prstGeom prst="curvedConnector2">
            <a:avLst/>
          </a:prstGeom>
          <a:ln w="28575">
            <a:solidFill>
              <a:srgbClr val="358EF2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 rot="21240000">
            <a:off x="7088751" y="3546081"/>
            <a:ext cx="2689225" cy="768350"/>
            <a:chOff x="6928" y="9058"/>
            <a:chExt cx="4235" cy="12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Text Box 7"/>
            <p:cNvSpPr txBox="1"/>
            <p:nvPr/>
          </p:nvSpPr>
          <p:spPr>
            <a:xfrm>
              <a:off x="6928" y="9058"/>
              <a:ext cx="4235" cy="121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Since these nodes have samples from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sym typeface="+mn-ea"/>
                </a:rPr>
                <a:t>different </a:t>
              </a:r>
              <a:r>
                <a:rPr lang="en-US" sz="1400" dirty="0">
                  <a:solidFill>
                    <a:srgbClr val="202020"/>
                  </a:solidFill>
                  <a:latin typeface="Candara" panose="020E0502030303020204" charset="0"/>
                  <a:sym typeface="+mn-ea"/>
                </a:rPr>
                <a:t>classes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, they are </a:t>
              </a:r>
              <a:r>
                <a:rPr lang="en-US" sz="16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impure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21" name="Picture 20" descr="pngwing.co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3" y="9405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46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s 26"/>
          <p:cNvSpPr/>
          <p:nvPr/>
        </p:nvSpPr>
        <p:spPr>
          <a:xfrm>
            <a:off x="378460" y="1235710"/>
            <a:ext cx="779145" cy="355854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5" name="Rounded Rectangle 4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5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9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1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14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0</a:t>
              </a:r>
              <a:r>
                <a:rPr lang="en-US" sz="1600" dirty="0">
                  <a:latin typeface="Candara" panose="020E0502030303020204" charset="0"/>
                </a:rPr>
                <a:t>   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0</a:t>
              </a:r>
              <a:r>
                <a:rPr lang="en-US" sz="1600" dirty="0">
                  <a:latin typeface="Candara" panose="020E0502030303020204" charset="0"/>
                </a:rPr>
                <a:t>    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18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9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0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</a:rPr>
                <a:t>0    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0</a:t>
              </a:r>
              <a:r>
                <a:rPr lang="en-US" sz="1600" dirty="0">
                  <a:latin typeface="Candara" panose="020E0502030303020204" charset="0"/>
                </a:rPr>
                <a:t>    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4" name="Rectangles 26"/>
          <p:cNvSpPr/>
          <p:nvPr/>
        </p:nvSpPr>
        <p:spPr>
          <a:xfrm>
            <a:off x="1995805" y="1235710"/>
            <a:ext cx="1007110" cy="355854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"/>
          <p:cNvSpPr/>
          <p:nvPr/>
        </p:nvSpPr>
        <p:spPr>
          <a:xfrm>
            <a:off x="1158342" y="1228481"/>
            <a:ext cx="837745" cy="3547001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47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s 26"/>
          <p:cNvSpPr/>
          <p:nvPr/>
        </p:nvSpPr>
        <p:spPr>
          <a:xfrm>
            <a:off x="378460" y="1235710"/>
            <a:ext cx="779145" cy="355854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5" name="Rounded Rectangle 4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5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9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1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14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19</a:t>
              </a:r>
              <a:r>
                <a:rPr lang="en-US" sz="1600" dirty="0">
                  <a:latin typeface="Candara" panose="020E0502030303020204" charset="0"/>
                </a:rPr>
                <a:t>   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8</a:t>
              </a:r>
              <a:r>
                <a:rPr lang="en-US" sz="1600" dirty="0">
                  <a:latin typeface="Candara" panose="020E0502030303020204" charset="0"/>
                </a:rPr>
                <a:t>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18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9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0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</a:rPr>
                <a:t>25          25          15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4" name="Rectangles 26"/>
          <p:cNvSpPr/>
          <p:nvPr/>
        </p:nvSpPr>
        <p:spPr>
          <a:xfrm>
            <a:off x="1995805" y="1235710"/>
            <a:ext cx="1007110" cy="355854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23"/>
          <p:cNvSpPr txBox="1"/>
          <p:nvPr/>
        </p:nvSpPr>
        <p:spPr>
          <a:xfrm>
            <a:off x="4981575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35 samples</a:t>
            </a:r>
          </a:p>
        </p:txBody>
      </p:sp>
      <p:sp>
        <p:nvSpPr>
          <p:cNvPr id="26" name="TextBox 123"/>
          <p:cNvSpPr txBox="1"/>
          <p:nvPr/>
        </p:nvSpPr>
        <p:spPr>
          <a:xfrm>
            <a:off x="10946130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65 samples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48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5" name="Rounded Rectangle 4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5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9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1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14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19</a:t>
              </a:r>
              <a:r>
                <a:rPr lang="en-US" sz="1600" dirty="0">
                  <a:latin typeface="Candara" panose="020E0502030303020204" charset="0"/>
                </a:rPr>
                <a:t>   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8</a:t>
              </a:r>
              <a:r>
                <a:rPr lang="en-US" sz="1600" dirty="0">
                  <a:latin typeface="Candara" panose="020E0502030303020204" charset="0"/>
                </a:rPr>
                <a:t>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18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9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0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</a:rPr>
                <a:t>25          25          15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3" name="TextBox 123"/>
          <p:cNvSpPr txBox="1"/>
          <p:nvPr/>
        </p:nvSpPr>
        <p:spPr>
          <a:xfrm>
            <a:off x="4981575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35 samples</a:t>
            </a:r>
          </a:p>
        </p:txBody>
      </p:sp>
      <p:sp>
        <p:nvSpPr>
          <p:cNvPr id="26" name="TextBox 123"/>
          <p:cNvSpPr txBox="1"/>
          <p:nvPr/>
        </p:nvSpPr>
        <p:spPr>
          <a:xfrm>
            <a:off x="10946130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65 samples</a:t>
            </a:r>
          </a:p>
        </p:txBody>
      </p:sp>
      <p:sp>
        <p:nvSpPr>
          <p:cNvPr id="77" name="TextBox 123"/>
          <p:cNvSpPr txBox="1"/>
          <p:nvPr/>
        </p:nvSpPr>
        <p:spPr>
          <a:xfrm rot="21420000">
            <a:off x="777875" y="1019810"/>
            <a:ext cx="3555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Analyzing just these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two features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which should we choose?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49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5" name="Rounded Rectangle 4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5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9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1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14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19</a:t>
              </a:r>
              <a:r>
                <a:rPr lang="en-US" sz="1600" dirty="0">
                  <a:latin typeface="Candara" panose="020E0502030303020204" charset="0"/>
                </a:rPr>
                <a:t>   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8</a:t>
              </a:r>
              <a:r>
                <a:rPr lang="en-US" sz="1600" dirty="0">
                  <a:latin typeface="Candara" panose="020E0502030303020204" charset="0"/>
                </a:rPr>
                <a:t>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18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9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0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</a:rPr>
                <a:t>25          25          15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3" name="TextBox 123"/>
          <p:cNvSpPr txBox="1"/>
          <p:nvPr/>
        </p:nvSpPr>
        <p:spPr>
          <a:xfrm>
            <a:off x="4981575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35 samples</a:t>
            </a:r>
          </a:p>
        </p:txBody>
      </p:sp>
      <p:sp>
        <p:nvSpPr>
          <p:cNvPr id="26" name="TextBox 123"/>
          <p:cNvSpPr txBox="1"/>
          <p:nvPr/>
        </p:nvSpPr>
        <p:spPr>
          <a:xfrm>
            <a:off x="10946130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65 samples</a:t>
            </a:r>
          </a:p>
        </p:txBody>
      </p:sp>
      <p:sp>
        <p:nvSpPr>
          <p:cNvPr id="77" name="TextBox 123"/>
          <p:cNvSpPr txBox="1"/>
          <p:nvPr/>
        </p:nvSpPr>
        <p:spPr>
          <a:xfrm rot="21420000">
            <a:off x="777875" y="1019810"/>
            <a:ext cx="3555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Analyzing just these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two features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which should we choose?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1546225" y="2232660"/>
            <a:ext cx="20542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least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impure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/ the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purest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...</a:t>
            </a:r>
          </a:p>
        </p:txBody>
      </p:sp>
      <p:cxnSp>
        <p:nvCxnSpPr>
          <p:cNvPr id="25" name="Straight Arrow Connector 24"/>
          <p:cNvCxnSpPr>
            <a:stCxn id="77" idx="2"/>
            <a:endCxn id="24" idx="0"/>
          </p:cNvCxnSpPr>
          <p:nvPr/>
        </p:nvCxnSpPr>
        <p:spPr>
          <a:xfrm>
            <a:off x="2573020" y="1664335"/>
            <a:ext cx="635" cy="568325"/>
          </a:xfrm>
          <a:prstGeom prst="straightConnector1">
            <a:avLst/>
          </a:prstGeom>
          <a:ln w="28575">
            <a:solidFill>
              <a:srgbClr val="202020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50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5" name="Rounded Rectangle 4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5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9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1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14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19</a:t>
              </a:r>
              <a:r>
                <a:rPr lang="en-US" sz="1600" dirty="0">
                  <a:latin typeface="Candara" panose="020E0502030303020204" charset="0"/>
                </a:rPr>
                <a:t>   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8</a:t>
              </a:r>
              <a:r>
                <a:rPr lang="en-US" sz="1600" dirty="0">
                  <a:latin typeface="Candara" panose="020E0502030303020204" charset="0"/>
                </a:rPr>
                <a:t>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18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9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0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</a:rPr>
                <a:t>25          25          15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3" name="TextBox 123"/>
          <p:cNvSpPr txBox="1"/>
          <p:nvPr/>
        </p:nvSpPr>
        <p:spPr>
          <a:xfrm>
            <a:off x="4981575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35 samples</a:t>
            </a:r>
          </a:p>
        </p:txBody>
      </p:sp>
      <p:sp>
        <p:nvSpPr>
          <p:cNvPr id="26" name="TextBox 123"/>
          <p:cNvSpPr txBox="1"/>
          <p:nvPr/>
        </p:nvSpPr>
        <p:spPr>
          <a:xfrm>
            <a:off x="10946130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65 samples</a:t>
            </a:r>
          </a:p>
        </p:txBody>
      </p:sp>
      <p:sp>
        <p:nvSpPr>
          <p:cNvPr id="77" name="TextBox 123"/>
          <p:cNvSpPr txBox="1"/>
          <p:nvPr/>
        </p:nvSpPr>
        <p:spPr>
          <a:xfrm rot="21420000">
            <a:off x="777875" y="1019810"/>
            <a:ext cx="3555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Analyzing just these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two features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which should we choose?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1546225" y="2232660"/>
            <a:ext cx="20542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least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impure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/ the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purest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...</a:t>
            </a:r>
          </a:p>
        </p:txBody>
      </p:sp>
      <p:cxnSp>
        <p:nvCxnSpPr>
          <p:cNvPr id="25" name="Straight Arrow Connector 24"/>
          <p:cNvCxnSpPr>
            <a:stCxn id="77" idx="2"/>
            <a:endCxn id="24" idx="0"/>
          </p:cNvCxnSpPr>
          <p:nvPr/>
        </p:nvCxnSpPr>
        <p:spPr>
          <a:xfrm>
            <a:off x="2573020" y="1664335"/>
            <a:ext cx="635" cy="568325"/>
          </a:xfrm>
          <a:prstGeom prst="straightConnector1">
            <a:avLst/>
          </a:prstGeom>
          <a:ln w="28575">
            <a:solidFill>
              <a:srgbClr val="202020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23"/>
          <p:cNvSpPr txBox="1"/>
          <p:nvPr/>
        </p:nvSpPr>
        <p:spPr>
          <a:xfrm>
            <a:off x="1027430" y="3430905"/>
            <a:ext cx="30918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andara" panose="020E0502030303020204" charset="0"/>
              </a:rPr>
              <a:t>How to compute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impurity</a:t>
            </a:r>
            <a:r>
              <a:rPr lang="en-US" dirty="0">
                <a:solidFill>
                  <a:schemeClr val="tx1"/>
                </a:solidFill>
                <a:latin typeface="Candara" panose="020E0502030303020204" charset="0"/>
              </a:rPr>
              <a:t>?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Candara" panose="020E0502030303020204" charset="0"/>
              </a:rPr>
              <a:t>- Gini impurity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Candara" panose="020E0502030303020204" charset="0"/>
              </a:rPr>
              <a:t>- Entropy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Candara" panose="020E0502030303020204" charset="0"/>
              </a:rPr>
              <a:t>- Information Gain</a:t>
            </a:r>
          </a:p>
        </p:txBody>
      </p:sp>
      <p:cxnSp>
        <p:nvCxnSpPr>
          <p:cNvPr id="28" name="Straight Arrow Connector 27"/>
          <p:cNvCxnSpPr>
            <a:stCxn id="24" idx="2"/>
            <a:endCxn id="27" idx="0"/>
          </p:cNvCxnSpPr>
          <p:nvPr/>
        </p:nvCxnSpPr>
        <p:spPr>
          <a:xfrm>
            <a:off x="2573655" y="2877820"/>
            <a:ext cx="0" cy="553085"/>
          </a:xfrm>
          <a:prstGeom prst="straightConnector1">
            <a:avLst/>
          </a:prstGeom>
          <a:ln w="28575">
            <a:solidFill>
              <a:srgbClr val="202020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51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5" name="Rounded Rectangle 4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5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9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1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14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19</a:t>
              </a:r>
              <a:r>
                <a:rPr lang="en-US" sz="1600" dirty="0">
                  <a:latin typeface="Candara" panose="020E0502030303020204" charset="0"/>
                </a:rPr>
                <a:t>   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8</a:t>
              </a:r>
              <a:r>
                <a:rPr lang="en-US" sz="1600" dirty="0">
                  <a:latin typeface="Candara" panose="020E0502030303020204" charset="0"/>
                </a:rPr>
                <a:t>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18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9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0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</a:rPr>
                <a:t>25          25          15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3" name="TextBox 123"/>
          <p:cNvSpPr txBox="1"/>
          <p:nvPr/>
        </p:nvSpPr>
        <p:spPr>
          <a:xfrm>
            <a:off x="4981575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35 samples</a:t>
            </a:r>
          </a:p>
        </p:txBody>
      </p:sp>
      <p:sp>
        <p:nvSpPr>
          <p:cNvPr id="26" name="TextBox 123"/>
          <p:cNvSpPr txBox="1"/>
          <p:nvPr/>
        </p:nvSpPr>
        <p:spPr>
          <a:xfrm>
            <a:off x="10946130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65 samples</a:t>
            </a:r>
          </a:p>
        </p:txBody>
      </p:sp>
      <p:sp>
        <p:nvSpPr>
          <p:cNvPr id="77" name="TextBox 123"/>
          <p:cNvSpPr txBox="1"/>
          <p:nvPr/>
        </p:nvSpPr>
        <p:spPr>
          <a:xfrm rot="21420000">
            <a:off x="777875" y="1019810"/>
            <a:ext cx="3555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Analyzing just these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two features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which should we choose?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1546225" y="2232660"/>
            <a:ext cx="20542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least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impure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/ the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purest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...</a:t>
            </a:r>
          </a:p>
        </p:txBody>
      </p:sp>
      <p:cxnSp>
        <p:nvCxnSpPr>
          <p:cNvPr id="25" name="Straight Arrow Connector 24"/>
          <p:cNvCxnSpPr>
            <a:stCxn id="77" idx="2"/>
            <a:endCxn id="24" idx="0"/>
          </p:cNvCxnSpPr>
          <p:nvPr/>
        </p:nvCxnSpPr>
        <p:spPr>
          <a:xfrm>
            <a:off x="2573020" y="1664335"/>
            <a:ext cx="635" cy="568325"/>
          </a:xfrm>
          <a:prstGeom prst="straightConnector1">
            <a:avLst/>
          </a:prstGeom>
          <a:ln w="28575">
            <a:solidFill>
              <a:srgbClr val="202020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23"/>
          <p:cNvSpPr txBox="1"/>
          <p:nvPr/>
        </p:nvSpPr>
        <p:spPr>
          <a:xfrm>
            <a:off x="1027430" y="3430905"/>
            <a:ext cx="30918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andara" panose="020E0502030303020204" charset="0"/>
              </a:rPr>
              <a:t>How to compute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impurity</a:t>
            </a:r>
            <a:r>
              <a:rPr lang="en-US" dirty="0">
                <a:solidFill>
                  <a:schemeClr val="tx1"/>
                </a:solidFill>
                <a:latin typeface="Candara" panose="020E0502030303020204" charset="0"/>
              </a:rPr>
              <a:t>?</a:t>
            </a:r>
          </a:p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- Gini impurity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Candara" panose="020E0502030303020204" charset="0"/>
              </a:rPr>
              <a:t>- Entropy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Candara" panose="020E0502030303020204" charset="0"/>
              </a:rPr>
              <a:t>- Information Gain</a:t>
            </a:r>
          </a:p>
        </p:txBody>
      </p:sp>
      <p:cxnSp>
        <p:nvCxnSpPr>
          <p:cNvPr id="28" name="Straight Arrow Connector 27"/>
          <p:cNvCxnSpPr>
            <a:stCxn id="24" idx="2"/>
            <a:endCxn id="27" idx="0"/>
          </p:cNvCxnSpPr>
          <p:nvPr/>
        </p:nvCxnSpPr>
        <p:spPr>
          <a:xfrm>
            <a:off x="2573655" y="2877820"/>
            <a:ext cx="0" cy="553085"/>
          </a:xfrm>
          <a:prstGeom prst="straightConnector1">
            <a:avLst/>
          </a:prstGeom>
          <a:ln w="28575">
            <a:solidFill>
              <a:srgbClr val="202020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"/>
          <p:cNvSpPr/>
          <p:nvPr/>
        </p:nvSpPr>
        <p:spPr>
          <a:xfrm>
            <a:off x="1027430" y="3741420"/>
            <a:ext cx="1499235" cy="310515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52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53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5024120" cy="9493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((the prob. of "Normal")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"Attention")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"Sick")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5024120" cy="949325"/>
              </a:xfrm>
              <a:prstGeom prst="rect">
                <a:avLst/>
              </a:prstGeom>
              <a:blipFill rotWithShape="1">
                <a:blip r:embed="rId5"/>
                <a:stretch>
                  <a:fillRect l="-11" t="-1197" r="11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54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5024120" cy="9493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((the prob. of "Normal")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"Attention")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"Sick")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5024120" cy="949325"/>
              </a:xfrm>
              <a:prstGeom prst="rect">
                <a:avLst/>
              </a:prstGeom>
              <a:blipFill rotWithShape="1">
                <a:blip r:embed="rId5"/>
                <a:stretch>
                  <a:fillRect l="-11" t="-1197" r="11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1"/>
          <p:cNvSpPr/>
          <p:nvPr/>
        </p:nvSpPr>
        <p:spPr>
          <a:xfrm>
            <a:off x="5397500" y="3837940"/>
            <a:ext cx="2400935" cy="310515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55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5024120" cy="10560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(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6</m:t>
                            </m:r>
                          </m:num>
                          <m:den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6+15+24</m:t>
                            </m:r>
                          </m:den>
                        </m:f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"Attention")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"Sick")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5024120" cy="1056005"/>
              </a:xfrm>
              <a:prstGeom prst="rect">
                <a:avLst/>
              </a:prstGeom>
              <a:blipFill rotWithShape="1">
                <a:blip r:embed="rId5"/>
                <a:stretch>
                  <a:fillRect l="-11" t="-1076" r="11" b="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56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5024120" cy="9493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(0.1333)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"Attention")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"Sick")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5024120" cy="949325"/>
              </a:xfrm>
              <a:prstGeom prst="rect">
                <a:avLst/>
              </a:prstGeom>
              <a:blipFill rotWithShape="1">
                <a:blip r:embed="rId5"/>
                <a:stretch>
                  <a:fillRect l="-11" t="-1197" r="11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57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5024120" cy="9493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0.0177</m:t>
                    </m:r>
                  </m:oMath>
                </a14:m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"Attention")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"Sick")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5024120" cy="949325"/>
              </a:xfrm>
              <a:prstGeom prst="rect">
                <a:avLst/>
              </a:prstGeom>
              <a:blipFill rotWithShape="1">
                <a:blip r:embed="rId5"/>
                <a:stretch>
                  <a:fillRect l="-11" t="-1197" r="11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58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3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5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5024120" cy="9493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0.0177</m:t>
                    </m:r>
                  </m:oMath>
                </a14:m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"Attention")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"Sick")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5024120" cy="949325"/>
              </a:xfrm>
              <a:prstGeom prst="rect">
                <a:avLst/>
              </a:prstGeom>
              <a:blipFill rotWithShape="1">
                <a:blip r:embed="rId6"/>
                <a:stretch>
                  <a:fillRect l="-11" t="-1197" r="11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1"/>
          <p:cNvSpPr/>
          <p:nvPr/>
        </p:nvSpPr>
        <p:spPr>
          <a:xfrm>
            <a:off x="5397500" y="4130040"/>
            <a:ext cx="2616200" cy="310515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59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4409440" cy="10833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0.0177</m:t>
                    </m:r>
                  </m:oMath>
                </a14:m>
                <a:r>
                  <a:rPr lang="en-US" baseline="30000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      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(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15</m:t>
                            </m:r>
                          </m:num>
                          <m:den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6+15+24</m:t>
                            </m:r>
                          </m:den>
                        </m:f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"Sick")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4409440" cy="1083310"/>
              </a:xfrm>
              <a:prstGeom prst="rect">
                <a:avLst/>
              </a:prstGeom>
              <a:blipFill rotWithShape="1">
                <a:blip r:embed="rId5"/>
                <a:stretch>
                  <a:fillRect l="-13" t="-1049" r="13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60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4409440" cy="9493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0.0177</m:t>
                    </m:r>
                  </m:oMath>
                </a14:m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0.1111</m:t>
                    </m:r>
                  </m:oMath>
                </a14:m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"Sick")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4409440" cy="949325"/>
              </a:xfrm>
              <a:prstGeom prst="rect">
                <a:avLst/>
              </a:prstGeom>
              <a:blipFill rotWithShape="1">
                <a:blip r:embed="rId5"/>
                <a:stretch>
                  <a:fillRect l="-13" t="-1197" r="13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61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4409440" cy="9493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0.0177</m:t>
                    </m:r>
                  </m:oMath>
                </a14:m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0.1111</m:t>
                    </m:r>
                  </m:oMath>
                </a14:m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(the prob. of "Sick")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4409440" cy="949325"/>
              </a:xfrm>
              <a:prstGeom prst="rect">
                <a:avLst/>
              </a:prstGeom>
              <a:blipFill rotWithShape="1">
                <a:blip r:embed="rId5"/>
                <a:stretch>
                  <a:fillRect l="-13" t="-1197" r="13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1"/>
          <p:cNvSpPr/>
          <p:nvPr/>
        </p:nvSpPr>
        <p:spPr>
          <a:xfrm>
            <a:off x="5397500" y="4415790"/>
            <a:ext cx="2063750" cy="310515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62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3576955" cy="10826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0.0177</m:t>
                    </m:r>
                  </m:oMath>
                </a14:m>
                <a:r>
                  <a:rPr lang="en-US" baseline="30000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                                          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0.1111</m:t>
                    </m:r>
                  </m:oMath>
                </a14:m>
                <a:r>
                  <a:rPr lang="en-US" baseline="30000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      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(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24</m:t>
                            </m:r>
                          </m:num>
                          <m:den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6+15+24</m:t>
                            </m:r>
                          </m:den>
                        </m:f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3576955" cy="1082675"/>
              </a:xfrm>
              <a:prstGeom prst="rect">
                <a:avLst/>
              </a:prstGeom>
              <a:blipFill rotWithShape="1">
                <a:blip r:embed="rId5"/>
                <a:stretch>
                  <a:fillRect l="-16" t="-1050" r="16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63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3260090" cy="9493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0.0177</m:t>
                    </m:r>
                  </m:oMath>
                </a14:m>
                <a:r>
                  <a:rPr lang="en-US" baseline="30000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                                          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0.1111</m:t>
                    </m:r>
                  </m:oMath>
                </a14:m>
                <a:r>
                  <a:rPr lang="en-US" baseline="30000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rPr>
                  <a:t>                                          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0.2844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3260090" cy="949325"/>
              </a:xfrm>
              <a:prstGeom prst="rect">
                <a:avLst/>
              </a:prstGeom>
              <a:blipFill rotWithShape="1">
                <a:blip r:embed="rId5"/>
                <a:stretch>
                  <a:fillRect l="-18" t="-1197" r="18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64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3019425" cy="3949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0.4132</m:t>
                    </m:r>
                  </m:oMath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3019425" cy="394970"/>
              </a:xfrm>
              <a:prstGeom prst="rect">
                <a:avLst/>
              </a:prstGeom>
              <a:blipFill rotWithShape="1">
                <a:blip r:embed="rId5"/>
                <a:stretch>
                  <a:fillRect l="-19" t="-2878" r="19" b="1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65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3199067" y="3797871"/>
                <a:ext cx="3980815" cy="3949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𝑡𝑟𝑢𝑒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0.4132=0.587</m:t>
                    </m:r>
                  </m:oMath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67" y="3797871"/>
                <a:ext cx="3980815" cy="394970"/>
              </a:xfrm>
              <a:prstGeom prst="rect">
                <a:avLst/>
              </a:prstGeom>
              <a:blipFill rotWithShape="1">
                <a:blip r:embed="rId5"/>
                <a:stretch>
                  <a:fillRect l="-14" t="-2878" r="14" b="1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66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𝑡𝑟𝑢𝑒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0.587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blipFill rotWithShape="1">
                <a:blip r:embed="rId5"/>
                <a:stretch>
                  <a:fillRect l="-23" t="-3039" r="23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3942652" y="3975671"/>
                <a:ext cx="5123180" cy="9880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𝑓𝑎𝑙𝑠𝑒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((the prob. of "Normal")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  (the prob. of "Attention")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</a:p>
              <a:p>
                <a:pPr algn="l"/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                                            (the prob. of "Sick")</a:t>
                </a:r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2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652" y="3975671"/>
                <a:ext cx="5123180" cy="988060"/>
              </a:xfrm>
              <a:prstGeom prst="rect">
                <a:avLst/>
              </a:prstGeom>
              <a:blipFill rotWithShape="1">
                <a:blip r:embed="rId6"/>
                <a:stretch>
                  <a:fillRect l="-11" t="-1150" r="11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67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𝑡𝑟𝑢𝑒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0.587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blipFill rotWithShape="1">
                <a:blip r:embed="rId5"/>
                <a:stretch>
                  <a:fillRect l="-23" t="-3039" r="23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3942652" y="3975671"/>
                <a:ext cx="6434455" cy="502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𝑠𝑚𝑜𝑘𝑒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𝑓𝑎𝑙𝑠𝑒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=1−</m:t>
                    </m:r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(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28</m:t>
                            </m:r>
                          </m:num>
                          <m:den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28+18+9</m:t>
                            </m:r>
                          </m:den>
                        </m:f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595959"/>
                        </a:solidFill>
                        <a:latin typeface="Cambria Math" panose="02040503050406030204" pitchFamily="18" charset="0"/>
                        <a:sym typeface="+mn-ea"/>
                      </a:rPr>
                      <m:t> </m:t>
                    </m:r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(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18</m:t>
                            </m:r>
                          </m:num>
                          <m:den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28+18+9</m:t>
                            </m:r>
                          </m:den>
                        </m:f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</a:t>
                </a:r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+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595959"/>
                        </a:solidFill>
                        <a:latin typeface="Cambria Math" panose="02040503050406030204" pitchFamily="18" charset="0"/>
                        <a:sym typeface="+mn-ea"/>
                      </a:rPr>
                      <m:t> </m:t>
                    </m:r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(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9</m:t>
                            </m:r>
                          </m:num>
                          <m:den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DejaVu Math TeX Gyre" panose="02000503000000000000" charset="0"/>
                                <a:sym typeface="+mn-ea"/>
                              </a:rPr>
                              <m:t>28+18+9</m:t>
                            </m:r>
                          </m:den>
                        </m:f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)</a:t>
                </a:r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652" y="3975671"/>
                <a:ext cx="6434455" cy="502285"/>
              </a:xfrm>
              <a:prstGeom prst="rect">
                <a:avLst/>
              </a:prstGeom>
              <a:blipFill rotWithShape="1">
                <a:blip r:embed="rId6"/>
                <a:stretch>
                  <a:fillRect l="-9" t="-2263" r="9" b="1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68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𝑡𝑟𝑢𝑒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0.587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blipFill rotWithShape="1">
                <a:blip r:embed="rId5"/>
                <a:stretch>
                  <a:fillRect l="-23" t="-3039" r="23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3942652" y="3975671"/>
                <a:ext cx="3944620" cy="4064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𝑓𝑎𝑙𝑠𝑒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0.393=0.607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652" y="3975671"/>
                <a:ext cx="3944620" cy="406400"/>
              </a:xfrm>
              <a:prstGeom prst="rect">
                <a:avLst/>
              </a:prstGeom>
              <a:blipFill rotWithShape="1">
                <a:blip r:embed="rId6"/>
                <a:stretch>
                  <a:fillRect l="-15" t="-2797" r="15" b="1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69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𝑡𝑟𝑢𝑒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0.587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blipFill rotWithShape="1">
                <a:blip r:embed="rId5"/>
                <a:stretch>
                  <a:fillRect l="-23" t="-3039" r="23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8769922" y="3037776"/>
                <a:ext cx="2554605" cy="4064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𝑓𝑎𝑙𝑠𝑒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0.607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922" y="3037776"/>
                <a:ext cx="2554605" cy="406400"/>
              </a:xfrm>
              <a:prstGeom prst="rect">
                <a:avLst/>
              </a:prstGeom>
              <a:blipFill rotWithShape="1">
                <a:blip r:embed="rId6"/>
                <a:stretch>
                  <a:fillRect l="-22" t="-2797" r="22" b="1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70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  <a:sym typeface="+mn-ea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rPr>
                  <a:t> node.</a:t>
                </a:r>
                <a:endParaRPr lang="en-US" sz="1400" dirty="0">
                  <a:solidFill>
                    <a:srgbClr val="595959"/>
                  </a:solidFill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𝑡𝑟𝑢𝑒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0.587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blipFill rotWithShape="1">
                <a:blip r:embed="rId5"/>
                <a:stretch>
                  <a:fillRect l="-23" t="-3039" r="23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8769922" y="3037776"/>
                <a:ext cx="2554605" cy="4064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𝑓𝑎𝑙𝑠𝑒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0.607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922" y="3037776"/>
                <a:ext cx="2554605" cy="406400"/>
              </a:xfrm>
              <a:prstGeom prst="rect">
                <a:avLst/>
              </a:prstGeom>
              <a:blipFill rotWithShape="1">
                <a:blip r:embed="rId6"/>
                <a:stretch>
                  <a:fillRect l="-22" t="-2797" r="22" b="1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 rot="21180000">
            <a:off x="7475512" y="4039222"/>
            <a:ext cx="2282190" cy="645160"/>
            <a:chOff x="6928" y="9058"/>
            <a:chExt cx="3594" cy="10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Text Box 7"/>
            <p:cNvSpPr txBox="1"/>
            <p:nvPr/>
          </p:nvSpPr>
          <p:spPr>
            <a:xfrm>
              <a:off x="6928" y="9058"/>
              <a:ext cx="3594" cy="10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A </a:t>
              </a:r>
              <a:r>
                <a:rPr lang="en-US" b="1" dirty="0">
                  <a:solidFill>
                    <a:srgbClr val="358EF2"/>
                  </a:solidFill>
                  <a:latin typeface="Candara" panose="020E0502030303020204" charset="0"/>
                  <a:sym typeface="+mn-ea"/>
                </a:rPr>
                <a:t>pure </a:t>
              </a:r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node</a:t>
              </a:r>
              <a:r>
                <a:rPr lang="en-US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has </a:t>
              </a:r>
              <a:r>
                <a:rPr lang="en-US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Gini = 0</a:t>
              </a:r>
              <a:r>
                <a:rPr lang="en-US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b="1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22" name="Picture 21" descr="pngwing.com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01" y="9271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71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𝑡𝑟𝑢𝑒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0.587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blipFill rotWithShape="1">
                <a:blip r:embed="rId5"/>
                <a:stretch>
                  <a:fillRect l="-23" t="-3039" r="23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8769922" y="3037776"/>
                <a:ext cx="2554605" cy="4064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𝑓𝑎𝑙𝑠𝑒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0.607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922" y="3037776"/>
                <a:ext cx="2554605" cy="406400"/>
              </a:xfrm>
              <a:prstGeom prst="rect">
                <a:avLst/>
              </a:prstGeom>
              <a:blipFill rotWithShape="1">
                <a:blip r:embed="rId6"/>
                <a:stretch>
                  <a:fillRect l="-22" t="-2797" r="22" b="1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23"/>
          <p:cNvSpPr txBox="1"/>
          <p:nvPr/>
        </p:nvSpPr>
        <p:spPr>
          <a:xfrm>
            <a:off x="6011545" y="3823970"/>
            <a:ext cx="543242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Because the </a:t>
            </a:r>
            <a:r>
              <a:rPr lang="en-US" sz="1400" b="1" dirty="0">
                <a:solidFill>
                  <a:srgbClr val="FFD700"/>
                </a:solidFill>
                <a:latin typeface="Candara" panose="020E0502030303020204" charset="0"/>
              </a:rPr>
              <a:t>leaf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</a:rPr>
              <a:t>on the left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has a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</a:rPr>
              <a:t>different 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number of samples from the </a:t>
            </a:r>
            <a:r>
              <a:rPr lang="en-US" sz="1400" b="1" dirty="0">
                <a:solidFill>
                  <a:srgbClr val="FFD700"/>
                </a:solidFill>
                <a:latin typeface="Candara" panose="020E0502030303020204" charset="0"/>
              </a:rPr>
              <a:t>leaf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</a:rPr>
              <a:t>on the right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, so the </a:t>
            </a: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Total Gini Impurity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for the feature </a:t>
            </a:r>
            <a:r>
              <a:rPr lang="en-US" sz="1400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Smoke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is the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weighted average </a:t>
            </a: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of its  </a:t>
            </a:r>
            <a:r>
              <a:rPr lang="en-US" sz="1400" b="1" dirty="0">
                <a:solidFill>
                  <a:srgbClr val="FFD700"/>
                </a:solidFill>
                <a:latin typeface="Candara" panose="020E0502030303020204" charset="0"/>
                <a:sym typeface="+mn-ea"/>
              </a:rPr>
              <a:t>sub-nodes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.</a:t>
            </a:r>
            <a:endParaRPr lang="en-US" sz="1400" b="1" dirty="0">
              <a:solidFill>
                <a:schemeClr val="tx1"/>
              </a:solidFill>
              <a:latin typeface="Candara" panose="020E050203030302020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7401852" y="4888852"/>
            <a:ext cx="3071495" cy="521970"/>
            <a:chOff x="6928" y="9058"/>
            <a:chExt cx="4837" cy="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Text Box 7"/>
            <p:cNvSpPr txBox="1"/>
            <p:nvPr/>
          </p:nvSpPr>
          <p:spPr>
            <a:xfrm>
              <a:off x="6928" y="9058"/>
              <a:ext cx="4837" cy="82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This is </a:t>
              </a:r>
              <a:r>
                <a:rPr lang="en-US" sz="1400" i="1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exactly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the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cost function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used for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sym typeface="+mn-ea"/>
                </a:rPr>
                <a:t>CART during training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22" name="Picture 21" descr="pngwing.com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6" y="9188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72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371475" y="583565"/>
            <a:ext cx="2709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 for a node i</a:t>
            </a:r>
            <a:endParaRPr lang="en-US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2"/>
              <p:cNvSpPr txBox="1"/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𝑐𝑙𝑎𝑠𝑠𝑒𝑠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1220406"/>
                <a:ext cx="2564130" cy="842010"/>
              </a:xfrm>
              <a:prstGeom prst="rect">
                <a:avLst/>
              </a:prstGeom>
              <a:blipFill rotWithShape="1">
                <a:blip r:embed="rId2"/>
                <a:stretch>
                  <a:fillRect l="-22" t="-68" r="22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23"/>
              <p:cNvSpPr txBox="1"/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𝒑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is the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probability 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6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270125"/>
                <a:ext cx="3625850" cy="330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23"/>
              <p:cNvSpPr txBox="1"/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Ratio of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class c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among </a:t>
                </a:r>
                <a:r>
                  <a:rPr lang="en-US" sz="1400" b="1" dirty="0">
                    <a:solidFill>
                      <a:srgbClr val="202020"/>
                    </a:solidFill>
                    <a:latin typeface="Candara" panose="020E0502030303020204" charset="0"/>
                  </a:rPr>
                  <a:t>all the instances</a:t>
                </a:r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𝒊</m:t>
                        </m:r>
                      </m:e>
                      <m:sup>
                        <m:r>
                          <a:rPr lang="en-US" sz="1400" b="1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595959"/>
                    </a:solidFill>
                    <a:latin typeface="Candara" panose="020E0502030303020204" charset="0"/>
                  </a:rPr>
                  <a:t> node.</a:t>
                </a:r>
              </a:p>
            </p:txBody>
          </p:sp>
        </mc:Choice>
        <mc:Fallback xmlns="">
          <p:sp>
            <p:nvSpPr>
              <p:cNvPr id="3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2889250"/>
                <a:ext cx="3264535" cy="546100"/>
              </a:xfrm>
              <a:prstGeom prst="rect">
                <a:avLst/>
              </a:prstGeom>
              <a:blipFill>
                <a:blip r:embed="rId4"/>
                <a:stretch>
                  <a:fillRect l="-388" t="-46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𝑡𝑟𝑢𝑒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0.587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102" y="3053651"/>
                <a:ext cx="2447290" cy="374015"/>
              </a:xfrm>
              <a:prstGeom prst="rect">
                <a:avLst/>
              </a:prstGeom>
              <a:blipFill rotWithShape="1">
                <a:blip r:embed="rId5"/>
                <a:stretch>
                  <a:fillRect l="-23" t="-3039" r="23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8769922" y="3037776"/>
                <a:ext cx="2554605" cy="4064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𝑠𝑚𝑜𝑘𝑒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𝑓𝑎𝑙𝑠𝑒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0.607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922" y="3037776"/>
                <a:ext cx="2554605" cy="406400"/>
              </a:xfrm>
              <a:prstGeom prst="rect">
                <a:avLst/>
              </a:prstGeom>
              <a:blipFill rotWithShape="1">
                <a:blip r:embed="rId6"/>
                <a:stretch>
                  <a:fillRect l="-22" t="-2797" r="22" b="1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23"/>
          <p:cNvSpPr txBox="1"/>
          <p:nvPr/>
        </p:nvSpPr>
        <p:spPr>
          <a:xfrm>
            <a:off x="6011545" y="3823970"/>
            <a:ext cx="543242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Because the </a:t>
            </a:r>
            <a:r>
              <a:rPr lang="en-US" sz="1400" b="1" dirty="0">
                <a:solidFill>
                  <a:srgbClr val="FFD700"/>
                </a:solidFill>
                <a:latin typeface="Candara" panose="020E0502030303020204" charset="0"/>
              </a:rPr>
              <a:t>leaf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</a:rPr>
              <a:t>on the left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has a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</a:rPr>
              <a:t>different 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number of samples from the </a:t>
            </a:r>
            <a:r>
              <a:rPr lang="en-US" sz="1400" b="1" dirty="0">
                <a:solidFill>
                  <a:srgbClr val="FFD700"/>
                </a:solidFill>
                <a:latin typeface="Candara" panose="020E0502030303020204" charset="0"/>
              </a:rPr>
              <a:t>leaf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</a:rPr>
              <a:t>on the right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, so the </a:t>
            </a: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Total Gini Impurity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for the feature </a:t>
            </a:r>
            <a:r>
              <a:rPr lang="en-US" sz="1400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Smoke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is the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weighted average </a:t>
            </a: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of its  </a:t>
            </a:r>
            <a:r>
              <a:rPr lang="en-US" sz="1400" b="1" dirty="0">
                <a:solidFill>
                  <a:srgbClr val="FFD700"/>
                </a:solidFill>
                <a:latin typeface="Candara" panose="020E0502030303020204" charset="0"/>
                <a:sym typeface="+mn-ea"/>
              </a:rPr>
              <a:t>sub-nodes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.</a:t>
            </a:r>
            <a:endParaRPr lang="en-US" sz="1400" b="1" dirty="0">
              <a:solidFill>
                <a:schemeClr val="tx1"/>
              </a:solidFill>
              <a:latin typeface="Candara" panose="020E050203030302020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7401852" y="4888852"/>
            <a:ext cx="3071495" cy="521970"/>
            <a:chOff x="6928" y="9058"/>
            <a:chExt cx="4837" cy="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Text Box 7"/>
            <p:cNvSpPr txBox="1"/>
            <p:nvPr/>
          </p:nvSpPr>
          <p:spPr>
            <a:xfrm>
              <a:off x="6928" y="9058"/>
              <a:ext cx="4837" cy="82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This is </a:t>
              </a:r>
              <a:r>
                <a:rPr lang="en-US" sz="1400" i="1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exactly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the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cost function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used for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sym typeface="+mn-ea"/>
                </a:rPr>
                <a:t>CART during training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22" name="Picture 21" descr="pngwing.com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6" y="9188"/>
              <a:ext cx="591" cy="591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9"/>
              <p:cNvSpPr txBox="1"/>
              <p:nvPr/>
            </p:nvSpPr>
            <p:spPr>
              <a:xfrm>
                <a:off x="371412" y="4364291"/>
                <a:ext cx="4200525" cy="58356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𝑙𝑒𝑓𝑡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𝑙𝑒𝑓𝑡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𝑟𝑖𝑔h𝑡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𝑟𝑖𝑔h𝑡</m:t>
                          </m:r>
                        </m:sub>
                      </m:sSub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0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" y="4364291"/>
                <a:ext cx="4200525" cy="583565"/>
              </a:xfrm>
              <a:prstGeom prst="rect">
                <a:avLst/>
              </a:prstGeom>
              <a:blipFill rotWithShape="1">
                <a:blip r:embed="rId8"/>
                <a:stretch>
                  <a:fillRect l="-14" t="-1948" r="14" b="9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276225" y="5199316"/>
            <a:ext cx="6358890" cy="654114"/>
            <a:chOff x="5866" y="8641"/>
            <a:chExt cx="10014" cy="10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0"/>
                <p:cNvSpPr txBox="1"/>
                <p:nvPr/>
              </p:nvSpPr>
              <p:spPr>
                <a:xfrm>
                  <a:off x="6853" y="8641"/>
                  <a:ext cx="2509" cy="103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  <m:t>𝑙𝑒𝑓𝑡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  <m:t>/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  <m:t>𝑟𝑖𝑔h𝑡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  <m:t>𝑙𝑒𝑓𝑡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  <m:t>/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DejaVu Math TeX Gyre" panose="02000503000000000000" charset="0"/>
                                        </a:rPr>
                                        <m:t>𝑟𝑖𝑔h𝑡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1" name="Text 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3" y="8641"/>
                  <a:ext cx="2509" cy="103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23"/>
            <p:cNvSpPr txBox="1"/>
            <p:nvPr/>
          </p:nvSpPr>
          <p:spPr>
            <a:xfrm>
              <a:off x="9329" y="8744"/>
              <a:ext cx="61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</a:rPr>
                <a:t>measures the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</a:rPr>
                <a:t>impurity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</a:rPr>
                <a:t>of the left/right subset,</a:t>
              </a:r>
            </a:p>
          </p:txBody>
        </p:sp>
        <p:sp>
          <p:nvSpPr>
            <p:cNvPr id="14" name="TextBox 123"/>
            <p:cNvSpPr txBox="1"/>
            <p:nvPr/>
          </p:nvSpPr>
          <p:spPr>
            <a:xfrm>
              <a:off x="9329" y="9188"/>
              <a:ext cx="655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</a:rPr>
                <a:t>is the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</a:rPr>
                <a:t>number of instances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</a:rPr>
                <a:t> in the left/right subset.</a:t>
              </a:r>
            </a:p>
          </p:txBody>
        </p:sp>
        <p:sp>
          <p:nvSpPr>
            <p:cNvPr id="15" name="TextBox 123"/>
            <p:cNvSpPr txBox="1"/>
            <p:nvPr/>
          </p:nvSpPr>
          <p:spPr>
            <a:xfrm>
              <a:off x="5866" y="8939"/>
              <a:ext cx="11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</a:rPr>
                <a:t>where</a:t>
              </a:r>
            </a:p>
          </p:txBody>
        </p:sp>
      </p:grpSp>
      <p:cxnSp>
        <p:nvCxnSpPr>
          <p:cNvPr id="18" name="Curved Connector 17"/>
          <p:cNvCxnSpPr>
            <a:stCxn id="9" idx="1"/>
            <a:endCxn id="10" idx="3"/>
          </p:cNvCxnSpPr>
          <p:nvPr/>
        </p:nvCxnSpPr>
        <p:spPr>
          <a:xfrm rot="10800000" flipV="1">
            <a:off x="4571365" y="4192270"/>
            <a:ext cx="1439545" cy="462915"/>
          </a:xfrm>
          <a:prstGeom prst="curvedConnector3">
            <a:avLst>
              <a:gd name="adj1" fmla="val 49978"/>
            </a:avLst>
          </a:prstGeom>
          <a:ln w="28575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371475" y="3996055"/>
            <a:ext cx="49326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CART cost function for feature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k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for classification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73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/>
              <p:nvPr/>
            </p:nvSpPr>
            <p:spPr>
              <a:xfrm>
                <a:off x="5229162" y="890206"/>
                <a:ext cx="233997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𝑠𝑚𝑜𝑘𝑒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)=0.598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62" y="890206"/>
                <a:ext cx="2339975" cy="368300"/>
              </a:xfrm>
              <a:prstGeom prst="rect">
                <a:avLst/>
              </a:prstGeom>
              <a:blipFill rotWithShape="1">
                <a:blip r:embed="rId2"/>
                <a:stretch>
                  <a:fillRect l="-24" t="-3086" r="24" b="1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74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/>
              <p:nvPr/>
            </p:nvSpPr>
            <p:spPr>
              <a:xfrm>
                <a:off x="5229162" y="890206"/>
                <a:ext cx="233997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𝑠𝑚𝑜𝑘𝑒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)=0.598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62" y="890206"/>
                <a:ext cx="2339975" cy="368300"/>
              </a:xfrm>
              <a:prstGeom prst="rect">
                <a:avLst/>
              </a:prstGeom>
              <a:blipFill rotWithShape="1">
                <a:blip r:embed="rId2"/>
                <a:stretch>
                  <a:fillRect l="-24" t="-3086" r="24" b="1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23"/>
          <p:cNvSpPr txBox="1"/>
          <p:nvPr/>
        </p:nvSpPr>
        <p:spPr>
          <a:xfrm rot="21180000">
            <a:off x="1818005" y="2967990"/>
            <a:ext cx="28289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Now, let's compute the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Total Gini Impurity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for the feature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Workout.</a:t>
            </a:r>
          </a:p>
        </p:txBody>
      </p:sp>
      <p:sp>
        <p:nvSpPr>
          <p:cNvPr id="8" name="Rounded Rectangle 7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23" name="Straight Connector 22"/>
          <p:cNvCxnSpPr>
            <a:stCxn id="8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8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29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39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0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19</a:t>
              </a:r>
              <a:r>
                <a:rPr lang="en-US" sz="1600" dirty="0">
                  <a:latin typeface="Candara" panose="020E0502030303020204" charset="0"/>
                </a:rPr>
                <a:t>   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8</a:t>
              </a:r>
              <a:r>
                <a:rPr lang="en-US" sz="1600" dirty="0">
                  <a:latin typeface="Candara" panose="020E0502030303020204" charset="0"/>
                </a:rPr>
                <a:t>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43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44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5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</a:rPr>
                <a:t>25          25          15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6" name="Straight Connector 45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48" name="TextBox 123"/>
          <p:cNvSpPr txBox="1"/>
          <p:nvPr/>
        </p:nvSpPr>
        <p:spPr>
          <a:xfrm>
            <a:off x="4981575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35 samples</a:t>
            </a:r>
          </a:p>
        </p:txBody>
      </p:sp>
      <p:sp>
        <p:nvSpPr>
          <p:cNvPr id="49" name="TextBox 123"/>
          <p:cNvSpPr txBox="1"/>
          <p:nvPr/>
        </p:nvSpPr>
        <p:spPr>
          <a:xfrm>
            <a:off x="10946130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65 samples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75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6</a:t>
              </a:r>
              <a:r>
                <a:rPr lang="en-US" sz="1600" dirty="0">
                  <a:latin typeface="Candara" panose="020E0502030303020204" charset="0"/>
                </a:rPr>
                <a:t>           15          24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28           18          9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4981575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10946130" y="217360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/>
              <p:nvPr/>
            </p:nvSpPr>
            <p:spPr>
              <a:xfrm>
                <a:off x="5229162" y="890206"/>
                <a:ext cx="233997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𝑠𝑚𝑜𝑘𝑒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)=0.598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62" y="890206"/>
                <a:ext cx="2339975" cy="368300"/>
              </a:xfrm>
              <a:prstGeom prst="rect">
                <a:avLst/>
              </a:prstGeom>
              <a:blipFill rotWithShape="1">
                <a:blip r:embed="rId2"/>
                <a:stretch>
                  <a:fillRect l="-24" t="-3086" r="24" b="1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23"/>
          <p:cNvSpPr txBox="1"/>
          <p:nvPr/>
        </p:nvSpPr>
        <p:spPr>
          <a:xfrm rot="21180000">
            <a:off x="1818005" y="2967990"/>
            <a:ext cx="28289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Now, let's compute the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Total Gini Impurity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for the feature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Workout.</a:t>
            </a:r>
          </a:p>
        </p:txBody>
      </p:sp>
      <p:sp>
        <p:nvSpPr>
          <p:cNvPr id="8" name="Rounded Rectangle 7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23" name="Straight Connector 22"/>
          <p:cNvCxnSpPr>
            <a:stCxn id="8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8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29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39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0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19</a:t>
              </a:r>
              <a:r>
                <a:rPr lang="en-US" sz="1600" dirty="0">
                  <a:latin typeface="Candara" panose="020E0502030303020204" charset="0"/>
                </a:rPr>
                <a:t>   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8</a:t>
              </a:r>
              <a:r>
                <a:rPr lang="en-US" sz="1600" dirty="0">
                  <a:latin typeface="Candara" panose="020E0502030303020204" charset="0"/>
                </a:rPr>
                <a:t>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43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44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5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</a:rPr>
                <a:t>25          25          15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6" name="Straight Connector 45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48" name="TextBox 123"/>
          <p:cNvSpPr txBox="1"/>
          <p:nvPr/>
        </p:nvSpPr>
        <p:spPr>
          <a:xfrm>
            <a:off x="4981575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35 samples</a:t>
            </a:r>
          </a:p>
        </p:txBody>
      </p:sp>
      <p:sp>
        <p:nvSpPr>
          <p:cNvPr id="49" name="TextBox 123"/>
          <p:cNvSpPr txBox="1"/>
          <p:nvPr/>
        </p:nvSpPr>
        <p:spPr>
          <a:xfrm>
            <a:off x="10946130" y="562165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65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4967542" y="4248721"/>
                <a:ext cx="260159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𝑤𝑜𝑟𝑘𝑜𝑢𝑡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)=0.633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542" y="4248721"/>
                <a:ext cx="2601595" cy="368300"/>
              </a:xfrm>
              <a:prstGeom prst="rect">
                <a:avLst/>
              </a:prstGeom>
              <a:blipFill rotWithShape="1">
                <a:blip r:embed="rId3"/>
                <a:stretch>
                  <a:fillRect l="-22" t="-3086" r="22" b="1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76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ectangles 26"/>
          <p:cNvSpPr/>
          <p:nvPr/>
        </p:nvSpPr>
        <p:spPr>
          <a:xfrm>
            <a:off x="370840" y="1235710"/>
            <a:ext cx="1610360" cy="355854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2105025" y="1228481"/>
            <a:ext cx="761586" cy="3547001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23"/>
          <p:cNvSpPr txBox="1"/>
          <p:nvPr/>
        </p:nvSpPr>
        <p:spPr>
          <a:xfrm>
            <a:off x="4891088" y="1235710"/>
            <a:ext cx="4285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Now, let's compute the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Total Gini Impurity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for the feature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weight.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77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ectangles 26"/>
          <p:cNvSpPr/>
          <p:nvPr/>
        </p:nvSpPr>
        <p:spPr>
          <a:xfrm>
            <a:off x="370840" y="1235710"/>
            <a:ext cx="1610360" cy="355854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2105025" y="1228481"/>
            <a:ext cx="761586" cy="3547001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23"/>
          <p:cNvSpPr txBox="1"/>
          <p:nvPr/>
        </p:nvSpPr>
        <p:spPr>
          <a:xfrm>
            <a:off x="4891088" y="1235710"/>
            <a:ext cx="4285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Now, let's compute the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Total Gini Impurity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for the feature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weight.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5100320" y="2218690"/>
            <a:ext cx="38671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Because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weight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is a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numerical feature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we will need to define a </a:t>
            </a:r>
            <a:r>
              <a:rPr lang="en-US" b="1" dirty="0">
                <a:solidFill>
                  <a:srgbClr val="202020"/>
                </a:solidFill>
                <a:latin typeface="Candara" panose="020E0502030303020204" charset="0"/>
              </a:rPr>
              <a:t>threshold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to make the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rule/statement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78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ectangles 26"/>
          <p:cNvSpPr/>
          <p:nvPr/>
        </p:nvSpPr>
        <p:spPr>
          <a:xfrm>
            <a:off x="370840" y="1235710"/>
            <a:ext cx="1610360" cy="355854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2105025" y="1228481"/>
            <a:ext cx="761586" cy="3547001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23"/>
          <p:cNvSpPr txBox="1"/>
          <p:nvPr/>
        </p:nvSpPr>
        <p:spPr>
          <a:xfrm>
            <a:off x="4891088" y="1235710"/>
            <a:ext cx="4285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Now, let's compute the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Total Gini Impurity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for the feature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weight.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5100320" y="2218690"/>
            <a:ext cx="38671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Because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weight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is a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numerical feature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we will need to define a </a:t>
            </a:r>
            <a:r>
              <a:rPr lang="en-US" b="1" dirty="0">
                <a:solidFill>
                  <a:srgbClr val="202020"/>
                </a:solidFill>
                <a:latin typeface="Candara" panose="020E0502030303020204" charset="0"/>
              </a:rPr>
              <a:t>threshold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to make the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rule/statement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" name="TextBox 123"/>
          <p:cNvSpPr txBox="1"/>
          <p:nvPr/>
        </p:nvSpPr>
        <p:spPr>
          <a:xfrm>
            <a:off x="5100320" y="3520440"/>
            <a:ext cx="386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Let's see a strategy fot that!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79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80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23"/>
          <p:cNvSpPr txBox="1"/>
          <p:nvPr/>
        </p:nvSpPr>
        <p:spPr>
          <a:xfrm>
            <a:off x="4262120" y="1574800"/>
            <a:ext cx="3477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First of all, we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sort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the rows by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weight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in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ascending order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81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23"/>
          <p:cNvSpPr txBox="1"/>
          <p:nvPr/>
        </p:nvSpPr>
        <p:spPr>
          <a:xfrm>
            <a:off x="4262120" y="1574800"/>
            <a:ext cx="3477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First of all, we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sort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the rows by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weight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in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ascending order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" name="TextBox 123"/>
          <p:cNvSpPr txBox="1"/>
          <p:nvPr/>
        </p:nvSpPr>
        <p:spPr>
          <a:xfrm>
            <a:off x="4357370" y="2406650"/>
            <a:ext cx="34772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Then, we calculate 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average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weight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for all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adjacent instances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to become possible </a:t>
            </a:r>
            <a:r>
              <a:rPr lang="en-US" b="1" dirty="0">
                <a:solidFill>
                  <a:srgbClr val="202020"/>
                </a:solidFill>
                <a:latin typeface="Candara" panose="020E0502030303020204" charset="0"/>
                <a:sym typeface="+mn-ea"/>
              </a:rPr>
              <a:t>thresholds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53" name="Rectangle 94"/>
          <p:cNvSpPr/>
          <p:nvPr/>
        </p:nvSpPr>
        <p:spPr>
          <a:xfrm>
            <a:off x="1057910" y="1746885"/>
            <a:ext cx="761365" cy="659130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842010" y="1912620"/>
            <a:ext cx="342900" cy="275590"/>
            <a:chOff x="4898" y="4734"/>
            <a:chExt cx="540" cy="434"/>
          </a:xfrm>
        </p:grpSpPr>
        <p:sp>
          <p:nvSpPr>
            <p:cNvPr id="55" name="Rectangles 54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56" name="Text Box 55"/>
            <p:cNvSpPr txBox="1"/>
            <p:nvPr/>
          </p:nvSpPr>
          <p:spPr>
            <a:xfrm>
              <a:off x="4898" y="4734"/>
              <a:ext cx="54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</a:t>
              </a:r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82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23"/>
          <p:cNvSpPr txBox="1"/>
          <p:nvPr/>
        </p:nvSpPr>
        <p:spPr>
          <a:xfrm>
            <a:off x="4262120" y="1574800"/>
            <a:ext cx="3477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First of all, we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sort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the rows by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weight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in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ascending order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" name="TextBox 123"/>
          <p:cNvSpPr txBox="1"/>
          <p:nvPr/>
        </p:nvSpPr>
        <p:spPr>
          <a:xfrm>
            <a:off x="4357370" y="2406650"/>
            <a:ext cx="34772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Then, we calculate the </a:t>
            </a:r>
            <a:r>
              <a:rPr lang="en-US" b="1" dirty="0">
                <a:latin typeface="Candara" panose="020E0502030303020204" charset="0"/>
                <a:sym typeface="+mn-ea"/>
              </a:rPr>
              <a:t>average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weight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for all </a:t>
            </a:r>
            <a:r>
              <a:rPr lang="en-US" b="1" dirty="0">
                <a:latin typeface="Candara" panose="020E0502030303020204" charset="0"/>
                <a:sym typeface="+mn-ea"/>
              </a:rPr>
              <a:t>adjacent instances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to become possible </a:t>
            </a:r>
            <a:r>
              <a:rPr lang="en-US" b="1" dirty="0">
                <a:solidFill>
                  <a:srgbClr val="202020"/>
                </a:solidFill>
                <a:latin typeface="Candara" panose="020E0502030303020204" charset="0"/>
                <a:sym typeface="+mn-ea"/>
              </a:rPr>
              <a:t>thresholds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6" name="Rectangle 94"/>
          <p:cNvSpPr/>
          <p:nvPr/>
        </p:nvSpPr>
        <p:spPr>
          <a:xfrm>
            <a:off x="1057910" y="2042160"/>
            <a:ext cx="761365" cy="659130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842010" y="1912620"/>
            <a:ext cx="342900" cy="275590"/>
            <a:chOff x="4898" y="4734"/>
            <a:chExt cx="540" cy="434"/>
          </a:xfrm>
        </p:grpSpPr>
        <p:sp>
          <p:nvSpPr>
            <p:cNvPr id="48" name="Rectangles 47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9" name="Text Box 48"/>
            <p:cNvSpPr txBox="1"/>
            <p:nvPr/>
          </p:nvSpPr>
          <p:spPr>
            <a:xfrm>
              <a:off x="4898" y="4734"/>
              <a:ext cx="54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784860" y="2230755"/>
            <a:ext cx="457200" cy="275590"/>
            <a:chOff x="1450" y="3539"/>
            <a:chExt cx="720" cy="434"/>
          </a:xfrm>
        </p:grpSpPr>
        <p:sp>
          <p:nvSpPr>
            <p:cNvPr id="51" name="Rectangles 50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52" name="Text Box 51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56.5</a:t>
              </a: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83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23"/>
          <p:cNvSpPr txBox="1"/>
          <p:nvPr/>
        </p:nvSpPr>
        <p:spPr>
          <a:xfrm>
            <a:off x="4262120" y="1574800"/>
            <a:ext cx="3477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First of all, we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sort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the rows by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weight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in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ascending order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4" name="TextBox 123"/>
          <p:cNvSpPr txBox="1"/>
          <p:nvPr/>
        </p:nvSpPr>
        <p:spPr>
          <a:xfrm>
            <a:off x="4357370" y="2406650"/>
            <a:ext cx="34772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Then, we calculate the </a:t>
            </a:r>
            <a:r>
              <a:rPr lang="en-US" b="1" dirty="0">
                <a:latin typeface="Candara" panose="020E0502030303020204" charset="0"/>
                <a:sym typeface="+mn-ea"/>
              </a:rPr>
              <a:t>average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weight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for all </a:t>
            </a:r>
            <a:r>
              <a:rPr lang="en-US" b="1" dirty="0">
                <a:latin typeface="Candara" panose="020E0502030303020204" charset="0"/>
                <a:sym typeface="+mn-ea"/>
              </a:rPr>
              <a:t>adjacent instances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to become possible </a:t>
            </a:r>
            <a:r>
              <a:rPr lang="en-US" b="1" dirty="0">
                <a:solidFill>
                  <a:srgbClr val="202020"/>
                </a:solidFill>
                <a:latin typeface="Candara" panose="020E0502030303020204" charset="0"/>
                <a:sym typeface="+mn-ea"/>
              </a:rPr>
              <a:t>thresholds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1057910" y="4135755"/>
            <a:ext cx="761365" cy="659130"/>
          </a:xfrm>
          <a:prstGeom prst="rect">
            <a:avLst/>
          </a:prstGeom>
          <a:noFill/>
          <a:ln w="19050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842010" y="1912620"/>
            <a:ext cx="342900" cy="275590"/>
            <a:chOff x="4898" y="4734"/>
            <a:chExt cx="540" cy="434"/>
          </a:xfrm>
        </p:grpSpPr>
        <p:sp>
          <p:nvSpPr>
            <p:cNvPr id="10" name="Rectangles 9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4898" y="4734"/>
              <a:ext cx="54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84860" y="2230755"/>
            <a:ext cx="457200" cy="275590"/>
            <a:chOff x="1450" y="3539"/>
            <a:chExt cx="720" cy="434"/>
          </a:xfrm>
        </p:grpSpPr>
        <p:sp>
          <p:nvSpPr>
            <p:cNvPr id="16" name="Rectangles 15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56.5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48043" y="2520950"/>
            <a:ext cx="330835" cy="275590"/>
            <a:chOff x="4898" y="4734"/>
            <a:chExt cx="521" cy="434"/>
          </a:xfrm>
        </p:grpSpPr>
        <p:sp>
          <p:nvSpPr>
            <p:cNvPr id="21" name="Rectangles 20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48043" y="2842895"/>
            <a:ext cx="330835" cy="275590"/>
            <a:chOff x="4898" y="4734"/>
            <a:chExt cx="521" cy="434"/>
          </a:xfrm>
        </p:grpSpPr>
        <p:sp>
          <p:nvSpPr>
            <p:cNvPr id="25" name="Rectangles 24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4860" y="3155315"/>
            <a:ext cx="457200" cy="275590"/>
            <a:chOff x="1450" y="3539"/>
            <a:chExt cx="720" cy="434"/>
          </a:xfrm>
        </p:grpSpPr>
        <p:sp>
          <p:nvSpPr>
            <p:cNvPr id="37" name="Rectangles 36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58.5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93750" y="3465830"/>
            <a:ext cx="439420" cy="275590"/>
            <a:chOff x="1450" y="3539"/>
            <a:chExt cx="692" cy="434"/>
          </a:xfrm>
        </p:grpSpPr>
        <p:sp>
          <p:nvSpPr>
            <p:cNvPr id="41" name="Rectangles 40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1450" y="3539"/>
              <a:ext cx="686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61.5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93750" y="4327525"/>
            <a:ext cx="439420" cy="275590"/>
            <a:chOff x="1450" y="3539"/>
            <a:chExt cx="692" cy="434"/>
          </a:xfrm>
        </p:grpSpPr>
        <p:sp>
          <p:nvSpPr>
            <p:cNvPr id="44" name="Rectangles 43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5" name="Text Box 44"/>
            <p:cNvSpPr txBox="1"/>
            <p:nvPr/>
          </p:nvSpPr>
          <p:spPr>
            <a:xfrm>
              <a:off x="1450" y="3539"/>
              <a:ext cx="635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140</a:t>
              </a: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84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842010" y="1912620"/>
            <a:ext cx="342900" cy="275590"/>
            <a:chOff x="4898" y="4734"/>
            <a:chExt cx="540" cy="434"/>
          </a:xfrm>
        </p:grpSpPr>
        <p:sp>
          <p:nvSpPr>
            <p:cNvPr id="10" name="Rectangles 9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4898" y="4734"/>
              <a:ext cx="54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84860" y="2230755"/>
            <a:ext cx="457200" cy="275590"/>
            <a:chOff x="1450" y="3539"/>
            <a:chExt cx="720" cy="434"/>
          </a:xfrm>
        </p:grpSpPr>
        <p:sp>
          <p:nvSpPr>
            <p:cNvPr id="16" name="Rectangles 15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56.5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48043" y="2520950"/>
            <a:ext cx="330835" cy="275590"/>
            <a:chOff x="4898" y="4734"/>
            <a:chExt cx="521" cy="434"/>
          </a:xfrm>
        </p:grpSpPr>
        <p:sp>
          <p:nvSpPr>
            <p:cNvPr id="21" name="Rectangles 20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48043" y="2842895"/>
            <a:ext cx="330835" cy="275590"/>
            <a:chOff x="4898" y="4734"/>
            <a:chExt cx="521" cy="434"/>
          </a:xfrm>
        </p:grpSpPr>
        <p:sp>
          <p:nvSpPr>
            <p:cNvPr id="25" name="Rectangles 24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4860" y="3155315"/>
            <a:ext cx="457200" cy="275590"/>
            <a:chOff x="1450" y="3539"/>
            <a:chExt cx="720" cy="434"/>
          </a:xfrm>
        </p:grpSpPr>
        <p:sp>
          <p:nvSpPr>
            <p:cNvPr id="37" name="Rectangles 36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58.5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93750" y="3465830"/>
            <a:ext cx="439420" cy="275590"/>
            <a:chOff x="1450" y="3539"/>
            <a:chExt cx="692" cy="434"/>
          </a:xfrm>
        </p:grpSpPr>
        <p:sp>
          <p:nvSpPr>
            <p:cNvPr id="41" name="Rectangles 40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1450" y="3539"/>
              <a:ext cx="686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61.5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93750" y="4327525"/>
            <a:ext cx="439420" cy="275590"/>
            <a:chOff x="1450" y="3539"/>
            <a:chExt cx="692" cy="434"/>
          </a:xfrm>
        </p:grpSpPr>
        <p:sp>
          <p:nvSpPr>
            <p:cNvPr id="44" name="Rectangles 43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5" name="Text Box 44"/>
            <p:cNvSpPr txBox="1"/>
            <p:nvPr/>
          </p:nvSpPr>
          <p:spPr>
            <a:xfrm>
              <a:off x="1450" y="3539"/>
              <a:ext cx="635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140</a:t>
              </a:r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85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26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842010" y="1912620"/>
            <a:ext cx="342900" cy="275590"/>
            <a:chOff x="4898" y="4734"/>
            <a:chExt cx="540" cy="434"/>
          </a:xfrm>
        </p:grpSpPr>
        <p:sp>
          <p:nvSpPr>
            <p:cNvPr id="10" name="Rectangles 9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4898" y="4734"/>
              <a:ext cx="54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84860" y="2230755"/>
            <a:ext cx="457200" cy="275590"/>
            <a:chOff x="1450" y="3539"/>
            <a:chExt cx="720" cy="434"/>
          </a:xfrm>
        </p:grpSpPr>
        <p:sp>
          <p:nvSpPr>
            <p:cNvPr id="16" name="Rectangles 15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56.5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48043" y="2520950"/>
            <a:ext cx="330835" cy="275590"/>
            <a:chOff x="4898" y="4734"/>
            <a:chExt cx="521" cy="434"/>
          </a:xfrm>
        </p:grpSpPr>
        <p:sp>
          <p:nvSpPr>
            <p:cNvPr id="21" name="Rectangles 20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48043" y="2842895"/>
            <a:ext cx="330835" cy="275590"/>
            <a:chOff x="4898" y="4734"/>
            <a:chExt cx="521" cy="434"/>
          </a:xfrm>
        </p:grpSpPr>
        <p:sp>
          <p:nvSpPr>
            <p:cNvPr id="25" name="Rectangles 24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4860" y="3155315"/>
            <a:ext cx="457200" cy="275590"/>
            <a:chOff x="1450" y="3539"/>
            <a:chExt cx="720" cy="434"/>
          </a:xfrm>
        </p:grpSpPr>
        <p:sp>
          <p:nvSpPr>
            <p:cNvPr id="37" name="Rectangles 36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58.5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93750" y="3465830"/>
            <a:ext cx="439420" cy="275590"/>
            <a:chOff x="1450" y="3539"/>
            <a:chExt cx="692" cy="434"/>
          </a:xfrm>
        </p:grpSpPr>
        <p:sp>
          <p:nvSpPr>
            <p:cNvPr id="41" name="Rectangles 40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1450" y="3539"/>
              <a:ext cx="686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61.5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93750" y="4327525"/>
            <a:ext cx="439420" cy="275590"/>
            <a:chOff x="1450" y="3539"/>
            <a:chExt cx="692" cy="434"/>
          </a:xfrm>
        </p:grpSpPr>
        <p:sp>
          <p:nvSpPr>
            <p:cNvPr id="44" name="Rectangles 43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5" name="Text Box 44"/>
            <p:cNvSpPr txBox="1"/>
            <p:nvPr/>
          </p:nvSpPr>
          <p:spPr>
            <a:xfrm>
              <a:off x="1450" y="3539"/>
              <a:ext cx="635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140</a:t>
              </a:r>
            </a:p>
          </p:txBody>
        </p:sp>
      </p:grpSp>
      <p:sp>
        <p:nvSpPr>
          <p:cNvPr id="2" name="TextBox 123"/>
          <p:cNvSpPr txBox="1"/>
          <p:nvPr/>
        </p:nvSpPr>
        <p:spPr>
          <a:xfrm>
            <a:off x="3157855" y="1228725"/>
            <a:ext cx="3845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For each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threshold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we build a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statement/rule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...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weight ≤ ???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0</a:t>
              </a:r>
              <a:r>
                <a:rPr lang="en-US" sz="1600" dirty="0">
                  <a:latin typeface="Candara" panose="020E0502030303020204" charset="0"/>
                </a:rPr>
                <a:t>            0           0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0             0           0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86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57250" y="1948180"/>
            <a:ext cx="312420" cy="234315"/>
          </a:xfrm>
          <a:prstGeom prst="rect">
            <a:avLst/>
          </a:prstGeom>
          <a:solidFill>
            <a:srgbClr val="358EF2"/>
          </a:solidFill>
          <a:ln>
            <a:solidFill>
              <a:srgbClr val="323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784860" y="2230755"/>
            <a:ext cx="457200" cy="275590"/>
            <a:chOff x="1450" y="3539"/>
            <a:chExt cx="720" cy="434"/>
          </a:xfrm>
        </p:grpSpPr>
        <p:sp>
          <p:nvSpPr>
            <p:cNvPr id="16" name="Rectangles 15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56.5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48043" y="2520950"/>
            <a:ext cx="330835" cy="275590"/>
            <a:chOff x="4898" y="4734"/>
            <a:chExt cx="521" cy="434"/>
          </a:xfrm>
        </p:grpSpPr>
        <p:sp>
          <p:nvSpPr>
            <p:cNvPr id="21" name="Rectangles 20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48043" y="2842895"/>
            <a:ext cx="330835" cy="275590"/>
            <a:chOff x="4898" y="4734"/>
            <a:chExt cx="521" cy="434"/>
          </a:xfrm>
        </p:grpSpPr>
        <p:sp>
          <p:nvSpPr>
            <p:cNvPr id="25" name="Rectangles 24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4860" y="3155315"/>
            <a:ext cx="457200" cy="275590"/>
            <a:chOff x="1450" y="3539"/>
            <a:chExt cx="720" cy="434"/>
          </a:xfrm>
        </p:grpSpPr>
        <p:sp>
          <p:nvSpPr>
            <p:cNvPr id="37" name="Rectangles 36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58.5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93750" y="3465830"/>
            <a:ext cx="439420" cy="275590"/>
            <a:chOff x="1450" y="3539"/>
            <a:chExt cx="692" cy="434"/>
          </a:xfrm>
        </p:grpSpPr>
        <p:sp>
          <p:nvSpPr>
            <p:cNvPr id="41" name="Rectangles 40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1450" y="3539"/>
              <a:ext cx="686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61.5</a:t>
              </a:r>
            </a:p>
          </p:txBody>
        </p:sp>
      </p:grpSp>
      <p:sp>
        <p:nvSpPr>
          <p:cNvPr id="2" name="TextBox 123"/>
          <p:cNvSpPr txBox="1"/>
          <p:nvPr/>
        </p:nvSpPr>
        <p:spPr>
          <a:xfrm>
            <a:off x="3157855" y="1228725"/>
            <a:ext cx="3845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For each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threshold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we build a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statement/rule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...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weight ≤ 56.0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1</a:t>
              </a:r>
              <a:r>
                <a:rPr lang="en-US" sz="1600" dirty="0">
                  <a:latin typeface="Candara" panose="020E0502030303020204" charset="0"/>
                </a:rPr>
                <a:t>            1           0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33            32        33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42010" y="1912620"/>
            <a:ext cx="34290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effectLst/>
                <a:latin typeface="Candara" panose="020E0502030303020204" charset="0"/>
                <a:sym typeface="+mn-ea"/>
              </a:rPr>
              <a:t>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blipFill rotWithShape="1">
                <a:blip r:embed="rId2"/>
                <a:stretch>
                  <a:fillRect r="-88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793750" y="4327525"/>
            <a:ext cx="439420" cy="275590"/>
            <a:chOff x="1450" y="3539"/>
            <a:chExt cx="692" cy="434"/>
          </a:xfrm>
        </p:grpSpPr>
        <p:sp>
          <p:nvSpPr>
            <p:cNvPr id="44" name="Rectangles 43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5" name="Text Box 44"/>
            <p:cNvSpPr txBox="1"/>
            <p:nvPr/>
          </p:nvSpPr>
          <p:spPr>
            <a:xfrm>
              <a:off x="1450" y="3539"/>
              <a:ext cx="635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140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29895" y="4168775"/>
            <a:ext cx="6358890" cy="2321560"/>
            <a:chOff x="677" y="6565"/>
            <a:chExt cx="10014" cy="3656"/>
          </a:xfrm>
        </p:grpSpPr>
        <p:sp>
          <p:nvSpPr>
            <p:cNvPr id="48" name="Rectangles 47"/>
            <p:cNvSpPr/>
            <p:nvPr/>
          </p:nvSpPr>
          <p:spPr>
            <a:xfrm>
              <a:off x="722" y="6565"/>
              <a:ext cx="9671" cy="365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20202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677" y="8091"/>
              <a:ext cx="10014" cy="1952"/>
              <a:chOff x="1026" y="8091"/>
              <a:chExt cx="10014" cy="195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 Box 10"/>
                  <p:cNvSpPr txBox="1"/>
                  <p:nvPr/>
                </p:nvSpPr>
                <p:spPr>
                  <a:xfrm>
                    <a:off x="1236" y="8091"/>
                    <a:ext cx="7183" cy="919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358EF2"/>
                              </a:solidFill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rgbClr val="358EF2"/>
                              </a:solidFill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358EF2"/>
                                  </a:solidFill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358EF2"/>
                                  </a:solidFill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358EF2"/>
                                  </a:solidFill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)=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DejaVu Math TeX Gyre" panose="02000503000000000000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DejaVu Math TeX Gyre" panose="02000503000000000000" charset="0"/>
                                    </a:rPr>
                                    <m:t>𝑙𝑒𝑓𝑡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𝑚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𝑙𝑒𝑓𝑡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DejaVu Math TeX Gyre" panose="02000503000000000000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DejaVu Math TeX Gyre" panose="02000503000000000000" charset="0"/>
                                    </a:rPr>
                                    <m:t>𝑟𝑖𝑔h𝑡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𝑚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𝑟𝑖𝑔h𝑡</m:t>
                              </m:r>
                            </m:sub>
                          </m:sSub>
                        </m:oMath>
                      </m:oMathPara>
                    </a14:m>
                    <a:endParaRPr lang="en-US" baseline="30000" dirty="0">
                      <a:solidFill>
                        <a:srgbClr val="595959"/>
                      </a:solidFill>
                      <a:latin typeface="Candara" panose="020E0502030303020204" charset="0"/>
                      <a:sym typeface="+mn-ea"/>
                    </a:endParaRPr>
                  </a:p>
                </p:txBody>
              </p:sp>
            </mc:Choice>
            <mc:Fallback xmlns="">
              <p:sp>
                <p:nvSpPr>
                  <p:cNvPr id="11" name="Text 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36" y="8091"/>
                    <a:ext cx="7183" cy="919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" name="Group 16"/>
              <p:cNvGrpSpPr/>
              <p:nvPr/>
            </p:nvGrpSpPr>
            <p:grpSpPr>
              <a:xfrm>
                <a:off x="1026" y="9013"/>
                <a:ext cx="10014" cy="1030"/>
                <a:chOff x="5866" y="9016"/>
                <a:chExt cx="10014" cy="1030"/>
              </a:xfrm>
              <a:noFill/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 Box 11"/>
                    <p:cNvSpPr txBox="1"/>
                    <p:nvPr/>
                  </p:nvSpPr>
                  <p:spPr>
                    <a:xfrm>
                      <a:off x="6853" y="9016"/>
                      <a:ext cx="2509" cy="1030"/>
                    </a:xfrm>
                    <a:prstGeom prst="rect">
                      <a:avLst/>
                    </a:prstGeom>
                    <a:grpFill/>
                  </p:spPr>
                  <p:txBody>
                    <a:bodyPr wrap="none" rtlCol="0" anchor="t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{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DejaVu Math TeX Gyre" panose="02000503000000000000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DejaVu Math TeX Gyre" panose="02000503000000000000" charset="0"/>
                                            </a:rPr>
                                            <m:t>𝑙𝑒𝑓𝑡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DejaVu Math TeX Gyre" panose="02000503000000000000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DejaVu Math TeX Gyre" panose="02000503000000000000" charset="0"/>
                                            </a:rPr>
                                            <m:t>𝑟𝑖𝑔h𝑡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DejaVu Math TeX Gyre" panose="02000503000000000000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DejaVu Math TeX Gyre" panose="02000503000000000000" charset="0"/>
                                            </a:rPr>
                                            <m:t>𝑙𝑒𝑓𝑡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DejaVu Math TeX Gyre" panose="02000503000000000000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DejaVu Math TeX Gyre" panose="02000503000000000000" charset="0"/>
                                            </a:rPr>
                                            <m:t>𝑟𝑖𝑔h𝑡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oMath>
                        </m:oMathPara>
                      </a14:m>
                      <a:endParaRPr lang="en-US"/>
                    </a:p>
                  </p:txBody>
                </p:sp>
              </mc:Choice>
              <mc:Fallback xmlns="">
                <p:sp>
                  <p:nvSpPr>
                    <p:cNvPr id="12" name="Text Box 1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53" y="9016"/>
                      <a:ext cx="2509" cy="1030"/>
                    </a:xfrm>
                    <a:prstGeom prst="rect">
                      <a:avLst/>
                    </a:prstGeom>
                    <a:blipFill rotWithShape="1">
                      <a:blip r:embed="rId4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5" name="TextBox 123"/>
                <p:cNvSpPr txBox="1"/>
                <p:nvPr/>
              </p:nvSpPr>
              <p:spPr>
                <a:xfrm>
                  <a:off x="9329" y="9105"/>
                  <a:ext cx="5679" cy="48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sz="1400" dirty="0">
                      <a:solidFill>
                        <a:srgbClr val="595959"/>
                      </a:solidFill>
                      <a:latin typeface="Candara" panose="020E0502030303020204" charset="0"/>
                    </a:rPr>
                    <a:t>measures the </a:t>
                  </a:r>
                  <a:r>
                    <a:rPr lang="en-US" sz="1400" b="1" dirty="0">
                      <a:solidFill>
                        <a:srgbClr val="FF564F"/>
                      </a:solidFill>
                      <a:latin typeface="Candara" panose="020E0502030303020204" charset="0"/>
                    </a:rPr>
                    <a:t>impurity </a:t>
                  </a:r>
                  <a:r>
                    <a:rPr lang="en-US" sz="1400" dirty="0">
                      <a:solidFill>
                        <a:srgbClr val="595959"/>
                      </a:solidFill>
                      <a:latin typeface="Candara" panose="020E0502030303020204" charset="0"/>
                    </a:rPr>
                    <a:t>of the left/right subset,</a:t>
                  </a:r>
                </a:p>
              </p:txBody>
            </p:sp>
            <p:sp>
              <p:nvSpPr>
                <p:cNvPr id="23" name="TextBox 123"/>
                <p:cNvSpPr txBox="1"/>
                <p:nvPr/>
              </p:nvSpPr>
              <p:spPr>
                <a:xfrm>
                  <a:off x="9329" y="9556"/>
                  <a:ext cx="6551" cy="48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sz="1400" dirty="0">
                      <a:solidFill>
                        <a:srgbClr val="595959"/>
                      </a:solidFill>
                      <a:latin typeface="Candara" panose="020E0502030303020204" charset="0"/>
                    </a:rPr>
                    <a:t>is the </a:t>
                  </a:r>
                  <a:r>
                    <a:rPr lang="en-US" sz="1400" b="1" dirty="0">
                      <a:solidFill>
                        <a:srgbClr val="202020"/>
                      </a:solidFill>
                      <a:latin typeface="Candara" panose="020E0502030303020204" charset="0"/>
                    </a:rPr>
                    <a:t>number of instances</a:t>
                  </a:r>
                  <a:r>
                    <a:rPr lang="en-US" sz="1400" dirty="0">
                      <a:solidFill>
                        <a:srgbClr val="595959"/>
                      </a:solidFill>
                      <a:latin typeface="Candara" panose="020E0502030303020204" charset="0"/>
                    </a:rPr>
                    <a:t> in the left/right subset.</a:t>
                  </a:r>
                </a:p>
              </p:txBody>
            </p:sp>
            <p:sp>
              <p:nvSpPr>
                <p:cNvPr id="27" name="TextBox 123"/>
                <p:cNvSpPr txBox="1"/>
                <p:nvPr/>
              </p:nvSpPr>
              <p:spPr>
                <a:xfrm>
                  <a:off x="5866" y="9314"/>
                  <a:ext cx="1137" cy="48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400" dirty="0">
                      <a:solidFill>
                        <a:srgbClr val="595959"/>
                      </a:solidFill>
                      <a:latin typeface="Candara" panose="020E0502030303020204" charset="0"/>
                    </a:rPr>
                    <a:t>where</a:t>
                  </a:r>
                </a:p>
              </p:txBody>
            </p:sp>
          </p:grpSp>
        </p:grpSp>
        <p:sp>
          <p:nvSpPr>
            <p:cNvPr id="28" name="Text Box 27"/>
            <p:cNvSpPr txBox="1"/>
            <p:nvPr/>
          </p:nvSpPr>
          <p:spPr>
            <a:xfrm>
              <a:off x="2299" y="6742"/>
              <a:ext cx="6769" cy="1016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CART cost function for</a:t>
              </a:r>
              <a:br>
                <a:rPr lang="en-US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</a:br>
              <a:r>
                <a:rPr lang="en-US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feature </a:t>
              </a:r>
              <a:r>
                <a:rPr lang="en-US" b="1" dirty="0">
                  <a:solidFill>
                    <a:srgbClr val="358EF2"/>
                  </a:solidFill>
                  <a:latin typeface="Candara" panose="020E0502030303020204" charset="0"/>
                  <a:sym typeface="+mn-ea"/>
                </a:rPr>
                <a:t>k </a:t>
              </a:r>
              <a:r>
                <a:rPr lang="en-US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and </a:t>
              </a:r>
              <a:r>
                <a:rPr lang="en-US" b="1" dirty="0">
                  <a:solidFill>
                    <a:srgbClr val="358EF2"/>
                  </a:solidFill>
                  <a:latin typeface="Candara" panose="020E0502030303020204" charset="0"/>
                  <a:sym typeface="+mn-ea"/>
                </a:rPr>
                <a:t>threshold t</a:t>
              </a:r>
              <a:r>
                <a:rPr lang="en-US" b="1" baseline="-25000" dirty="0">
                  <a:solidFill>
                    <a:srgbClr val="358EF2"/>
                  </a:solidFill>
                  <a:latin typeface="Candara" panose="020E0502030303020204" charset="0"/>
                  <a:sym typeface="+mn-ea"/>
                </a:rPr>
                <a:t>k</a:t>
              </a:r>
              <a:r>
                <a:rPr lang="en-US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 for classification</a:t>
              </a:r>
              <a:endPara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51"/>
              <p:cNvSpPr txBox="1"/>
              <p:nvPr/>
            </p:nvSpPr>
            <p:spPr>
              <a:xfrm>
                <a:off x="6441377" y="3046667"/>
                <a:ext cx="1494790" cy="3733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𝑙𝑒𝑓𝑡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0.5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2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77" y="3046667"/>
                <a:ext cx="1494790" cy="373380"/>
              </a:xfrm>
              <a:prstGeom prst="rect">
                <a:avLst/>
              </a:prstGeom>
              <a:blipFill rotWithShape="1">
                <a:blip r:embed="rId5"/>
                <a:stretch>
                  <a:fillRect l="-38" t="-3044" r="38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Box 52"/>
              <p:cNvSpPr txBox="1"/>
              <p:nvPr/>
            </p:nvSpPr>
            <p:spPr>
              <a:xfrm>
                <a:off x="9093772" y="3045714"/>
                <a:ext cx="1894205" cy="375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0.666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3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72" y="3045714"/>
                <a:ext cx="1894205" cy="375285"/>
              </a:xfrm>
              <a:prstGeom prst="rect">
                <a:avLst/>
              </a:prstGeom>
              <a:blipFill rotWithShape="1">
                <a:blip r:embed="rId6"/>
                <a:stretch>
                  <a:fillRect l="-30" t="-2944" r="30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87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57250" y="1948180"/>
            <a:ext cx="312420" cy="234315"/>
          </a:xfrm>
          <a:prstGeom prst="rect">
            <a:avLst/>
          </a:prstGeom>
          <a:solidFill>
            <a:srgbClr val="358EF2"/>
          </a:solidFill>
          <a:ln>
            <a:solidFill>
              <a:srgbClr val="323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784860" y="2230755"/>
            <a:ext cx="457200" cy="275590"/>
            <a:chOff x="1450" y="3539"/>
            <a:chExt cx="720" cy="434"/>
          </a:xfrm>
        </p:grpSpPr>
        <p:sp>
          <p:nvSpPr>
            <p:cNvPr id="16" name="Rectangles 15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56.5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48043" y="2520950"/>
            <a:ext cx="330835" cy="275590"/>
            <a:chOff x="4898" y="4734"/>
            <a:chExt cx="521" cy="434"/>
          </a:xfrm>
        </p:grpSpPr>
        <p:sp>
          <p:nvSpPr>
            <p:cNvPr id="21" name="Rectangles 20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48043" y="2842895"/>
            <a:ext cx="330835" cy="275590"/>
            <a:chOff x="4898" y="4734"/>
            <a:chExt cx="521" cy="434"/>
          </a:xfrm>
        </p:grpSpPr>
        <p:sp>
          <p:nvSpPr>
            <p:cNvPr id="25" name="Rectangles 24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4860" y="3155315"/>
            <a:ext cx="457200" cy="275590"/>
            <a:chOff x="1450" y="3539"/>
            <a:chExt cx="720" cy="434"/>
          </a:xfrm>
        </p:grpSpPr>
        <p:sp>
          <p:nvSpPr>
            <p:cNvPr id="37" name="Rectangles 36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58.5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93750" y="3465830"/>
            <a:ext cx="439420" cy="275590"/>
            <a:chOff x="1450" y="3539"/>
            <a:chExt cx="692" cy="434"/>
          </a:xfrm>
        </p:grpSpPr>
        <p:sp>
          <p:nvSpPr>
            <p:cNvPr id="41" name="Rectangles 40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1450" y="3539"/>
              <a:ext cx="686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61.5</a:t>
              </a:r>
            </a:p>
          </p:txBody>
        </p:sp>
      </p:grpSp>
      <p:sp>
        <p:nvSpPr>
          <p:cNvPr id="2" name="TextBox 123"/>
          <p:cNvSpPr txBox="1"/>
          <p:nvPr/>
        </p:nvSpPr>
        <p:spPr>
          <a:xfrm>
            <a:off x="3157855" y="1228725"/>
            <a:ext cx="3845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For each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threshold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we build a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statement/rule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...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weight ≤ 56.0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1</a:t>
              </a:r>
              <a:r>
                <a:rPr lang="en-US" sz="1600" dirty="0">
                  <a:latin typeface="Candara" panose="020E0502030303020204" charset="0"/>
                </a:rPr>
                <a:t>            1           0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33            32        33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42010" y="1912620"/>
            <a:ext cx="34290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effectLst/>
                <a:latin typeface="Candara" panose="020E0502030303020204" charset="0"/>
                <a:sym typeface="+mn-ea"/>
              </a:rPr>
              <a:t>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7"/>
              <p:cNvSpPr txBox="1"/>
              <p:nvPr/>
            </p:nvSpPr>
            <p:spPr>
              <a:xfrm>
                <a:off x="6441377" y="3046667"/>
                <a:ext cx="1494790" cy="3733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𝑙𝑒𝑓𝑡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0.5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8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77" y="3046667"/>
                <a:ext cx="1494790" cy="373380"/>
              </a:xfrm>
              <a:prstGeom prst="rect">
                <a:avLst/>
              </a:prstGeom>
              <a:blipFill rotWithShape="1">
                <a:blip r:embed="rId2"/>
                <a:stretch>
                  <a:fillRect l="-38" t="-3044" r="38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8"/>
              <p:cNvSpPr txBox="1"/>
              <p:nvPr/>
            </p:nvSpPr>
            <p:spPr>
              <a:xfrm>
                <a:off x="9093772" y="3045714"/>
                <a:ext cx="1894205" cy="375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0.666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72" y="3045714"/>
                <a:ext cx="1894205" cy="375285"/>
              </a:xfrm>
              <a:prstGeom prst="rect">
                <a:avLst/>
              </a:prstGeom>
              <a:blipFill rotWithShape="1">
                <a:blip r:embed="rId3"/>
                <a:stretch>
                  <a:fillRect l="-30" t="-2944" r="30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blipFill rotWithShape="1">
                <a:blip r:embed="rId4"/>
                <a:stretch>
                  <a:fillRect r="-88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793750" y="4327525"/>
            <a:ext cx="439420" cy="275590"/>
            <a:chOff x="1450" y="3539"/>
            <a:chExt cx="692" cy="434"/>
          </a:xfrm>
        </p:grpSpPr>
        <p:sp>
          <p:nvSpPr>
            <p:cNvPr id="44" name="Rectangles 43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5" name="Text Box 44"/>
            <p:cNvSpPr txBox="1"/>
            <p:nvPr/>
          </p:nvSpPr>
          <p:spPr>
            <a:xfrm>
              <a:off x="1450" y="3539"/>
              <a:ext cx="635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140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2"/>
              <p:cNvSpPr txBox="1"/>
              <p:nvPr/>
            </p:nvSpPr>
            <p:spPr>
              <a:xfrm>
                <a:off x="5936615" y="3880485"/>
                <a:ext cx="5360670" cy="6242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,56)=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100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0.5+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98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100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0.666=0.663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615" y="3880485"/>
                <a:ext cx="5360670" cy="624205"/>
              </a:xfrm>
              <a:prstGeom prst="rect">
                <a:avLst/>
              </a:prstGeom>
              <a:blipFill rotWithShape="1">
                <a:blip r:embed="rId5"/>
                <a:stretch>
                  <a:fillRect t="-17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88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57250" y="1948180"/>
            <a:ext cx="312420" cy="234315"/>
          </a:xfrm>
          <a:prstGeom prst="rect">
            <a:avLst/>
          </a:prstGeom>
          <a:solidFill>
            <a:srgbClr val="358EF2"/>
          </a:solidFill>
          <a:ln>
            <a:solidFill>
              <a:srgbClr val="323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784860" y="2230755"/>
            <a:ext cx="457200" cy="275590"/>
            <a:chOff x="1450" y="3539"/>
            <a:chExt cx="720" cy="434"/>
          </a:xfrm>
        </p:grpSpPr>
        <p:sp>
          <p:nvSpPr>
            <p:cNvPr id="16" name="Rectangles 15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56.5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48043" y="2520950"/>
            <a:ext cx="330835" cy="275590"/>
            <a:chOff x="4898" y="4734"/>
            <a:chExt cx="521" cy="434"/>
          </a:xfrm>
        </p:grpSpPr>
        <p:sp>
          <p:nvSpPr>
            <p:cNvPr id="21" name="Rectangles 20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48043" y="2842895"/>
            <a:ext cx="330835" cy="275590"/>
            <a:chOff x="4898" y="4734"/>
            <a:chExt cx="521" cy="434"/>
          </a:xfrm>
        </p:grpSpPr>
        <p:sp>
          <p:nvSpPr>
            <p:cNvPr id="25" name="Rectangles 24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4860" y="3155315"/>
            <a:ext cx="457200" cy="275590"/>
            <a:chOff x="1450" y="3539"/>
            <a:chExt cx="720" cy="434"/>
          </a:xfrm>
        </p:grpSpPr>
        <p:sp>
          <p:nvSpPr>
            <p:cNvPr id="37" name="Rectangles 36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58.5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93750" y="3465830"/>
            <a:ext cx="439420" cy="275590"/>
            <a:chOff x="1450" y="3539"/>
            <a:chExt cx="692" cy="434"/>
          </a:xfrm>
        </p:grpSpPr>
        <p:sp>
          <p:nvSpPr>
            <p:cNvPr id="41" name="Rectangles 40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1450" y="3539"/>
              <a:ext cx="686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61.5</a:t>
              </a:r>
            </a:p>
          </p:txBody>
        </p:sp>
      </p:grpSp>
      <p:sp>
        <p:nvSpPr>
          <p:cNvPr id="2" name="TextBox 123"/>
          <p:cNvSpPr txBox="1"/>
          <p:nvPr/>
        </p:nvSpPr>
        <p:spPr>
          <a:xfrm>
            <a:off x="3157855" y="1228725"/>
            <a:ext cx="3845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For each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threshold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we build a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statement/rule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...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42010" y="1912620"/>
            <a:ext cx="34290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effectLst/>
                <a:latin typeface="Candara" panose="020E0502030303020204" charset="0"/>
                <a:sym typeface="+mn-ea"/>
              </a:rPr>
              <a:t>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blipFill rotWithShape="1">
                <a:blip r:embed="rId2"/>
                <a:stretch>
                  <a:fillRect r="-88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793750" y="4327525"/>
            <a:ext cx="439420" cy="275590"/>
            <a:chOff x="1450" y="3539"/>
            <a:chExt cx="692" cy="434"/>
          </a:xfrm>
        </p:grpSpPr>
        <p:sp>
          <p:nvSpPr>
            <p:cNvPr id="44" name="Rectangles 43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5" name="Text Box 44"/>
            <p:cNvSpPr txBox="1"/>
            <p:nvPr/>
          </p:nvSpPr>
          <p:spPr>
            <a:xfrm>
              <a:off x="1450" y="3539"/>
              <a:ext cx="635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140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2"/>
              <p:cNvSpPr txBox="1"/>
              <p:nvPr/>
            </p:nvSpPr>
            <p:spPr>
              <a:xfrm>
                <a:off x="5352415" y="1880870"/>
                <a:ext cx="280352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,56)=0.663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415" y="1880870"/>
                <a:ext cx="2803525" cy="370840"/>
              </a:xfrm>
              <a:prstGeom prst="rect">
                <a:avLst/>
              </a:prstGeom>
              <a:blipFill rotWithShape="1">
                <a:blip r:embed="rId3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7" idx="3"/>
            <a:endCxn id="13" idx="1"/>
          </p:cNvCxnSpPr>
          <p:nvPr/>
        </p:nvCxnSpPr>
        <p:spPr>
          <a:xfrm>
            <a:off x="1184910" y="2050415"/>
            <a:ext cx="416750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89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57250" y="1948180"/>
            <a:ext cx="312420" cy="234315"/>
          </a:xfrm>
          <a:prstGeom prst="rect">
            <a:avLst/>
          </a:prstGeom>
          <a:solidFill>
            <a:schemeClr val="bg1"/>
          </a:solidFill>
          <a:ln>
            <a:solidFill>
              <a:srgbClr val="323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784860" y="2230755"/>
            <a:ext cx="457200" cy="275590"/>
            <a:chOff x="1450" y="3539"/>
            <a:chExt cx="720" cy="434"/>
          </a:xfrm>
        </p:grpSpPr>
        <p:sp>
          <p:nvSpPr>
            <p:cNvPr id="16" name="Rectangles 15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56.5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48043" y="2520950"/>
            <a:ext cx="330835" cy="275590"/>
            <a:chOff x="4898" y="4734"/>
            <a:chExt cx="521" cy="434"/>
          </a:xfrm>
        </p:grpSpPr>
        <p:sp>
          <p:nvSpPr>
            <p:cNvPr id="21" name="Rectangles 20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48043" y="2842895"/>
            <a:ext cx="330835" cy="275590"/>
            <a:chOff x="4898" y="4734"/>
            <a:chExt cx="521" cy="434"/>
          </a:xfrm>
        </p:grpSpPr>
        <p:sp>
          <p:nvSpPr>
            <p:cNvPr id="25" name="Rectangles 24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4860" y="3155315"/>
            <a:ext cx="457200" cy="275590"/>
            <a:chOff x="1450" y="3539"/>
            <a:chExt cx="720" cy="434"/>
          </a:xfrm>
        </p:grpSpPr>
        <p:sp>
          <p:nvSpPr>
            <p:cNvPr id="37" name="Rectangles 36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58.5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93750" y="3465830"/>
            <a:ext cx="439420" cy="275590"/>
            <a:chOff x="1450" y="3539"/>
            <a:chExt cx="692" cy="434"/>
          </a:xfrm>
        </p:grpSpPr>
        <p:sp>
          <p:nvSpPr>
            <p:cNvPr id="41" name="Rectangles 40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1450" y="3539"/>
              <a:ext cx="686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61.5</a:t>
              </a:r>
            </a:p>
          </p:txBody>
        </p:sp>
      </p:grpSp>
      <p:sp>
        <p:nvSpPr>
          <p:cNvPr id="2" name="TextBox 123"/>
          <p:cNvSpPr txBox="1"/>
          <p:nvPr/>
        </p:nvSpPr>
        <p:spPr>
          <a:xfrm>
            <a:off x="3157855" y="1228725"/>
            <a:ext cx="3845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For each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threshold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we build a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statement/rule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...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blipFill rotWithShape="1">
                <a:blip r:embed="rId2"/>
                <a:stretch>
                  <a:fillRect r="-88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793750" y="4327525"/>
            <a:ext cx="439420" cy="275590"/>
            <a:chOff x="1450" y="3539"/>
            <a:chExt cx="692" cy="434"/>
          </a:xfrm>
        </p:grpSpPr>
        <p:sp>
          <p:nvSpPr>
            <p:cNvPr id="44" name="Rectangles 43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5" name="Text Box 44"/>
            <p:cNvSpPr txBox="1"/>
            <p:nvPr/>
          </p:nvSpPr>
          <p:spPr>
            <a:xfrm>
              <a:off x="1450" y="3539"/>
              <a:ext cx="635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140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2"/>
              <p:cNvSpPr txBox="1"/>
              <p:nvPr/>
            </p:nvSpPr>
            <p:spPr>
              <a:xfrm>
                <a:off x="5357495" y="1880870"/>
                <a:ext cx="280352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,56)=0.663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1880870"/>
                <a:ext cx="2803525" cy="370840"/>
              </a:xfrm>
              <a:prstGeom prst="rect">
                <a:avLst/>
              </a:prstGeom>
              <a:blipFill rotWithShape="1">
                <a:blip r:embed="rId3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7" idx="3"/>
            <a:endCxn id="13" idx="1"/>
          </p:cNvCxnSpPr>
          <p:nvPr/>
        </p:nvCxnSpPr>
        <p:spPr>
          <a:xfrm>
            <a:off x="1189990" y="2050415"/>
            <a:ext cx="416750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842010" y="1912620"/>
            <a:ext cx="34290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effectLst/>
                <a:latin typeface="Candara" panose="020E0502030303020204" charset="0"/>
                <a:sym typeface="+mn-ea"/>
              </a:rPr>
              <a:t>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1"/>
              <p:cNvSpPr txBox="1"/>
              <p:nvPr/>
            </p:nvSpPr>
            <p:spPr>
              <a:xfrm>
                <a:off x="5357495" y="2200910"/>
                <a:ext cx="302133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,56.5)=0.663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2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2200910"/>
                <a:ext cx="3021330" cy="370840"/>
              </a:xfrm>
              <a:prstGeom prst="rect">
                <a:avLst/>
              </a:prstGeom>
              <a:blipFill rotWithShape="1">
                <a:blip r:embed="rId4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18" idx="3"/>
            <a:endCxn id="12" idx="1"/>
          </p:cNvCxnSpPr>
          <p:nvPr/>
        </p:nvCxnSpPr>
        <p:spPr>
          <a:xfrm>
            <a:off x="1242060" y="2368550"/>
            <a:ext cx="411543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4"/>
              <p:cNvSpPr txBox="1"/>
              <p:nvPr/>
            </p:nvSpPr>
            <p:spPr>
              <a:xfrm>
                <a:off x="5357495" y="2497455"/>
                <a:ext cx="280352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,57)=0.656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5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2497455"/>
                <a:ext cx="2803525" cy="370840"/>
              </a:xfrm>
              <a:prstGeom prst="rect">
                <a:avLst/>
              </a:prstGeom>
              <a:blipFill rotWithShape="1">
                <a:blip r:embed="rId5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22" idx="3"/>
            <a:endCxn id="15" idx="1"/>
          </p:cNvCxnSpPr>
          <p:nvPr/>
        </p:nvCxnSpPr>
        <p:spPr>
          <a:xfrm>
            <a:off x="1179195" y="2658745"/>
            <a:ext cx="4178300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22"/>
              <p:cNvSpPr txBox="1"/>
              <p:nvPr/>
            </p:nvSpPr>
            <p:spPr>
              <a:xfrm>
                <a:off x="5357495" y="2838450"/>
                <a:ext cx="280352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,57)=0.656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3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2838450"/>
                <a:ext cx="2803525" cy="370840"/>
              </a:xfrm>
              <a:prstGeom prst="rect">
                <a:avLst/>
              </a:prstGeom>
              <a:blipFill rotWithShape="1">
                <a:blip r:embed="rId5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>
            <a:stCxn id="26" idx="3"/>
            <a:endCxn id="23" idx="1"/>
          </p:cNvCxnSpPr>
          <p:nvPr/>
        </p:nvCxnSpPr>
        <p:spPr>
          <a:xfrm>
            <a:off x="1179195" y="2980690"/>
            <a:ext cx="4178300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27"/>
              <p:cNvSpPr txBox="1"/>
              <p:nvPr/>
            </p:nvSpPr>
            <p:spPr>
              <a:xfrm>
                <a:off x="5357495" y="3167380"/>
                <a:ext cx="302133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,58.5)=0.656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8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3167380"/>
                <a:ext cx="3021330" cy="370840"/>
              </a:xfrm>
              <a:prstGeom prst="rect">
                <a:avLst/>
              </a:prstGeom>
              <a:blipFill rotWithShape="1">
                <a:blip r:embed="rId6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>
            <a:stCxn id="39" idx="3"/>
            <a:endCxn id="28" idx="1"/>
          </p:cNvCxnSpPr>
          <p:nvPr/>
        </p:nvCxnSpPr>
        <p:spPr>
          <a:xfrm>
            <a:off x="1242060" y="3293110"/>
            <a:ext cx="411543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45"/>
              <p:cNvSpPr txBox="1"/>
              <p:nvPr/>
            </p:nvSpPr>
            <p:spPr>
              <a:xfrm>
                <a:off x="5357495" y="3458210"/>
                <a:ext cx="302133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,61.5)=0.652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46" name="Text 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3458210"/>
                <a:ext cx="3021330" cy="370840"/>
              </a:xfrm>
              <a:prstGeom prst="rect">
                <a:avLst/>
              </a:prstGeom>
              <a:blipFill rotWithShape="1">
                <a:blip r:embed="rId7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>
            <a:stCxn id="42" idx="3"/>
            <a:endCxn id="46" idx="1"/>
          </p:cNvCxnSpPr>
          <p:nvPr/>
        </p:nvCxnSpPr>
        <p:spPr>
          <a:xfrm>
            <a:off x="1229360" y="3603625"/>
            <a:ext cx="412813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7"/>
              <p:cNvSpPr txBox="1"/>
              <p:nvPr/>
            </p:nvSpPr>
            <p:spPr>
              <a:xfrm>
                <a:off x="5357495" y="4309745"/>
                <a:ext cx="294894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,140)=0.666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48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4309745"/>
                <a:ext cx="2948940" cy="370840"/>
              </a:xfrm>
              <a:prstGeom prst="rect">
                <a:avLst/>
              </a:prstGeom>
              <a:blipFill rotWithShape="1">
                <a:blip r:embed="rId8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/>
          <p:cNvCxnSpPr>
            <a:endCxn id="48" idx="1"/>
          </p:cNvCxnSpPr>
          <p:nvPr/>
        </p:nvCxnSpPr>
        <p:spPr>
          <a:xfrm>
            <a:off x="1245235" y="4470400"/>
            <a:ext cx="4112260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49"/>
          <p:cNvSpPr txBox="1"/>
          <p:nvPr/>
        </p:nvSpPr>
        <p:spPr>
          <a:xfrm>
            <a:off x="6581140" y="3829050"/>
            <a:ext cx="3562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...</a:t>
            </a:r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90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57250" y="1948180"/>
            <a:ext cx="312420" cy="234315"/>
          </a:xfrm>
          <a:prstGeom prst="rect">
            <a:avLst/>
          </a:prstGeom>
          <a:solidFill>
            <a:schemeClr val="bg1"/>
          </a:solidFill>
          <a:ln>
            <a:solidFill>
              <a:srgbClr val="323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784860" y="2230755"/>
            <a:ext cx="457200" cy="275590"/>
            <a:chOff x="1450" y="3539"/>
            <a:chExt cx="720" cy="434"/>
          </a:xfrm>
        </p:grpSpPr>
        <p:sp>
          <p:nvSpPr>
            <p:cNvPr id="16" name="Rectangles 15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56.5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48043" y="2520950"/>
            <a:ext cx="330835" cy="275590"/>
            <a:chOff x="4898" y="4734"/>
            <a:chExt cx="521" cy="434"/>
          </a:xfrm>
        </p:grpSpPr>
        <p:sp>
          <p:nvSpPr>
            <p:cNvPr id="21" name="Rectangles 20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48043" y="2842895"/>
            <a:ext cx="330835" cy="275590"/>
            <a:chOff x="4898" y="4734"/>
            <a:chExt cx="521" cy="434"/>
          </a:xfrm>
        </p:grpSpPr>
        <p:sp>
          <p:nvSpPr>
            <p:cNvPr id="25" name="Rectangles 24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4860" y="3155315"/>
            <a:ext cx="457200" cy="275590"/>
            <a:chOff x="1450" y="3539"/>
            <a:chExt cx="720" cy="434"/>
          </a:xfrm>
        </p:grpSpPr>
        <p:sp>
          <p:nvSpPr>
            <p:cNvPr id="37" name="Rectangles 36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58.5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93750" y="3465830"/>
            <a:ext cx="439420" cy="275590"/>
            <a:chOff x="1450" y="3539"/>
            <a:chExt cx="692" cy="434"/>
          </a:xfrm>
        </p:grpSpPr>
        <p:sp>
          <p:nvSpPr>
            <p:cNvPr id="41" name="Rectangles 40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1450" y="3539"/>
              <a:ext cx="686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61.5</a:t>
              </a:r>
            </a:p>
          </p:txBody>
        </p:sp>
      </p:grpSp>
      <p:sp>
        <p:nvSpPr>
          <p:cNvPr id="2" name="TextBox 123"/>
          <p:cNvSpPr txBox="1"/>
          <p:nvPr/>
        </p:nvSpPr>
        <p:spPr>
          <a:xfrm>
            <a:off x="3157855" y="1228725"/>
            <a:ext cx="3845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For each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threshold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we build a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statement/rule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...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blipFill rotWithShape="1">
                <a:blip r:embed="rId2"/>
                <a:stretch>
                  <a:fillRect r="-88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793750" y="4327525"/>
            <a:ext cx="439420" cy="275590"/>
            <a:chOff x="1450" y="3539"/>
            <a:chExt cx="692" cy="434"/>
          </a:xfrm>
        </p:grpSpPr>
        <p:sp>
          <p:nvSpPr>
            <p:cNvPr id="44" name="Rectangles 43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5" name="Text Box 44"/>
            <p:cNvSpPr txBox="1"/>
            <p:nvPr/>
          </p:nvSpPr>
          <p:spPr>
            <a:xfrm>
              <a:off x="1450" y="3539"/>
              <a:ext cx="635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140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2"/>
              <p:cNvSpPr txBox="1"/>
              <p:nvPr/>
            </p:nvSpPr>
            <p:spPr>
              <a:xfrm>
                <a:off x="5357495" y="1880870"/>
                <a:ext cx="280352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,56)=0.663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1880870"/>
                <a:ext cx="2803525" cy="370840"/>
              </a:xfrm>
              <a:prstGeom prst="rect">
                <a:avLst/>
              </a:prstGeom>
              <a:blipFill rotWithShape="1">
                <a:blip r:embed="rId3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7" idx="3"/>
            <a:endCxn id="13" idx="1"/>
          </p:cNvCxnSpPr>
          <p:nvPr/>
        </p:nvCxnSpPr>
        <p:spPr>
          <a:xfrm>
            <a:off x="1189990" y="2050415"/>
            <a:ext cx="416750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842010" y="1912620"/>
            <a:ext cx="34290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effectLst/>
                <a:latin typeface="Candara" panose="020E0502030303020204" charset="0"/>
                <a:sym typeface="+mn-ea"/>
              </a:rPr>
              <a:t>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1"/>
              <p:cNvSpPr txBox="1"/>
              <p:nvPr/>
            </p:nvSpPr>
            <p:spPr>
              <a:xfrm>
                <a:off x="5357495" y="2200910"/>
                <a:ext cx="302133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,56.5)=0.663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2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2200910"/>
                <a:ext cx="3021330" cy="370840"/>
              </a:xfrm>
              <a:prstGeom prst="rect">
                <a:avLst/>
              </a:prstGeom>
              <a:blipFill rotWithShape="1">
                <a:blip r:embed="rId4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18" idx="3"/>
            <a:endCxn id="12" idx="1"/>
          </p:cNvCxnSpPr>
          <p:nvPr/>
        </p:nvCxnSpPr>
        <p:spPr>
          <a:xfrm>
            <a:off x="1242060" y="2368550"/>
            <a:ext cx="411543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4"/>
              <p:cNvSpPr txBox="1"/>
              <p:nvPr/>
            </p:nvSpPr>
            <p:spPr>
              <a:xfrm>
                <a:off x="5357495" y="2497455"/>
                <a:ext cx="280352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,57)=0.656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5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2497455"/>
                <a:ext cx="2803525" cy="370840"/>
              </a:xfrm>
              <a:prstGeom prst="rect">
                <a:avLst/>
              </a:prstGeom>
              <a:blipFill rotWithShape="1">
                <a:blip r:embed="rId5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22" idx="3"/>
            <a:endCxn id="15" idx="1"/>
          </p:cNvCxnSpPr>
          <p:nvPr/>
        </p:nvCxnSpPr>
        <p:spPr>
          <a:xfrm>
            <a:off x="1179195" y="2658745"/>
            <a:ext cx="4178300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22"/>
              <p:cNvSpPr txBox="1"/>
              <p:nvPr/>
            </p:nvSpPr>
            <p:spPr>
              <a:xfrm>
                <a:off x="5357495" y="2838450"/>
                <a:ext cx="280352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,57)=0.656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3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2838450"/>
                <a:ext cx="2803525" cy="370840"/>
              </a:xfrm>
              <a:prstGeom prst="rect">
                <a:avLst/>
              </a:prstGeom>
              <a:blipFill rotWithShape="1">
                <a:blip r:embed="rId5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>
            <a:stCxn id="26" idx="3"/>
            <a:endCxn id="23" idx="1"/>
          </p:cNvCxnSpPr>
          <p:nvPr/>
        </p:nvCxnSpPr>
        <p:spPr>
          <a:xfrm>
            <a:off x="1179195" y="2980690"/>
            <a:ext cx="4178300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27"/>
              <p:cNvSpPr txBox="1"/>
              <p:nvPr/>
            </p:nvSpPr>
            <p:spPr>
              <a:xfrm>
                <a:off x="5357495" y="3167380"/>
                <a:ext cx="302133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,58.5)=0.656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8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3167380"/>
                <a:ext cx="3021330" cy="370840"/>
              </a:xfrm>
              <a:prstGeom prst="rect">
                <a:avLst/>
              </a:prstGeom>
              <a:blipFill rotWithShape="1">
                <a:blip r:embed="rId6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>
            <a:stCxn id="39" idx="3"/>
            <a:endCxn id="28" idx="1"/>
          </p:cNvCxnSpPr>
          <p:nvPr/>
        </p:nvCxnSpPr>
        <p:spPr>
          <a:xfrm>
            <a:off x="1242060" y="3293110"/>
            <a:ext cx="411543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45"/>
              <p:cNvSpPr txBox="1"/>
              <p:nvPr/>
            </p:nvSpPr>
            <p:spPr>
              <a:xfrm>
                <a:off x="5357495" y="3458210"/>
                <a:ext cx="302133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,61.5)=0.652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46" name="Text 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3458210"/>
                <a:ext cx="3021330" cy="370840"/>
              </a:xfrm>
              <a:prstGeom prst="rect">
                <a:avLst/>
              </a:prstGeom>
              <a:blipFill rotWithShape="1">
                <a:blip r:embed="rId7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>
            <a:stCxn id="42" idx="3"/>
            <a:endCxn id="46" idx="1"/>
          </p:cNvCxnSpPr>
          <p:nvPr/>
        </p:nvCxnSpPr>
        <p:spPr>
          <a:xfrm>
            <a:off x="1229360" y="3603625"/>
            <a:ext cx="412813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7"/>
              <p:cNvSpPr txBox="1"/>
              <p:nvPr/>
            </p:nvSpPr>
            <p:spPr>
              <a:xfrm>
                <a:off x="5357495" y="4309745"/>
                <a:ext cx="294894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,140)=0.666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48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4309745"/>
                <a:ext cx="2948940" cy="370840"/>
              </a:xfrm>
              <a:prstGeom prst="rect">
                <a:avLst/>
              </a:prstGeom>
              <a:blipFill rotWithShape="1">
                <a:blip r:embed="rId8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/>
          <p:cNvCxnSpPr>
            <a:endCxn id="48" idx="1"/>
          </p:cNvCxnSpPr>
          <p:nvPr/>
        </p:nvCxnSpPr>
        <p:spPr>
          <a:xfrm>
            <a:off x="1245235" y="4470400"/>
            <a:ext cx="4112260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49"/>
          <p:cNvSpPr txBox="1"/>
          <p:nvPr/>
        </p:nvSpPr>
        <p:spPr>
          <a:xfrm>
            <a:off x="6581140" y="3829050"/>
            <a:ext cx="3562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...</a:t>
            </a:r>
            <a:endParaRPr lang="en-US"/>
          </a:p>
        </p:txBody>
      </p:sp>
      <p:sp>
        <p:nvSpPr>
          <p:cNvPr id="4" name="TextBox 123"/>
          <p:cNvSpPr txBox="1"/>
          <p:nvPr/>
        </p:nvSpPr>
        <p:spPr>
          <a:xfrm>
            <a:off x="8609330" y="2371090"/>
            <a:ext cx="3477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We select 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threshold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with 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lowest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8837295" y="5347970"/>
                <a:ext cx="302133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𝟗𝟒</m:t>
                      </m:r>
                      <m:r>
                        <a:rPr lang="en-US" b="1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b="1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𝟓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)=0.636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295" y="5347970"/>
                <a:ext cx="3021330" cy="370840"/>
              </a:xfrm>
              <a:prstGeom prst="rect">
                <a:avLst/>
              </a:prstGeom>
              <a:blipFill rotWithShape="1">
                <a:blip r:embed="rId9"/>
                <a:stretch>
                  <a:fillRect t="-2911" r="-16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4" idx="2"/>
            <a:endCxn id="6" idx="0"/>
          </p:cNvCxnSpPr>
          <p:nvPr/>
        </p:nvCxnSpPr>
        <p:spPr>
          <a:xfrm>
            <a:off x="10347960" y="3016250"/>
            <a:ext cx="0" cy="233172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91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2175" y="1228481"/>
          <a:ext cx="20335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57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Normal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...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123"/>
          <p:cNvSpPr txBox="1"/>
          <p:nvPr/>
        </p:nvSpPr>
        <p:spPr>
          <a:xfrm>
            <a:off x="371475" y="582930"/>
            <a:ext cx="3477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A possible strategy...</a:t>
            </a:r>
            <a:endParaRPr lang="en-US" sz="2000" b="1" dirty="0">
              <a:solidFill>
                <a:srgbClr val="FF564F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57250" y="1948180"/>
            <a:ext cx="312420" cy="234315"/>
          </a:xfrm>
          <a:prstGeom prst="rect">
            <a:avLst/>
          </a:prstGeom>
          <a:solidFill>
            <a:schemeClr val="bg1"/>
          </a:solidFill>
          <a:ln>
            <a:solidFill>
              <a:srgbClr val="323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784860" y="2230755"/>
            <a:ext cx="457200" cy="275590"/>
            <a:chOff x="1450" y="3539"/>
            <a:chExt cx="720" cy="434"/>
          </a:xfrm>
        </p:grpSpPr>
        <p:sp>
          <p:nvSpPr>
            <p:cNvPr id="16" name="Rectangles 15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56.5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48043" y="2520950"/>
            <a:ext cx="330835" cy="275590"/>
            <a:chOff x="4898" y="4734"/>
            <a:chExt cx="521" cy="434"/>
          </a:xfrm>
        </p:grpSpPr>
        <p:sp>
          <p:nvSpPr>
            <p:cNvPr id="21" name="Rectangles 20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48043" y="2842895"/>
            <a:ext cx="330835" cy="275590"/>
            <a:chOff x="4898" y="4734"/>
            <a:chExt cx="521" cy="434"/>
          </a:xfrm>
        </p:grpSpPr>
        <p:sp>
          <p:nvSpPr>
            <p:cNvPr id="25" name="Rectangles 24"/>
            <p:cNvSpPr/>
            <p:nvPr/>
          </p:nvSpPr>
          <p:spPr>
            <a:xfrm>
              <a:off x="4922" y="4790"/>
              <a:ext cx="492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4898" y="4734"/>
              <a:ext cx="521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4860" y="3155315"/>
            <a:ext cx="457200" cy="275590"/>
            <a:chOff x="1450" y="3539"/>
            <a:chExt cx="720" cy="434"/>
          </a:xfrm>
        </p:grpSpPr>
        <p:sp>
          <p:nvSpPr>
            <p:cNvPr id="37" name="Rectangles 36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1450" y="3539"/>
              <a:ext cx="72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58.5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93750" y="3465830"/>
            <a:ext cx="439420" cy="275590"/>
            <a:chOff x="1450" y="3539"/>
            <a:chExt cx="692" cy="434"/>
          </a:xfrm>
        </p:grpSpPr>
        <p:sp>
          <p:nvSpPr>
            <p:cNvPr id="41" name="Rectangles 40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1450" y="3539"/>
              <a:ext cx="686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61.5</a:t>
              </a:r>
            </a:p>
          </p:txBody>
        </p:sp>
      </p:grpSp>
      <p:sp>
        <p:nvSpPr>
          <p:cNvPr id="2" name="TextBox 123"/>
          <p:cNvSpPr txBox="1"/>
          <p:nvPr/>
        </p:nvSpPr>
        <p:spPr>
          <a:xfrm>
            <a:off x="3157855" y="1228725"/>
            <a:ext cx="3845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For each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threshold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we build a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statement/rule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...</a:t>
            </a:r>
            <a:endParaRPr lang="en-US" b="1" dirty="0">
              <a:solidFill>
                <a:srgbClr val="358EF2"/>
              </a:solidFill>
              <a:latin typeface="Candara" panose="020E0502030303020204" charset="0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10" y="4975860"/>
                <a:ext cx="1702435" cy="276860"/>
              </a:xfrm>
              <a:prstGeom prst="rect">
                <a:avLst/>
              </a:prstGeom>
              <a:blipFill rotWithShape="1">
                <a:blip r:embed="rId2"/>
                <a:stretch>
                  <a:fillRect r="-88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793750" y="4327525"/>
            <a:ext cx="439420" cy="275590"/>
            <a:chOff x="1450" y="3539"/>
            <a:chExt cx="692" cy="434"/>
          </a:xfrm>
        </p:grpSpPr>
        <p:sp>
          <p:nvSpPr>
            <p:cNvPr id="44" name="Rectangles 43"/>
            <p:cNvSpPr/>
            <p:nvPr/>
          </p:nvSpPr>
          <p:spPr>
            <a:xfrm>
              <a:off x="1478" y="3587"/>
              <a:ext cx="664" cy="3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232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andara" panose="020E0502030303020204" charset="0"/>
                <a:cs typeface="Candara" panose="020E0502030303020204" charset="0"/>
              </a:endParaRPr>
            </a:p>
          </p:txBody>
        </p:sp>
        <p:sp>
          <p:nvSpPr>
            <p:cNvPr id="45" name="Text Box 44"/>
            <p:cNvSpPr txBox="1"/>
            <p:nvPr/>
          </p:nvSpPr>
          <p:spPr>
            <a:xfrm>
              <a:off x="1450" y="3539"/>
              <a:ext cx="635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effectLst/>
                  <a:latin typeface="Candara" panose="020E0502030303020204" charset="0"/>
                  <a:sym typeface="+mn-ea"/>
                </a:rPr>
                <a:t>140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2"/>
              <p:cNvSpPr txBox="1"/>
              <p:nvPr/>
            </p:nvSpPr>
            <p:spPr>
              <a:xfrm>
                <a:off x="5357495" y="1880870"/>
                <a:ext cx="280352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,56)=0.663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1880870"/>
                <a:ext cx="2803525" cy="370840"/>
              </a:xfrm>
              <a:prstGeom prst="rect">
                <a:avLst/>
              </a:prstGeom>
              <a:blipFill rotWithShape="1">
                <a:blip r:embed="rId3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7" idx="3"/>
            <a:endCxn id="13" idx="1"/>
          </p:cNvCxnSpPr>
          <p:nvPr/>
        </p:nvCxnSpPr>
        <p:spPr>
          <a:xfrm>
            <a:off x="1189990" y="2050415"/>
            <a:ext cx="416750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842010" y="1912620"/>
            <a:ext cx="34290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effectLst/>
                <a:latin typeface="Candara" panose="020E0502030303020204" charset="0"/>
                <a:sym typeface="+mn-ea"/>
              </a:rPr>
              <a:t>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1"/>
              <p:cNvSpPr txBox="1"/>
              <p:nvPr/>
            </p:nvSpPr>
            <p:spPr>
              <a:xfrm>
                <a:off x="5357495" y="2200910"/>
                <a:ext cx="302133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,56.5)=0.663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2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2200910"/>
                <a:ext cx="3021330" cy="370840"/>
              </a:xfrm>
              <a:prstGeom prst="rect">
                <a:avLst/>
              </a:prstGeom>
              <a:blipFill rotWithShape="1">
                <a:blip r:embed="rId4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18" idx="3"/>
            <a:endCxn id="12" idx="1"/>
          </p:cNvCxnSpPr>
          <p:nvPr/>
        </p:nvCxnSpPr>
        <p:spPr>
          <a:xfrm>
            <a:off x="1242060" y="2368550"/>
            <a:ext cx="411543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4"/>
              <p:cNvSpPr txBox="1"/>
              <p:nvPr/>
            </p:nvSpPr>
            <p:spPr>
              <a:xfrm>
                <a:off x="5357495" y="2497455"/>
                <a:ext cx="280352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,57)=0.656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5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2497455"/>
                <a:ext cx="2803525" cy="370840"/>
              </a:xfrm>
              <a:prstGeom prst="rect">
                <a:avLst/>
              </a:prstGeom>
              <a:blipFill rotWithShape="1">
                <a:blip r:embed="rId5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22" idx="3"/>
            <a:endCxn id="15" idx="1"/>
          </p:cNvCxnSpPr>
          <p:nvPr/>
        </p:nvCxnSpPr>
        <p:spPr>
          <a:xfrm>
            <a:off x="1179195" y="2658745"/>
            <a:ext cx="4178300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22"/>
              <p:cNvSpPr txBox="1"/>
              <p:nvPr/>
            </p:nvSpPr>
            <p:spPr>
              <a:xfrm>
                <a:off x="5357495" y="2838450"/>
                <a:ext cx="280352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,57)=0.656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3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2838450"/>
                <a:ext cx="2803525" cy="370840"/>
              </a:xfrm>
              <a:prstGeom prst="rect">
                <a:avLst/>
              </a:prstGeom>
              <a:blipFill rotWithShape="1">
                <a:blip r:embed="rId5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>
            <a:stCxn id="26" idx="3"/>
            <a:endCxn id="23" idx="1"/>
          </p:cNvCxnSpPr>
          <p:nvPr/>
        </p:nvCxnSpPr>
        <p:spPr>
          <a:xfrm>
            <a:off x="1179195" y="2980690"/>
            <a:ext cx="4178300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27"/>
              <p:cNvSpPr txBox="1"/>
              <p:nvPr/>
            </p:nvSpPr>
            <p:spPr>
              <a:xfrm>
                <a:off x="5357495" y="3167380"/>
                <a:ext cx="302133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,58.5)=0.656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8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3167380"/>
                <a:ext cx="3021330" cy="370840"/>
              </a:xfrm>
              <a:prstGeom prst="rect">
                <a:avLst/>
              </a:prstGeom>
              <a:blipFill rotWithShape="1">
                <a:blip r:embed="rId6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>
            <a:stCxn id="39" idx="3"/>
            <a:endCxn id="28" idx="1"/>
          </p:cNvCxnSpPr>
          <p:nvPr/>
        </p:nvCxnSpPr>
        <p:spPr>
          <a:xfrm>
            <a:off x="1242060" y="3293110"/>
            <a:ext cx="411543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45"/>
              <p:cNvSpPr txBox="1"/>
              <p:nvPr/>
            </p:nvSpPr>
            <p:spPr>
              <a:xfrm>
                <a:off x="5357495" y="3458210"/>
                <a:ext cx="302133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,61.5)=0.652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46" name="Text 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3458210"/>
                <a:ext cx="3021330" cy="370840"/>
              </a:xfrm>
              <a:prstGeom prst="rect">
                <a:avLst/>
              </a:prstGeom>
              <a:blipFill rotWithShape="1">
                <a:blip r:embed="rId7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>
            <a:stCxn id="42" idx="3"/>
            <a:endCxn id="46" idx="1"/>
          </p:cNvCxnSpPr>
          <p:nvPr/>
        </p:nvCxnSpPr>
        <p:spPr>
          <a:xfrm>
            <a:off x="1229360" y="3603625"/>
            <a:ext cx="4128135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7"/>
              <p:cNvSpPr txBox="1"/>
              <p:nvPr/>
            </p:nvSpPr>
            <p:spPr>
              <a:xfrm>
                <a:off x="5357495" y="4309745"/>
                <a:ext cx="294894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,140)=0.666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48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495" y="4309745"/>
                <a:ext cx="2948940" cy="370840"/>
              </a:xfrm>
              <a:prstGeom prst="rect">
                <a:avLst/>
              </a:prstGeom>
              <a:blipFill rotWithShape="1">
                <a:blip r:embed="rId8"/>
                <a:stretch>
                  <a:fillRect t="-29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/>
          <p:cNvCxnSpPr>
            <a:endCxn id="48" idx="1"/>
          </p:cNvCxnSpPr>
          <p:nvPr/>
        </p:nvCxnSpPr>
        <p:spPr>
          <a:xfrm>
            <a:off x="1245235" y="4470400"/>
            <a:ext cx="4112260" cy="0"/>
          </a:xfrm>
          <a:prstGeom prst="straightConnector1">
            <a:avLst/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49"/>
          <p:cNvSpPr txBox="1"/>
          <p:nvPr/>
        </p:nvSpPr>
        <p:spPr>
          <a:xfrm>
            <a:off x="6581140" y="3829050"/>
            <a:ext cx="3562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...</a:t>
            </a:r>
            <a:endParaRPr lang="en-US"/>
          </a:p>
        </p:txBody>
      </p:sp>
      <p:sp>
        <p:nvSpPr>
          <p:cNvPr id="4" name="TextBox 123"/>
          <p:cNvSpPr txBox="1"/>
          <p:nvPr/>
        </p:nvSpPr>
        <p:spPr>
          <a:xfrm>
            <a:off x="8609330" y="2371090"/>
            <a:ext cx="3477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We select 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threshold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with 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lowest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gini impurity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8837295" y="5347970"/>
                <a:ext cx="302133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𝟗𝟒</m:t>
                      </m:r>
                      <m:r>
                        <a:rPr lang="en-US" b="1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b="1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𝟓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)=0.636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295" y="5347970"/>
                <a:ext cx="3021330" cy="370840"/>
              </a:xfrm>
              <a:prstGeom prst="rect">
                <a:avLst/>
              </a:prstGeom>
              <a:blipFill rotWithShape="1">
                <a:blip r:embed="rId9"/>
                <a:stretch>
                  <a:fillRect t="-2911" r="-16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4" idx="2"/>
            <a:endCxn id="6" idx="0"/>
          </p:cNvCxnSpPr>
          <p:nvPr/>
        </p:nvCxnSpPr>
        <p:spPr>
          <a:xfrm>
            <a:off x="10347960" y="3016250"/>
            <a:ext cx="0" cy="233172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8874633" y="1246451"/>
            <a:ext cx="2927350" cy="737235"/>
            <a:chOff x="6928" y="9058"/>
            <a:chExt cx="4610" cy="116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Text Box 7"/>
            <p:cNvSpPr txBox="1"/>
            <p:nvPr/>
          </p:nvSpPr>
          <p:spPr>
            <a:xfrm>
              <a:off x="6928" y="9058"/>
              <a:ext cx="4610" cy="11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Some algorithms use </a:t>
              </a:r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different strategies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to define the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candidate thresholds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51" name="Picture 50" descr="pngwing.com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93" y="9405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92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" name="Group 10"/>
          <p:cNvGrpSpPr/>
          <p:nvPr/>
        </p:nvGrpSpPr>
        <p:grpSpPr>
          <a:xfrm>
            <a:off x="330200" y="368300"/>
            <a:ext cx="4779645" cy="2832100"/>
            <a:chOff x="2035" y="792"/>
            <a:chExt cx="7527" cy="4460"/>
          </a:xfrm>
        </p:grpSpPr>
        <p:sp>
          <p:nvSpPr>
            <p:cNvPr id="80" name="Rounded Rectangle 79"/>
            <p:cNvSpPr/>
            <p:nvPr/>
          </p:nvSpPr>
          <p:spPr>
            <a:xfrm flipH="1">
              <a:off x="4707" y="79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cxnSp>
          <p:nvCxnSpPr>
            <p:cNvPr id="83" name="Straight Connector 82"/>
            <p:cNvCxnSpPr>
              <a:stCxn id="80" idx="2"/>
              <a:endCxn id="87" idx="0"/>
            </p:cNvCxnSpPr>
            <p:nvPr/>
          </p:nvCxnSpPr>
          <p:spPr>
            <a:xfrm flipH="1">
              <a:off x="3542" y="1787"/>
              <a:ext cx="2257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80" idx="2"/>
              <a:endCxn id="91" idx="0"/>
            </p:cNvCxnSpPr>
            <p:nvPr/>
          </p:nvCxnSpPr>
          <p:spPr>
            <a:xfrm>
              <a:off x="5799" y="1787"/>
              <a:ext cx="2244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 Box 7"/>
            <p:cNvSpPr txBox="1"/>
            <p:nvPr/>
          </p:nvSpPr>
          <p:spPr>
            <a:xfrm rot="20168799">
              <a:off x="3731" y="2037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86" name="Text Box 7"/>
            <p:cNvSpPr txBox="1"/>
            <p:nvPr/>
          </p:nvSpPr>
          <p:spPr>
            <a:xfrm rot="1362789">
              <a:off x="7033" y="2091"/>
              <a:ext cx="960" cy="436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035" y="2744"/>
              <a:ext cx="3027" cy="1465"/>
              <a:chOff x="6226115" y="2006160"/>
              <a:chExt cx="1922172" cy="93045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6226115" y="2344714"/>
                <a:ext cx="1909753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  </a:t>
                </a:r>
                <a:r>
                  <a:rPr lang="en-US" sz="1600" dirty="0">
                    <a:latin typeface="Candara" panose="020E0502030303020204" charset="0"/>
                    <a:sym typeface="+mn-ea"/>
                  </a:rPr>
                  <a:t>6</a:t>
                </a:r>
                <a:r>
                  <a:rPr lang="en-US" sz="1600" dirty="0">
                    <a:latin typeface="Candara" panose="020E0502030303020204" charset="0"/>
                  </a:rPr>
                  <a:t>           15          24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13" name="Straight Connector 12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/>
            <p:cNvGrpSpPr/>
            <p:nvPr/>
          </p:nvGrpSpPr>
          <p:grpSpPr>
            <a:xfrm>
              <a:off x="6536" y="2744"/>
              <a:ext cx="3027" cy="1465"/>
              <a:chOff x="6226115" y="2006160"/>
              <a:chExt cx="1922172" cy="930459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6226115" y="2344714"/>
                <a:ext cx="1909753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</a:t>
                </a:r>
                <a:r>
                  <a:rPr lang="en-US" sz="1600" dirty="0">
                    <a:latin typeface="Candara" panose="020E0502030303020204" charset="0"/>
                  </a:rPr>
                  <a:t>28           18          9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93" name="Straight Connector 92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23"/>
            <p:cNvSpPr txBox="1"/>
            <p:nvPr/>
          </p:nvSpPr>
          <p:spPr>
            <a:xfrm>
              <a:off x="6986" y="1049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100 samples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6"/>
                <p:cNvSpPr txBox="1"/>
                <p:nvPr/>
              </p:nvSpPr>
              <p:spPr>
                <a:xfrm>
                  <a:off x="3957" y="4672"/>
                  <a:ext cx="3685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𝐽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358EF2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𝑠𝑚𝑜𝑘𝑒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)=0.598</m:t>
                        </m:r>
                      </m:oMath>
                    </m:oMathPara>
                  </a14:m>
                  <a:endPara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7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7" y="4672"/>
                  <a:ext cx="3685" cy="58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TextBox 123"/>
          <p:cNvSpPr txBox="1"/>
          <p:nvPr/>
        </p:nvSpPr>
        <p:spPr>
          <a:xfrm rot="21180000">
            <a:off x="12838430" y="2769870"/>
            <a:ext cx="28289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Now, let's compute the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Total Gini Impurity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for the feature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Workout.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965315" y="368300"/>
            <a:ext cx="4780280" cy="2834640"/>
            <a:chOff x="2035" y="792"/>
            <a:chExt cx="7528" cy="4464"/>
          </a:xfrm>
        </p:grpSpPr>
        <p:sp>
          <p:nvSpPr>
            <p:cNvPr id="14" name="Rounded Rectangle 13"/>
            <p:cNvSpPr/>
            <p:nvPr/>
          </p:nvSpPr>
          <p:spPr>
            <a:xfrm flipH="1">
              <a:off x="4707" y="79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94.5</a:t>
              </a:r>
              <a:endParaRPr lang="en-US" b="1" dirty="0">
                <a:latin typeface="Candara" panose="020E0502030303020204" charset="0"/>
                <a:cs typeface="Candara" panose="020E0502030303020204" charset="0"/>
              </a:endParaRPr>
            </a:p>
          </p:txBody>
        </p:sp>
        <p:cxnSp>
          <p:nvCxnSpPr>
            <p:cNvPr id="15" name="Straight Connector 14"/>
            <p:cNvCxnSpPr>
              <a:stCxn id="14" idx="2"/>
              <a:endCxn id="22" idx="0"/>
            </p:cNvCxnSpPr>
            <p:nvPr/>
          </p:nvCxnSpPr>
          <p:spPr>
            <a:xfrm flipH="1">
              <a:off x="3542" y="1787"/>
              <a:ext cx="2257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4" idx="2"/>
              <a:endCxn id="50" idx="0"/>
            </p:cNvCxnSpPr>
            <p:nvPr/>
          </p:nvCxnSpPr>
          <p:spPr>
            <a:xfrm>
              <a:off x="5799" y="1787"/>
              <a:ext cx="2244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7"/>
            <p:cNvSpPr txBox="1"/>
            <p:nvPr/>
          </p:nvSpPr>
          <p:spPr>
            <a:xfrm rot="20168799">
              <a:off x="3731" y="2037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9" name="Text Box 7"/>
            <p:cNvSpPr txBox="1"/>
            <p:nvPr/>
          </p:nvSpPr>
          <p:spPr>
            <a:xfrm rot="1362789">
              <a:off x="7033" y="2091"/>
              <a:ext cx="960" cy="436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035" y="2744"/>
              <a:ext cx="3027" cy="1465"/>
              <a:chOff x="6226115" y="2006160"/>
              <a:chExt cx="1922172" cy="930459"/>
            </a:xfrm>
          </p:grpSpPr>
          <p:sp>
            <p:nvSpPr>
              <p:cNvPr id="21" name="Rectangle 80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22" name="TextBox 86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24" name="TextBox 87"/>
              <p:cNvSpPr txBox="1"/>
              <p:nvPr/>
            </p:nvSpPr>
            <p:spPr>
              <a:xfrm>
                <a:off x="6226115" y="2344714"/>
                <a:ext cx="1909753" cy="522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 </a:t>
                </a:r>
                <a:r>
                  <a:rPr lang="en-US" sz="1600" dirty="0">
                    <a:latin typeface="Candara" panose="020E0502030303020204" charset="0"/>
                    <a:sym typeface="+mn-ea"/>
                  </a:rPr>
                  <a:t>15</a:t>
                </a:r>
                <a:r>
                  <a:rPr lang="en-US" sz="1600" dirty="0">
                    <a:latin typeface="Candara" panose="020E0502030303020204" charset="0"/>
                  </a:rPr>
                  <a:t>          24          25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33" name="Straight Connector 32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/>
            <p:cNvGrpSpPr/>
            <p:nvPr/>
          </p:nvGrpSpPr>
          <p:grpSpPr>
            <a:xfrm>
              <a:off x="6536" y="2744"/>
              <a:ext cx="3027" cy="1465"/>
              <a:chOff x="6226115" y="2006160"/>
              <a:chExt cx="1922172" cy="930459"/>
            </a:xfrm>
          </p:grpSpPr>
          <p:sp>
            <p:nvSpPr>
              <p:cNvPr id="37" name="Rectangle 89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50" name="TextBox 90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51" name="TextBox 91"/>
              <p:cNvSpPr txBox="1"/>
              <p:nvPr/>
            </p:nvSpPr>
            <p:spPr>
              <a:xfrm>
                <a:off x="6226115" y="2344714"/>
                <a:ext cx="1909753" cy="522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</a:t>
                </a:r>
                <a:r>
                  <a:rPr lang="en-US" sz="1600" dirty="0">
                    <a:latin typeface="Candara" panose="020E0502030303020204" charset="0"/>
                  </a:rPr>
                  <a:t>19            9           8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52" name="Straight Connector 51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TextBox 123"/>
            <p:cNvSpPr txBox="1"/>
            <p:nvPr/>
          </p:nvSpPr>
          <p:spPr>
            <a:xfrm>
              <a:off x="6986" y="1049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100 samples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 Box 53"/>
                <p:cNvSpPr txBox="1"/>
                <p:nvPr/>
              </p:nvSpPr>
              <p:spPr>
                <a:xfrm>
                  <a:off x="3336" y="4672"/>
                  <a:ext cx="4928" cy="5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𝐽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358EF2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𝑤𝑒𝑖𝑔h𝑡</m:t>
                        </m:r>
                        <m:r>
                          <a:rPr lang="en-US" i="1">
                            <a:solidFill>
                              <a:srgbClr val="358EF2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,94.5)=0.636</m:t>
                        </m:r>
                      </m:oMath>
                    </m:oMathPara>
                  </a14:m>
                  <a:endPara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54" name="Text 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" y="4672"/>
                  <a:ext cx="4928" cy="58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/>
          <p:cNvGrpSpPr/>
          <p:nvPr/>
        </p:nvGrpSpPr>
        <p:grpSpPr>
          <a:xfrm>
            <a:off x="330200" y="3860800"/>
            <a:ext cx="4780280" cy="2832100"/>
            <a:chOff x="2035" y="792"/>
            <a:chExt cx="7528" cy="4460"/>
          </a:xfrm>
        </p:grpSpPr>
        <p:sp>
          <p:nvSpPr>
            <p:cNvPr id="56" name="Rounded Rectangle 55"/>
            <p:cNvSpPr/>
            <p:nvPr/>
          </p:nvSpPr>
          <p:spPr>
            <a:xfrm flipH="1">
              <a:off x="4707" y="79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57" name="Straight Connector 56"/>
            <p:cNvCxnSpPr>
              <a:stCxn id="56" idx="2"/>
              <a:endCxn id="63" idx="0"/>
            </p:cNvCxnSpPr>
            <p:nvPr/>
          </p:nvCxnSpPr>
          <p:spPr>
            <a:xfrm flipH="1">
              <a:off x="3542" y="1787"/>
              <a:ext cx="2257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56" idx="2"/>
              <a:endCxn id="68" idx="0"/>
            </p:cNvCxnSpPr>
            <p:nvPr/>
          </p:nvCxnSpPr>
          <p:spPr>
            <a:xfrm>
              <a:off x="5799" y="1787"/>
              <a:ext cx="2244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Box 7"/>
            <p:cNvSpPr txBox="1"/>
            <p:nvPr/>
          </p:nvSpPr>
          <p:spPr>
            <a:xfrm rot="20168799">
              <a:off x="3731" y="2037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60" name="Text Box 7"/>
            <p:cNvSpPr txBox="1"/>
            <p:nvPr/>
          </p:nvSpPr>
          <p:spPr>
            <a:xfrm rot="1362789">
              <a:off x="7033" y="2091"/>
              <a:ext cx="960" cy="436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2035" y="2744"/>
              <a:ext cx="3027" cy="1465"/>
              <a:chOff x="6226115" y="2006160"/>
              <a:chExt cx="1922172" cy="930459"/>
            </a:xfrm>
          </p:grpSpPr>
          <p:sp>
            <p:nvSpPr>
              <p:cNvPr id="62" name="Rectangle 80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63" name="TextBox 86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64" name="TextBox 87"/>
              <p:cNvSpPr txBox="1"/>
              <p:nvPr/>
            </p:nvSpPr>
            <p:spPr>
              <a:xfrm>
                <a:off x="6226115" y="2344714"/>
                <a:ext cx="1909753" cy="522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 </a:t>
                </a:r>
                <a:r>
                  <a:rPr lang="en-US" sz="1600" dirty="0">
                    <a:latin typeface="Candara" panose="020E0502030303020204" charset="0"/>
                    <a:sym typeface="+mn-ea"/>
                  </a:rPr>
                  <a:t>19</a:t>
                </a:r>
                <a:r>
                  <a:rPr lang="en-US" sz="1600" dirty="0">
                    <a:latin typeface="Candara" panose="020E0502030303020204" charset="0"/>
                  </a:rPr>
                  <a:t>           8           8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65" name="Straight Connector 64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/>
            <p:cNvGrpSpPr/>
            <p:nvPr/>
          </p:nvGrpSpPr>
          <p:grpSpPr>
            <a:xfrm>
              <a:off x="6536" y="2744"/>
              <a:ext cx="3027" cy="1465"/>
              <a:chOff x="6226115" y="2006160"/>
              <a:chExt cx="1922172" cy="930459"/>
            </a:xfrm>
          </p:grpSpPr>
          <p:sp>
            <p:nvSpPr>
              <p:cNvPr id="67" name="Rectangle 89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68" name="TextBox 90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69" name="TextBox 91"/>
              <p:cNvSpPr txBox="1"/>
              <p:nvPr/>
            </p:nvSpPr>
            <p:spPr>
              <a:xfrm>
                <a:off x="6226115" y="2344714"/>
                <a:ext cx="1909753" cy="522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</a:t>
                </a:r>
                <a:r>
                  <a:rPr lang="en-US" sz="1600" dirty="0">
                    <a:latin typeface="Candara" panose="020E0502030303020204" charset="0"/>
                  </a:rPr>
                  <a:t>25           25         15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70" name="Straight Connector 69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123"/>
            <p:cNvSpPr txBox="1"/>
            <p:nvPr/>
          </p:nvSpPr>
          <p:spPr>
            <a:xfrm>
              <a:off x="6986" y="1049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100 samples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 Box 71"/>
                <p:cNvSpPr txBox="1"/>
                <p:nvPr/>
              </p:nvSpPr>
              <p:spPr>
                <a:xfrm>
                  <a:off x="3768" y="4672"/>
                  <a:ext cx="4097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𝐽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358EF2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𝑤𝑜𝑟𝑘𝑜𝑢𝑡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)=0.633</m:t>
                        </m:r>
                      </m:oMath>
                    </m:oMathPara>
                  </a14:m>
                  <a:endPara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72" name="Text 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8" y="4672"/>
                  <a:ext cx="4097" cy="58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7" name="TextBox 123"/>
          <p:cNvSpPr txBox="1"/>
          <p:nvPr/>
        </p:nvSpPr>
        <p:spPr>
          <a:xfrm rot="21240000">
            <a:off x="7588250" y="4155440"/>
            <a:ext cx="32524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ndara" panose="020E0502030303020204" charset="0"/>
              </a:rPr>
              <a:t>Finally, we compare </a:t>
            </a:r>
            <a:r>
              <a:rPr lang="en-US" sz="2000" b="1" dirty="0">
                <a:solidFill>
                  <a:schemeClr val="tx1"/>
                </a:solidFill>
                <a:latin typeface="Candara" panose="020E0502030303020204" charset="0"/>
              </a:rPr>
              <a:t>all</a:t>
            </a:r>
            <a:r>
              <a:rPr lang="en-US" sz="2000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Gini Impurities</a:t>
            </a:r>
            <a:r>
              <a:rPr lang="en-US" sz="2000" dirty="0">
                <a:solidFill>
                  <a:srgbClr val="595959"/>
                </a:solidFill>
                <a:latin typeface="Candara" panose="020E0502030303020204" charset="0"/>
              </a:rPr>
              <a:t> and choose rule </a:t>
            </a:r>
            <a:r>
              <a:rPr lang="en-US" sz="2000" b="1" dirty="0">
                <a:solidFill>
                  <a:schemeClr val="tx1"/>
                </a:solidFill>
                <a:latin typeface="Candara" panose="020E0502030303020204" charset="0"/>
              </a:rPr>
              <a:t>(</a:t>
            </a:r>
            <a:r>
              <a:rPr lang="en-US" sz="2000" b="1" dirty="0">
                <a:solidFill>
                  <a:srgbClr val="358EF2"/>
                </a:solidFill>
                <a:latin typeface="Candara" panose="020E0502030303020204" charset="0"/>
              </a:rPr>
              <a:t>feature </a:t>
            </a:r>
            <a:r>
              <a:rPr lang="en-US" sz="2000" b="1" dirty="0">
                <a:solidFill>
                  <a:schemeClr val="tx1"/>
                </a:solidFill>
                <a:latin typeface="Candara" panose="020E0502030303020204" charset="0"/>
              </a:rPr>
              <a:t>+ threshold)</a:t>
            </a:r>
            <a:r>
              <a:rPr lang="en-US" sz="2000" dirty="0">
                <a:solidFill>
                  <a:srgbClr val="595959"/>
                </a:solidFill>
                <a:latin typeface="Candara" panose="020E0502030303020204" charset="0"/>
              </a:rPr>
              <a:t> the </a:t>
            </a:r>
            <a:r>
              <a:rPr lang="en-US" sz="2000" b="1" dirty="0">
                <a:solidFill>
                  <a:schemeClr val="tx1"/>
                </a:solidFill>
                <a:latin typeface="Candara" panose="020E0502030303020204" charset="0"/>
              </a:rPr>
              <a:t>lowest one.</a:t>
            </a:r>
            <a:endParaRPr lang="en-US" sz="2000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93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" name="Group 10"/>
          <p:cNvGrpSpPr/>
          <p:nvPr/>
        </p:nvGrpSpPr>
        <p:grpSpPr>
          <a:xfrm>
            <a:off x="330200" y="368300"/>
            <a:ext cx="4779645" cy="2832100"/>
            <a:chOff x="2035" y="792"/>
            <a:chExt cx="7527" cy="4460"/>
          </a:xfrm>
        </p:grpSpPr>
        <p:sp>
          <p:nvSpPr>
            <p:cNvPr id="80" name="Rounded Rectangle 79"/>
            <p:cNvSpPr/>
            <p:nvPr/>
          </p:nvSpPr>
          <p:spPr>
            <a:xfrm flipH="1">
              <a:off x="4707" y="79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cxnSp>
          <p:nvCxnSpPr>
            <p:cNvPr id="83" name="Straight Connector 82"/>
            <p:cNvCxnSpPr>
              <a:stCxn id="80" idx="2"/>
              <a:endCxn id="87" idx="0"/>
            </p:cNvCxnSpPr>
            <p:nvPr/>
          </p:nvCxnSpPr>
          <p:spPr>
            <a:xfrm flipH="1">
              <a:off x="3542" y="1787"/>
              <a:ext cx="2257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80" idx="2"/>
              <a:endCxn id="91" idx="0"/>
            </p:cNvCxnSpPr>
            <p:nvPr/>
          </p:nvCxnSpPr>
          <p:spPr>
            <a:xfrm>
              <a:off x="5799" y="1787"/>
              <a:ext cx="2244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 Box 7"/>
            <p:cNvSpPr txBox="1"/>
            <p:nvPr/>
          </p:nvSpPr>
          <p:spPr>
            <a:xfrm rot="20168799">
              <a:off x="3731" y="2037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86" name="Text Box 7"/>
            <p:cNvSpPr txBox="1"/>
            <p:nvPr/>
          </p:nvSpPr>
          <p:spPr>
            <a:xfrm rot="1362789">
              <a:off x="7033" y="2091"/>
              <a:ext cx="960" cy="436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035" y="2744"/>
              <a:ext cx="3027" cy="1465"/>
              <a:chOff x="6226115" y="2006160"/>
              <a:chExt cx="1922172" cy="93045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6226115" y="2344714"/>
                <a:ext cx="1909753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  </a:t>
                </a:r>
                <a:r>
                  <a:rPr lang="en-US" sz="1600" dirty="0">
                    <a:latin typeface="Candara" panose="020E0502030303020204" charset="0"/>
                    <a:sym typeface="+mn-ea"/>
                  </a:rPr>
                  <a:t>6</a:t>
                </a:r>
                <a:r>
                  <a:rPr lang="en-US" sz="1600" dirty="0">
                    <a:latin typeface="Candara" panose="020E0502030303020204" charset="0"/>
                  </a:rPr>
                  <a:t>           15          24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13" name="Straight Connector 12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/>
            <p:cNvGrpSpPr/>
            <p:nvPr/>
          </p:nvGrpSpPr>
          <p:grpSpPr>
            <a:xfrm>
              <a:off x="6536" y="2744"/>
              <a:ext cx="3027" cy="1465"/>
              <a:chOff x="6226115" y="2006160"/>
              <a:chExt cx="1922172" cy="930459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6226115" y="2344714"/>
                <a:ext cx="1909753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</a:t>
                </a:r>
                <a:r>
                  <a:rPr lang="en-US" sz="1600" dirty="0">
                    <a:latin typeface="Candara" panose="020E0502030303020204" charset="0"/>
                  </a:rPr>
                  <a:t>28           18          9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93" name="Straight Connector 92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23"/>
            <p:cNvSpPr txBox="1"/>
            <p:nvPr/>
          </p:nvSpPr>
          <p:spPr>
            <a:xfrm>
              <a:off x="6986" y="1049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100 samples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6"/>
                <p:cNvSpPr txBox="1"/>
                <p:nvPr/>
              </p:nvSpPr>
              <p:spPr>
                <a:xfrm>
                  <a:off x="3957" y="4672"/>
                  <a:ext cx="3685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𝐽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358EF2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𝑠𝑚𝑜𝑘𝑒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)=0.598</m:t>
                        </m:r>
                      </m:oMath>
                    </m:oMathPara>
                  </a14:m>
                  <a:endPara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7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7" y="4672"/>
                  <a:ext cx="3685" cy="58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TextBox 123"/>
          <p:cNvSpPr txBox="1"/>
          <p:nvPr/>
        </p:nvSpPr>
        <p:spPr>
          <a:xfrm rot="21180000">
            <a:off x="12838430" y="2769870"/>
            <a:ext cx="28289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Now, let's compute the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  <a:sym typeface="+mn-ea"/>
              </a:rPr>
              <a:t>Total Gini Impurity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for the feature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Workout.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965315" y="368300"/>
            <a:ext cx="4780280" cy="2827020"/>
            <a:chOff x="2035" y="792"/>
            <a:chExt cx="7528" cy="4452"/>
          </a:xfrm>
        </p:grpSpPr>
        <p:sp>
          <p:nvSpPr>
            <p:cNvPr id="14" name="Rounded Rectangle 13"/>
            <p:cNvSpPr/>
            <p:nvPr/>
          </p:nvSpPr>
          <p:spPr>
            <a:xfrm flipH="1">
              <a:off x="4707" y="79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94.5</a:t>
              </a:r>
              <a:endParaRPr lang="en-US" b="1" dirty="0">
                <a:latin typeface="Candara" panose="020E0502030303020204" charset="0"/>
                <a:cs typeface="Candara" panose="020E0502030303020204" charset="0"/>
              </a:endParaRPr>
            </a:p>
          </p:txBody>
        </p:sp>
        <p:cxnSp>
          <p:nvCxnSpPr>
            <p:cNvPr id="15" name="Straight Connector 14"/>
            <p:cNvCxnSpPr>
              <a:stCxn id="14" idx="2"/>
              <a:endCxn id="22" idx="0"/>
            </p:cNvCxnSpPr>
            <p:nvPr/>
          </p:nvCxnSpPr>
          <p:spPr>
            <a:xfrm flipH="1">
              <a:off x="3542" y="1787"/>
              <a:ext cx="2257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4" idx="2"/>
              <a:endCxn id="50" idx="0"/>
            </p:cNvCxnSpPr>
            <p:nvPr/>
          </p:nvCxnSpPr>
          <p:spPr>
            <a:xfrm>
              <a:off x="5799" y="1787"/>
              <a:ext cx="2244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7"/>
            <p:cNvSpPr txBox="1"/>
            <p:nvPr/>
          </p:nvSpPr>
          <p:spPr>
            <a:xfrm rot="20168799">
              <a:off x="3731" y="2037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9" name="Text Box 7"/>
            <p:cNvSpPr txBox="1"/>
            <p:nvPr/>
          </p:nvSpPr>
          <p:spPr>
            <a:xfrm rot="1362789">
              <a:off x="7033" y="2091"/>
              <a:ext cx="960" cy="436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035" y="2744"/>
              <a:ext cx="3027" cy="1465"/>
              <a:chOff x="6226115" y="2006160"/>
              <a:chExt cx="1922172" cy="930459"/>
            </a:xfrm>
          </p:grpSpPr>
          <p:sp>
            <p:nvSpPr>
              <p:cNvPr id="21" name="Rectangle 80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22" name="TextBox 86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24" name="TextBox 87"/>
              <p:cNvSpPr txBox="1"/>
              <p:nvPr/>
            </p:nvSpPr>
            <p:spPr>
              <a:xfrm>
                <a:off x="6226115" y="2344714"/>
                <a:ext cx="1909753" cy="522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 </a:t>
                </a:r>
                <a:r>
                  <a:rPr lang="en-US" sz="1600" dirty="0">
                    <a:latin typeface="Candara" panose="020E0502030303020204" charset="0"/>
                    <a:sym typeface="+mn-ea"/>
                  </a:rPr>
                  <a:t>15</a:t>
                </a:r>
                <a:r>
                  <a:rPr lang="en-US" sz="1600" dirty="0">
                    <a:latin typeface="Candara" panose="020E0502030303020204" charset="0"/>
                  </a:rPr>
                  <a:t>          24          25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33" name="Straight Connector 32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/>
            <p:cNvGrpSpPr/>
            <p:nvPr/>
          </p:nvGrpSpPr>
          <p:grpSpPr>
            <a:xfrm>
              <a:off x="6536" y="2744"/>
              <a:ext cx="3027" cy="1465"/>
              <a:chOff x="6226115" y="2006160"/>
              <a:chExt cx="1922172" cy="930459"/>
            </a:xfrm>
          </p:grpSpPr>
          <p:sp>
            <p:nvSpPr>
              <p:cNvPr id="37" name="Rectangle 89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50" name="TextBox 90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51" name="TextBox 91"/>
              <p:cNvSpPr txBox="1"/>
              <p:nvPr/>
            </p:nvSpPr>
            <p:spPr>
              <a:xfrm>
                <a:off x="6226115" y="2344714"/>
                <a:ext cx="1909753" cy="522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</a:t>
                </a:r>
                <a:r>
                  <a:rPr lang="en-US" sz="1600" dirty="0">
                    <a:latin typeface="Candara" panose="020E0502030303020204" charset="0"/>
                  </a:rPr>
                  <a:t>19            9           8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52" name="Straight Connector 51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TextBox 123"/>
            <p:cNvSpPr txBox="1"/>
            <p:nvPr/>
          </p:nvSpPr>
          <p:spPr>
            <a:xfrm>
              <a:off x="6986" y="1049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100 samples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 Box 53"/>
                <p:cNvSpPr txBox="1"/>
                <p:nvPr/>
              </p:nvSpPr>
              <p:spPr>
                <a:xfrm>
                  <a:off x="3336" y="4672"/>
                  <a:ext cx="4109" cy="57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𝐽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358EF2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𝑤𝑒𝑖𝑔h𝑡</m:t>
                        </m:r>
                        <m:r>
                          <a:rPr lang="en-US" i="1">
                            <a:solidFill>
                              <a:srgbClr val="358EF2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,94.5)=0.636</m:t>
                        </m:r>
                      </m:oMath>
                    </m:oMathPara>
                  </a14:m>
                  <a:endParaRPr lang="en-US" baseline="30000" dirty="0">
                    <a:solidFill>
                      <a:schemeClr val="tx1"/>
                    </a:solidFill>
                    <a:latin typeface="Candara" panose="020E0502030303020204" charset="0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54" name="Text 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" y="4672"/>
                  <a:ext cx="4109" cy="572"/>
                </a:xfrm>
                <a:prstGeom prst="rect">
                  <a:avLst/>
                </a:prstGeom>
                <a:blipFill>
                  <a:blip r:embed="rId3"/>
                  <a:stretch>
                    <a:fillRect l="-485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/>
          <p:cNvGrpSpPr/>
          <p:nvPr/>
        </p:nvGrpSpPr>
        <p:grpSpPr>
          <a:xfrm>
            <a:off x="330200" y="3860800"/>
            <a:ext cx="4780280" cy="2832100"/>
            <a:chOff x="2035" y="792"/>
            <a:chExt cx="7528" cy="4460"/>
          </a:xfrm>
        </p:grpSpPr>
        <p:sp>
          <p:nvSpPr>
            <p:cNvPr id="56" name="Rounded Rectangle 55"/>
            <p:cNvSpPr/>
            <p:nvPr/>
          </p:nvSpPr>
          <p:spPr>
            <a:xfrm flipH="1">
              <a:off x="4707" y="79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57" name="Straight Connector 56"/>
            <p:cNvCxnSpPr>
              <a:stCxn id="56" idx="2"/>
              <a:endCxn id="63" idx="0"/>
            </p:cNvCxnSpPr>
            <p:nvPr/>
          </p:nvCxnSpPr>
          <p:spPr>
            <a:xfrm flipH="1">
              <a:off x="3542" y="1787"/>
              <a:ext cx="2257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56" idx="2"/>
              <a:endCxn id="68" idx="0"/>
            </p:cNvCxnSpPr>
            <p:nvPr/>
          </p:nvCxnSpPr>
          <p:spPr>
            <a:xfrm>
              <a:off x="5799" y="1787"/>
              <a:ext cx="2244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Box 7"/>
            <p:cNvSpPr txBox="1"/>
            <p:nvPr/>
          </p:nvSpPr>
          <p:spPr>
            <a:xfrm rot="20168799">
              <a:off x="3731" y="2037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60" name="Text Box 7"/>
            <p:cNvSpPr txBox="1"/>
            <p:nvPr/>
          </p:nvSpPr>
          <p:spPr>
            <a:xfrm rot="1362789">
              <a:off x="7033" y="2091"/>
              <a:ext cx="960" cy="436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2035" y="2744"/>
              <a:ext cx="3027" cy="1465"/>
              <a:chOff x="6226115" y="2006160"/>
              <a:chExt cx="1922172" cy="930459"/>
            </a:xfrm>
          </p:grpSpPr>
          <p:sp>
            <p:nvSpPr>
              <p:cNvPr id="62" name="Rectangle 80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63" name="TextBox 86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64" name="TextBox 87"/>
              <p:cNvSpPr txBox="1"/>
              <p:nvPr/>
            </p:nvSpPr>
            <p:spPr>
              <a:xfrm>
                <a:off x="6226115" y="2344714"/>
                <a:ext cx="1909753" cy="522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 </a:t>
                </a:r>
                <a:r>
                  <a:rPr lang="en-US" sz="1600" dirty="0">
                    <a:latin typeface="Candara" panose="020E0502030303020204" charset="0"/>
                    <a:sym typeface="+mn-ea"/>
                  </a:rPr>
                  <a:t>19</a:t>
                </a:r>
                <a:r>
                  <a:rPr lang="en-US" sz="1600" dirty="0">
                    <a:latin typeface="Candara" panose="020E0502030303020204" charset="0"/>
                  </a:rPr>
                  <a:t>           8           8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65" name="Straight Connector 64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/>
            <p:cNvGrpSpPr/>
            <p:nvPr/>
          </p:nvGrpSpPr>
          <p:grpSpPr>
            <a:xfrm>
              <a:off x="6536" y="2744"/>
              <a:ext cx="3027" cy="1465"/>
              <a:chOff x="6226115" y="2006160"/>
              <a:chExt cx="1922172" cy="930459"/>
            </a:xfrm>
          </p:grpSpPr>
          <p:sp>
            <p:nvSpPr>
              <p:cNvPr id="67" name="Rectangle 89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68" name="TextBox 90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69" name="TextBox 91"/>
              <p:cNvSpPr txBox="1"/>
              <p:nvPr/>
            </p:nvSpPr>
            <p:spPr>
              <a:xfrm>
                <a:off x="6226115" y="2344714"/>
                <a:ext cx="1909753" cy="522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</a:t>
                </a:r>
                <a:r>
                  <a:rPr lang="en-US" sz="1600" dirty="0">
                    <a:latin typeface="Candara" panose="020E0502030303020204" charset="0"/>
                  </a:rPr>
                  <a:t>25           25         15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70" name="Straight Connector 69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123"/>
            <p:cNvSpPr txBox="1"/>
            <p:nvPr/>
          </p:nvSpPr>
          <p:spPr>
            <a:xfrm>
              <a:off x="6986" y="1049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100 samples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 Box 71"/>
                <p:cNvSpPr txBox="1"/>
                <p:nvPr/>
              </p:nvSpPr>
              <p:spPr>
                <a:xfrm>
                  <a:off x="3768" y="4672"/>
                  <a:ext cx="4097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𝐽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358EF2"/>
                            </a:solidFill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𝑤𝑜𝑟𝑘𝑜𝑢𝑡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)=0.633</m:t>
                        </m:r>
                      </m:oMath>
                    </m:oMathPara>
                  </a14:m>
                  <a:endParaRPr lang="en-US" baseline="30000" dirty="0">
                    <a:solidFill>
                      <a:srgbClr val="595959"/>
                    </a:solidFill>
                    <a:latin typeface="Candara" panose="020E0502030303020204" charset="0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72" name="Text 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8" y="4672"/>
                  <a:ext cx="4097" cy="58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7" name="TextBox 123"/>
          <p:cNvSpPr txBox="1"/>
          <p:nvPr/>
        </p:nvSpPr>
        <p:spPr>
          <a:xfrm rot="21240000">
            <a:off x="7588250" y="4155440"/>
            <a:ext cx="32524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  <a:latin typeface="Candara" panose="020E0502030303020204" charset="0"/>
              </a:rPr>
              <a:t>Finally, we compare </a:t>
            </a:r>
            <a:r>
              <a:rPr lang="en-US" sz="2000" b="1" dirty="0">
                <a:solidFill>
                  <a:schemeClr val="tx1"/>
                </a:solidFill>
                <a:latin typeface="Candara" panose="020E0502030303020204" charset="0"/>
              </a:rPr>
              <a:t>all</a:t>
            </a:r>
            <a:r>
              <a:rPr lang="en-US" sz="2000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2000" b="1" dirty="0">
                <a:solidFill>
                  <a:srgbClr val="FF564F"/>
                </a:solidFill>
                <a:latin typeface="Candara" panose="020E0502030303020204" charset="0"/>
              </a:rPr>
              <a:t>Gini Impurities</a:t>
            </a:r>
            <a:r>
              <a:rPr lang="en-US" sz="2000" dirty="0">
                <a:solidFill>
                  <a:srgbClr val="595959"/>
                </a:solidFill>
                <a:latin typeface="Candara" panose="020E0502030303020204" charset="0"/>
              </a:rPr>
              <a:t> and choose rule </a:t>
            </a:r>
            <a:r>
              <a:rPr lang="en-US" sz="2000" b="1" dirty="0">
                <a:solidFill>
                  <a:schemeClr val="tx1"/>
                </a:solidFill>
                <a:latin typeface="Candara" panose="020E0502030303020204" charset="0"/>
              </a:rPr>
              <a:t>(</a:t>
            </a:r>
            <a:r>
              <a:rPr lang="en-US" sz="2000" b="1" dirty="0">
                <a:solidFill>
                  <a:srgbClr val="358EF2"/>
                </a:solidFill>
                <a:latin typeface="Candara" panose="020E0502030303020204" charset="0"/>
              </a:rPr>
              <a:t>feature </a:t>
            </a:r>
            <a:r>
              <a:rPr lang="en-US" sz="2000" b="1" dirty="0">
                <a:solidFill>
                  <a:schemeClr val="tx1"/>
                </a:solidFill>
                <a:latin typeface="Candara" panose="020E0502030303020204" charset="0"/>
              </a:rPr>
              <a:t>+ threshold)</a:t>
            </a:r>
            <a:r>
              <a:rPr lang="en-US" sz="2000" dirty="0">
                <a:solidFill>
                  <a:srgbClr val="595959"/>
                </a:solidFill>
                <a:latin typeface="Candara" panose="020E0502030303020204" charset="0"/>
              </a:rPr>
              <a:t> the </a:t>
            </a:r>
            <a:r>
              <a:rPr lang="en-US" sz="2000" b="1" dirty="0">
                <a:solidFill>
                  <a:schemeClr val="tx1"/>
                </a:solidFill>
                <a:latin typeface="Candara" panose="020E0502030303020204" charset="0"/>
              </a:rPr>
              <a:t>lowest one.</a:t>
            </a:r>
            <a:endParaRPr lang="en-US" sz="2000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1550670" y="2687955"/>
            <a:ext cx="2339975" cy="659130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94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Group 2"/>
          <p:cNvGrpSpPr/>
          <p:nvPr/>
        </p:nvGrpSpPr>
        <p:grpSpPr>
          <a:xfrm>
            <a:off x="7156726" y="145905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?</a:t>
              </a:r>
              <a:endParaRPr lang="en-US" sz="1050" b="1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61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4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76" name="TextBox 123"/>
          <p:cNvSpPr txBox="1"/>
          <p:nvPr/>
        </p:nvSpPr>
        <p:spPr>
          <a:xfrm>
            <a:off x="7304432" y="616124"/>
            <a:ext cx="3502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Which </a:t>
            </a:r>
            <a:r>
              <a:rPr lang="en-US" sz="1600" b="1" dirty="0">
                <a:solidFill>
                  <a:srgbClr val="376C8A"/>
                </a:solidFill>
                <a:latin typeface="Candara" panose="020E0502030303020204" charset="0"/>
              </a:rPr>
              <a:t>feature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should be at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root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 flipH="1">
            <a:off x="8892735" y="954678"/>
            <a:ext cx="211084" cy="407778"/>
          </a:xfrm>
          <a:prstGeom prst="straightConnector1">
            <a:avLst/>
          </a:prstGeom>
          <a:ln w="28575">
            <a:solidFill>
              <a:srgbClr val="FF56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95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4975860" y="535940"/>
            <a:ext cx="7209155" cy="2169160"/>
            <a:chOff x="7845" y="1242"/>
            <a:chExt cx="11353" cy="3416"/>
          </a:xfrm>
        </p:grpSpPr>
        <p:sp>
          <p:nvSpPr>
            <p:cNvPr id="6" name="Rounded Rectangle 5"/>
            <p:cNvSpPr/>
            <p:nvPr/>
          </p:nvSpPr>
          <p:spPr>
            <a:xfrm flipH="1">
              <a:off x="12477" y="124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cxnSp>
          <p:nvCxnSpPr>
            <p:cNvPr id="7" name="Straight Connector 6"/>
            <p:cNvCxnSpPr>
              <a:stCxn id="6" idx="2"/>
              <a:endCxn id="14" idx="0"/>
            </p:cNvCxnSpPr>
            <p:nvPr/>
          </p:nvCxnSpPr>
          <p:spPr>
            <a:xfrm flipH="1">
              <a:off x="11312" y="2237"/>
              <a:ext cx="2257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6" idx="2"/>
              <a:endCxn id="20" idx="0"/>
            </p:cNvCxnSpPr>
            <p:nvPr/>
          </p:nvCxnSpPr>
          <p:spPr>
            <a:xfrm>
              <a:off x="13569" y="2237"/>
              <a:ext cx="2244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 Box 7"/>
            <p:cNvSpPr txBox="1"/>
            <p:nvPr/>
          </p:nvSpPr>
          <p:spPr>
            <a:xfrm rot="20168799">
              <a:off x="11501" y="2487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0" name="Text Box 7"/>
            <p:cNvSpPr txBox="1"/>
            <p:nvPr/>
          </p:nvSpPr>
          <p:spPr>
            <a:xfrm rot="1362789">
              <a:off x="14803" y="2541"/>
              <a:ext cx="960" cy="436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9805" y="3194"/>
              <a:ext cx="3027" cy="1465"/>
              <a:chOff x="6226115" y="2006160"/>
              <a:chExt cx="1922172" cy="930459"/>
            </a:xfrm>
          </p:grpSpPr>
          <p:sp>
            <p:nvSpPr>
              <p:cNvPr id="12" name="Rectangle 80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14" name="TextBox 86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15" name="TextBox 87"/>
              <p:cNvSpPr txBox="1"/>
              <p:nvPr/>
            </p:nvSpPr>
            <p:spPr>
              <a:xfrm>
                <a:off x="6226115" y="2344714"/>
                <a:ext cx="1909753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  </a:t>
                </a:r>
                <a:r>
                  <a:rPr lang="en-US" sz="1600" dirty="0">
                    <a:latin typeface="Candara" panose="020E0502030303020204" charset="0"/>
                    <a:sym typeface="+mn-ea"/>
                  </a:rPr>
                  <a:t>6</a:t>
                </a:r>
                <a:r>
                  <a:rPr lang="en-US" sz="1600" dirty="0">
                    <a:latin typeface="Candara" panose="020E0502030303020204" charset="0"/>
                  </a:rPr>
                  <a:t>           15          24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14306" y="3194"/>
              <a:ext cx="3027" cy="1465"/>
              <a:chOff x="6226115" y="2006160"/>
              <a:chExt cx="1922172" cy="930459"/>
            </a:xfrm>
          </p:grpSpPr>
          <p:sp>
            <p:nvSpPr>
              <p:cNvPr id="19" name="Rectangle 89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20" name="TextBox 90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21" name="TextBox 91"/>
              <p:cNvSpPr txBox="1"/>
              <p:nvPr/>
            </p:nvSpPr>
            <p:spPr>
              <a:xfrm>
                <a:off x="6226115" y="2344714"/>
                <a:ext cx="1909753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</a:t>
                </a:r>
                <a:r>
                  <a:rPr lang="en-US" sz="1600" dirty="0">
                    <a:latin typeface="Candara" panose="020E0502030303020204" charset="0"/>
                  </a:rPr>
                  <a:t>28           18          9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123"/>
            <p:cNvSpPr txBox="1"/>
            <p:nvPr/>
          </p:nvSpPr>
          <p:spPr>
            <a:xfrm>
              <a:off x="14756" y="1499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100 samples</a:t>
              </a:r>
            </a:p>
          </p:txBody>
        </p:sp>
        <p:sp>
          <p:nvSpPr>
            <p:cNvPr id="24" name="TextBox 123"/>
            <p:cNvSpPr txBox="1"/>
            <p:nvPr/>
          </p:nvSpPr>
          <p:spPr>
            <a:xfrm>
              <a:off x="7845" y="3423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45 samples</a:t>
              </a:r>
            </a:p>
          </p:txBody>
        </p:sp>
        <p:sp>
          <p:nvSpPr>
            <p:cNvPr id="25" name="TextBox 123"/>
            <p:cNvSpPr txBox="1"/>
            <p:nvPr/>
          </p:nvSpPr>
          <p:spPr>
            <a:xfrm>
              <a:off x="17238" y="3423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55 samples</a:t>
              </a: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96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4975860" y="535940"/>
            <a:ext cx="7209155" cy="2169160"/>
            <a:chOff x="7845" y="1242"/>
            <a:chExt cx="11353" cy="3416"/>
          </a:xfrm>
        </p:grpSpPr>
        <p:sp>
          <p:nvSpPr>
            <p:cNvPr id="6" name="Rounded Rectangle 5"/>
            <p:cNvSpPr/>
            <p:nvPr/>
          </p:nvSpPr>
          <p:spPr>
            <a:xfrm flipH="1">
              <a:off x="12477" y="124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cxnSp>
          <p:nvCxnSpPr>
            <p:cNvPr id="7" name="Straight Connector 6"/>
            <p:cNvCxnSpPr>
              <a:stCxn id="6" idx="2"/>
              <a:endCxn id="14" idx="0"/>
            </p:cNvCxnSpPr>
            <p:nvPr/>
          </p:nvCxnSpPr>
          <p:spPr>
            <a:xfrm flipH="1">
              <a:off x="11312" y="2237"/>
              <a:ext cx="2257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6" idx="2"/>
              <a:endCxn id="20" idx="0"/>
            </p:cNvCxnSpPr>
            <p:nvPr/>
          </p:nvCxnSpPr>
          <p:spPr>
            <a:xfrm>
              <a:off x="13569" y="2237"/>
              <a:ext cx="2244" cy="9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 Box 7"/>
            <p:cNvSpPr txBox="1"/>
            <p:nvPr/>
          </p:nvSpPr>
          <p:spPr>
            <a:xfrm rot="20168799">
              <a:off x="11501" y="2487"/>
              <a:ext cx="890" cy="43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0" name="Text Box 7"/>
            <p:cNvSpPr txBox="1"/>
            <p:nvPr/>
          </p:nvSpPr>
          <p:spPr>
            <a:xfrm rot="1362789">
              <a:off x="14803" y="2541"/>
              <a:ext cx="960" cy="436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12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9805" y="3194"/>
              <a:ext cx="3027" cy="1465"/>
              <a:chOff x="6226115" y="2006160"/>
              <a:chExt cx="1922172" cy="930459"/>
            </a:xfrm>
          </p:grpSpPr>
          <p:sp>
            <p:nvSpPr>
              <p:cNvPr id="12" name="Rectangle 80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14" name="TextBox 86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15" name="TextBox 87"/>
              <p:cNvSpPr txBox="1"/>
              <p:nvPr/>
            </p:nvSpPr>
            <p:spPr>
              <a:xfrm>
                <a:off x="6226115" y="2344714"/>
                <a:ext cx="1909753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  </a:t>
                </a:r>
                <a:r>
                  <a:rPr lang="en-US" sz="1600" dirty="0">
                    <a:latin typeface="Candara" panose="020E0502030303020204" charset="0"/>
                    <a:sym typeface="+mn-ea"/>
                  </a:rPr>
                  <a:t>6</a:t>
                </a:r>
                <a:r>
                  <a:rPr lang="en-US" sz="1600" dirty="0">
                    <a:latin typeface="Candara" panose="020E0502030303020204" charset="0"/>
                  </a:rPr>
                  <a:t>           15          24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14306" y="3194"/>
              <a:ext cx="3027" cy="1465"/>
              <a:chOff x="6226115" y="2006160"/>
              <a:chExt cx="1922172" cy="930459"/>
            </a:xfrm>
          </p:grpSpPr>
          <p:sp>
            <p:nvSpPr>
              <p:cNvPr id="19" name="Rectangle 89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20" name="TextBox 90"/>
              <p:cNvSpPr txBox="1"/>
              <p:nvPr/>
            </p:nvSpPr>
            <p:spPr>
              <a:xfrm>
                <a:off x="6227906" y="2006160"/>
                <a:ext cx="19097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21" name="TextBox 91"/>
              <p:cNvSpPr txBox="1"/>
              <p:nvPr/>
            </p:nvSpPr>
            <p:spPr>
              <a:xfrm>
                <a:off x="6226115" y="2344714"/>
                <a:ext cx="1909753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200" dirty="0">
                    <a:latin typeface="Candara" panose="020E0502030303020204" charset="0"/>
                  </a:rPr>
                  <a:t>      </a:t>
                </a:r>
                <a:r>
                  <a:rPr lang="en-US" sz="1600" dirty="0">
                    <a:latin typeface="Candara" panose="020E0502030303020204" charset="0"/>
                  </a:rPr>
                  <a:t>28           18          9</a:t>
                </a:r>
                <a:endParaRPr lang="en-US" sz="1200" dirty="0">
                  <a:latin typeface="Candara" panose="020E0502030303020204" charset="0"/>
                </a:endParaRPr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123"/>
            <p:cNvSpPr txBox="1"/>
            <p:nvPr/>
          </p:nvSpPr>
          <p:spPr>
            <a:xfrm>
              <a:off x="14756" y="1499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100 samples</a:t>
              </a:r>
            </a:p>
          </p:txBody>
        </p:sp>
        <p:sp>
          <p:nvSpPr>
            <p:cNvPr id="24" name="TextBox 123"/>
            <p:cNvSpPr txBox="1"/>
            <p:nvPr/>
          </p:nvSpPr>
          <p:spPr>
            <a:xfrm>
              <a:off x="7845" y="3423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45 samples</a:t>
              </a:r>
            </a:p>
          </p:txBody>
        </p:sp>
        <p:sp>
          <p:nvSpPr>
            <p:cNvPr id="25" name="TextBox 123"/>
            <p:cNvSpPr txBox="1"/>
            <p:nvPr/>
          </p:nvSpPr>
          <p:spPr>
            <a:xfrm>
              <a:off x="17238" y="3423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ndara" panose="020E0502030303020204" charset="0"/>
                </a:rPr>
                <a:t>55 samples</a:t>
              </a:r>
            </a:p>
          </p:txBody>
        </p:sp>
      </p:grpSp>
      <p:sp>
        <p:nvSpPr>
          <p:cNvPr id="107" name="TextBox 123"/>
          <p:cNvSpPr txBox="1"/>
          <p:nvPr/>
        </p:nvSpPr>
        <p:spPr>
          <a:xfrm>
            <a:off x="6672580" y="3731895"/>
            <a:ext cx="38773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Since 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nodes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are </a:t>
            </a:r>
            <a:r>
              <a:rPr lang="en-US" b="1" dirty="0">
                <a:solidFill>
                  <a:srgbClr val="FF0000"/>
                </a:solidFill>
                <a:latin typeface="Candara" panose="020E0502030303020204" charset="0"/>
              </a:rPr>
              <a:t>impure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, we can keep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spitting them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in order to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reduce their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impurities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.</a:t>
            </a:r>
            <a:endParaRPr lang="en-US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  <p:cxnSp>
        <p:nvCxnSpPr>
          <p:cNvPr id="2" name="Curved Connector 1"/>
          <p:cNvCxnSpPr>
            <a:stCxn id="107" idx="0"/>
            <a:endCxn id="12" idx="2"/>
          </p:cNvCxnSpPr>
          <p:nvPr/>
        </p:nvCxnSpPr>
        <p:spPr>
          <a:xfrm rot="16200000" flipV="1">
            <a:off x="7383780" y="2504440"/>
            <a:ext cx="1026160" cy="1428750"/>
          </a:xfrm>
          <a:prstGeom prst="curvedConnector3">
            <a:avLst>
              <a:gd name="adj1" fmla="val 50000"/>
            </a:avLst>
          </a:prstGeom>
          <a:ln w="28575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urved Connector 2"/>
          <p:cNvCxnSpPr>
            <a:stCxn id="107" idx="0"/>
            <a:endCxn id="19" idx="2"/>
          </p:cNvCxnSpPr>
          <p:nvPr/>
        </p:nvCxnSpPr>
        <p:spPr>
          <a:xfrm rot="16200000">
            <a:off x="8812848" y="2504123"/>
            <a:ext cx="1026160" cy="1429385"/>
          </a:xfrm>
          <a:prstGeom prst="curvedConnector3">
            <a:avLst>
              <a:gd name="adj1" fmla="val 50031"/>
            </a:avLst>
          </a:prstGeom>
          <a:ln w="28575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97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9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 flipH="1">
            <a:off x="7917180" y="535940"/>
            <a:ext cx="1387475" cy="63182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7" name="Straight Connector 6"/>
          <p:cNvCxnSpPr>
            <a:stCxn id="6" idx="2"/>
            <a:endCxn id="14" idx="0"/>
          </p:cNvCxnSpPr>
          <p:nvPr/>
        </p:nvCxnSpPr>
        <p:spPr>
          <a:xfrm flipH="1">
            <a:off x="7177405" y="1167765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2"/>
            <a:endCxn id="20" idx="0"/>
          </p:cNvCxnSpPr>
          <p:nvPr/>
        </p:nvCxnSpPr>
        <p:spPr>
          <a:xfrm>
            <a:off x="8610600" y="1167765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7"/>
          <p:cNvSpPr txBox="1"/>
          <p:nvPr/>
        </p:nvSpPr>
        <p:spPr>
          <a:xfrm rot="20168799">
            <a:off x="7297420" y="132651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0" name="Text Box 7"/>
          <p:cNvSpPr txBox="1"/>
          <p:nvPr/>
        </p:nvSpPr>
        <p:spPr>
          <a:xfrm rot="1362789">
            <a:off x="9394190" y="1360805"/>
            <a:ext cx="609600" cy="2768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2" name="Rectangle 80"/>
          <p:cNvSpPr/>
          <p:nvPr/>
        </p:nvSpPr>
        <p:spPr>
          <a:xfrm>
            <a:off x="6222365" y="1779270"/>
            <a:ext cx="1920240" cy="926465"/>
          </a:xfrm>
          <a:prstGeom prst="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ndara" panose="020E050203030302020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6356985" y="2347595"/>
            <a:ext cx="1651635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9078595" y="1775460"/>
            <a:ext cx="1922145" cy="930275"/>
            <a:chOff x="6226115" y="2006160"/>
            <a:chExt cx="1922172" cy="930459"/>
          </a:xfrm>
        </p:grpSpPr>
        <p:sp>
          <p:nvSpPr>
            <p:cNvPr id="19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20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1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      </a:t>
              </a:r>
              <a:r>
                <a:rPr lang="en-US" sz="1600" dirty="0">
                  <a:solidFill>
                    <a:schemeClr val="bg1"/>
                  </a:solidFill>
                  <a:latin typeface="Candara" panose="020E0502030303020204" charset="0"/>
                </a:rPr>
                <a:t>28           18          9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123"/>
          <p:cNvSpPr txBox="1"/>
          <p:nvPr/>
        </p:nvSpPr>
        <p:spPr>
          <a:xfrm>
            <a:off x="9364345" y="69913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4975860" y="192087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25" name="TextBox 123"/>
          <p:cNvSpPr txBox="1"/>
          <p:nvPr/>
        </p:nvSpPr>
        <p:spPr>
          <a:xfrm>
            <a:off x="10940415" y="192087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107" name="TextBox 123"/>
          <p:cNvSpPr txBox="1"/>
          <p:nvPr/>
        </p:nvSpPr>
        <p:spPr>
          <a:xfrm>
            <a:off x="5542598" y="4044315"/>
            <a:ext cx="32778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Should we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split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these smokers (45 people) by the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workout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or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weight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feature?</a:t>
            </a:r>
            <a:endParaRPr lang="en-US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5338763" y="3112770"/>
            <a:ext cx="3685540" cy="631825"/>
            <a:chOff x="8240" y="4902"/>
            <a:chExt cx="5804" cy="995"/>
          </a:xfrm>
        </p:grpSpPr>
        <p:sp>
          <p:nvSpPr>
            <p:cNvPr id="4" name="Rounded Rectangle 3"/>
            <p:cNvSpPr/>
            <p:nvPr/>
          </p:nvSpPr>
          <p:spPr>
            <a:xfrm flipH="1">
              <a:off x="8240" y="490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 flipH="1">
              <a:off x="11860" y="4903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???</a:t>
              </a:r>
              <a:endParaRPr lang="en-US" b="1" dirty="0">
                <a:latin typeface="Candara" panose="020E0502030303020204" charset="0"/>
                <a:cs typeface="Candara" panose="020E0502030303020204" charset="0"/>
              </a:endParaRPr>
            </a:p>
          </p:txBody>
        </p:sp>
      </p:grpSp>
      <p:sp>
        <p:nvSpPr>
          <p:cNvPr id="95" name="Rectangle 94"/>
          <p:cNvSpPr/>
          <p:nvPr/>
        </p:nvSpPr>
        <p:spPr>
          <a:xfrm>
            <a:off x="445770" y="2350770"/>
            <a:ext cx="3589655" cy="334645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94"/>
          <p:cNvSpPr/>
          <p:nvPr/>
        </p:nvSpPr>
        <p:spPr>
          <a:xfrm>
            <a:off x="445770" y="4174490"/>
            <a:ext cx="3589655" cy="323215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urved Connector 32"/>
          <p:cNvCxnSpPr>
            <a:stCxn id="12" idx="1"/>
            <a:endCxn id="4" idx="0"/>
          </p:cNvCxnSpPr>
          <p:nvPr/>
        </p:nvCxnSpPr>
        <p:spPr>
          <a:xfrm rot="10800000" flipV="1">
            <a:off x="6031865" y="2242820"/>
            <a:ext cx="189865" cy="869950"/>
          </a:xfrm>
          <a:prstGeom prst="curvedConnector2">
            <a:avLst/>
          </a:prstGeom>
          <a:ln w="28575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12" idx="3"/>
          </p:cNvCxnSpPr>
          <p:nvPr/>
        </p:nvCxnSpPr>
        <p:spPr>
          <a:xfrm>
            <a:off x="8142605" y="2242820"/>
            <a:ext cx="280035" cy="842645"/>
          </a:xfrm>
          <a:prstGeom prst="curvedConnector2">
            <a:avLst/>
          </a:prstGeom>
          <a:ln w="28575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86"/>
          <p:cNvSpPr txBox="1"/>
          <p:nvPr/>
        </p:nvSpPr>
        <p:spPr>
          <a:xfrm>
            <a:off x="6222365" y="1775460"/>
            <a:ext cx="190944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ndara" panose="020E0502030303020204" charset="0"/>
              </a:rPr>
              <a:t>Heart Condition</a:t>
            </a:r>
          </a:p>
        </p:txBody>
      </p:sp>
      <p:sp>
        <p:nvSpPr>
          <p:cNvPr id="39" name="TextBox 87"/>
          <p:cNvSpPr txBox="1"/>
          <p:nvPr/>
        </p:nvSpPr>
        <p:spPr>
          <a:xfrm>
            <a:off x="6220460" y="2113915"/>
            <a:ext cx="1909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andara" panose="020E0502030303020204" charset="0"/>
              </a:rPr>
              <a:t>Normal    Attention    Sick</a:t>
            </a:r>
          </a:p>
          <a:p>
            <a:r>
              <a:rPr lang="en-US" sz="1200" dirty="0">
                <a:solidFill>
                  <a:schemeClr val="bg1"/>
                </a:solidFill>
                <a:latin typeface="Candara" panose="020E0502030303020204" charset="0"/>
              </a:rPr>
              <a:t>        </a:t>
            </a:r>
            <a:r>
              <a:rPr lang="en-US" sz="1600" dirty="0">
                <a:solidFill>
                  <a:schemeClr val="bg1"/>
                </a:solidFill>
                <a:latin typeface="Candara" panose="020E0502030303020204" charset="0"/>
                <a:sym typeface="+mn-ea"/>
              </a:rPr>
              <a:t>6</a:t>
            </a:r>
            <a:r>
              <a:rPr lang="en-US" sz="1600" dirty="0">
                <a:solidFill>
                  <a:schemeClr val="bg1"/>
                </a:solidFill>
                <a:latin typeface="Candara" panose="020E0502030303020204" charset="0"/>
              </a:rPr>
              <a:t>           15          24</a:t>
            </a:r>
          </a:p>
        </p:txBody>
      </p:sp>
      <p:sp>
        <p:nvSpPr>
          <p:cNvPr id="40" name="Rectangle 94"/>
          <p:cNvSpPr/>
          <p:nvPr/>
        </p:nvSpPr>
        <p:spPr>
          <a:xfrm>
            <a:off x="445770" y="3567430"/>
            <a:ext cx="3589655" cy="334645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98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 flipH="1">
            <a:off x="7917180" y="535940"/>
            <a:ext cx="1387475" cy="63182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7" name="Straight Connector 6"/>
          <p:cNvCxnSpPr>
            <a:stCxn id="6" idx="2"/>
            <a:endCxn id="14" idx="0"/>
          </p:cNvCxnSpPr>
          <p:nvPr/>
        </p:nvCxnSpPr>
        <p:spPr>
          <a:xfrm flipH="1">
            <a:off x="7177405" y="1167765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2"/>
            <a:endCxn id="20" idx="0"/>
          </p:cNvCxnSpPr>
          <p:nvPr/>
        </p:nvCxnSpPr>
        <p:spPr>
          <a:xfrm>
            <a:off x="8610600" y="1167765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7"/>
          <p:cNvSpPr txBox="1"/>
          <p:nvPr/>
        </p:nvSpPr>
        <p:spPr>
          <a:xfrm rot="20168799">
            <a:off x="7297420" y="132651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0" name="Text Box 7"/>
          <p:cNvSpPr txBox="1"/>
          <p:nvPr/>
        </p:nvSpPr>
        <p:spPr>
          <a:xfrm rot="1362789">
            <a:off x="9394190" y="1360805"/>
            <a:ext cx="609600" cy="2768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2" name="Rectangle 80"/>
          <p:cNvSpPr/>
          <p:nvPr/>
        </p:nvSpPr>
        <p:spPr>
          <a:xfrm>
            <a:off x="6222365" y="1779270"/>
            <a:ext cx="1920240" cy="926465"/>
          </a:xfrm>
          <a:prstGeom prst="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ndara" panose="020E050203030302020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6356985" y="2347595"/>
            <a:ext cx="1651635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9078595" y="1775460"/>
            <a:ext cx="1922145" cy="930275"/>
            <a:chOff x="6226115" y="2006160"/>
            <a:chExt cx="1922172" cy="930459"/>
          </a:xfrm>
        </p:grpSpPr>
        <p:sp>
          <p:nvSpPr>
            <p:cNvPr id="19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20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1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      </a:t>
              </a:r>
              <a:r>
                <a:rPr lang="en-US" sz="1600" dirty="0">
                  <a:solidFill>
                    <a:schemeClr val="bg1"/>
                  </a:solidFill>
                  <a:latin typeface="Candara" panose="020E0502030303020204" charset="0"/>
                </a:rPr>
                <a:t>28           18          9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123"/>
          <p:cNvSpPr txBox="1"/>
          <p:nvPr/>
        </p:nvSpPr>
        <p:spPr>
          <a:xfrm>
            <a:off x="9364345" y="69913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4975860" y="192087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25" name="TextBox 123"/>
          <p:cNvSpPr txBox="1"/>
          <p:nvPr/>
        </p:nvSpPr>
        <p:spPr>
          <a:xfrm>
            <a:off x="10940415" y="192087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107" name="TextBox 123"/>
          <p:cNvSpPr txBox="1"/>
          <p:nvPr/>
        </p:nvSpPr>
        <p:spPr>
          <a:xfrm>
            <a:off x="5542598" y="4044315"/>
            <a:ext cx="32778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Should we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split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these smokers (45 people) by the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workout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or </a:t>
            </a:r>
            <a:r>
              <a:rPr lang="en-US" b="1" dirty="0">
                <a:solidFill>
                  <a:srgbClr val="358EF2"/>
                </a:solidFill>
                <a:latin typeface="Candara" panose="020E0502030303020204" charset="0"/>
              </a:rPr>
              <a:t>weight 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feature?</a:t>
            </a:r>
            <a:endParaRPr lang="en-US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5338763" y="3112770"/>
            <a:ext cx="3685540" cy="631825"/>
            <a:chOff x="8240" y="4902"/>
            <a:chExt cx="5804" cy="995"/>
          </a:xfrm>
        </p:grpSpPr>
        <p:sp>
          <p:nvSpPr>
            <p:cNvPr id="4" name="Rounded Rectangle 3"/>
            <p:cNvSpPr/>
            <p:nvPr/>
          </p:nvSpPr>
          <p:spPr>
            <a:xfrm flipH="1">
              <a:off x="8240" y="490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 flipH="1">
              <a:off x="11860" y="4903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???</a:t>
              </a:r>
              <a:endParaRPr lang="en-US" b="1" dirty="0">
                <a:latin typeface="Candara" panose="020E0502030303020204" charset="0"/>
                <a:cs typeface="Candara" panose="020E0502030303020204" charset="0"/>
              </a:endParaRPr>
            </a:p>
          </p:txBody>
        </p:sp>
      </p:grpSp>
      <p:cxnSp>
        <p:nvCxnSpPr>
          <p:cNvPr id="33" name="Curved Connector 32"/>
          <p:cNvCxnSpPr>
            <a:stCxn id="12" idx="1"/>
            <a:endCxn id="4" idx="0"/>
          </p:cNvCxnSpPr>
          <p:nvPr/>
        </p:nvCxnSpPr>
        <p:spPr>
          <a:xfrm rot="10800000" flipV="1">
            <a:off x="6031865" y="2242820"/>
            <a:ext cx="189865" cy="869950"/>
          </a:xfrm>
          <a:prstGeom prst="curvedConnector2">
            <a:avLst/>
          </a:prstGeom>
          <a:ln w="28575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12" idx="3"/>
          </p:cNvCxnSpPr>
          <p:nvPr/>
        </p:nvCxnSpPr>
        <p:spPr>
          <a:xfrm>
            <a:off x="8142605" y="2242820"/>
            <a:ext cx="280035" cy="842645"/>
          </a:xfrm>
          <a:prstGeom prst="curvedConnector2">
            <a:avLst/>
          </a:prstGeom>
          <a:ln w="28575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86"/>
          <p:cNvSpPr txBox="1"/>
          <p:nvPr/>
        </p:nvSpPr>
        <p:spPr>
          <a:xfrm>
            <a:off x="6222365" y="1775460"/>
            <a:ext cx="190944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ndara" panose="020E0502030303020204" charset="0"/>
              </a:rPr>
              <a:t>Heart Condition</a:t>
            </a:r>
          </a:p>
        </p:txBody>
      </p:sp>
      <p:sp>
        <p:nvSpPr>
          <p:cNvPr id="39" name="TextBox 87"/>
          <p:cNvSpPr txBox="1"/>
          <p:nvPr/>
        </p:nvSpPr>
        <p:spPr>
          <a:xfrm>
            <a:off x="6220460" y="2113915"/>
            <a:ext cx="1909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andara" panose="020E0502030303020204" charset="0"/>
              </a:rPr>
              <a:t>Normal    Attention    Sick</a:t>
            </a:r>
          </a:p>
          <a:p>
            <a:r>
              <a:rPr lang="en-US" sz="1200" dirty="0">
                <a:solidFill>
                  <a:schemeClr val="bg1"/>
                </a:solidFill>
                <a:latin typeface="Candara" panose="020E0502030303020204" charset="0"/>
              </a:rPr>
              <a:t>        </a:t>
            </a:r>
            <a:r>
              <a:rPr lang="en-US" sz="1600" dirty="0">
                <a:solidFill>
                  <a:schemeClr val="bg1"/>
                </a:solidFill>
                <a:latin typeface="Candara" panose="020E0502030303020204" charset="0"/>
                <a:sym typeface="+mn-ea"/>
              </a:rPr>
              <a:t>6</a:t>
            </a:r>
            <a:r>
              <a:rPr lang="en-US" sz="1600" dirty="0">
                <a:solidFill>
                  <a:schemeClr val="bg1"/>
                </a:solidFill>
                <a:latin typeface="Candara" panose="020E0502030303020204" charset="0"/>
              </a:rPr>
              <a:t>           15          24</a:t>
            </a:r>
          </a:p>
        </p:txBody>
      </p:sp>
      <p:sp>
        <p:nvSpPr>
          <p:cNvPr id="2" name="TextBox 123"/>
          <p:cNvSpPr txBox="1"/>
          <p:nvPr/>
        </p:nvSpPr>
        <p:spPr>
          <a:xfrm>
            <a:off x="5535613" y="4966335"/>
            <a:ext cx="3277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Let's repeat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the same steps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we did before.</a:t>
            </a:r>
            <a:endParaRPr lang="en-US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3" name="Rectangle 94"/>
          <p:cNvSpPr/>
          <p:nvPr/>
        </p:nvSpPr>
        <p:spPr>
          <a:xfrm>
            <a:off x="445770" y="2350770"/>
            <a:ext cx="3589655" cy="334645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94"/>
          <p:cNvSpPr/>
          <p:nvPr/>
        </p:nvSpPr>
        <p:spPr>
          <a:xfrm>
            <a:off x="445770" y="4174490"/>
            <a:ext cx="3589655" cy="323215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94"/>
          <p:cNvSpPr/>
          <p:nvPr/>
        </p:nvSpPr>
        <p:spPr>
          <a:xfrm>
            <a:off x="445770" y="3567430"/>
            <a:ext cx="3589655" cy="334645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99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652905" cy="276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652905" cy="276860"/>
              </a:xfrm>
              <a:prstGeom prst="rect">
                <a:avLst/>
              </a:prstGeom>
              <a:blipFill rotWithShape="1">
                <a:blip r:embed="rId2"/>
                <a:stretch>
                  <a:fillRect t="-217" r="-2689" b="2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123"/>
          <p:cNvSpPr txBox="1"/>
          <p:nvPr/>
        </p:nvSpPr>
        <p:spPr>
          <a:xfrm>
            <a:off x="209550" y="5243195"/>
            <a:ext cx="2401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Only smokers</a:t>
            </a:r>
            <a:endParaRPr lang="en-US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100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652905" cy="276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652905" cy="276860"/>
              </a:xfrm>
              <a:prstGeom prst="rect">
                <a:avLst/>
              </a:prstGeom>
              <a:blipFill rotWithShape="1">
                <a:blip r:embed="rId2"/>
                <a:stretch>
                  <a:fillRect t="-217" r="-2689" b="2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0</a:t>
              </a:r>
              <a:r>
                <a:rPr lang="en-US" sz="1600" dirty="0">
                  <a:latin typeface="Candara" panose="020E0502030303020204" charset="0"/>
                </a:rPr>
                <a:t>            0           0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0             0            0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8"/>
              <p:cNvSpPr txBox="1"/>
              <p:nvPr/>
            </p:nvSpPr>
            <p:spPr>
              <a:xfrm>
                <a:off x="5229162" y="890206"/>
                <a:ext cx="239268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𝑤𝑜𝑟𝑘𝑜𝑢𝑡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)=???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62" y="890206"/>
                <a:ext cx="2392680" cy="368300"/>
              </a:xfrm>
              <a:prstGeom prst="rect">
                <a:avLst/>
              </a:prstGeom>
              <a:blipFill rotWithShape="1">
                <a:blip r:embed="rId3"/>
                <a:stretch>
                  <a:fillRect l="-24" t="-3086" r="24" b="1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  <a:sym typeface="+mn-ea"/>
              </a:rPr>
              <a:t>weight ≤ t</a:t>
            </a:r>
            <a:endParaRPr lang="en-US" b="1" dirty="0">
              <a:latin typeface="Candara" panose="020E0502030303020204" charset="0"/>
              <a:cs typeface="Candara" panose="020E0502030303020204" charset="0"/>
            </a:endParaRPr>
          </a:p>
        </p:txBody>
      </p:sp>
      <p:cxnSp>
        <p:nvCxnSpPr>
          <p:cNvPr id="23" name="Straight Connector 22"/>
          <p:cNvCxnSpPr>
            <a:stCxn id="10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1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14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0</a:t>
              </a:r>
              <a:r>
                <a:rPr lang="en-US" sz="1600" dirty="0">
                  <a:latin typeface="Candara" panose="020E0502030303020204" charset="0"/>
                </a:rPr>
                <a:t>            0            0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18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9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0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0            0           0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62"/>
              <p:cNvSpPr txBox="1"/>
              <p:nvPr/>
            </p:nvSpPr>
            <p:spPr>
              <a:xfrm>
                <a:off x="4967542" y="4248721"/>
                <a:ext cx="245364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 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)=???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3" name="Text 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542" y="4248721"/>
                <a:ext cx="2453640" cy="370840"/>
              </a:xfrm>
              <a:prstGeom prst="rect">
                <a:avLst/>
              </a:prstGeom>
              <a:blipFill rotWithShape="1">
                <a:blip r:embed="rId4"/>
                <a:stretch>
                  <a:fillRect l="-23" t="-3065" r="23" b="1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51"/>
              <p:cNvSpPr txBox="1"/>
              <p:nvPr/>
            </p:nvSpPr>
            <p:spPr>
              <a:xfrm>
                <a:off x="6441377" y="2978087"/>
                <a:ext cx="1576705" cy="3733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𝑙𝑒𝑓𝑡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???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2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77" y="2978087"/>
                <a:ext cx="1576705" cy="373380"/>
              </a:xfrm>
              <a:prstGeom prst="rect">
                <a:avLst/>
              </a:prstGeom>
              <a:blipFill rotWithShape="1">
                <a:blip r:embed="rId5"/>
                <a:stretch>
                  <a:fillRect l="-36" t="-3044" r="36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Box 52"/>
              <p:cNvSpPr txBox="1"/>
              <p:nvPr/>
            </p:nvSpPr>
            <p:spPr>
              <a:xfrm>
                <a:off x="9093772" y="2977134"/>
                <a:ext cx="1685290" cy="375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???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3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72" y="2977134"/>
                <a:ext cx="1685290" cy="375285"/>
              </a:xfrm>
              <a:prstGeom prst="rect">
                <a:avLst/>
              </a:prstGeom>
              <a:blipFill rotWithShape="1">
                <a:blip r:embed="rId6"/>
                <a:stretch>
                  <a:fillRect l="-34" t="-2944" r="34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1"/>
              <p:cNvSpPr txBox="1"/>
              <p:nvPr/>
            </p:nvSpPr>
            <p:spPr>
              <a:xfrm>
                <a:off x="6441377" y="6286437"/>
                <a:ext cx="1576705" cy="3733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𝑙𝑒𝑓𝑡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???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" name="Text 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77" y="6286437"/>
                <a:ext cx="1576705" cy="373380"/>
              </a:xfrm>
              <a:prstGeom prst="rect">
                <a:avLst/>
              </a:prstGeom>
              <a:blipFill rotWithShape="1">
                <a:blip r:embed="rId5"/>
                <a:stretch>
                  <a:fillRect l="-36" t="-3044" r="36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9093772" y="6285484"/>
                <a:ext cx="1685290" cy="375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???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72" y="6285484"/>
                <a:ext cx="1685290" cy="375285"/>
              </a:xfrm>
              <a:prstGeom prst="rect">
                <a:avLst/>
              </a:prstGeom>
              <a:blipFill rotWithShape="1">
                <a:blip r:embed="rId6"/>
                <a:stretch>
                  <a:fillRect l="-34" t="-2944" r="34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101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652905" cy="276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652905" cy="276860"/>
              </a:xfrm>
              <a:prstGeom prst="rect">
                <a:avLst/>
              </a:prstGeom>
              <a:blipFill rotWithShape="1">
                <a:blip r:embed="rId2"/>
                <a:stretch>
                  <a:fillRect t="-217" r="-2689" b="2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2</a:t>
              </a:r>
              <a:r>
                <a:rPr lang="en-US" sz="1600" dirty="0">
                  <a:latin typeface="Candara" panose="020E0502030303020204" charset="0"/>
                </a:rPr>
                <a:t>            3           5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4             12          19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8"/>
              <p:cNvSpPr txBox="1"/>
              <p:nvPr/>
            </p:nvSpPr>
            <p:spPr>
              <a:xfrm>
                <a:off x="5229162" y="890206"/>
                <a:ext cx="260159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𝑤𝑜𝑟𝑘𝑜𝑢𝑡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)=0.584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62" y="890206"/>
                <a:ext cx="2601595" cy="368300"/>
              </a:xfrm>
              <a:prstGeom prst="rect">
                <a:avLst/>
              </a:prstGeom>
              <a:blipFill rotWithShape="1">
                <a:blip r:embed="rId3"/>
                <a:stretch>
                  <a:fillRect l="-22" t="-3086" r="22" b="1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  <a:sym typeface="+mn-ea"/>
              </a:rPr>
              <a:t>weight ≤ t</a:t>
            </a:r>
            <a:endParaRPr lang="en-US" b="1" dirty="0">
              <a:latin typeface="Candara" panose="020E0502030303020204" charset="0"/>
              <a:cs typeface="Candara" panose="020E0502030303020204" charset="0"/>
            </a:endParaRPr>
          </a:p>
        </p:txBody>
      </p:sp>
      <p:cxnSp>
        <p:nvCxnSpPr>
          <p:cNvPr id="23" name="Straight Connector 22"/>
          <p:cNvCxnSpPr>
            <a:stCxn id="10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1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14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0</a:t>
              </a:r>
              <a:r>
                <a:rPr lang="en-US" sz="1600" dirty="0">
                  <a:latin typeface="Candara" panose="020E0502030303020204" charset="0"/>
                </a:rPr>
                <a:t>            0            0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18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9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0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0            0           0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62"/>
              <p:cNvSpPr txBox="1"/>
              <p:nvPr/>
            </p:nvSpPr>
            <p:spPr>
              <a:xfrm>
                <a:off x="4967542" y="4248721"/>
                <a:ext cx="245364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 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)=???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3" name="Text 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542" y="4248721"/>
                <a:ext cx="2453640" cy="370840"/>
              </a:xfrm>
              <a:prstGeom prst="rect">
                <a:avLst/>
              </a:prstGeom>
              <a:blipFill rotWithShape="1">
                <a:blip r:embed="rId4"/>
                <a:stretch>
                  <a:fillRect l="-23" t="-3065" r="23" b="1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51"/>
              <p:cNvSpPr txBox="1"/>
              <p:nvPr/>
            </p:nvSpPr>
            <p:spPr>
              <a:xfrm>
                <a:off x="6441377" y="2978087"/>
                <a:ext cx="1640205" cy="3733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𝑙𝑒𝑓𝑡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=0.62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2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77" y="2978087"/>
                <a:ext cx="1640205" cy="373380"/>
              </a:xfrm>
              <a:prstGeom prst="rect">
                <a:avLst/>
              </a:prstGeom>
              <a:blipFill rotWithShape="1">
                <a:blip r:embed="rId5"/>
                <a:stretch>
                  <a:fillRect l="-35" t="-3044" r="35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Box 52"/>
              <p:cNvSpPr txBox="1"/>
              <p:nvPr/>
            </p:nvSpPr>
            <p:spPr>
              <a:xfrm>
                <a:off x="9093772" y="2977134"/>
                <a:ext cx="1894205" cy="375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=0.574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3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72" y="2977134"/>
                <a:ext cx="1894205" cy="375285"/>
              </a:xfrm>
              <a:prstGeom prst="rect">
                <a:avLst/>
              </a:prstGeom>
              <a:blipFill rotWithShape="1">
                <a:blip r:embed="rId6"/>
                <a:stretch>
                  <a:fillRect l="-30" t="-2944" r="30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23"/>
          <p:cNvSpPr txBox="1"/>
          <p:nvPr/>
        </p:nvSpPr>
        <p:spPr>
          <a:xfrm>
            <a:off x="4983480" y="234251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11006455" y="234251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35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/>
              <p:cNvSpPr txBox="1"/>
              <p:nvPr/>
            </p:nvSpPr>
            <p:spPr>
              <a:xfrm>
                <a:off x="6441377" y="6286437"/>
                <a:ext cx="1576705" cy="3733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𝑙𝑒𝑓𝑡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???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4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77" y="6286437"/>
                <a:ext cx="1576705" cy="373380"/>
              </a:xfrm>
              <a:prstGeom prst="rect">
                <a:avLst/>
              </a:prstGeom>
              <a:blipFill rotWithShape="1">
                <a:blip r:embed="rId7"/>
                <a:stretch>
                  <a:fillRect l="-36" t="-3044" r="36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9093772" y="6285484"/>
                <a:ext cx="1685290" cy="375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  <a:sym typeface="+mn-ea"/>
                        </a:rPr>
                        <m:t>???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72" y="6285484"/>
                <a:ext cx="1685290" cy="375285"/>
              </a:xfrm>
              <a:prstGeom prst="rect">
                <a:avLst/>
              </a:prstGeom>
              <a:blipFill rotWithShape="1">
                <a:blip r:embed="rId8"/>
                <a:stretch>
                  <a:fillRect l="-34" t="-2944" r="34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102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652905" cy="276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652905" cy="276860"/>
              </a:xfrm>
              <a:prstGeom prst="rect">
                <a:avLst/>
              </a:prstGeom>
              <a:blipFill rotWithShape="1">
                <a:blip r:embed="rId2"/>
                <a:stretch>
                  <a:fillRect t="-217" r="-2689" b="2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2</a:t>
              </a:r>
              <a:r>
                <a:rPr lang="en-US" sz="1600" dirty="0">
                  <a:latin typeface="Candara" panose="020E0502030303020204" charset="0"/>
                </a:rPr>
                <a:t>            3           5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4             12          19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8"/>
              <p:cNvSpPr txBox="1"/>
              <p:nvPr/>
            </p:nvSpPr>
            <p:spPr>
              <a:xfrm>
                <a:off x="5229162" y="890206"/>
                <a:ext cx="260159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𝑤𝑜𝑟𝑘𝑜𝑢𝑡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)=0.584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62" y="890206"/>
                <a:ext cx="2601595" cy="368300"/>
              </a:xfrm>
              <a:prstGeom prst="rect">
                <a:avLst/>
              </a:prstGeom>
              <a:blipFill rotWithShape="1">
                <a:blip r:embed="rId3"/>
                <a:stretch>
                  <a:fillRect l="-22" t="-3086" r="22" b="1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  <a:sym typeface="+mn-ea"/>
              </a:rPr>
              <a:t>weight ≤ 91.5</a:t>
            </a:r>
            <a:endParaRPr lang="en-US" b="1" dirty="0">
              <a:latin typeface="Candara" panose="020E0502030303020204" charset="0"/>
              <a:cs typeface="Candara" panose="020E0502030303020204" charset="0"/>
            </a:endParaRPr>
          </a:p>
        </p:txBody>
      </p:sp>
      <p:cxnSp>
        <p:nvCxnSpPr>
          <p:cNvPr id="23" name="Straight Connector 22"/>
          <p:cNvCxnSpPr>
            <a:stCxn id="10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1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14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4</a:t>
              </a:r>
              <a:r>
                <a:rPr lang="en-US" sz="1600" dirty="0">
                  <a:latin typeface="Candara" panose="020E0502030303020204" charset="0"/>
                </a:rPr>
                <a:t>            4           16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18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9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0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2            11           8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62"/>
              <p:cNvSpPr txBox="1"/>
              <p:nvPr/>
            </p:nvSpPr>
            <p:spPr>
              <a:xfrm>
                <a:off x="4860862" y="4248721"/>
                <a:ext cx="313055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 91.5)=0.533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3" name="Text 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862" y="4248721"/>
                <a:ext cx="3130550" cy="370840"/>
              </a:xfrm>
              <a:prstGeom prst="rect">
                <a:avLst/>
              </a:prstGeom>
              <a:blipFill rotWithShape="1">
                <a:blip r:embed="rId4"/>
                <a:stretch>
                  <a:fillRect l="-18" t="-3065" r="18" b="1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51"/>
              <p:cNvSpPr txBox="1"/>
              <p:nvPr/>
            </p:nvSpPr>
            <p:spPr>
              <a:xfrm>
                <a:off x="6441377" y="2978087"/>
                <a:ext cx="1640205" cy="3733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𝑙𝑒𝑓𝑡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=0.62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2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77" y="2978087"/>
                <a:ext cx="1640205" cy="373380"/>
              </a:xfrm>
              <a:prstGeom prst="rect">
                <a:avLst/>
              </a:prstGeom>
              <a:blipFill rotWithShape="1">
                <a:blip r:embed="rId5"/>
                <a:stretch>
                  <a:fillRect l="-35" t="-3044" r="35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Box 52"/>
              <p:cNvSpPr txBox="1"/>
              <p:nvPr/>
            </p:nvSpPr>
            <p:spPr>
              <a:xfrm>
                <a:off x="9093772" y="2977134"/>
                <a:ext cx="1894205" cy="375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=0.574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3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72" y="2977134"/>
                <a:ext cx="1894205" cy="375285"/>
              </a:xfrm>
              <a:prstGeom prst="rect">
                <a:avLst/>
              </a:prstGeom>
              <a:blipFill rotWithShape="1">
                <a:blip r:embed="rId6"/>
                <a:stretch>
                  <a:fillRect l="-30" t="-2944" r="30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23"/>
          <p:cNvSpPr txBox="1"/>
          <p:nvPr/>
        </p:nvSpPr>
        <p:spPr>
          <a:xfrm>
            <a:off x="4983480" y="234251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11006455" y="234251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35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4983480" y="5774690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24 samples</a:t>
            </a:r>
          </a:p>
        </p:txBody>
      </p:sp>
      <p:sp>
        <p:nvSpPr>
          <p:cNvPr id="5" name="TextBox 123"/>
          <p:cNvSpPr txBox="1"/>
          <p:nvPr/>
        </p:nvSpPr>
        <p:spPr>
          <a:xfrm>
            <a:off x="11006455" y="5774690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21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/>
              <p:nvPr/>
            </p:nvSpPr>
            <p:spPr>
              <a:xfrm>
                <a:off x="6441377" y="6286437"/>
                <a:ext cx="1494790" cy="3733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𝑙𝑒𝑓𝑡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=0.5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77" y="6286437"/>
                <a:ext cx="1494790" cy="373380"/>
              </a:xfrm>
              <a:prstGeom prst="rect">
                <a:avLst/>
              </a:prstGeom>
              <a:blipFill rotWithShape="1">
                <a:blip r:embed="rId7"/>
                <a:stretch>
                  <a:fillRect l="-38" t="-3044" r="38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7"/>
              <p:cNvSpPr txBox="1"/>
              <p:nvPr/>
            </p:nvSpPr>
            <p:spPr>
              <a:xfrm>
                <a:off x="9093772" y="6285484"/>
                <a:ext cx="1894205" cy="375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=0.571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8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72" y="6285484"/>
                <a:ext cx="1894205" cy="375285"/>
              </a:xfrm>
              <a:prstGeom prst="rect">
                <a:avLst/>
              </a:prstGeom>
              <a:blipFill rotWithShape="1">
                <a:blip r:embed="rId8"/>
                <a:stretch>
                  <a:fillRect l="-30" t="-2944" r="30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103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64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Attention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No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Sick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  <a:sym typeface="+mn-ea"/>
                        </a:rPr>
                        <a:t>Yes</a:t>
                      </a:r>
                      <a:endParaRPr lang="en-US" sz="1400" dirty="0">
                        <a:solidFill>
                          <a:srgbClr val="595959"/>
                        </a:solidFill>
                        <a:effectLst/>
                        <a:latin typeface="Candara" panose="020E050203030302020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105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652905" cy="276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652905" cy="276860"/>
              </a:xfrm>
              <a:prstGeom prst="rect">
                <a:avLst/>
              </a:prstGeom>
              <a:blipFill rotWithShape="1">
                <a:blip r:embed="rId2"/>
                <a:stretch>
                  <a:fillRect t="-217" r="-2689" b="2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ounded Rectangle 79"/>
          <p:cNvSpPr/>
          <p:nvPr/>
        </p:nvSpPr>
        <p:spPr>
          <a:xfrm flipH="1">
            <a:off x="7922630" y="7889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83" name="Straight Connector 82"/>
          <p:cNvCxnSpPr>
            <a:stCxn id="80" idx="2"/>
            <a:endCxn id="87" idx="0"/>
          </p:cNvCxnSpPr>
          <p:nvPr/>
        </p:nvCxnSpPr>
        <p:spPr>
          <a:xfrm flipH="1">
            <a:off x="7183216" y="14204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0" idx="2"/>
            <a:endCxn id="91" idx="0"/>
          </p:cNvCxnSpPr>
          <p:nvPr/>
        </p:nvCxnSpPr>
        <p:spPr>
          <a:xfrm>
            <a:off x="8616411" y="14204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"/>
          <p:cNvSpPr txBox="1"/>
          <p:nvPr/>
        </p:nvSpPr>
        <p:spPr>
          <a:xfrm rot="20168799">
            <a:off x="7302861" y="15793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86" name="Text Box 7"/>
          <p:cNvSpPr txBox="1"/>
          <p:nvPr/>
        </p:nvSpPr>
        <p:spPr>
          <a:xfrm rot="1362789">
            <a:off x="9400106" y="16136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26115" y="2028416"/>
            <a:ext cx="1922172" cy="930459"/>
            <a:chOff x="6226115" y="2006160"/>
            <a:chExt cx="1922172" cy="930459"/>
          </a:xfrm>
        </p:grpSpPr>
        <p:sp>
          <p:nvSpPr>
            <p:cNvPr id="8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2</a:t>
              </a:r>
              <a:r>
                <a:rPr lang="en-US" sz="1600" dirty="0">
                  <a:latin typeface="Candara" panose="020E0502030303020204" charset="0"/>
                </a:rPr>
                <a:t>            3           5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084535" y="2028416"/>
            <a:ext cx="1922172" cy="930459"/>
            <a:chOff x="6226115" y="2006160"/>
            <a:chExt cx="1922172" cy="930459"/>
          </a:xfrm>
        </p:grpSpPr>
        <p:sp>
          <p:nvSpPr>
            <p:cNvPr id="90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</a:t>
              </a:r>
              <a:r>
                <a:rPr lang="en-US" sz="1600" dirty="0">
                  <a:latin typeface="Candara" panose="020E0502030303020204" charset="0"/>
                </a:rPr>
                <a:t>4             12          19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123"/>
          <p:cNvSpPr txBox="1"/>
          <p:nvPr/>
        </p:nvSpPr>
        <p:spPr>
          <a:xfrm>
            <a:off x="9370060" y="9518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8"/>
              <p:cNvSpPr txBox="1"/>
              <p:nvPr/>
            </p:nvSpPr>
            <p:spPr>
              <a:xfrm>
                <a:off x="5229162" y="890206"/>
                <a:ext cx="260159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𝑤𝑜𝑟𝑘𝑜𝑢𝑡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)=0.584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62" y="890206"/>
                <a:ext cx="2601595" cy="368300"/>
              </a:xfrm>
              <a:prstGeom prst="rect">
                <a:avLst/>
              </a:prstGeom>
              <a:blipFill rotWithShape="1">
                <a:blip r:embed="rId3"/>
                <a:stretch>
                  <a:fillRect l="-22" t="-3086" r="22" b="1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 flipH="1">
            <a:off x="7922630" y="41163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  <a:sym typeface="+mn-ea"/>
              </a:rPr>
              <a:t>weight ≤ 91.5</a:t>
            </a:r>
            <a:endParaRPr lang="en-US" b="1" dirty="0">
              <a:latin typeface="Candara" panose="020E0502030303020204" charset="0"/>
              <a:cs typeface="Candara" panose="020E0502030303020204" charset="0"/>
            </a:endParaRPr>
          </a:p>
        </p:txBody>
      </p:sp>
      <p:cxnSp>
        <p:nvCxnSpPr>
          <p:cNvPr id="23" name="Straight Connector 22"/>
          <p:cNvCxnSpPr>
            <a:stCxn id="10" idx="2"/>
          </p:cNvCxnSpPr>
          <p:nvPr/>
        </p:nvCxnSpPr>
        <p:spPr>
          <a:xfrm flipH="1">
            <a:off x="7183216" y="47478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2"/>
          </p:cNvCxnSpPr>
          <p:nvPr/>
        </p:nvCxnSpPr>
        <p:spPr>
          <a:xfrm>
            <a:off x="8616411" y="47478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 rot="20168799">
            <a:off x="7302861" y="49067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 Box 7"/>
          <p:cNvSpPr txBox="1"/>
          <p:nvPr/>
        </p:nvSpPr>
        <p:spPr>
          <a:xfrm rot="1362789">
            <a:off x="9400106" y="49410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226115" y="5355816"/>
            <a:ext cx="1922172" cy="930459"/>
            <a:chOff x="6226115" y="2006160"/>
            <a:chExt cx="1922172" cy="930459"/>
          </a:xfrm>
        </p:grpSpPr>
        <p:sp>
          <p:nvSpPr>
            <p:cNvPr id="1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14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4</a:t>
              </a:r>
              <a:r>
                <a:rPr lang="en-US" sz="1600" dirty="0">
                  <a:latin typeface="Candara" panose="020E0502030303020204" charset="0"/>
                </a:rPr>
                <a:t>            4           16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9084535" y="5355816"/>
            <a:ext cx="1922172" cy="930459"/>
            <a:chOff x="6226115" y="2006160"/>
            <a:chExt cx="1922172" cy="930459"/>
          </a:xfrm>
        </p:grpSpPr>
        <p:sp>
          <p:nvSpPr>
            <p:cNvPr id="18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9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0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2            11           8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123"/>
          <p:cNvSpPr txBox="1"/>
          <p:nvPr/>
        </p:nvSpPr>
        <p:spPr>
          <a:xfrm>
            <a:off x="9370060" y="427926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62"/>
              <p:cNvSpPr txBox="1"/>
              <p:nvPr/>
            </p:nvSpPr>
            <p:spPr>
              <a:xfrm>
                <a:off x="4860862" y="4248721"/>
                <a:ext cx="313055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𝑤𝑒𝑖𝑔h𝑡</m:t>
                      </m:r>
                      <m:r>
                        <a:rPr lang="en-US" i="1">
                          <a:solidFill>
                            <a:srgbClr val="358EF2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, 91.5)=0.533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63" name="Text 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862" y="4248721"/>
                <a:ext cx="3130550" cy="370840"/>
              </a:xfrm>
              <a:prstGeom prst="rect">
                <a:avLst/>
              </a:prstGeom>
              <a:blipFill rotWithShape="1">
                <a:blip r:embed="rId4"/>
                <a:stretch>
                  <a:fillRect l="-18" t="-3065" r="18" b="1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51"/>
              <p:cNvSpPr txBox="1"/>
              <p:nvPr/>
            </p:nvSpPr>
            <p:spPr>
              <a:xfrm>
                <a:off x="6441377" y="2978087"/>
                <a:ext cx="1640205" cy="3733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𝑙𝑒𝑓𝑡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=0.62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2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77" y="2978087"/>
                <a:ext cx="1640205" cy="373380"/>
              </a:xfrm>
              <a:prstGeom prst="rect">
                <a:avLst/>
              </a:prstGeom>
              <a:blipFill rotWithShape="1">
                <a:blip r:embed="rId5"/>
                <a:stretch>
                  <a:fillRect l="-35" t="-3044" r="35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Box 52"/>
              <p:cNvSpPr txBox="1"/>
              <p:nvPr/>
            </p:nvSpPr>
            <p:spPr>
              <a:xfrm>
                <a:off x="9093772" y="2977134"/>
                <a:ext cx="1894205" cy="375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=0.574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3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72" y="2977134"/>
                <a:ext cx="1894205" cy="375285"/>
              </a:xfrm>
              <a:prstGeom prst="rect">
                <a:avLst/>
              </a:prstGeom>
              <a:blipFill rotWithShape="1">
                <a:blip r:embed="rId6"/>
                <a:stretch>
                  <a:fillRect l="-30" t="-2944" r="30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23"/>
          <p:cNvSpPr txBox="1"/>
          <p:nvPr/>
        </p:nvSpPr>
        <p:spPr>
          <a:xfrm>
            <a:off x="4983480" y="234251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 samples</a:t>
            </a:r>
          </a:p>
        </p:txBody>
      </p:sp>
      <p:sp>
        <p:nvSpPr>
          <p:cNvPr id="3" name="TextBox 123"/>
          <p:cNvSpPr txBox="1"/>
          <p:nvPr/>
        </p:nvSpPr>
        <p:spPr>
          <a:xfrm>
            <a:off x="11006455" y="234251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35 samples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4983480" y="5774690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24 samples</a:t>
            </a:r>
          </a:p>
        </p:txBody>
      </p:sp>
      <p:sp>
        <p:nvSpPr>
          <p:cNvPr id="5" name="TextBox 123"/>
          <p:cNvSpPr txBox="1"/>
          <p:nvPr/>
        </p:nvSpPr>
        <p:spPr>
          <a:xfrm>
            <a:off x="11006455" y="5774690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21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/>
              <p:nvPr/>
            </p:nvSpPr>
            <p:spPr>
              <a:xfrm>
                <a:off x="6441377" y="6286437"/>
                <a:ext cx="1494790" cy="3733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𝑙𝑒𝑓𝑡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=0.5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77" y="6286437"/>
                <a:ext cx="1494790" cy="373380"/>
              </a:xfrm>
              <a:prstGeom prst="rect">
                <a:avLst/>
              </a:prstGeom>
              <a:blipFill rotWithShape="1">
                <a:blip r:embed="rId7"/>
                <a:stretch>
                  <a:fillRect l="-38" t="-3044" r="38" b="1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7"/>
              <p:cNvSpPr txBox="1"/>
              <p:nvPr/>
            </p:nvSpPr>
            <p:spPr>
              <a:xfrm>
                <a:off x="9093772" y="6285484"/>
                <a:ext cx="1894205" cy="375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=0.571</m:t>
                      </m:r>
                    </m:oMath>
                  </m:oMathPara>
                </a14:m>
                <a:endParaRPr lang="en-US" baseline="300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endParaRPr>
              </a:p>
            </p:txBody>
          </p:sp>
        </mc:Choice>
        <mc:Fallback xmlns="">
          <p:sp>
            <p:nvSpPr>
              <p:cNvPr id="8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72" y="6285484"/>
                <a:ext cx="1894205" cy="375285"/>
              </a:xfrm>
              <a:prstGeom prst="rect">
                <a:avLst/>
              </a:prstGeom>
              <a:blipFill rotWithShape="1">
                <a:blip r:embed="rId8"/>
                <a:stretch>
                  <a:fillRect l="-30" t="-2944" r="30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94"/>
          <p:cNvSpPr/>
          <p:nvPr/>
        </p:nvSpPr>
        <p:spPr>
          <a:xfrm>
            <a:off x="4812030" y="4267200"/>
            <a:ext cx="3018790" cy="334645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104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 flipH="1">
            <a:off x="7917180" y="535940"/>
            <a:ext cx="1387475" cy="63182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7" name="Straight Connector 6"/>
          <p:cNvCxnSpPr>
            <a:stCxn id="6" idx="2"/>
            <a:endCxn id="14" idx="0"/>
          </p:cNvCxnSpPr>
          <p:nvPr/>
        </p:nvCxnSpPr>
        <p:spPr>
          <a:xfrm flipH="1">
            <a:off x="7177405" y="1167765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2"/>
            <a:endCxn id="20" idx="0"/>
          </p:cNvCxnSpPr>
          <p:nvPr/>
        </p:nvCxnSpPr>
        <p:spPr>
          <a:xfrm>
            <a:off x="8610600" y="1167765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7"/>
          <p:cNvSpPr txBox="1"/>
          <p:nvPr/>
        </p:nvSpPr>
        <p:spPr>
          <a:xfrm rot="20168799">
            <a:off x="7297420" y="132651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0" name="Text Box 7"/>
          <p:cNvSpPr txBox="1"/>
          <p:nvPr/>
        </p:nvSpPr>
        <p:spPr>
          <a:xfrm rot="1362789">
            <a:off x="9394190" y="1360805"/>
            <a:ext cx="609600" cy="2768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12" name="Rectangle 80"/>
          <p:cNvSpPr/>
          <p:nvPr/>
        </p:nvSpPr>
        <p:spPr>
          <a:xfrm>
            <a:off x="6222365" y="1779270"/>
            <a:ext cx="1920240" cy="926465"/>
          </a:xfrm>
          <a:prstGeom prst="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ndara" panose="020E050203030302020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6356985" y="2347595"/>
            <a:ext cx="1651635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9078595" y="1775460"/>
            <a:ext cx="1922145" cy="930275"/>
            <a:chOff x="6226115" y="2006160"/>
            <a:chExt cx="1922172" cy="930459"/>
          </a:xfrm>
        </p:grpSpPr>
        <p:sp>
          <p:nvSpPr>
            <p:cNvPr id="19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20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1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      </a:t>
              </a:r>
              <a:r>
                <a:rPr lang="en-US" sz="1600" dirty="0">
                  <a:solidFill>
                    <a:schemeClr val="bg1"/>
                  </a:solidFill>
                  <a:latin typeface="Candara" panose="020E0502030303020204" charset="0"/>
                </a:rPr>
                <a:t>28           18          9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123"/>
          <p:cNvSpPr txBox="1"/>
          <p:nvPr/>
        </p:nvSpPr>
        <p:spPr>
          <a:xfrm>
            <a:off x="9364345" y="69913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4" name="TextBox 123"/>
          <p:cNvSpPr txBox="1"/>
          <p:nvPr/>
        </p:nvSpPr>
        <p:spPr>
          <a:xfrm>
            <a:off x="4975860" y="192087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25" name="TextBox 123"/>
          <p:cNvSpPr txBox="1"/>
          <p:nvPr/>
        </p:nvSpPr>
        <p:spPr>
          <a:xfrm>
            <a:off x="10940415" y="192087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338763" y="3112770"/>
            <a:ext cx="3685540" cy="631825"/>
            <a:chOff x="8240" y="4902"/>
            <a:chExt cx="5804" cy="995"/>
          </a:xfrm>
        </p:grpSpPr>
        <p:sp>
          <p:nvSpPr>
            <p:cNvPr id="4" name="Rounded Rectangle 3"/>
            <p:cNvSpPr/>
            <p:nvPr/>
          </p:nvSpPr>
          <p:spPr>
            <a:xfrm flipH="1">
              <a:off x="8240" y="490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 flipH="1">
              <a:off x="11860" y="4903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???</a:t>
              </a:r>
              <a:endParaRPr lang="en-US" b="1" dirty="0">
                <a:latin typeface="Candara" panose="020E0502030303020204" charset="0"/>
                <a:cs typeface="Candara" panose="020E0502030303020204" charset="0"/>
              </a:endParaRPr>
            </a:p>
          </p:txBody>
        </p:sp>
      </p:grpSp>
      <p:cxnSp>
        <p:nvCxnSpPr>
          <p:cNvPr id="33" name="Curved Connector 32"/>
          <p:cNvCxnSpPr>
            <a:stCxn id="12" idx="1"/>
            <a:endCxn id="4" idx="0"/>
          </p:cNvCxnSpPr>
          <p:nvPr/>
        </p:nvCxnSpPr>
        <p:spPr>
          <a:xfrm rot="10800000" flipV="1">
            <a:off x="6031865" y="2242820"/>
            <a:ext cx="189865" cy="869950"/>
          </a:xfrm>
          <a:prstGeom prst="curvedConnector2">
            <a:avLst/>
          </a:prstGeom>
          <a:ln w="28575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12" idx="3"/>
          </p:cNvCxnSpPr>
          <p:nvPr/>
        </p:nvCxnSpPr>
        <p:spPr>
          <a:xfrm>
            <a:off x="8142605" y="2242820"/>
            <a:ext cx="280035" cy="842645"/>
          </a:xfrm>
          <a:prstGeom prst="curvedConnector2">
            <a:avLst/>
          </a:prstGeom>
          <a:ln w="28575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86"/>
          <p:cNvSpPr txBox="1"/>
          <p:nvPr/>
        </p:nvSpPr>
        <p:spPr>
          <a:xfrm>
            <a:off x="6222365" y="1775460"/>
            <a:ext cx="190944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ndara" panose="020E0502030303020204" charset="0"/>
              </a:rPr>
              <a:t>Heart Condition</a:t>
            </a:r>
          </a:p>
        </p:txBody>
      </p:sp>
      <p:sp>
        <p:nvSpPr>
          <p:cNvPr id="39" name="TextBox 87"/>
          <p:cNvSpPr txBox="1"/>
          <p:nvPr/>
        </p:nvSpPr>
        <p:spPr>
          <a:xfrm>
            <a:off x="6220460" y="2113915"/>
            <a:ext cx="1909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andara" panose="020E0502030303020204" charset="0"/>
              </a:rPr>
              <a:t>Normal    Attention    Sick</a:t>
            </a:r>
          </a:p>
          <a:p>
            <a:r>
              <a:rPr lang="en-US" sz="1200" dirty="0">
                <a:solidFill>
                  <a:schemeClr val="bg1"/>
                </a:solidFill>
                <a:latin typeface="Candara" panose="020E0502030303020204" charset="0"/>
              </a:rPr>
              <a:t>        </a:t>
            </a:r>
            <a:r>
              <a:rPr lang="en-US" sz="1600" dirty="0">
                <a:solidFill>
                  <a:schemeClr val="bg1"/>
                </a:solidFill>
                <a:latin typeface="Candara" panose="020E0502030303020204" charset="0"/>
                <a:sym typeface="+mn-ea"/>
              </a:rPr>
              <a:t>6</a:t>
            </a:r>
            <a:r>
              <a:rPr lang="en-US" sz="1600" dirty="0">
                <a:solidFill>
                  <a:schemeClr val="bg1"/>
                </a:solidFill>
                <a:latin typeface="Candara" panose="020E0502030303020204" charset="0"/>
              </a:rPr>
              <a:t>           15          24</a:t>
            </a:r>
          </a:p>
        </p:txBody>
      </p:sp>
      <p:sp>
        <p:nvSpPr>
          <p:cNvPr id="3" name="Rectangle 94"/>
          <p:cNvSpPr/>
          <p:nvPr/>
        </p:nvSpPr>
        <p:spPr>
          <a:xfrm>
            <a:off x="445770" y="2350770"/>
            <a:ext cx="3589655" cy="334645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94"/>
          <p:cNvSpPr/>
          <p:nvPr/>
        </p:nvSpPr>
        <p:spPr>
          <a:xfrm>
            <a:off x="445770" y="4174490"/>
            <a:ext cx="3589655" cy="323215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94"/>
          <p:cNvSpPr/>
          <p:nvPr/>
        </p:nvSpPr>
        <p:spPr>
          <a:xfrm>
            <a:off x="445770" y="3567430"/>
            <a:ext cx="3589655" cy="334645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105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 flipH="1">
            <a:off x="7917180" y="535940"/>
            <a:ext cx="1387475" cy="63182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7" name="Straight Connector 6"/>
          <p:cNvCxnSpPr>
            <a:stCxn id="6" idx="2"/>
            <a:endCxn id="13" idx="0"/>
          </p:cNvCxnSpPr>
          <p:nvPr/>
        </p:nvCxnSpPr>
        <p:spPr>
          <a:xfrm flipH="1">
            <a:off x="7200265" y="1167765"/>
            <a:ext cx="1410970" cy="61150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2"/>
            <a:endCxn id="20" idx="0"/>
          </p:cNvCxnSpPr>
          <p:nvPr/>
        </p:nvCxnSpPr>
        <p:spPr>
          <a:xfrm>
            <a:off x="8610600" y="1167765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7"/>
          <p:cNvSpPr txBox="1"/>
          <p:nvPr/>
        </p:nvSpPr>
        <p:spPr>
          <a:xfrm rot="20168799">
            <a:off x="7297420" y="132651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0" name="Text Box 7"/>
          <p:cNvSpPr txBox="1"/>
          <p:nvPr/>
        </p:nvSpPr>
        <p:spPr>
          <a:xfrm rot="1362789">
            <a:off x="9394190" y="1360805"/>
            <a:ext cx="609600" cy="2768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9078595" y="1775460"/>
            <a:ext cx="1922145" cy="930275"/>
            <a:chOff x="6226115" y="2006160"/>
            <a:chExt cx="1922172" cy="930459"/>
          </a:xfrm>
        </p:grpSpPr>
        <p:sp>
          <p:nvSpPr>
            <p:cNvPr id="19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20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1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      </a:t>
              </a:r>
              <a:r>
                <a:rPr lang="en-US" sz="1600" dirty="0">
                  <a:solidFill>
                    <a:schemeClr val="bg1"/>
                  </a:solidFill>
                  <a:latin typeface="Candara" panose="020E0502030303020204" charset="0"/>
                </a:rPr>
                <a:t>28           18          9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123"/>
          <p:cNvSpPr txBox="1"/>
          <p:nvPr/>
        </p:nvSpPr>
        <p:spPr>
          <a:xfrm>
            <a:off x="9364345" y="69913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5" name="TextBox 123"/>
          <p:cNvSpPr txBox="1"/>
          <p:nvPr/>
        </p:nvSpPr>
        <p:spPr>
          <a:xfrm>
            <a:off x="10940415" y="192087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13" name="Rounded Rectangle 12"/>
          <p:cNvSpPr/>
          <p:nvPr/>
        </p:nvSpPr>
        <p:spPr>
          <a:xfrm flipH="1">
            <a:off x="6506580" y="17795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  <a:sym typeface="+mn-ea"/>
              </a:rPr>
              <a:t>weight ≤ 91.5</a:t>
            </a:r>
            <a:endParaRPr lang="en-US" b="1" dirty="0">
              <a:latin typeface="Candara" panose="020E0502030303020204" charset="0"/>
              <a:cs typeface="Candara" panose="020E0502030303020204" charset="0"/>
            </a:endParaRPr>
          </a:p>
        </p:txBody>
      </p:sp>
      <p:cxnSp>
        <p:nvCxnSpPr>
          <p:cNvPr id="14" name="Straight Connector 13"/>
          <p:cNvCxnSpPr>
            <a:stCxn id="13" idx="2"/>
          </p:cNvCxnSpPr>
          <p:nvPr/>
        </p:nvCxnSpPr>
        <p:spPr>
          <a:xfrm flipH="1">
            <a:off x="5767166" y="24110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3" idx="2"/>
          </p:cNvCxnSpPr>
          <p:nvPr/>
        </p:nvCxnSpPr>
        <p:spPr>
          <a:xfrm>
            <a:off x="7200361" y="24110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 rot="20168799">
            <a:off x="5886811" y="25699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 Box 7"/>
          <p:cNvSpPr txBox="1"/>
          <p:nvPr/>
        </p:nvSpPr>
        <p:spPr>
          <a:xfrm rot="1362789">
            <a:off x="7984056" y="26042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810065" y="3019016"/>
            <a:ext cx="1922172" cy="930459"/>
            <a:chOff x="6226115" y="2006160"/>
            <a:chExt cx="1922172" cy="930459"/>
          </a:xfrm>
        </p:grpSpPr>
        <p:sp>
          <p:nvSpPr>
            <p:cNvPr id="4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4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3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4</a:t>
              </a:r>
              <a:r>
                <a:rPr lang="en-US" sz="1600" dirty="0">
                  <a:latin typeface="Candara" panose="020E0502030303020204" charset="0"/>
                </a:rPr>
                <a:t>            4           16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7668485" y="3019016"/>
            <a:ext cx="1922172" cy="930459"/>
            <a:chOff x="6226115" y="2006160"/>
            <a:chExt cx="1922172" cy="930459"/>
          </a:xfrm>
        </p:grpSpPr>
        <p:sp>
          <p:nvSpPr>
            <p:cNvPr id="46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47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8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2            11           8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123"/>
          <p:cNvSpPr txBox="1"/>
          <p:nvPr/>
        </p:nvSpPr>
        <p:spPr>
          <a:xfrm>
            <a:off x="5238750" y="1941830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106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 flipH="1">
            <a:off x="7917180" y="535940"/>
            <a:ext cx="1387475" cy="63182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7" name="Straight Connector 6"/>
          <p:cNvCxnSpPr>
            <a:stCxn id="6" idx="2"/>
            <a:endCxn id="13" idx="0"/>
          </p:cNvCxnSpPr>
          <p:nvPr/>
        </p:nvCxnSpPr>
        <p:spPr>
          <a:xfrm flipH="1">
            <a:off x="7200265" y="1167765"/>
            <a:ext cx="1410970" cy="61150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2"/>
            <a:endCxn id="20" idx="0"/>
          </p:cNvCxnSpPr>
          <p:nvPr/>
        </p:nvCxnSpPr>
        <p:spPr>
          <a:xfrm>
            <a:off x="8610600" y="1167765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7"/>
          <p:cNvSpPr txBox="1"/>
          <p:nvPr/>
        </p:nvSpPr>
        <p:spPr>
          <a:xfrm rot="20168799">
            <a:off x="7297420" y="132651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0" name="Text Box 7"/>
          <p:cNvSpPr txBox="1"/>
          <p:nvPr/>
        </p:nvSpPr>
        <p:spPr>
          <a:xfrm rot="1362789">
            <a:off x="9394190" y="1360805"/>
            <a:ext cx="609600" cy="2768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9078595" y="1775460"/>
            <a:ext cx="1922145" cy="930275"/>
            <a:chOff x="6226115" y="2006160"/>
            <a:chExt cx="1922172" cy="930459"/>
          </a:xfrm>
        </p:grpSpPr>
        <p:sp>
          <p:nvSpPr>
            <p:cNvPr id="19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20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1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      </a:t>
              </a:r>
              <a:r>
                <a:rPr lang="en-US" sz="1600" dirty="0">
                  <a:solidFill>
                    <a:schemeClr val="bg1"/>
                  </a:solidFill>
                  <a:latin typeface="Candara" panose="020E0502030303020204" charset="0"/>
                </a:rPr>
                <a:t>28           18          9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123"/>
          <p:cNvSpPr txBox="1"/>
          <p:nvPr/>
        </p:nvSpPr>
        <p:spPr>
          <a:xfrm>
            <a:off x="9364345" y="69913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5" name="TextBox 123"/>
          <p:cNvSpPr txBox="1"/>
          <p:nvPr/>
        </p:nvSpPr>
        <p:spPr>
          <a:xfrm>
            <a:off x="10940415" y="192087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13" name="Rounded Rectangle 12"/>
          <p:cNvSpPr/>
          <p:nvPr/>
        </p:nvSpPr>
        <p:spPr>
          <a:xfrm flipH="1">
            <a:off x="6506580" y="17795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  <a:sym typeface="+mn-ea"/>
              </a:rPr>
              <a:t>weight ≤ 91.5</a:t>
            </a:r>
            <a:endParaRPr lang="en-US" b="1" dirty="0">
              <a:latin typeface="Candara" panose="020E0502030303020204" charset="0"/>
              <a:cs typeface="Candara" panose="020E0502030303020204" charset="0"/>
            </a:endParaRPr>
          </a:p>
        </p:txBody>
      </p:sp>
      <p:cxnSp>
        <p:nvCxnSpPr>
          <p:cNvPr id="14" name="Straight Connector 13"/>
          <p:cNvCxnSpPr>
            <a:stCxn id="13" idx="2"/>
          </p:cNvCxnSpPr>
          <p:nvPr/>
        </p:nvCxnSpPr>
        <p:spPr>
          <a:xfrm flipH="1">
            <a:off x="5767166" y="24110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3" idx="2"/>
          </p:cNvCxnSpPr>
          <p:nvPr/>
        </p:nvCxnSpPr>
        <p:spPr>
          <a:xfrm>
            <a:off x="7200361" y="24110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 rot="20168799">
            <a:off x="5886811" y="25699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 Box 7"/>
          <p:cNvSpPr txBox="1"/>
          <p:nvPr/>
        </p:nvSpPr>
        <p:spPr>
          <a:xfrm rot="1362789">
            <a:off x="7984056" y="26042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810065" y="3019016"/>
            <a:ext cx="1922172" cy="930459"/>
            <a:chOff x="6226115" y="2006160"/>
            <a:chExt cx="1922172" cy="930459"/>
          </a:xfrm>
        </p:grpSpPr>
        <p:sp>
          <p:nvSpPr>
            <p:cNvPr id="4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4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3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4</a:t>
              </a:r>
              <a:r>
                <a:rPr lang="en-US" sz="1600" dirty="0">
                  <a:latin typeface="Candara" panose="020E0502030303020204" charset="0"/>
                </a:rPr>
                <a:t>            4           16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7668485" y="3019016"/>
            <a:ext cx="1922172" cy="930459"/>
            <a:chOff x="6226115" y="2006160"/>
            <a:chExt cx="1922172" cy="930459"/>
          </a:xfrm>
        </p:grpSpPr>
        <p:sp>
          <p:nvSpPr>
            <p:cNvPr id="46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47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8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2            11           8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123"/>
          <p:cNvSpPr txBox="1"/>
          <p:nvPr/>
        </p:nvSpPr>
        <p:spPr>
          <a:xfrm>
            <a:off x="5238750" y="1941830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2" name="TextBox 123"/>
          <p:cNvSpPr txBox="1"/>
          <p:nvPr/>
        </p:nvSpPr>
        <p:spPr>
          <a:xfrm>
            <a:off x="4638993" y="4643755"/>
            <a:ext cx="32778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splitting process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continues until the algorithm reaches a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stop condition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107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 flipH="1">
            <a:off x="7917180" y="535940"/>
            <a:ext cx="1387475" cy="63182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7" name="Straight Connector 6"/>
          <p:cNvCxnSpPr>
            <a:stCxn id="6" idx="2"/>
            <a:endCxn id="13" idx="0"/>
          </p:cNvCxnSpPr>
          <p:nvPr/>
        </p:nvCxnSpPr>
        <p:spPr>
          <a:xfrm flipH="1">
            <a:off x="7200265" y="1167765"/>
            <a:ext cx="1410970" cy="61150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2"/>
            <a:endCxn id="20" idx="0"/>
          </p:cNvCxnSpPr>
          <p:nvPr/>
        </p:nvCxnSpPr>
        <p:spPr>
          <a:xfrm>
            <a:off x="8610600" y="1167765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7"/>
          <p:cNvSpPr txBox="1"/>
          <p:nvPr/>
        </p:nvSpPr>
        <p:spPr>
          <a:xfrm rot="20168799">
            <a:off x="7297420" y="132651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0" name="Text Box 7"/>
          <p:cNvSpPr txBox="1"/>
          <p:nvPr/>
        </p:nvSpPr>
        <p:spPr>
          <a:xfrm rot="1362789">
            <a:off x="9394190" y="1360805"/>
            <a:ext cx="609600" cy="2768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9078595" y="1775460"/>
            <a:ext cx="1922145" cy="930275"/>
            <a:chOff x="6226115" y="2006160"/>
            <a:chExt cx="1922172" cy="930459"/>
          </a:xfrm>
        </p:grpSpPr>
        <p:sp>
          <p:nvSpPr>
            <p:cNvPr id="19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20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1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      </a:t>
              </a:r>
              <a:r>
                <a:rPr lang="en-US" sz="1600" dirty="0">
                  <a:solidFill>
                    <a:schemeClr val="bg1"/>
                  </a:solidFill>
                  <a:latin typeface="Candara" panose="020E0502030303020204" charset="0"/>
                </a:rPr>
                <a:t>28           18          9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123"/>
          <p:cNvSpPr txBox="1"/>
          <p:nvPr/>
        </p:nvSpPr>
        <p:spPr>
          <a:xfrm>
            <a:off x="9364345" y="69913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5" name="TextBox 123"/>
          <p:cNvSpPr txBox="1"/>
          <p:nvPr/>
        </p:nvSpPr>
        <p:spPr>
          <a:xfrm>
            <a:off x="10940415" y="192087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13" name="Rounded Rectangle 12"/>
          <p:cNvSpPr/>
          <p:nvPr/>
        </p:nvSpPr>
        <p:spPr>
          <a:xfrm flipH="1">
            <a:off x="6506580" y="17795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  <a:sym typeface="+mn-ea"/>
              </a:rPr>
              <a:t>weight ≤ 91.5</a:t>
            </a:r>
            <a:endParaRPr lang="en-US" b="1" dirty="0">
              <a:latin typeface="Candara" panose="020E0502030303020204" charset="0"/>
              <a:cs typeface="Candara" panose="020E0502030303020204" charset="0"/>
            </a:endParaRPr>
          </a:p>
        </p:txBody>
      </p:sp>
      <p:cxnSp>
        <p:nvCxnSpPr>
          <p:cNvPr id="14" name="Straight Connector 13"/>
          <p:cNvCxnSpPr>
            <a:stCxn id="13" idx="2"/>
          </p:cNvCxnSpPr>
          <p:nvPr/>
        </p:nvCxnSpPr>
        <p:spPr>
          <a:xfrm flipH="1">
            <a:off x="5767166" y="24110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3" idx="2"/>
          </p:cNvCxnSpPr>
          <p:nvPr/>
        </p:nvCxnSpPr>
        <p:spPr>
          <a:xfrm>
            <a:off x="7200361" y="24110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 rot="20168799">
            <a:off x="5886811" y="25699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 Box 7"/>
          <p:cNvSpPr txBox="1"/>
          <p:nvPr/>
        </p:nvSpPr>
        <p:spPr>
          <a:xfrm rot="1362789">
            <a:off x="7984056" y="26042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810065" y="3019016"/>
            <a:ext cx="1922172" cy="930459"/>
            <a:chOff x="6226115" y="2006160"/>
            <a:chExt cx="1922172" cy="930459"/>
          </a:xfrm>
        </p:grpSpPr>
        <p:sp>
          <p:nvSpPr>
            <p:cNvPr id="4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4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3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4</a:t>
              </a:r>
              <a:r>
                <a:rPr lang="en-US" sz="1600" dirty="0">
                  <a:latin typeface="Candara" panose="020E0502030303020204" charset="0"/>
                </a:rPr>
                <a:t>            4           16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7668485" y="3019016"/>
            <a:ext cx="1922172" cy="930459"/>
            <a:chOff x="6226115" y="2006160"/>
            <a:chExt cx="1922172" cy="930459"/>
          </a:xfrm>
        </p:grpSpPr>
        <p:sp>
          <p:nvSpPr>
            <p:cNvPr id="46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47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8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2            11           8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123"/>
          <p:cNvSpPr txBox="1"/>
          <p:nvPr/>
        </p:nvSpPr>
        <p:spPr>
          <a:xfrm>
            <a:off x="5238750" y="1941830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2" name="TextBox 123"/>
          <p:cNvSpPr txBox="1"/>
          <p:nvPr/>
        </p:nvSpPr>
        <p:spPr>
          <a:xfrm>
            <a:off x="4638993" y="4643755"/>
            <a:ext cx="32778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splitting process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continues until the algorithm reaches a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stop condition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3" name="TextBox 123"/>
          <p:cNvSpPr txBox="1"/>
          <p:nvPr/>
        </p:nvSpPr>
        <p:spPr>
          <a:xfrm>
            <a:off x="7805420" y="5243195"/>
            <a:ext cx="42017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Examples:</a:t>
            </a:r>
          </a:p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All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leaves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are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pure; </a:t>
            </a:r>
          </a:p>
          <a:p>
            <a:pPr marL="742950" lvl="1" indent="-285750" algn="l"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high chances of </a:t>
            </a:r>
            <a:r>
              <a:rPr lang="en-US" sz="1600" b="1" dirty="0">
                <a:solidFill>
                  <a:srgbClr val="202020"/>
                </a:solidFill>
                <a:latin typeface="Candara" panose="020E0502030303020204" charset="0"/>
              </a:rPr>
              <a:t>overfitting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;</a:t>
            </a:r>
          </a:p>
          <a:p>
            <a:pPr marL="285750" lvl="0" indent="-285750" algn="l"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202020"/>
                </a:solidFill>
                <a:latin typeface="Candara" panose="020E0502030303020204" charset="0"/>
              </a:rPr>
              <a:t>Maximum tree depth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(hyperparameter)</a:t>
            </a:r>
            <a:r>
              <a:rPr lang="en-US" sz="1600" b="1" dirty="0">
                <a:solidFill>
                  <a:srgbClr val="202020"/>
                </a:solidFill>
                <a:latin typeface="Candara" panose="020E0502030303020204" charset="0"/>
              </a:rPr>
              <a:t>;</a:t>
            </a:r>
          </a:p>
          <a:p>
            <a:pPr marL="742950" lvl="1" indent="-285750" algn="l"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Regularization</a:t>
            </a:r>
            <a:endParaRPr lang="en-US" sz="1600" b="1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cxnSp>
        <p:nvCxnSpPr>
          <p:cNvPr id="4" name="Curved Connector 3"/>
          <p:cNvCxnSpPr>
            <a:stCxn id="2" idx="2"/>
            <a:endCxn id="3" idx="1"/>
          </p:cNvCxnSpPr>
          <p:nvPr/>
        </p:nvCxnSpPr>
        <p:spPr>
          <a:xfrm rot="5400000" flipV="1">
            <a:off x="6872605" y="4971415"/>
            <a:ext cx="338455" cy="1527175"/>
          </a:xfrm>
          <a:prstGeom prst="curvedConnector2">
            <a:avLst/>
          </a:prstGeom>
          <a:ln w="28575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108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71475" y="1228481"/>
          <a:ext cx="36638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322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smoke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workout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weight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  <a:latin typeface="Candara" panose="020E0502030303020204" charset="0"/>
                        </a:rPr>
                        <a:t>heart condition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85.0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75.0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72.0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78.0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120.0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84.0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Sick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98.0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solidFill>
                            <a:srgbClr val="595959"/>
                          </a:solidFill>
                          <a:effectLst/>
                          <a:latin typeface="Candara" panose="020E0502030303020204" charset="0"/>
                        </a:rPr>
                        <a:t>Attention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31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4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1600" dirty="0">
                    <a:latin typeface="Candara" panose="020E0502030303020204" charset="0"/>
                  </a:rPr>
                  <a:t>samples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66301"/>
                <a:ext cx="1702389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217" r="-8880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 flipH="1">
            <a:off x="7917180" y="535940"/>
            <a:ext cx="1387475" cy="63182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cxnSp>
        <p:nvCxnSpPr>
          <p:cNvPr id="7" name="Straight Connector 6"/>
          <p:cNvCxnSpPr>
            <a:stCxn id="6" idx="2"/>
            <a:endCxn id="13" idx="0"/>
          </p:cNvCxnSpPr>
          <p:nvPr/>
        </p:nvCxnSpPr>
        <p:spPr>
          <a:xfrm flipH="1">
            <a:off x="7200265" y="1167765"/>
            <a:ext cx="1410970" cy="61150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2"/>
            <a:endCxn id="20" idx="0"/>
          </p:cNvCxnSpPr>
          <p:nvPr/>
        </p:nvCxnSpPr>
        <p:spPr>
          <a:xfrm>
            <a:off x="8610600" y="1167765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7"/>
          <p:cNvSpPr txBox="1"/>
          <p:nvPr/>
        </p:nvSpPr>
        <p:spPr>
          <a:xfrm rot="20168799">
            <a:off x="7297420" y="1326515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10" name="Text Box 7"/>
          <p:cNvSpPr txBox="1"/>
          <p:nvPr/>
        </p:nvSpPr>
        <p:spPr>
          <a:xfrm rot="1362789">
            <a:off x="9394190" y="1360805"/>
            <a:ext cx="609600" cy="2768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9078595" y="1775460"/>
            <a:ext cx="1922145" cy="930275"/>
            <a:chOff x="6226115" y="2006160"/>
            <a:chExt cx="1922172" cy="930459"/>
          </a:xfrm>
        </p:grpSpPr>
        <p:sp>
          <p:nvSpPr>
            <p:cNvPr id="19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20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21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andara" panose="020E0502030303020204" charset="0"/>
                </a:rPr>
                <a:t>      </a:t>
              </a:r>
              <a:r>
                <a:rPr lang="en-US" sz="1600" dirty="0">
                  <a:solidFill>
                    <a:schemeClr val="bg1"/>
                  </a:solidFill>
                  <a:latin typeface="Candara" panose="020E0502030303020204" charset="0"/>
                </a:rPr>
                <a:t>28           18          9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123"/>
          <p:cNvSpPr txBox="1"/>
          <p:nvPr/>
        </p:nvSpPr>
        <p:spPr>
          <a:xfrm>
            <a:off x="9364345" y="69913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100 samples</a:t>
            </a:r>
          </a:p>
        </p:txBody>
      </p:sp>
      <p:sp>
        <p:nvSpPr>
          <p:cNvPr id="25" name="TextBox 123"/>
          <p:cNvSpPr txBox="1"/>
          <p:nvPr/>
        </p:nvSpPr>
        <p:spPr>
          <a:xfrm>
            <a:off x="10940415" y="1920875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55 samples</a:t>
            </a:r>
          </a:p>
        </p:txBody>
      </p:sp>
      <p:sp>
        <p:nvSpPr>
          <p:cNvPr id="13" name="Rounded Rectangle 12"/>
          <p:cNvSpPr/>
          <p:nvPr/>
        </p:nvSpPr>
        <p:spPr>
          <a:xfrm flipH="1">
            <a:off x="6506580" y="1779571"/>
            <a:ext cx="1387563" cy="632112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ndara" panose="020E0502030303020204" charset="0"/>
                <a:cs typeface="Candara" panose="020E0502030303020204" charset="0"/>
                <a:sym typeface="+mn-ea"/>
              </a:rPr>
              <a:t>weight ≤ 91.5</a:t>
            </a:r>
            <a:endParaRPr lang="en-US" b="1" dirty="0">
              <a:latin typeface="Candara" panose="020E0502030303020204" charset="0"/>
              <a:cs typeface="Candara" panose="020E0502030303020204" charset="0"/>
            </a:endParaRPr>
          </a:p>
        </p:txBody>
      </p:sp>
      <p:cxnSp>
        <p:nvCxnSpPr>
          <p:cNvPr id="14" name="Straight Connector 13"/>
          <p:cNvCxnSpPr>
            <a:stCxn id="13" idx="2"/>
          </p:cNvCxnSpPr>
          <p:nvPr/>
        </p:nvCxnSpPr>
        <p:spPr>
          <a:xfrm flipH="1">
            <a:off x="5767166" y="2411048"/>
            <a:ext cx="1433195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3" idx="2"/>
          </p:cNvCxnSpPr>
          <p:nvPr/>
        </p:nvCxnSpPr>
        <p:spPr>
          <a:xfrm>
            <a:off x="7200361" y="2411048"/>
            <a:ext cx="1424940" cy="60769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 rot="20168799">
            <a:off x="5886811" y="2569904"/>
            <a:ext cx="56515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 Box 7"/>
          <p:cNvSpPr txBox="1"/>
          <p:nvPr/>
        </p:nvSpPr>
        <p:spPr>
          <a:xfrm rot="1362789">
            <a:off x="7984056" y="2604290"/>
            <a:ext cx="609462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2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810065" y="3019016"/>
            <a:ext cx="1922172" cy="930459"/>
            <a:chOff x="6226115" y="2006160"/>
            <a:chExt cx="1922172" cy="930459"/>
          </a:xfrm>
        </p:grpSpPr>
        <p:sp>
          <p:nvSpPr>
            <p:cNvPr id="41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42" name="TextBox 86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3" name="TextBox 87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</a:t>
              </a:r>
              <a:r>
                <a:rPr lang="en-US" sz="1600" dirty="0">
                  <a:latin typeface="Candara" panose="020E0502030303020204" charset="0"/>
                  <a:sym typeface="+mn-ea"/>
                </a:rPr>
                <a:t>4</a:t>
              </a:r>
              <a:r>
                <a:rPr lang="en-US" sz="1600" dirty="0">
                  <a:latin typeface="Candara" panose="020E0502030303020204" charset="0"/>
                </a:rPr>
                <a:t>            4           16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7668485" y="3019016"/>
            <a:ext cx="1922172" cy="930459"/>
            <a:chOff x="6226115" y="2006160"/>
            <a:chExt cx="1922172" cy="930459"/>
          </a:xfrm>
        </p:grpSpPr>
        <p:sp>
          <p:nvSpPr>
            <p:cNvPr id="46" name="Rectangle 89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47" name="TextBox 90"/>
            <p:cNvSpPr txBox="1"/>
            <p:nvPr/>
          </p:nvSpPr>
          <p:spPr>
            <a:xfrm>
              <a:off x="6227906" y="2006160"/>
              <a:ext cx="190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48" name="TextBox 91"/>
            <p:cNvSpPr txBox="1"/>
            <p:nvPr/>
          </p:nvSpPr>
          <p:spPr>
            <a:xfrm>
              <a:off x="6226115" y="2344714"/>
              <a:ext cx="1909753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200" dirty="0">
                  <a:latin typeface="Candara" panose="020E0502030303020204" charset="0"/>
                </a:rPr>
                <a:t>        </a:t>
              </a:r>
              <a:r>
                <a:rPr lang="en-US" sz="1600" dirty="0">
                  <a:latin typeface="Candara" panose="020E0502030303020204" charset="0"/>
                </a:rPr>
                <a:t>2            11           8</a:t>
              </a:r>
              <a:endParaRPr lang="en-US" sz="1200" dirty="0">
                <a:latin typeface="Candara" panose="020E0502030303020204" charset="0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123"/>
          <p:cNvSpPr txBox="1"/>
          <p:nvPr/>
        </p:nvSpPr>
        <p:spPr>
          <a:xfrm>
            <a:off x="5238750" y="1941830"/>
            <a:ext cx="1244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</a:rPr>
              <a:t>45 samples</a:t>
            </a:r>
          </a:p>
        </p:txBody>
      </p:sp>
      <p:sp>
        <p:nvSpPr>
          <p:cNvPr id="2" name="TextBox 123"/>
          <p:cNvSpPr txBox="1"/>
          <p:nvPr/>
        </p:nvSpPr>
        <p:spPr>
          <a:xfrm>
            <a:off x="4638993" y="4643755"/>
            <a:ext cx="32778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The </a:t>
            </a:r>
            <a:r>
              <a:rPr lang="en-US" b="1" dirty="0">
                <a:solidFill>
                  <a:schemeClr val="tx1"/>
                </a:solidFill>
                <a:latin typeface="Candara" panose="020E0502030303020204" charset="0"/>
              </a:rPr>
              <a:t>splitting process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 continues until the algorithm reaches a 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stop condition</a:t>
            </a:r>
            <a:r>
              <a:rPr lang="en-US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  <a:endParaRPr lang="en-US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3" name="TextBox 123"/>
          <p:cNvSpPr txBox="1"/>
          <p:nvPr/>
        </p:nvSpPr>
        <p:spPr>
          <a:xfrm>
            <a:off x="7805420" y="5243195"/>
            <a:ext cx="42017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Examples:</a:t>
            </a:r>
            <a:endParaRPr lang="en-US" sz="16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All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  <a:sym typeface="+mn-ea"/>
              </a:rPr>
              <a:t>leaves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are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  <a:sym typeface="+mn-ea"/>
              </a:rPr>
              <a:t>pure; </a:t>
            </a:r>
            <a:endParaRPr lang="en-US" sz="1600" b="1" dirty="0">
              <a:solidFill>
                <a:srgbClr val="358EF2"/>
              </a:solidFill>
              <a:latin typeface="Candara" panose="020E0502030303020204" charset="0"/>
            </a:endParaRPr>
          </a:p>
          <a:p>
            <a:pPr marL="742950" lvl="1" indent="-285750" algn="l"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high chances of </a:t>
            </a:r>
            <a:r>
              <a:rPr lang="en-US" sz="1600" b="1" dirty="0">
                <a:solidFill>
                  <a:srgbClr val="202020"/>
                </a:solidFill>
                <a:latin typeface="Candara" panose="020E0502030303020204" charset="0"/>
                <a:sym typeface="+mn-ea"/>
              </a:rPr>
              <a:t>overfitting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;</a:t>
            </a:r>
            <a:endParaRPr lang="en-US" sz="16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marL="285750" lvl="0" indent="-285750" algn="l"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rgbClr val="202020"/>
                </a:solidFill>
                <a:latin typeface="Candara" panose="020E0502030303020204" charset="0"/>
                <a:sym typeface="+mn-ea"/>
              </a:rPr>
              <a:t>Maximum tree depth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(hyperparameter)</a:t>
            </a:r>
            <a:r>
              <a:rPr lang="en-US" sz="1600" b="1" dirty="0">
                <a:solidFill>
                  <a:srgbClr val="202020"/>
                </a:solidFill>
                <a:latin typeface="Candara" panose="020E0502030303020204" charset="0"/>
                <a:sym typeface="+mn-ea"/>
              </a:rPr>
              <a:t>;</a:t>
            </a:r>
            <a:endParaRPr lang="en-US" sz="1600" b="1" dirty="0">
              <a:solidFill>
                <a:srgbClr val="202020"/>
              </a:solidFill>
              <a:latin typeface="Candara" panose="020E0502030303020204" charset="0"/>
            </a:endParaRPr>
          </a:p>
          <a:p>
            <a:pPr marL="742950" lvl="1" indent="-285750" algn="l"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Regularization</a:t>
            </a:r>
            <a:endParaRPr lang="en-US" sz="1600" b="1" dirty="0">
              <a:solidFill>
                <a:srgbClr val="595959"/>
              </a:solidFill>
              <a:latin typeface="Candara" panose="020E0502030303020204" charset="0"/>
              <a:sym typeface="+mn-ea"/>
            </a:endParaRPr>
          </a:p>
        </p:txBody>
      </p:sp>
      <p:cxnSp>
        <p:nvCxnSpPr>
          <p:cNvPr id="4" name="Curved Connector 3"/>
          <p:cNvCxnSpPr>
            <a:stCxn id="2" idx="2"/>
            <a:endCxn id="3" idx="1"/>
          </p:cNvCxnSpPr>
          <p:nvPr/>
        </p:nvCxnSpPr>
        <p:spPr>
          <a:xfrm rot="5400000" flipV="1">
            <a:off x="6872605" y="4971415"/>
            <a:ext cx="338455" cy="1527175"/>
          </a:xfrm>
          <a:prstGeom prst="curvedConnector2">
            <a:avLst/>
          </a:prstGeom>
          <a:ln w="28575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94"/>
          <p:cNvSpPr/>
          <p:nvPr/>
        </p:nvSpPr>
        <p:spPr>
          <a:xfrm>
            <a:off x="7805420" y="5998845"/>
            <a:ext cx="3904615" cy="543560"/>
          </a:xfrm>
          <a:prstGeom prst="rect">
            <a:avLst/>
          </a:prstGeom>
          <a:noFill/>
          <a:ln w="28575">
            <a:solidFill>
              <a:srgbClr val="FF5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109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93368" y="2315845"/>
            <a:ext cx="8913514" cy="3553309"/>
            <a:chOff x="102" y="880"/>
            <a:chExt cx="18396" cy="7334"/>
          </a:xfrm>
        </p:grpSpPr>
        <p:sp>
          <p:nvSpPr>
            <p:cNvPr id="7" name="Rectangle 6"/>
            <p:cNvSpPr/>
            <p:nvPr/>
          </p:nvSpPr>
          <p:spPr>
            <a:xfrm>
              <a:off x="70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02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712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4" y="5080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8507" y="1066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910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3105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5003" y="2061"/>
              <a:ext cx="4597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14198" y="3913"/>
              <a:ext cx="2197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5098" y="2319"/>
              <a:ext cx="15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12650" y="2316"/>
              <a:ext cx="11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9600" y="2061"/>
              <a:ext cx="4598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ounded Rectangle 67"/>
            <p:cNvSpPr/>
            <p:nvPr/>
          </p:nvSpPr>
          <p:spPr>
            <a:xfrm flipH="1">
              <a:off x="15303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84.5 kg</a:t>
              </a:r>
            </a:p>
          </p:txBody>
        </p:sp>
        <p:cxnSp>
          <p:nvCxnSpPr>
            <p:cNvPr id="71" name="Straight Connector 70"/>
            <p:cNvCxnSpPr>
              <a:stCxn id="43" idx="2"/>
              <a:endCxn id="39" idx="0"/>
            </p:cNvCxnSpPr>
            <p:nvPr/>
          </p:nvCxnSpPr>
          <p:spPr>
            <a:xfrm flipH="1">
              <a:off x="11928" y="3913"/>
              <a:ext cx="2270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2805" y="3913"/>
              <a:ext cx="2198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5003" y="3913"/>
              <a:ext cx="2430" cy="116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/>
            <p:cNvSpPr/>
            <p:nvPr/>
          </p:nvSpPr>
          <p:spPr>
            <a:xfrm>
              <a:off x="14293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  <a:sym typeface="+mn-ea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6620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641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2805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15232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6396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2846" y="4294"/>
              <a:ext cx="4558" cy="639"/>
              <a:chOff x="1807518" y="2923518"/>
              <a:chExt cx="2894439" cy="406238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07518" y="2923518"/>
                <a:ext cx="789784" cy="2578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49032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11905" y="4288"/>
              <a:ext cx="4460" cy="518"/>
              <a:chOff x="1805854" y="2919353"/>
              <a:chExt cx="2832047" cy="329145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05854" y="2919353"/>
                <a:ext cx="807261" cy="26046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28439" y="2967774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791" y="6048"/>
              <a:ext cx="2117" cy="1381"/>
              <a:chOff x="1137490" y="4049906"/>
              <a:chExt cx="1344436" cy="876598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04571" y="4282824"/>
                <a:ext cx="720568" cy="2547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5430" y="6034"/>
              <a:ext cx="2113" cy="1395"/>
              <a:chOff x="1292645" y="4193398"/>
              <a:chExt cx="1341681" cy="885506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55308" y="4430734"/>
                <a:ext cx="728889" cy="2542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11358" y="45559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52" name="TextBox 123"/>
            <p:cNvSpPr txBox="1"/>
            <p:nvPr/>
          </p:nvSpPr>
          <p:spPr>
            <a:xfrm rot="691217">
              <a:off x="12255" y="880"/>
              <a:ext cx="3747" cy="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</a:rPr>
                <a:t>Does a person have a heart disorder?</a:t>
              </a: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102" y="1564"/>
              <a:ext cx="487" cy="6212"/>
              <a:chOff x="12073981" y="1470992"/>
              <a:chExt cx="309434" cy="3944406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 flipV="1">
                <a:off x="12228698" y="1470992"/>
                <a:ext cx="0" cy="3944406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flipH="1">
                <a:off x="12073981" y="5415398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H="1">
                <a:off x="12073981" y="1470992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TextBox 123"/>
            <p:cNvSpPr txBox="1"/>
            <p:nvPr/>
          </p:nvSpPr>
          <p:spPr>
            <a:xfrm>
              <a:off x="468" y="1711"/>
              <a:ext cx="2314" cy="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</a:rPr>
                <a:t>depth=3</a:t>
              </a:r>
            </a:p>
          </p:txBody>
        </p:sp>
        <p:sp>
          <p:nvSpPr>
            <p:cNvPr id="13" name="Rectangle 6"/>
            <p:cNvSpPr/>
            <p:nvPr/>
          </p:nvSpPr>
          <p:spPr>
            <a:xfrm>
              <a:off x="528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4" name="Rectangle 35"/>
            <p:cNvSpPr/>
            <p:nvPr/>
          </p:nvSpPr>
          <p:spPr>
            <a:xfrm>
              <a:off x="7616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  <a:sym typeface="+mn-ea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99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117.5 kg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flipH="1">
              <a:off x="6228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5" idx="2"/>
              <a:endCxn id="14" idx="0"/>
            </p:cNvCxnSpPr>
            <p:nvPr/>
          </p:nvCxnSpPr>
          <p:spPr>
            <a:xfrm>
              <a:off x="7392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6335" y="6156"/>
              <a:ext cx="2160" cy="1269"/>
              <a:chOff x="1109948" y="4120855"/>
              <a:chExt cx="1371978" cy="805649"/>
            </a:xfrm>
          </p:grpSpPr>
          <p:sp>
            <p:nvSpPr>
              <p:cNvPr id="19" name="Text Box 7"/>
              <p:cNvSpPr txBox="1"/>
              <p:nvPr/>
            </p:nvSpPr>
            <p:spPr>
              <a:xfrm rot="18671151">
                <a:off x="917045" y="4313757"/>
                <a:ext cx="645682" cy="2598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20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33" name="Rectangle 37"/>
            <p:cNvSpPr/>
            <p:nvPr/>
          </p:nvSpPr>
          <p:spPr>
            <a:xfrm>
              <a:off x="11030" y="509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5" name="Rectangle 6"/>
            <p:cNvSpPr/>
            <p:nvPr/>
          </p:nvSpPr>
          <p:spPr>
            <a:xfrm>
              <a:off x="9825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37" name="Rectangle 35"/>
            <p:cNvSpPr/>
            <p:nvPr/>
          </p:nvSpPr>
          <p:spPr>
            <a:xfrm>
              <a:off x="1215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  <a:sym typeface="+mn-ea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835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79.0 kg</a:t>
              </a:r>
            </a:p>
          </p:txBody>
        </p:sp>
        <p:cxnSp>
          <p:nvCxnSpPr>
            <p:cNvPr id="40" name="Straight Connector 39"/>
            <p:cNvCxnSpPr>
              <a:stCxn id="39" idx="2"/>
              <a:endCxn id="35" idx="0"/>
            </p:cNvCxnSpPr>
            <p:nvPr/>
          </p:nvCxnSpPr>
          <p:spPr>
            <a:xfrm flipH="1">
              <a:off x="10764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9" idx="2"/>
              <a:endCxn id="37" idx="0"/>
            </p:cNvCxnSpPr>
            <p:nvPr/>
          </p:nvCxnSpPr>
          <p:spPr>
            <a:xfrm>
              <a:off x="11928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10898" y="6105"/>
              <a:ext cx="2133" cy="1340"/>
              <a:chOff x="1127391" y="4076024"/>
              <a:chExt cx="1354535" cy="850480"/>
            </a:xfrm>
          </p:grpSpPr>
          <p:sp>
            <p:nvSpPr>
              <p:cNvPr id="45" name="Text Box 7"/>
              <p:cNvSpPr txBox="1"/>
              <p:nvPr/>
            </p:nvSpPr>
            <p:spPr>
              <a:xfrm rot="18671151">
                <a:off x="908729" y="4294686"/>
                <a:ext cx="693942" cy="2566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46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59" name="TextBox 123"/>
            <p:cNvSpPr txBox="1"/>
            <p:nvPr/>
          </p:nvSpPr>
          <p:spPr>
            <a:xfrm>
              <a:off x="702" y="1066"/>
              <a:ext cx="2953" cy="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</a:rPr>
                <a:t>max depth = 3</a:t>
              </a:r>
              <a:endParaRPr lang="en-US" sz="1400" b="1" dirty="0">
                <a:solidFill>
                  <a:srgbClr val="202020"/>
                </a:solidFill>
                <a:latin typeface="Candara" panose="020E0502030303020204" charset="0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110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93368" y="2315845"/>
            <a:ext cx="8913514" cy="3553309"/>
            <a:chOff x="102" y="880"/>
            <a:chExt cx="18396" cy="7334"/>
          </a:xfrm>
        </p:grpSpPr>
        <p:sp>
          <p:nvSpPr>
            <p:cNvPr id="7" name="Rectangle 6"/>
            <p:cNvSpPr/>
            <p:nvPr/>
          </p:nvSpPr>
          <p:spPr>
            <a:xfrm>
              <a:off x="70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02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712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4" y="5080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8507" y="1066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910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3105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5003" y="2061"/>
              <a:ext cx="4597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14198" y="3913"/>
              <a:ext cx="2197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5098" y="2319"/>
              <a:ext cx="15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12650" y="2316"/>
              <a:ext cx="11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9600" y="2061"/>
              <a:ext cx="4598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ounded Rectangle 67"/>
            <p:cNvSpPr/>
            <p:nvPr/>
          </p:nvSpPr>
          <p:spPr>
            <a:xfrm flipH="1">
              <a:off x="15303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84.5 kg</a:t>
              </a:r>
            </a:p>
          </p:txBody>
        </p:sp>
        <p:cxnSp>
          <p:nvCxnSpPr>
            <p:cNvPr id="71" name="Straight Connector 70"/>
            <p:cNvCxnSpPr>
              <a:stCxn id="43" idx="2"/>
              <a:endCxn id="39" idx="0"/>
            </p:cNvCxnSpPr>
            <p:nvPr/>
          </p:nvCxnSpPr>
          <p:spPr>
            <a:xfrm flipH="1">
              <a:off x="11928" y="3913"/>
              <a:ext cx="2270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2805" y="3913"/>
              <a:ext cx="2198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5003" y="3913"/>
              <a:ext cx="2430" cy="116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/>
            <p:cNvSpPr/>
            <p:nvPr/>
          </p:nvSpPr>
          <p:spPr>
            <a:xfrm>
              <a:off x="14293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  <a:sym typeface="+mn-ea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6620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641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2805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15232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6396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2846" y="4294"/>
              <a:ext cx="4558" cy="639"/>
              <a:chOff x="1807518" y="2923518"/>
              <a:chExt cx="2894439" cy="406238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07518" y="2923518"/>
                <a:ext cx="789784" cy="2578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49032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11905" y="4288"/>
              <a:ext cx="4460" cy="518"/>
              <a:chOff x="1805854" y="2919353"/>
              <a:chExt cx="2832047" cy="329145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05854" y="2919353"/>
                <a:ext cx="807261" cy="26046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28439" y="2967774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791" y="6048"/>
              <a:ext cx="2117" cy="1381"/>
              <a:chOff x="1137490" y="4049906"/>
              <a:chExt cx="1344436" cy="876598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04571" y="4282824"/>
                <a:ext cx="720568" cy="2547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5430" y="6034"/>
              <a:ext cx="2113" cy="1395"/>
              <a:chOff x="1292645" y="4193398"/>
              <a:chExt cx="1341681" cy="885506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55308" y="4430734"/>
                <a:ext cx="728889" cy="2542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11358" y="45559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52" name="TextBox 123"/>
            <p:cNvSpPr txBox="1"/>
            <p:nvPr/>
          </p:nvSpPr>
          <p:spPr>
            <a:xfrm rot="691217">
              <a:off x="12255" y="880"/>
              <a:ext cx="3747" cy="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</a:rPr>
                <a:t>Does a person have a heart disorder?</a:t>
              </a: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102" y="1564"/>
              <a:ext cx="487" cy="6212"/>
              <a:chOff x="12073981" y="1470992"/>
              <a:chExt cx="309434" cy="3944406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 flipV="1">
                <a:off x="12228698" y="1470992"/>
                <a:ext cx="0" cy="3944406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flipH="1">
                <a:off x="12073981" y="5415398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H="1">
                <a:off x="12073981" y="1470992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TextBox 123"/>
            <p:cNvSpPr txBox="1"/>
            <p:nvPr/>
          </p:nvSpPr>
          <p:spPr>
            <a:xfrm>
              <a:off x="468" y="1711"/>
              <a:ext cx="2314" cy="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</a:rPr>
                <a:t>depth=3</a:t>
              </a:r>
            </a:p>
          </p:txBody>
        </p:sp>
        <p:sp>
          <p:nvSpPr>
            <p:cNvPr id="13" name="Rectangle 6"/>
            <p:cNvSpPr/>
            <p:nvPr/>
          </p:nvSpPr>
          <p:spPr>
            <a:xfrm>
              <a:off x="528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14" name="Rectangle 35"/>
            <p:cNvSpPr/>
            <p:nvPr/>
          </p:nvSpPr>
          <p:spPr>
            <a:xfrm>
              <a:off x="7616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  <a:sym typeface="+mn-ea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99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117.5 kg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flipH="1">
              <a:off x="6228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5" idx="2"/>
              <a:endCxn id="14" idx="0"/>
            </p:cNvCxnSpPr>
            <p:nvPr/>
          </p:nvCxnSpPr>
          <p:spPr>
            <a:xfrm>
              <a:off x="7392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6335" y="6156"/>
              <a:ext cx="2160" cy="1269"/>
              <a:chOff x="1109948" y="4120855"/>
              <a:chExt cx="1371978" cy="805649"/>
            </a:xfrm>
          </p:grpSpPr>
          <p:sp>
            <p:nvSpPr>
              <p:cNvPr id="19" name="Text Box 7"/>
              <p:cNvSpPr txBox="1"/>
              <p:nvPr/>
            </p:nvSpPr>
            <p:spPr>
              <a:xfrm rot="18671151">
                <a:off x="917045" y="4313757"/>
                <a:ext cx="645682" cy="2598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20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33" name="Rectangle 37"/>
            <p:cNvSpPr/>
            <p:nvPr/>
          </p:nvSpPr>
          <p:spPr>
            <a:xfrm>
              <a:off x="11030" y="509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5" name="Rectangle 6"/>
            <p:cNvSpPr/>
            <p:nvPr/>
          </p:nvSpPr>
          <p:spPr>
            <a:xfrm>
              <a:off x="9825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37" name="Rectangle 35"/>
            <p:cNvSpPr/>
            <p:nvPr/>
          </p:nvSpPr>
          <p:spPr>
            <a:xfrm>
              <a:off x="1215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 dirty="0">
                <a:solidFill>
                  <a:schemeClr val="tx1"/>
                </a:solidFill>
                <a:latin typeface="Candara" panose="020E0502030303020204" charset="0"/>
                <a:sym typeface="+mn-ea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835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79.0 kg</a:t>
              </a:r>
            </a:p>
          </p:txBody>
        </p:sp>
        <p:cxnSp>
          <p:nvCxnSpPr>
            <p:cNvPr id="40" name="Straight Connector 39"/>
            <p:cNvCxnSpPr>
              <a:stCxn id="39" idx="2"/>
              <a:endCxn id="35" idx="0"/>
            </p:cNvCxnSpPr>
            <p:nvPr/>
          </p:nvCxnSpPr>
          <p:spPr>
            <a:xfrm flipH="1">
              <a:off x="10764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9" idx="2"/>
              <a:endCxn id="37" idx="0"/>
            </p:cNvCxnSpPr>
            <p:nvPr/>
          </p:nvCxnSpPr>
          <p:spPr>
            <a:xfrm>
              <a:off x="11928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10898" y="6105"/>
              <a:ext cx="2133" cy="1340"/>
              <a:chOff x="1127391" y="4076024"/>
              <a:chExt cx="1354535" cy="850480"/>
            </a:xfrm>
          </p:grpSpPr>
          <p:sp>
            <p:nvSpPr>
              <p:cNvPr id="45" name="Text Box 7"/>
              <p:cNvSpPr txBox="1"/>
              <p:nvPr/>
            </p:nvSpPr>
            <p:spPr>
              <a:xfrm rot="18671151">
                <a:off x="908729" y="4294686"/>
                <a:ext cx="693942" cy="2566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46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59" name="TextBox 123"/>
            <p:cNvSpPr txBox="1"/>
            <p:nvPr/>
          </p:nvSpPr>
          <p:spPr>
            <a:xfrm>
              <a:off x="702" y="1066"/>
              <a:ext cx="2953" cy="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</a:rPr>
                <a:t>max depth = 3</a:t>
              </a:r>
              <a:endParaRPr lang="en-US" sz="1400" b="1" dirty="0">
                <a:solidFill>
                  <a:srgbClr val="202020"/>
                </a:solidFill>
                <a:latin typeface="Candara" panose="020E0502030303020204" charset="0"/>
                <a:sym typeface="+mn-ea"/>
              </a:endParaRPr>
            </a:p>
          </p:txBody>
        </p:sp>
      </p:grpSp>
      <p:sp>
        <p:nvSpPr>
          <p:cNvPr id="23" name="TextBox 123"/>
          <p:cNvSpPr txBox="1"/>
          <p:nvPr/>
        </p:nvSpPr>
        <p:spPr>
          <a:xfrm>
            <a:off x="292100" y="368300"/>
            <a:ext cx="34518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In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Classification Trees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, 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he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label/class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of each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  <a:sym typeface="+mn-ea"/>
              </a:rPr>
              <a:t>leaf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is its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most frequent class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111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83890" y="5445125"/>
            <a:ext cx="909955" cy="424180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andara" panose="020E050203030302020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311650" y="5445125"/>
            <a:ext cx="909955" cy="424180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andara" panose="020E050203030302020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673475" y="4351655"/>
            <a:ext cx="1058545" cy="48196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90590" y="4351020"/>
            <a:ext cx="909955" cy="424180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ndara" panose="020E0502030303020204" charset="0"/>
              </a:rPr>
              <a:t>Attention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65950" y="2406015"/>
            <a:ext cx="1058545" cy="48196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38370" y="3303270"/>
            <a:ext cx="1058545" cy="48196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ndara" panose="020E0502030303020204" charset="0"/>
                <a:cs typeface="Candara" panose="020E0502030303020204" charset="0"/>
              </a:rPr>
              <a:t>weight ≤ 91.5 kg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93530" y="3303270"/>
            <a:ext cx="1058545" cy="48196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47" name="Straight Connector 46"/>
          <p:cNvCxnSpPr>
            <a:stCxn id="30" idx="2"/>
            <a:endCxn id="41" idx="0"/>
          </p:cNvCxnSpPr>
          <p:nvPr/>
        </p:nvCxnSpPr>
        <p:spPr>
          <a:xfrm flipH="1">
            <a:off x="5267960" y="2887980"/>
            <a:ext cx="2227580" cy="41529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43" idx="2"/>
            <a:endCxn id="68" idx="0"/>
          </p:cNvCxnSpPr>
          <p:nvPr/>
        </p:nvCxnSpPr>
        <p:spPr>
          <a:xfrm>
            <a:off x="9723120" y="3785235"/>
            <a:ext cx="1064260" cy="56642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Box 7"/>
          <p:cNvSpPr txBox="1"/>
          <p:nvPr/>
        </p:nvSpPr>
        <p:spPr>
          <a:xfrm rot="21016818">
            <a:off x="5314315" y="3013075"/>
            <a:ext cx="76581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50" name="Text Box 8"/>
          <p:cNvSpPr txBox="1"/>
          <p:nvPr/>
        </p:nvSpPr>
        <p:spPr>
          <a:xfrm rot="503120">
            <a:off x="8973185" y="3011805"/>
            <a:ext cx="57213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cxnSp>
        <p:nvCxnSpPr>
          <p:cNvPr id="58" name="Straight Connector 57"/>
          <p:cNvCxnSpPr>
            <a:stCxn id="30" idx="2"/>
            <a:endCxn id="43" idx="0"/>
          </p:cNvCxnSpPr>
          <p:nvPr/>
        </p:nvCxnSpPr>
        <p:spPr>
          <a:xfrm>
            <a:off x="7495540" y="2887980"/>
            <a:ext cx="2227580" cy="41529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 flipH="1">
            <a:off x="10259060" y="4351655"/>
            <a:ext cx="1058545" cy="48196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ndara" panose="020E0502030303020204" charset="0"/>
                <a:cs typeface="Candara" panose="020E0502030303020204" charset="0"/>
              </a:rPr>
              <a:t>weight ≤ 84.5 kg</a:t>
            </a:r>
          </a:p>
        </p:txBody>
      </p:sp>
      <p:cxnSp>
        <p:nvCxnSpPr>
          <p:cNvPr id="71" name="Straight Connector 70"/>
          <p:cNvCxnSpPr>
            <a:stCxn id="43" idx="2"/>
            <a:endCxn id="39" idx="0"/>
          </p:cNvCxnSpPr>
          <p:nvPr/>
        </p:nvCxnSpPr>
        <p:spPr>
          <a:xfrm flipH="1">
            <a:off x="8623300" y="3785235"/>
            <a:ext cx="1099820" cy="56642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H="1">
            <a:off x="4203065" y="3785235"/>
            <a:ext cx="1064895" cy="56642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41" idx="2"/>
            <a:endCxn id="38" idx="0"/>
          </p:cNvCxnSpPr>
          <p:nvPr/>
        </p:nvCxnSpPr>
        <p:spPr>
          <a:xfrm>
            <a:off x="5267960" y="3785235"/>
            <a:ext cx="1177290" cy="56515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0897235" y="5445125"/>
            <a:ext cx="909955" cy="424180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andara" panose="020E0502030303020204" charset="0"/>
            </a:endParaRPr>
          </a:p>
        </p:txBody>
      </p:sp>
      <p:cxnSp>
        <p:nvCxnSpPr>
          <p:cNvPr id="85" name="Straight Connector 84"/>
          <p:cNvCxnSpPr>
            <a:stCxn id="32" idx="2"/>
            <a:endCxn id="7" idx="0"/>
          </p:cNvCxnSpPr>
          <p:nvPr/>
        </p:nvCxnSpPr>
        <p:spPr>
          <a:xfrm flipH="1">
            <a:off x="3639185" y="4833620"/>
            <a:ext cx="563880" cy="61150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2" idx="2"/>
            <a:endCxn id="36" idx="0"/>
          </p:cNvCxnSpPr>
          <p:nvPr/>
        </p:nvCxnSpPr>
        <p:spPr>
          <a:xfrm>
            <a:off x="4203065" y="4833620"/>
            <a:ext cx="563245" cy="61150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68" idx="2"/>
            <a:endCxn id="84" idx="0"/>
          </p:cNvCxnSpPr>
          <p:nvPr/>
        </p:nvCxnSpPr>
        <p:spPr>
          <a:xfrm>
            <a:off x="10788650" y="4833620"/>
            <a:ext cx="563245" cy="61150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4222750" y="3970020"/>
            <a:ext cx="2208530" cy="309880"/>
            <a:chOff x="1807518" y="2923518"/>
            <a:chExt cx="2894439" cy="406238"/>
          </a:xfrm>
        </p:grpSpPr>
        <p:sp>
          <p:nvSpPr>
            <p:cNvPr id="99" name="Text Box 7"/>
            <p:cNvSpPr txBox="1"/>
            <p:nvPr/>
          </p:nvSpPr>
          <p:spPr>
            <a:xfrm rot="19891182">
              <a:off x="1807518" y="2923518"/>
              <a:ext cx="789784" cy="2578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00" name="Text Box 7"/>
            <p:cNvSpPr txBox="1"/>
            <p:nvPr/>
          </p:nvSpPr>
          <p:spPr>
            <a:xfrm rot="1501825">
              <a:off x="4092495" y="3049032"/>
              <a:ext cx="609462" cy="28072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8612505" y="3966845"/>
            <a:ext cx="2160905" cy="250825"/>
            <a:chOff x="1805854" y="2919353"/>
            <a:chExt cx="2832047" cy="329145"/>
          </a:xfrm>
        </p:grpSpPr>
        <p:sp>
          <p:nvSpPr>
            <p:cNvPr id="105" name="Text Box 7"/>
            <p:cNvSpPr txBox="1"/>
            <p:nvPr/>
          </p:nvSpPr>
          <p:spPr>
            <a:xfrm rot="19891182">
              <a:off x="1805854" y="2919353"/>
              <a:ext cx="807261" cy="26046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06" name="Text Box 7"/>
            <p:cNvSpPr txBox="1"/>
            <p:nvPr/>
          </p:nvSpPr>
          <p:spPr>
            <a:xfrm rot="1501825">
              <a:off x="4028439" y="2967774"/>
              <a:ext cx="609462" cy="28072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3711575" y="4819650"/>
            <a:ext cx="1025525" cy="669290"/>
            <a:chOff x="1137490" y="4049906"/>
            <a:chExt cx="1344436" cy="876598"/>
          </a:xfrm>
        </p:grpSpPr>
        <p:sp>
          <p:nvSpPr>
            <p:cNvPr id="107" name="Text Box 7"/>
            <p:cNvSpPr txBox="1"/>
            <p:nvPr/>
          </p:nvSpPr>
          <p:spPr>
            <a:xfrm rot="18671151">
              <a:off x="904571" y="4282824"/>
              <a:ext cx="720568" cy="2547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08" name="Text Box 7"/>
            <p:cNvSpPr txBox="1"/>
            <p:nvPr/>
          </p:nvSpPr>
          <p:spPr>
            <a:xfrm rot="2812816">
              <a:off x="1958958" y="4403536"/>
              <a:ext cx="769219" cy="2767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10384155" y="4834255"/>
            <a:ext cx="959485" cy="654050"/>
            <a:chOff x="1376708" y="4221694"/>
            <a:chExt cx="1257618" cy="857210"/>
          </a:xfrm>
        </p:grpSpPr>
        <p:sp>
          <p:nvSpPr>
            <p:cNvPr id="109" name="Text Box 7"/>
            <p:cNvSpPr txBox="1"/>
            <p:nvPr/>
          </p:nvSpPr>
          <p:spPr>
            <a:xfrm rot="18431151">
              <a:off x="1139371" y="4459030"/>
              <a:ext cx="728889" cy="2542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110" name="Text Box 7"/>
            <p:cNvSpPr txBox="1"/>
            <p:nvPr/>
          </p:nvSpPr>
          <p:spPr>
            <a:xfrm rot="2812816">
              <a:off x="2111358" y="4555936"/>
              <a:ext cx="769219" cy="2767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52" name="TextBox 123"/>
          <p:cNvSpPr txBox="1"/>
          <p:nvPr/>
        </p:nvSpPr>
        <p:spPr>
          <a:xfrm rot="691217">
            <a:off x="8782050" y="2315845"/>
            <a:ext cx="1815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2893060" y="2647315"/>
            <a:ext cx="236220" cy="3009900"/>
            <a:chOff x="12073981" y="1470992"/>
            <a:chExt cx="309434" cy="3944406"/>
          </a:xfrm>
        </p:grpSpPr>
        <p:cxnSp>
          <p:nvCxnSpPr>
            <p:cNvPr id="81" name="Straight Connector 80"/>
            <p:cNvCxnSpPr/>
            <p:nvPr/>
          </p:nvCxnSpPr>
          <p:spPr>
            <a:xfrm flipV="1">
              <a:off x="12228698" y="1470992"/>
              <a:ext cx="0" cy="3944406"/>
            </a:xfrm>
            <a:prstGeom prst="line">
              <a:avLst/>
            </a:prstGeom>
            <a:ln w="28575">
              <a:solidFill>
                <a:srgbClr val="FF56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12073981" y="5415398"/>
              <a:ext cx="309434" cy="0"/>
            </a:xfrm>
            <a:prstGeom prst="line">
              <a:avLst/>
            </a:prstGeom>
            <a:ln w="28575">
              <a:solidFill>
                <a:srgbClr val="FF56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flipH="1">
              <a:off x="12073981" y="1470992"/>
              <a:ext cx="309434" cy="0"/>
            </a:xfrm>
            <a:prstGeom prst="line">
              <a:avLst/>
            </a:prstGeom>
            <a:ln w="28575">
              <a:solidFill>
                <a:srgbClr val="FF56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123"/>
          <p:cNvSpPr txBox="1"/>
          <p:nvPr/>
        </p:nvSpPr>
        <p:spPr>
          <a:xfrm>
            <a:off x="3070860" y="2718435"/>
            <a:ext cx="11214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</a:rPr>
              <a:t>depth=3</a:t>
            </a:r>
          </a:p>
        </p:txBody>
      </p:sp>
      <p:sp>
        <p:nvSpPr>
          <p:cNvPr id="13" name="Rectangle 6"/>
          <p:cNvSpPr/>
          <p:nvPr/>
        </p:nvSpPr>
        <p:spPr>
          <a:xfrm>
            <a:off x="5406390" y="5445125"/>
            <a:ext cx="909955" cy="424180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andara" panose="020E0502030303020204" charset="0"/>
            </a:endParaRPr>
          </a:p>
        </p:txBody>
      </p:sp>
      <p:sp>
        <p:nvSpPr>
          <p:cNvPr id="14" name="Rectangle 35"/>
          <p:cNvSpPr/>
          <p:nvPr/>
        </p:nvSpPr>
        <p:spPr>
          <a:xfrm>
            <a:off x="6534150" y="5445125"/>
            <a:ext cx="909955" cy="424180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95975" y="4351655"/>
            <a:ext cx="1058545" cy="48196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weight ≤ 117.5 kg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5861685" y="4833620"/>
            <a:ext cx="563880" cy="61150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5" idx="2"/>
            <a:endCxn id="14" idx="0"/>
          </p:cNvCxnSpPr>
          <p:nvPr/>
        </p:nvCxnSpPr>
        <p:spPr>
          <a:xfrm>
            <a:off x="6425565" y="4833620"/>
            <a:ext cx="563245" cy="61150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5913755" y="4872355"/>
            <a:ext cx="1046480" cy="614680"/>
            <a:chOff x="1109948" y="4120855"/>
            <a:chExt cx="1371978" cy="805649"/>
          </a:xfrm>
        </p:grpSpPr>
        <p:sp>
          <p:nvSpPr>
            <p:cNvPr id="19" name="Text Box 7"/>
            <p:cNvSpPr txBox="1"/>
            <p:nvPr/>
          </p:nvSpPr>
          <p:spPr>
            <a:xfrm rot="18671151">
              <a:off x="917045" y="4313757"/>
              <a:ext cx="645682" cy="2598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20" name="Text Box 7"/>
            <p:cNvSpPr txBox="1"/>
            <p:nvPr/>
          </p:nvSpPr>
          <p:spPr>
            <a:xfrm rot="2812816">
              <a:off x="1958958" y="4403536"/>
              <a:ext cx="769219" cy="2767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33" name="Rectangle 37"/>
          <p:cNvSpPr/>
          <p:nvPr/>
        </p:nvSpPr>
        <p:spPr>
          <a:xfrm>
            <a:off x="8188325" y="4359910"/>
            <a:ext cx="909955" cy="424180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ndara" panose="020E0502030303020204" charset="0"/>
              </a:rPr>
              <a:t>Attention</a:t>
            </a:r>
          </a:p>
        </p:txBody>
      </p:sp>
      <p:sp>
        <p:nvSpPr>
          <p:cNvPr id="35" name="Rectangle 6"/>
          <p:cNvSpPr/>
          <p:nvPr/>
        </p:nvSpPr>
        <p:spPr>
          <a:xfrm>
            <a:off x="7604760" y="5445125"/>
            <a:ext cx="909955" cy="424180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andara" panose="020E0502030303020204" charset="0"/>
            </a:endParaRPr>
          </a:p>
        </p:txBody>
      </p:sp>
      <p:sp>
        <p:nvSpPr>
          <p:cNvPr id="37" name="Rectangle 35"/>
          <p:cNvSpPr/>
          <p:nvPr/>
        </p:nvSpPr>
        <p:spPr>
          <a:xfrm>
            <a:off x="8731885" y="5445125"/>
            <a:ext cx="909955" cy="424180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093710" y="4351655"/>
            <a:ext cx="1058545" cy="481965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weight ≤ 79.0 kg</a:t>
            </a:r>
          </a:p>
        </p:txBody>
      </p:sp>
      <p:cxnSp>
        <p:nvCxnSpPr>
          <p:cNvPr id="40" name="Straight Connector 39"/>
          <p:cNvCxnSpPr>
            <a:stCxn id="39" idx="2"/>
            <a:endCxn id="35" idx="0"/>
          </p:cNvCxnSpPr>
          <p:nvPr/>
        </p:nvCxnSpPr>
        <p:spPr>
          <a:xfrm flipH="1">
            <a:off x="8059420" y="4833620"/>
            <a:ext cx="563880" cy="61150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9" idx="2"/>
            <a:endCxn id="37" idx="0"/>
          </p:cNvCxnSpPr>
          <p:nvPr/>
        </p:nvCxnSpPr>
        <p:spPr>
          <a:xfrm>
            <a:off x="8623300" y="4833620"/>
            <a:ext cx="563245" cy="61150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8124190" y="4847590"/>
            <a:ext cx="1033780" cy="648970"/>
            <a:chOff x="1127391" y="4076024"/>
            <a:chExt cx="1354535" cy="850480"/>
          </a:xfrm>
        </p:grpSpPr>
        <p:sp>
          <p:nvSpPr>
            <p:cNvPr id="45" name="Text Box 7"/>
            <p:cNvSpPr txBox="1"/>
            <p:nvPr/>
          </p:nvSpPr>
          <p:spPr>
            <a:xfrm rot="18671151">
              <a:off x="908729" y="4294686"/>
              <a:ext cx="693942" cy="25661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46" name="Text Box 7"/>
            <p:cNvSpPr txBox="1"/>
            <p:nvPr/>
          </p:nvSpPr>
          <p:spPr>
            <a:xfrm rot="2812816">
              <a:off x="1958958" y="4403536"/>
              <a:ext cx="769219" cy="2767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sp>
        <p:nvSpPr>
          <p:cNvPr id="59" name="TextBox 123"/>
          <p:cNvSpPr txBox="1"/>
          <p:nvPr/>
        </p:nvSpPr>
        <p:spPr>
          <a:xfrm>
            <a:off x="3183890" y="2406015"/>
            <a:ext cx="14306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202020"/>
                </a:solidFill>
                <a:latin typeface="Candara" panose="020E0502030303020204" charset="0"/>
              </a:rPr>
              <a:t>max depth = 3</a:t>
            </a:r>
            <a:endParaRPr lang="en-US" sz="1400" b="1" dirty="0">
              <a:solidFill>
                <a:srgbClr val="202020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3" name="TextBox 123"/>
          <p:cNvSpPr txBox="1"/>
          <p:nvPr/>
        </p:nvSpPr>
        <p:spPr>
          <a:xfrm>
            <a:off x="292100" y="368300"/>
            <a:ext cx="34518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In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Classification Trees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, 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he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label/class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of each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  <a:sym typeface="+mn-ea"/>
              </a:rPr>
              <a:t>leaf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is its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most frequent class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.</a:t>
            </a:r>
          </a:p>
        </p:txBody>
      </p:sp>
      <p:sp>
        <p:nvSpPr>
          <p:cNvPr id="4" name="Rectangles 26"/>
          <p:cNvSpPr/>
          <p:nvPr/>
        </p:nvSpPr>
        <p:spPr>
          <a:xfrm>
            <a:off x="3146425" y="5429250"/>
            <a:ext cx="8727440" cy="488315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425940" y="5659120"/>
            <a:ext cx="1605280" cy="776605"/>
            <a:chOff x="13736" y="8019"/>
            <a:chExt cx="2528" cy="1223"/>
          </a:xfrm>
        </p:grpSpPr>
        <p:grpSp>
          <p:nvGrpSpPr>
            <p:cNvPr id="6" name="Group 5"/>
            <p:cNvGrpSpPr/>
            <p:nvPr/>
          </p:nvGrpSpPr>
          <p:grpSpPr>
            <a:xfrm>
              <a:off x="13736" y="8019"/>
              <a:ext cx="2528" cy="1223"/>
              <a:chOff x="6226115" y="2006160"/>
              <a:chExt cx="1922172" cy="930459"/>
            </a:xfrm>
          </p:grpSpPr>
          <p:sp>
            <p:nvSpPr>
              <p:cNvPr id="8" name="Rectangle 80"/>
              <p:cNvSpPr/>
              <p:nvPr/>
            </p:nvSpPr>
            <p:spPr>
              <a:xfrm>
                <a:off x="6227906" y="2010156"/>
                <a:ext cx="1920381" cy="926463"/>
              </a:xfrm>
              <a:prstGeom prst="rect">
                <a:avLst/>
              </a:prstGeom>
              <a:solidFill>
                <a:srgbClr val="FFD700"/>
              </a:solidFill>
              <a:ln w="190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b="1" dirty="0">
                  <a:solidFill>
                    <a:schemeClr val="tx1"/>
                  </a:solidFill>
                  <a:latin typeface="Candara" panose="020E0502030303020204" charset="0"/>
                </a:endParaRPr>
              </a:p>
            </p:txBody>
          </p:sp>
          <p:sp>
            <p:nvSpPr>
              <p:cNvPr id="22" name="TextBox 86"/>
              <p:cNvSpPr txBox="1"/>
              <p:nvPr/>
            </p:nvSpPr>
            <p:spPr>
              <a:xfrm>
                <a:off x="6227906" y="2006160"/>
                <a:ext cx="1909753" cy="367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Candara" panose="020E0502030303020204" charset="0"/>
                  </a:rPr>
                  <a:t>Heart Condition</a:t>
                </a:r>
              </a:p>
            </p:txBody>
          </p:sp>
          <p:sp>
            <p:nvSpPr>
              <p:cNvPr id="24" name="TextBox 87"/>
              <p:cNvSpPr txBox="1"/>
              <p:nvPr/>
            </p:nvSpPr>
            <p:spPr>
              <a:xfrm>
                <a:off x="6226115" y="2344714"/>
                <a:ext cx="1909753" cy="551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Candara" panose="020E0502030303020204" charset="0"/>
                  </a:rPr>
                  <a:t>Normal    Attention    Sick</a:t>
                </a:r>
              </a:p>
              <a:p>
                <a:r>
                  <a:rPr lang="en-US" sz="1000" dirty="0">
                    <a:latin typeface="Candara" panose="020E0502030303020204" charset="0"/>
                  </a:rPr>
                  <a:t>       </a:t>
                </a:r>
                <a:r>
                  <a:rPr lang="en-US" sz="1400" dirty="0">
                    <a:latin typeface="Candara" panose="020E0502030303020204" charset="0"/>
                    <a:sym typeface="+mn-ea"/>
                  </a:rPr>
                  <a:t>7</a:t>
                </a:r>
                <a:r>
                  <a:rPr lang="en-US" sz="1400" dirty="0">
                    <a:latin typeface="Candara" panose="020E0502030303020204" charset="0"/>
                  </a:rPr>
                  <a:t>            5           1</a:t>
                </a:r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6362812" y="2578520"/>
                <a:ext cx="1651391" cy="0"/>
              </a:xfrm>
              <a:prstGeom prst="line">
                <a:avLst/>
              </a:prstGeom>
              <a:ln w="12700">
                <a:solidFill>
                  <a:srgbClr val="5959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Rectangle 94"/>
            <p:cNvSpPr/>
            <p:nvPr/>
          </p:nvSpPr>
          <p:spPr>
            <a:xfrm>
              <a:off x="13858" y="8490"/>
              <a:ext cx="833" cy="687"/>
            </a:xfrm>
            <a:prstGeom prst="rect">
              <a:avLst/>
            </a:prstGeom>
            <a:noFill/>
            <a:ln w="28575">
              <a:solidFill>
                <a:srgbClr val="FF56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cxnSp>
        <p:nvCxnSpPr>
          <p:cNvPr id="28" name="Straight Connector 27"/>
          <p:cNvCxnSpPr>
            <a:endCxn id="22" idx="0"/>
          </p:cNvCxnSpPr>
          <p:nvPr/>
        </p:nvCxnSpPr>
        <p:spPr>
          <a:xfrm flipH="1">
            <a:off x="10224770" y="4833620"/>
            <a:ext cx="563245" cy="82550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112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93368" y="2315845"/>
            <a:ext cx="8913514" cy="3553309"/>
            <a:chOff x="102" y="880"/>
            <a:chExt cx="18396" cy="7334"/>
          </a:xfrm>
        </p:grpSpPr>
        <p:sp>
          <p:nvSpPr>
            <p:cNvPr id="7" name="Rectangle 6"/>
            <p:cNvSpPr/>
            <p:nvPr/>
          </p:nvSpPr>
          <p:spPr>
            <a:xfrm>
              <a:off x="70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02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Sick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712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4" y="5080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8507" y="1066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910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3105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5003" y="2061"/>
              <a:ext cx="4597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14198" y="3913"/>
              <a:ext cx="2197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5098" y="2319"/>
              <a:ext cx="15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12650" y="2316"/>
              <a:ext cx="11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9600" y="2061"/>
              <a:ext cx="4598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ounded Rectangle 67"/>
            <p:cNvSpPr/>
            <p:nvPr/>
          </p:nvSpPr>
          <p:spPr>
            <a:xfrm flipH="1">
              <a:off x="15303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84.5 kg</a:t>
              </a:r>
            </a:p>
          </p:txBody>
        </p:sp>
        <p:cxnSp>
          <p:nvCxnSpPr>
            <p:cNvPr id="71" name="Straight Connector 70"/>
            <p:cNvCxnSpPr>
              <a:stCxn id="43" idx="2"/>
              <a:endCxn id="39" idx="0"/>
            </p:cNvCxnSpPr>
            <p:nvPr/>
          </p:nvCxnSpPr>
          <p:spPr>
            <a:xfrm flipH="1">
              <a:off x="11928" y="3913"/>
              <a:ext cx="2270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2805" y="3913"/>
              <a:ext cx="2198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5003" y="3913"/>
              <a:ext cx="2430" cy="116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/>
            <p:cNvSpPr/>
            <p:nvPr/>
          </p:nvSpPr>
          <p:spPr>
            <a:xfrm>
              <a:off x="14293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Normal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6620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641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2805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15232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6396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2846" y="4294"/>
              <a:ext cx="4558" cy="639"/>
              <a:chOff x="1807518" y="2923518"/>
              <a:chExt cx="2894439" cy="406238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07518" y="2923518"/>
                <a:ext cx="789784" cy="2578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49032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11905" y="4288"/>
              <a:ext cx="4460" cy="518"/>
              <a:chOff x="1805854" y="2919353"/>
              <a:chExt cx="2832047" cy="329145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05854" y="2919353"/>
                <a:ext cx="807261" cy="26046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28439" y="2967774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791" y="6048"/>
              <a:ext cx="2117" cy="1381"/>
              <a:chOff x="1137490" y="4049906"/>
              <a:chExt cx="1344436" cy="876598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04571" y="4282824"/>
                <a:ext cx="720568" cy="2547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5430" y="6034"/>
              <a:ext cx="2113" cy="1395"/>
              <a:chOff x="1292645" y="4193398"/>
              <a:chExt cx="1341681" cy="885506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55308" y="4430734"/>
                <a:ext cx="728889" cy="2542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11358" y="45559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52" name="TextBox 123"/>
            <p:cNvSpPr txBox="1"/>
            <p:nvPr/>
          </p:nvSpPr>
          <p:spPr>
            <a:xfrm rot="691217">
              <a:off x="12255" y="880"/>
              <a:ext cx="3747" cy="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</a:rPr>
                <a:t>Does a person have a heart disorder?</a:t>
              </a: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102" y="1564"/>
              <a:ext cx="487" cy="6212"/>
              <a:chOff x="12073981" y="1470992"/>
              <a:chExt cx="309434" cy="3944406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 flipV="1">
                <a:off x="12228698" y="1470992"/>
                <a:ext cx="0" cy="3944406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flipH="1">
                <a:off x="12073981" y="5415398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H="1">
                <a:off x="12073981" y="1470992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TextBox 123"/>
            <p:cNvSpPr txBox="1"/>
            <p:nvPr/>
          </p:nvSpPr>
          <p:spPr>
            <a:xfrm>
              <a:off x="468" y="1711"/>
              <a:ext cx="2314" cy="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</a:rPr>
                <a:t>depth=3</a:t>
              </a:r>
            </a:p>
          </p:txBody>
        </p:sp>
        <p:sp>
          <p:nvSpPr>
            <p:cNvPr id="13" name="Rectangle 6"/>
            <p:cNvSpPr/>
            <p:nvPr/>
          </p:nvSpPr>
          <p:spPr>
            <a:xfrm>
              <a:off x="528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14" name="Rectangle 35"/>
            <p:cNvSpPr/>
            <p:nvPr/>
          </p:nvSpPr>
          <p:spPr>
            <a:xfrm>
              <a:off x="7616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Attention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99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117.5 kg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flipH="1">
              <a:off x="6228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5" idx="2"/>
              <a:endCxn id="14" idx="0"/>
            </p:cNvCxnSpPr>
            <p:nvPr/>
          </p:nvCxnSpPr>
          <p:spPr>
            <a:xfrm>
              <a:off x="7392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6335" y="6156"/>
              <a:ext cx="2160" cy="1269"/>
              <a:chOff x="1109948" y="4120855"/>
              <a:chExt cx="1371978" cy="805649"/>
            </a:xfrm>
          </p:grpSpPr>
          <p:sp>
            <p:nvSpPr>
              <p:cNvPr id="19" name="Text Box 7"/>
              <p:cNvSpPr txBox="1"/>
              <p:nvPr/>
            </p:nvSpPr>
            <p:spPr>
              <a:xfrm rot="18671151">
                <a:off x="917045" y="4313757"/>
                <a:ext cx="645682" cy="2598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20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33" name="Rectangle 37"/>
            <p:cNvSpPr/>
            <p:nvPr/>
          </p:nvSpPr>
          <p:spPr>
            <a:xfrm>
              <a:off x="11030" y="509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5" name="Rectangle 6"/>
            <p:cNvSpPr/>
            <p:nvPr/>
          </p:nvSpPr>
          <p:spPr>
            <a:xfrm>
              <a:off x="9825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7" name="Rectangle 35"/>
            <p:cNvSpPr/>
            <p:nvPr/>
          </p:nvSpPr>
          <p:spPr>
            <a:xfrm>
              <a:off x="1215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Normal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835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79.0 kg</a:t>
              </a:r>
            </a:p>
          </p:txBody>
        </p:sp>
        <p:cxnSp>
          <p:nvCxnSpPr>
            <p:cNvPr id="40" name="Straight Connector 39"/>
            <p:cNvCxnSpPr>
              <a:stCxn id="39" idx="2"/>
              <a:endCxn id="35" idx="0"/>
            </p:cNvCxnSpPr>
            <p:nvPr/>
          </p:nvCxnSpPr>
          <p:spPr>
            <a:xfrm flipH="1">
              <a:off x="10764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9" idx="2"/>
              <a:endCxn id="37" idx="0"/>
            </p:cNvCxnSpPr>
            <p:nvPr/>
          </p:nvCxnSpPr>
          <p:spPr>
            <a:xfrm>
              <a:off x="11928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10898" y="6105"/>
              <a:ext cx="2133" cy="1340"/>
              <a:chOff x="1127391" y="4076024"/>
              <a:chExt cx="1354535" cy="850480"/>
            </a:xfrm>
          </p:grpSpPr>
          <p:sp>
            <p:nvSpPr>
              <p:cNvPr id="45" name="Text Box 7"/>
              <p:cNvSpPr txBox="1"/>
              <p:nvPr/>
            </p:nvSpPr>
            <p:spPr>
              <a:xfrm rot="18671151">
                <a:off x="908729" y="4294686"/>
                <a:ext cx="693942" cy="2566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46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59" name="TextBox 123"/>
            <p:cNvSpPr txBox="1"/>
            <p:nvPr/>
          </p:nvSpPr>
          <p:spPr>
            <a:xfrm>
              <a:off x="702" y="1066"/>
              <a:ext cx="2953" cy="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</a:rPr>
                <a:t>max depth = 3</a:t>
              </a:r>
              <a:endParaRPr lang="en-US" sz="1400" b="1" dirty="0">
                <a:solidFill>
                  <a:srgbClr val="202020"/>
                </a:solidFill>
                <a:latin typeface="Candara" panose="020E0502030303020204" charset="0"/>
                <a:sym typeface="+mn-ea"/>
              </a:endParaRPr>
            </a:p>
          </p:txBody>
        </p:sp>
      </p:grpSp>
      <p:sp>
        <p:nvSpPr>
          <p:cNvPr id="23" name="TextBox 123"/>
          <p:cNvSpPr txBox="1"/>
          <p:nvPr/>
        </p:nvSpPr>
        <p:spPr>
          <a:xfrm>
            <a:off x="292100" y="368300"/>
            <a:ext cx="34518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In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Classification Trees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, 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he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label/class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of each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  <a:sym typeface="+mn-ea"/>
              </a:rPr>
              <a:t>leaf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 is its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most frequent class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  <a:sym typeface="+mn-ea"/>
              </a:rPr>
              <a:t>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113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93368" y="2315845"/>
            <a:ext cx="8913514" cy="3553309"/>
            <a:chOff x="102" y="880"/>
            <a:chExt cx="18396" cy="7334"/>
          </a:xfrm>
        </p:grpSpPr>
        <p:sp>
          <p:nvSpPr>
            <p:cNvPr id="7" name="Rectangle 6"/>
            <p:cNvSpPr/>
            <p:nvPr/>
          </p:nvSpPr>
          <p:spPr>
            <a:xfrm>
              <a:off x="70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02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Sick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712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4" y="5080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8507" y="1066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910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3105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5003" y="2061"/>
              <a:ext cx="4597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14198" y="3913"/>
              <a:ext cx="2197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5098" y="2319"/>
              <a:ext cx="15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12650" y="2316"/>
              <a:ext cx="11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9600" y="2061"/>
              <a:ext cx="4598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ounded Rectangle 67"/>
            <p:cNvSpPr/>
            <p:nvPr/>
          </p:nvSpPr>
          <p:spPr>
            <a:xfrm flipH="1">
              <a:off x="15303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84.5 kg</a:t>
              </a:r>
            </a:p>
          </p:txBody>
        </p:sp>
        <p:cxnSp>
          <p:nvCxnSpPr>
            <p:cNvPr id="71" name="Straight Connector 70"/>
            <p:cNvCxnSpPr>
              <a:stCxn id="43" idx="2"/>
              <a:endCxn id="39" idx="0"/>
            </p:cNvCxnSpPr>
            <p:nvPr/>
          </p:nvCxnSpPr>
          <p:spPr>
            <a:xfrm flipH="1">
              <a:off x="11928" y="3913"/>
              <a:ext cx="2270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2805" y="3913"/>
              <a:ext cx="2198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5003" y="3913"/>
              <a:ext cx="2430" cy="116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/>
            <p:cNvSpPr/>
            <p:nvPr/>
          </p:nvSpPr>
          <p:spPr>
            <a:xfrm>
              <a:off x="14293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Normal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6620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641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2805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15232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6396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2846" y="4294"/>
              <a:ext cx="4558" cy="639"/>
              <a:chOff x="1807518" y="2923518"/>
              <a:chExt cx="2894439" cy="406238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07518" y="2923518"/>
                <a:ext cx="789784" cy="2578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49032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11905" y="4288"/>
              <a:ext cx="4460" cy="518"/>
              <a:chOff x="1805854" y="2919353"/>
              <a:chExt cx="2832047" cy="329145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05854" y="2919353"/>
                <a:ext cx="807261" cy="26046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28439" y="2967774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791" y="6048"/>
              <a:ext cx="2117" cy="1381"/>
              <a:chOff x="1137490" y="4049906"/>
              <a:chExt cx="1344436" cy="876598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04571" y="4282824"/>
                <a:ext cx="720568" cy="2547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5430" y="6034"/>
              <a:ext cx="2113" cy="1395"/>
              <a:chOff x="1292645" y="4193398"/>
              <a:chExt cx="1341681" cy="885506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55308" y="4430734"/>
                <a:ext cx="728889" cy="2542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11358" y="45559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52" name="TextBox 123"/>
            <p:cNvSpPr txBox="1"/>
            <p:nvPr/>
          </p:nvSpPr>
          <p:spPr>
            <a:xfrm rot="691217">
              <a:off x="12255" y="880"/>
              <a:ext cx="3747" cy="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</a:rPr>
                <a:t>Does a person have a heart disorder?</a:t>
              </a: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102" y="1564"/>
              <a:ext cx="487" cy="6212"/>
              <a:chOff x="12073981" y="1470992"/>
              <a:chExt cx="309434" cy="3944406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 flipV="1">
                <a:off x="12228698" y="1470992"/>
                <a:ext cx="0" cy="3944406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flipH="1">
                <a:off x="12073981" y="5415398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H="1">
                <a:off x="12073981" y="1470992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TextBox 123"/>
            <p:cNvSpPr txBox="1"/>
            <p:nvPr/>
          </p:nvSpPr>
          <p:spPr>
            <a:xfrm>
              <a:off x="468" y="1711"/>
              <a:ext cx="2314" cy="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</a:rPr>
                <a:t>depth=3</a:t>
              </a:r>
            </a:p>
          </p:txBody>
        </p:sp>
        <p:sp>
          <p:nvSpPr>
            <p:cNvPr id="13" name="Rectangle 6"/>
            <p:cNvSpPr/>
            <p:nvPr/>
          </p:nvSpPr>
          <p:spPr>
            <a:xfrm>
              <a:off x="528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14" name="Rectangle 35"/>
            <p:cNvSpPr/>
            <p:nvPr/>
          </p:nvSpPr>
          <p:spPr>
            <a:xfrm>
              <a:off x="7616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Attention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99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117.5 kg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flipH="1">
              <a:off x="6228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5" idx="2"/>
              <a:endCxn id="14" idx="0"/>
            </p:cNvCxnSpPr>
            <p:nvPr/>
          </p:nvCxnSpPr>
          <p:spPr>
            <a:xfrm>
              <a:off x="7392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6335" y="6156"/>
              <a:ext cx="2160" cy="1269"/>
              <a:chOff x="1109948" y="4120855"/>
              <a:chExt cx="1371978" cy="805649"/>
            </a:xfrm>
          </p:grpSpPr>
          <p:sp>
            <p:nvSpPr>
              <p:cNvPr id="19" name="Text Box 7"/>
              <p:cNvSpPr txBox="1"/>
              <p:nvPr/>
            </p:nvSpPr>
            <p:spPr>
              <a:xfrm rot="18671151">
                <a:off x="917045" y="4313757"/>
                <a:ext cx="645682" cy="2598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20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33" name="Rectangle 37"/>
            <p:cNvSpPr/>
            <p:nvPr/>
          </p:nvSpPr>
          <p:spPr>
            <a:xfrm>
              <a:off x="11030" y="509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5" name="Rectangle 6"/>
            <p:cNvSpPr/>
            <p:nvPr/>
          </p:nvSpPr>
          <p:spPr>
            <a:xfrm>
              <a:off x="9825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7" name="Rectangle 35"/>
            <p:cNvSpPr/>
            <p:nvPr/>
          </p:nvSpPr>
          <p:spPr>
            <a:xfrm>
              <a:off x="1215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Normal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835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79.0 kg</a:t>
              </a:r>
            </a:p>
          </p:txBody>
        </p:sp>
        <p:cxnSp>
          <p:nvCxnSpPr>
            <p:cNvPr id="40" name="Straight Connector 39"/>
            <p:cNvCxnSpPr>
              <a:stCxn id="39" idx="2"/>
              <a:endCxn id="35" idx="0"/>
            </p:cNvCxnSpPr>
            <p:nvPr/>
          </p:nvCxnSpPr>
          <p:spPr>
            <a:xfrm flipH="1">
              <a:off x="10764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9" idx="2"/>
              <a:endCxn id="37" idx="0"/>
            </p:cNvCxnSpPr>
            <p:nvPr/>
          </p:nvCxnSpPr>
          <p:spPr>
            <a:xfrm>
              <a:off x="11928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10898" y="6105"/>
              <a:ext cx="2133" cy="1340"/>
              <a:chOff x="1127391" y="4076024"/>
              <a:chExt cx="1354535" cy="850480"/>
            </a:xfrm>
          </p:grpSpPr>
          <p:sp>
            <p:nvSpPr>
              <p:cNvPr id="45" name="Text Box 7"/>
              <p:cNvSpPr txBox="1"/>
              <p:nvPr/>
            </p:nvSpPr>
            <p:spPr>
              <a:xfrm rot="18671151">
                <a:off x="908729" y="4294686"/>
                <a:ext cx="693942" cy="2566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46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59" name="TextBox 123"/>
            <p:cNvSpPr txBox="1"/>
            <p:nvPr/>
          </p:nvSpPr>
          <p:spPr>
            <a:xfrm>
              <a:off x="702" y="1066"/>
              <a:ext cx="2953" cy="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</a:rPr>
                <a:t>max depth = 3</a:t>
              </a:r>
              <a:endParaRPr lang="en-US" sz="1400" b="1" dirty="0">
                <a:solidFill>
                  <a:srgbClr val="202020"/>
                </a:solidFill>
                <a:latin typeface="Candara" panose="020E0502030303020204" charset="0"/>
                <a:sym typeface="+mn-ea"/>
              </a:endParaRPr>
            </a:p>
          </p:txBody>
        </p:sp>
      </p:grpSp>
      <p:sp>
        <p:nvSpPr>
          <p:cNvPr id="23" name="TextBox 123"/>
          <p:cNvSpPr txBox="1"/>
          <p:nvPr/>
        </p:nvSpPr>
        <p:spPr>
          <a:xfrm>
            <a:off x="292100" y="368300"/>
            <a:ext cx="46177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To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classify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 given instance, we just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traverse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the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Decision Tree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from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root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to a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leaf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according to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instance's features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114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93368" y="2315845"/>
            <a:ext cx="8913514" cy="3553309"/>
            <a:chOff x="102" y="880"/>
            <a:chExt cx="18396" cy="7334"/>
          </a:xfrm>
        </p:grpSpPr>
        <p:sp>
          <p:nvSpPr>
            <p:cNvPr id="7" name="Rectangle 6"/>
            <p:cNvSpPr/>
            <p:nvPr/>
          </p:nvSpPr>
          <p:spPr>
            <a:xfrm>
              <a:off x="70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02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Sick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712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4" y="5080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8507" y="1066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smoke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910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3105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5003" y="2061"/>
              <a:ext cx="4597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2"/>
              <a:endCxn id="68" idx="0"/>
            </p:cNvCxnSpPr>
            <p:nvPr/>
          </p:nvCxnSpPr>
          <p:spPr>
            <a:xfrm>
              <a:off x="14198" y="3913"/>
              <a:ext cx="2197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5098" y="2319"/>
              <a:ext cx="15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0" name="Text Box 8"/>
            <p:cNvSpPr txBox="1"/>
            <p:nvPr/>
          </p:nvSpPr>
          <p:spPr>
            <a:xfrm rot="503120">
              <a:off x="12650" y="2316"/>
              <a:ext cx="11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cxnSp>
          <p:nvCxnSpPr>
            <p:cNvPr id="58" name="Straight Connector 57"/>
            <p:cNvCxnSpPr>
              <a:stCxn id="30" idx="2"/>
              <a:endCxn id="43" idx="0"/>
            </p:cNvCxnSpPr>
            <p:nvPr/>
          </p:nvCxnSpPr>
          <p:spPr>
            <a:xfrm>
              <a:off x="9600" y="2061"/>
              <a:ext cx="4598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ounded Rectangle 67"/>
            <p:cNvSpPr/>
            <p:nvPr/>
          </p:nvSpPr>
          <p:spPr>
            <a:xfrm flipH="1">
              <a:off x="15303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84.5 kg</a:t>
              </a:r>
            </a:p>
          </p:txBody>
        </p:sp>
        <p:cxnSp>
          <p:nvCxnSpPr>
            <p:cNvPr id="71" name="Straight Connector 70"/>
            <p:cNvCxnSpPr>
              <a:stCxn id="43" idx="2"/>
              <a:endCxn id="39" idx="0"/>
            </p:cNvCxnSpPr>
            <p:nvPr/>
          </p:nvCxnSpPr>
          <p:spPr>
            <a:xfrm flipH="1">
              <a:off x="11928" y="3913"/>
              <a:ext cx="2270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2805" y="3913"/>
              <a:ext cx="2198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5003" y="3913"/>
              <a:ext cx="2430" cy="116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/>
            <p:cNvSpPr/>
            <p:nvPr/>
          </p:nvSpPr>
          <p:spPr>
            <a:xfrm>
              <a:off x="14293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Normal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6620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641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2805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8" idx="2"/>
              <a:endCxn id="83" idx="0"/>
            </p:cNvCxnSpPr>
            <p:nvPr/>
          </p:nvCxnSpPr>
          <p:spPr>
            <a:xfrm flipH="1">
              <a:off x="15232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6396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2846" y="4294"/>
              <a:ext cx="4558" cy="639"/>
              <a:chOff x="1807518" y="2923518"/>
              <a:chExt cx="2894439" cy="406238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07518" y="2923518"/>
                <a:ext cx="789784" cy="2578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49032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11905" y="4288"/>
              <a:ext cx="4460" cy="518"/>
              <a:chOff x="1805854" y="2919353"/>
              <a:chExt cx="2832047" cy="329145"/>
            </a:xfrm>
          </p:grpSpPr>
          <p:sp>
            <p:nvSpPr>
              <p:cNvPr id="105" name="Text Box 7"/>
              <p:cNvSpPr txBox="1"/>
              <p:nvPr/>
            </p:nvSpPr>
            <p:spPr>
              <a:xfrm rot="19891182">
                <a:off x="1805854" y="2919353"/>
                <a:ext cx="807261" cy="26046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6" name="Text Box 7"/>
              <p:cNvSpPr txBox="1"/>
              <p:nvPr/>
            </p:nvSpPr>
            <p:spPr>
              <a:xfrm rot="1501825">
                <a:off x="4028439" y="2967774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1791" y="6048"/>
              <a:ext cx="2117" cy="1381"/>
              <a:chOff x="1137490" y="4049906"/>
              <a:chExt cx="1344436" cy="876598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04571" y="4282824"/>
                <a:ext cx="720568" cy="2547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5430" y="6034"/>
              <a:ext cx="2113" cy="1395"/>
              <a:chOff x="1292645" y="4193398"/>
              <a:chExt cx="1341681" cy="885506"/>
            </a:xfrm>
          </p:grpSpPr>
          <p:sp>
            <p:nvSpPr>
              <p:cNvPr id="109" name="Text Box 7"/>
              <p:cNvSpPr txBox="1"/>
              <p:nvPr/>
            </p:nvSpPr>
            <p:spPr>
              <a:xfrm rot="18671151">
                <a:off x="1055308" y="4430734"/>
                <a:ext cx="728889" cy="2542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10" name="Text Box 7"/>
              <p:cNvSpPr txBox="1"/>
              <p:nvPr/>
            </p:nvSpPr>
            <p:spPr>
              <a:xfrm rot="2812816">
                <a:off x="2111358" y="45559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52" name="TextBox 123"/>
            <p:cNvSpPr txBox="1"/>
            <p:nvPr/>
          </p:nvSpPr>
          <p:spPr>
            <a:xfrm rot="691217">
              <a:off x="12255" y="880"/>
              <a:ext cx="3747" cy="1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</a:rPr>
                <a:t>Does a person have a heart disorder?</a:t>
              </a: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102" y="1564"/>
              <a:ext cx="487" cy="6212"/>
              <a:chOff x="12073981" y="1470992"/>
              <a:chExt cx="309434" cy="3944406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 flipV="1">
                <a:off x="12228698" y="1470992"/>
                <a:ext cx="0" cy="3944406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flipH="1">
                <a:off x="12073981" y="5415398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H="1">
                <a:off x="12073981" y="1470992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TextBox 123"/>
            <p:cNvSpPr txBox="1"/>
            <p:nvPr/>
          </p:nvSpPr>
          <p:spPr>
            <a:xfrm>
              <a:off x="468" y="1711"/>
              <a:ext cx="2314" cy="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</a:rPr>
                <a:t>depth=3</a:t>
              </a:r>
            </a:p>
          </p:txBody>
        </p:sp>
        <p:sp>
          <p:nvSpPr>
            <p:cNvPr id="13" name="Rectangle 6"/>
            <p:cNvSpPr/>
            <p:nvPr/>
          </p:nvSpPr>
          <p:spPr>
            <a:xfrm>
              <a:off x="528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14" name="Rectangle 35"/>
            <p:cNvSpPr/>
            <p:nvPr/>
          </p:nvSpPr>
          <p:spPr>
            <a:xfrm>
              <a:off x="7616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Attention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99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117.5 kg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flipH="1">
              <a:off x="6228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5" idx="2"/>
              <a:endCxn id="14" idx="0"/>
            </p:cNvCxnSpPr>
            <p:nvPr/>
          </p:nvCxnSpPr>
          <p:spPr>
            <a:xfrm>
              <a:off x="7392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6335" y="6156"/>
              <a:ext cx="2160" cy="1269"/>
              <a:chOff x="1109948" y="4120855"/>
              <a:chExt cx="1371978" cy="805649"/>
            </a:xfrm>
          </p:grpSpPr>
          <p:sp>
            <p:nvSpPr>
              <p:cNvPr id="19" name="Text Box 7"/>
              <p:cNvSpPr txBox="1"/>
              <p:nvPr/>
            </p:nvSpPr>
            <p:spPr>
              <a:xfrm rot="18671151">
                <a:off x="917045" y="4313757"/>
                <a:ext cx="645682" cy="2598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20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33" name="Rectangle 37"/>
            <p:cNvSpPr/>
            <p:nvPr/>
          </p:nvSpPr>
          <p:spPr>
            <a:xfrm>
              <a:off x="11030" y="509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5" name="Rectangle 6"/>
            <p:cNvSpPr/>
            <p:nvPr/>
          </p:nvSpPr>
          <p:spPr>
            <a:xfrm>
              <a:off x="9825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7" name="Rectangle 35"/>
            <p:cNvSpPr/>
            <p:nvPr/>
          </p:nvSpPr>
          <p:spPr>
            <a:xfrm>
              <a:off x="1215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Normal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835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79.0 kg</a:t>
              </a:r>
            </a:p>
          </p:txBody>
        </p:sp>
        <p:cxnSp>
          <p:nvCxnSpPr>
            <p:cNvPr id="40" name="Straight Connector 39"/>
            <p:cNvCxnSpPr>
              <a:stCxn id="39" idx="2"/>
              <a:endCxn id="35" idx="0"/>
            </p:cNvCxnSpPr>
            <p:nvPr/>
          </p:nvCxnSpPr>
          <p:spPr>
            <a:xfrm flipH="1">
              <a:off x="10764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9" idx="2"/>
              <a:endCxn id="37" idx="0"/>
            </p:cNvCxnSpPr>
            <p:nvPr/>
          </p:nvCxnSpPr>
          <p:spPr>
            <a:xfrm>
              <a:off x="11928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10898" y="6105"/>
              <a:ext cx="2133" cy="1340"/>
              <a:chOff x="1127391" y="4076024"/>
              <a:chExt cx="1354535" cy="850480"/>
            </a:xfrm>
          </p:grpSpPr>
          <p:sp>
            <p:nvSpPr>
              <p:cNvPr id="45" name="Text Box 7"/>
              <p:cNvSpPr txBox="1"/>
              <p:nvPr/>
            </p:nvSpPr>
            <p:spPr>
              <a:xfrm rot="18671151">
                <a:off x="908729" y="4294686"/>
                <a:ext cx="693942" cy="2566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46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59" name="TextBox 123"/>
            <p:cNvSpPr txBox="1"/>
            <p:nvPr/>
          </p:nvSpPr>
          <p:spPr>
            <a:xfrm>
              <a:off x="702" y="1066"/>
              <a:ext cx="2953" cy="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</a:rPr>
                <a:t>max depth = 3</a:t>
              </a:r>
              <a:endParaRPr lang="en-US" sz="1400" b="1" dirty="0">
                <a:solidFill>
                  <a:srgbClr val="202020"/>
                </a:solidFill>
                <a:latin typeface="Candara" panose="020E0502030303020204" charset="0"/>
                <a:sym typeface="+mn-ea"/>
              </a:endParaRPr>
            </a:p>
          </p:txBody>
        </p:sp>
      </p:grpSp>
      <p:sp>
        <p:nvSpPr>
          <p:cNvPr id="23" name="TextBox 123"/>
          <p:cNvSpPr txBox="1"/>
          <p:nvPr/>
        </p:nvSpPr>
        <p:spPr>
          <a:xfrm>
            <a:off x="292100" y="368300"/>
            <a:ext cx="46177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To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classify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 given instance, we just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traverse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the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Decision Tree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from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root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to a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leaf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according to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instance's features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6" name="TextBox 123"/>
          <p:cNvSpPr txBox="1"/>
          <p:nvPr/>
        </p:nvSpPr>
        <p:spPr>
          <a:xfrm>
            <a:off x="291872" y="1257093"/>
            <a:ext cx="1244911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Candara" panose="020E0502030303020204" charset="0"/>
              </a:rPr>
              <a:t>Weight: 80 kg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Smoke: No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Work out: No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115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93368" y="2647242"/>
            <a:ext cx="8913514" cy="3221912"/>
            <a:chOff x="102" y="1564"/>
            <a:chExt cx="18396" cy="6650"/>
          </a:xfrm>
        </p:grpSpPr>
        <p:sp>
          <p:nvSpPr>
            <p:cNvPr id="7" name="Rectangle 6"/>
            <p:cNvSpPr/>
            <p:nvPr/>
          </p:nvSpPr>
          <p:spPr>
            <a:xfrm>
              <a:off x="70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02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Sick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712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4" y="5080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910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5003" y="2061"/>
              <a:ext cx="4597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5098" y="2319"/>
              <a:ext cx="15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cxnSp>
          <p:nvCxnSpPr>
            <p:cNvPr id="71" name="Straight Connector 70"/>
            <p:cNvCxnSpPr>
              <a:stCxn id="43" idx="2"/>
              <a:endCxn id="39" idx="0"/>
            </p:cNvCxnSpPr>
            <p:nvPr/>
          </p:nvCxnSpPr>
          <p:spPr>
            <a:xfrm flipH="1">
              <a:off x="11928" y="3913"/>
              <a:ext cx="2270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2805" y="3913"/>
              <a:ext cx="2198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5003" y="3913"/>
              <a:ext cx="2430" cy="116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/>
            <p:cNvSpPr/>
            <p:nvPr/>
          </p:nvSpPr>
          <p:spPr>
            <a:xfrm>
              <a:off x="16620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641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2805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6396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2846" y="4294"/>
              <a:ext cx="4558" cy="639"/>
              <a:chOff x="1807518" y="2923518"/>
              <a:chExt cx="2894439" cy="406238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07518" y="2923518"/>
                <a:ext cx="789784" cy="2578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49032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105" name="Text Box 7"/>
            <p:cNvSpPr txBox="1"/>
            <p:nvPr/>
          </p:nvSpPr>
          <p:spPr>
            <a:xfrm rot="19891182">
              <a:off x="11905" y="4288"/>
              <a:ext cx="1271" cy="4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grpSp>
          <p:nvGrpSpPr>
            <p:cNvPr id="111" name="Group 110"/>
            <p:cNvGrpSpPr/>
            <p:nvPr/>
          </p:nvGrpSpPr>
          <p:grpSpPr>
            <a:xfrm>
              <a:off x="1791" y="6048"/>
              <a:ext cx="2117" cy="1381"/>
              <a:chOff x="1137490" y="4049906"/>
              <a:chExt cx="1344436" cy="876598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04571" y="4282824"/>
                <a:ext cx="720568" cy="2547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110" name="Text Box 7"/>
            <p:cNvSpPr txBox="1"/>
            <p:nvPr/>
          </p:nvSpPr>
          <p:spPr>
            <a:xfrm rot="2812816">
              <a:off x="16719" y="6605"/>
              <a:ext cx="1212" cy="43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102" y="1564"/>
              <a:ext cx="487" cy="6212"/>
              <a:chOff x="12073981" y="1470992"/>
              <a:chExt cx="309434" cy="3944406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 flipV="1">
                <a:off x="12228698" y="1470992"/>
                <a:ext cx="0" cy="3944406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flipH="1">
                <a:off x="12073981" y="5415398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H="1">
                <a:off x="12073981" y="1470992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6"/>
            <p:cNvSpPr/>
            <p:nvPr/>
          </p:nvSpPr>
          <p:spPr>
            <a:xfrm>
              <a:off x="528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14" name="Rectangle 35"/>
            <p:cNvSpPr/>
            <p:nvPr/>
          </p:nvSpPr>
          <p:spPr>
            <a:xfrm>
              <a:off x="7616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Attention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99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117.5 kg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flipH="1">
              <a:off x="6228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5" idx="2"/>
              <a:endCxn id="14" idx="0"/>
            </p:cNvCxnSpPr>
            <p:nvPr/>
          </p:nvCxnSpPr>
          <p:spPr>
            <a:xfrm>
              <a:off x="7392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6335" y="6156"/>
              <a:ext cx="2160" cy="1269"/>
              <a:chOff x="1109948" y="4120855"/>
              <a:chExt cx="1371978" cy="805649"/>
            </a:xfrm>
          </p:grpSpPr>
          <p:sp>
            <p:nvSpPr>
              <p:cNvPr id="19" name="Text Box 7"/>
              <p:cNvSpPr txBox="1"/>
              <p:nvPr/>
            </p:nvSpPr>
            <p:spPr>
              <a:xfrm rot="18671151">
                <a:off x="917045" y="4313757"/>
                <a:ext cx="645682" cy="2598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20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33" name="Rectangle 37"/>
            <p:cNvSpPr/>
            <p:nvPr/>
          </p:nvSpPr>
          <p:spPr>
            <a:xfrm>
              <a:off x="11030" y="509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5" name="Rectangle 6"/>
            <p:cNvSpPr/>
            <p:nvPr/>
          </p:nvSpPr>
          <p:spPr>
            <a:xfrm>
              <a:off x="9825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7" name="Rectangle 35"/>
            <p:cNvSpPr/>
            <p:nvPr/>
          </p:nvSpPr>
          <p:spPr>
            <a:xfrm>
              <a:off x="1215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Normal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835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79.0 kg</a:t>
              </a:r>
            </a:p>
          </p:txBody>
        </p:sp>
        <p:cxnSp>
          <p:nvCxnSpPr>
            <p:cNvPr id="40" name="Straight Connector 39"/>
            <p:cNvCxnSpPr>
              <a:stCxn id="39" idx="2"/>
              <a:endCxn id="35" idx="0"/>
            </p:cNvCxnSpPr>
            <p:nvPr/>
          </p:nvCxnSpPr>
          <p:spPr>
            <a:xfrm flipH="1">
              <a:off x="10764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9" idx="2"/>
              <a:endCxn id="37" idx="0"/>
            </p:cNvCxnSpPr>
            <p:nvPr/>
          </p:nvCxnSpPr>
          <p:spPr>
            <a:xfrm>
              <a:off x="11928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10898" y="6105"/>
              <a:ext cx="2133" cy="1340"/>
              <a:chOff x="1127391" y="4076024"/>
              <a:chExt cx="1354535" cy="850480"/>
            </a:xfrm>
          </p:grpSpPr>
          <p:sp>
            <p:nvSpPr>
              <p:cNvPr id="45" name="Text Box 7"/>
              <p:cNvSpPr txBox="1"/>
              <p:nvPr/>
            </p:nvSpPr>
            <p:spPr>
              <a:xfrm rot="18671151">
                <a:off x="908729" y="4294686"/>
                <a:ext cx="693942" cy="2566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46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23" name="TextBox 123"/>
          <p:cNvSpPr txBox="1"/>
          <p:nvPr/>
        </p:nvSpPr>
        <p:spPr>
          <a:xfrm>
            <a:off x="292100" y="368300"/>
            <a:ext cx="46177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To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classify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 given instance, we just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traverse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the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Decision Tree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from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root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to a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leaf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according to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instance's features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2658745" y="1426210"/>
            <a:ext cx="1435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ndara" panose="020E0502030303020204" charset="0"/>
              </a:rPr>
              <a:t>Normal</a:t>
            </a:r>
          </a:p>
        </p:txBody>
      </p:sp>
      <p:cxnSp>
        <p:nvCxnSpPr>
          <p:cNvPr id="5" name="Straight Arrow Connector 4"/>
          <p:cNvCxnSpPr>
            <a:stCxn id="31" idx="3"/>
            <a:endCxn id="4" idx="1"/>
          </p:cNvCxnSpPr>
          <p:nvPr/>
        </p:nvCxnSpPr>
        <p:spPr>
          <a:xfrm>
            <a:off x="1536700" y="1625600"/>
            <a:ext cx="112204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s 26"/>
          <p:cNvSpPr/>
          <p:nvPr/>
        </p:nvSpPr>
        <p:spPr>
          <a:xfrm>
            <a:off x="3129915" y="2338705"/>
            <a:ext cx="8783955" cy="3763645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965888" y="2405962"/>
            <a:ext cx="1058710" cy="482076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93782" y="3303252"/>
            <a:ext cx="1058710" cy="482076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10" name="Straight Connector 9"/>
          <p:cNvCxnSpPr>
            <a:stCxn id="9" idx="2"/>
            <a:endCxn id="21" idx="0"/>
          </p:cNvCxnSpPr>
          <p:nvPr/>
        </p:nvCxnSpPr>
        <p:spPr>
          <a:xfrm>
            <a:off x="9723380" y="3785328"/>
            <a:ext cx="1064524" cy="566378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8"/>
          <p:cNvSpPr txBox="1"/>
          <p:nvPr/>
        </p:nvSpPr>
        <p:spPr>
          <a:xfrm rot="503120">
            <a:off x="8973319" y="3011584"/>
            <a:ext cx="572236" cy="2141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cxnSp>
        <p:nvCxnSpPr>
          <p:cNvPr id="12" name="Straight Connector 11"/>
          <p:cNvCxnSpPr>
            <a:stCxn id="8" idx="2"/>
            <a:endCxn id="9" idx="0"/>
          </p:cNvCxnSpPr>
          <p:nvPr/>
        </p:nvCxnSpPr>
        <p:spPr>
          <a:xfrm>
            <a:off x="7495486" y="2888037"/>
            <a:ext cx="2227894" cy="41521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 flipH="1">
            <a:off x="10258791" y="4351706"/>
            <a:ext cx="1058710" cy="482076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ndara" panose="020E0502030303020204" charset="0"/>
                <a:cs typeface="Candara" panose="020E0502030303020204" charset="0"/>
              </a:rPr>
              <a:t>weight ≤ 84.5 kg</a:t>
            </a:r>
          </a:p>
        </p:txBody>
      </p:sp>
      <p:sp>
        <p:nvSpPr>
          <p:cNvPr id="22" name="Rectangle 82"/>
          <p:cNvSpPr/>
          <p:nvPr/>
        </p:nvSpPr>
        <p:spPr>
          <a:xfrm>
            <a:off x="9769410" y="5445218"/>
            <a:ext cx="909958" cy="423936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Normal</a:t>
            </a:r>
          </a:p>
        </p:txBody>
      </p:sp>
      <p:cxnSp>
        <p:nvCxnSpPr>
          <p:cNvPr id="24" name="Straight Connector 23"/>
          <p:cNvCxnSpPr>
            <a:stCxn id="21" idx="2"/>
            <a:endCxn id="22" idx="0"/>
          </p:cNvCxnSpPr>
          <p:nvPr/>
        </p:nvCxnSpPr>
        <p:spPr>
          <a:xfrm flipH="1">
            <a:off x="10224389" y="4833782"/>
            <a:ext cx="563999" cy="611437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7"/>
          <p:cNvSpPr txBox="1"/>
          <p:nvPr/>
        </p:nvSpPr>
        <p:spPr>
          <a:xfrm rot="1501825">
            <a:off x="10308310" y="4003935"/>
            <a:ext cx="465057" cy="2140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26" name="Text Box 7"/>
          <p:cNvSpPr txBox="1"/>
          <p:nvPr/>
        </p:nvSpPr>
        <p:spPr>
          <a:xfrm rot="18671151">
            <a:off x="10139154" y="4994120"/>
            <a:ext cx="556335" cy="193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Box 123"/>
          <p:cNvSpPr txBox="1"/>
          <p:nvPr/>
        </p:nvSpPr>
        <p:spPr>
          <a:xfrm>
            <a:off x="3070708" y="2718463"/>
            <a:ext cx="1121215" cy="30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</a:rPr>
              <a:t>depth=3</a:t>
            </a:r>
          </a:p>
        </p:txBody>
      </p:sp>
      <p:sp>
        <p:nvSpPr>
          <p:cNvPr id="28" name="TextBox 123"/>
          <p:cNvSpPr txBox="1"/>
          <p:nvPr/>
        </p:nvSpPr>
        <p:spPr>
          <a:xfrm>
            <a:off x="3184089" y="2405962"/>
            <a:ext cx="1430833" cy="30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202020"/>
                </a:solidFill>
                <a:latin typeface="Candara" panose="020E0502030303020204" charset="0"/>
              </a:rPr>
              <a:t>max depth = 3</a:t>
            </a:r>
            <a:endParaRPr lang="en-US" sz="1400" b="1" dirty="0">
              <a:solidFill>
                <a:srgbClr val="202020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9" name="TextBox 123"/>
          <p:cNvSpPr txBox="1"/>
          <p:nvPr/>
        </p:nvSpPr>
        <p:spPr>
          <a:xfrm rot="691217">
            <a:off x="8781927" y="2315845"/>
            <a:ext cx="1815554" cy="52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  <p:sp>
        <p:nvSpPr>
          <p:cNvPr id="31" name="TextBox 123"/>
          <p:cNvSpPr txBox="1"/>
          <p:nvPr/>
        </p:nvSpPr>
        <p:spPr>
          <a:xfrm>
            <a:off x="291872" y="1257093"/>
            <a:ext cx="1244911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Candara" panose="020E0502030303020204" charset="0"/>
              </a:rPr>
              <a:t>Weight: 80 kg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Smoke: No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Work out: No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116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93368" y="2647242"/>
            <a:ext cx="8913514" cy="3221912"/>
            <a:chOff x="102" y="1564"/>
            <a:chExt cx="18396" cy="6650"/>
          </a:xfrm>
        </p:grpSpPr>
        <p:sp>
          <p:nvSpPr>
            <p:cNvPr id="7" name="Rectangle 6"/>
            <p:cNvSpPr/>
            <p:nvPr/>
          </p:nvSpPr>
          <p:spPr>
            <a:xfrm>
              <a:off x="70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02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Sick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712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4" y="5080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910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5003" y="2061"/>
              <a:ext cx="4597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5098" y="2319"/>
              <a:ext cx="15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cxnSp>
          <p:nvCxnSpPr>
            <p:cNvPr id="71" name="Straight Connector 70"/>
            <p:cNvCxnSpPr>
              <a:stCxn id="43" idx="2"/>
              <a:endCxn id="39" idx="0"/>
            </p:cNvCxnSpPr>
            <p:nvPr/>
          </p:nvCxnSpPr>
          <p:spPr>
            <a:xfrm flipH="1">
              <a:off x="11928" y="3913"/>
              <a:ext cx="2270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2805" y="3913"/>
              <a:ext cx="2198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5003" y="3913"/>
              <a:ext cx="2430" cy="116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/>
            <p:cNvSpPr/>
            <p:nvPr/>
          </p:nvSpPr>
          <p:spPr>
            <a:xfrm>
              <a:off x="16620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641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2805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6396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2846" y="4294"/>
              <a:ext cx="4558" cy="639"/>
              <a:chOff x="1807518" y="2923518"/>
              <a:chExt cx="2894439" cy="406238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07518" y="2923518"/>
                <a:ext cx="789784" cy="2578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49032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105" name="Text Box 7"/>
            <p:cNvSpPr txBox="1"/>
            <p:nvPr/>
          </p:nvSpPr>
          <p:spPr>
            <a:xfrm rot="19891182">
              <a:off x="11905" y="4288"/>
              <a:ext cx="1271" cy="4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grpSp>
          <p:nvGrpSpPr>
            <p:cNvPr id="111" name="Group 110"/>
            <p:cNvGrpSpPr/>
            <p:nvPr/>
          </p:nvGrpSpPr>
          <p:grpSpPr>
            <a:xfrm>
              <a:off x="1791" y="6048"/>
              <a:ext cx="2117" cy="1381"/>
              <a:chOff x="1137490" y="4049906"/>
              <a:chExt cx="1344436" cy="876598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04571" y="4282824"/>
                <a:ext cx="720568" cy="2547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110" name="Text Box 7"/>
            <p:cNvSpPr txBox="1"/>
            <p:nvPr/>
          </p:nvSpPr>
          <p:spPr>
            <a:xfrm rot="2812816">
              <a:off x="16719" y="6605"/>
              <a:ext cx="1212" cy="43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102" y="1564"/>
              <a:ext cx="487" cy="6212"/>
              <a:chOff x="12073981" y="1470992"/>
              <a:chExt cx="309434" cy="3944406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 flipV="1">
                <a:off x="12228698" y="1470992"/>
                <a:ext cx="0" cy="3944406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flipH="1">
                <a:off x="12073981" y="5415398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H="1">
                <a:off x="12073981" y="1470992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6"/>
            <p:cNvSpPr/>
            <p:nvPr/>
          </p:nvSpPr>
          <p:spPr>
            <a:xfrm>
              <a:off x="528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14" name="Rectangle 35"/>
            <p:cNvSpPr/>
            <p:nvPr/>
          </p:nvSpPr>
          <p:spPr>
            <a:xfrm>
              <a:off x="7616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Attention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99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117.5 kg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flipH="1">
              <a:off x="6228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5" idx="2"/>
              <a:endCxn id="14" idx="0"/>
            </p:cNvCxnSpPr>
            <p:nvPr/>
          </p:nvCxnSpPr>
          <p:spPr>
            <a:xfrm>
              <a:off x="7392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6335" y="6156"/>
              <a:ext cx="2160" cy="1269"/>
              <a:chOff x="1109948" y="4120855"/>
              <a:chExt cx="1371978" cy="805649"/>
            </a:xfrm>
          </p:grpSpPr>
          <p:sp>
            <p:nvSpPr>
              <p:cNvPr id="19" name="Text Box 7"/>
              <p:cNvSpPr txBox="1"/>
              <p:nvPr/>
            </p:nvSpPr>
            <p:spPr>
              <a:xfrm rot="18671151">
                <a:off x="917045" y="4313757"/>
                <a:ext cx="645682" cy="2598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20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33" name="Rectangle 37"/>
            <p:cNvSpPr/>
            <p:nvPr/>
          </p:nvSpPr>
          <p:spPr>
            <a:xfrm>
              <a:off x="11030" y="509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5" name="Rectangle 6"/>
            <p:cNvSpPr/>
            <p:nvPr/>
          </p:nvSpPr>
          <p:spPr>
            <a:xfrm>
              <a:off x="9825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7" name="Rectangle 35"/>
            <p:cNvSpPr/>
            <p:nvPr/>
          </p:nvSpPr>
          <p:spPr>
            <a:xfrm>
              <a:off x="1215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Normal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835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79.0 kg</a:t>
              </a:r>
            </a:p>
          </p:txBody>
        </p:sp>
        <p:cxnSp>
          <p:nvCxnSpPr>
            <p:cNvPr id="40" name="Straight Connector 39"/>
            <p:cNvCxnSpPr>
              <a:stCxn id="39" idx="2"/>
              <a:endCxn id="35" idx="0"/>
            </p:cNvCxnSpPr>
            <p:nvPr/>
          </p:nvCxnSpPr>
          <p:spPr>
            <a:xfrm flipH="1">
              <a:off x="10764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9" idx="2"/>
              <a:endCxn id="37" idx="0"/>
            </p:cNvCxnSpPr>
            <p:nvPr/>
          </p:nvCxnSpPr>
          <p:spPr>
            <a:xfrm>
              <a:off x="11928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10898" y="6105"/>
              <a:ext cx="2133" cy="1340"/>
              <a:chOff x="1127391" y="4076024"/>
              <a:chExt cx="1354535" cy="850480"/>
            </a:xfrm>
          </p:grpSpPr>
          <p:sp>
            <p:nvSpPr>
              <p:cNvPr id="45" name="Text Box 7"/>
              <p:cNvSpPr txBox="1"/>
              <p:nvPr/>
            </p:nvSpPr>
            <p:spPr>
              <a:xfrm rot="18671151">
                <a:off x="908729" y="4294686"/>
                <a:ext cx="693942" cy="2566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46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3" name="TextBox 123"/>
          <p:cNvSpPr txBox="1"/>
          <p:nvPr/>
        </p:nvSpPr>
        <p:spPr>
          <a:xfrm>
            <a:off x="291872" y="1257093"/>
            <a:ext cx="1244911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Candara" panose="020E0502030303020204" charset="0"/>
              </a:rPr>
              <a:t>Weight: 80 kg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Smoke: No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Work out: No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2658745" y="1426210"/>
            <a:ext cx="1435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ndara" panose="020E0502030303020204" charset="0"/>
              </a:rPr>
              <a:t>Normal</a:t>
            </a:r>
          </a:p>
        </p:txBody>
      </p:sp>
      <p:cxnSp>
        <p:nvCxnSpPr>
          <p:cNvPr id="5" name="Straight Arrow Connector 4"/>
          <p:cNvCxnSpPr>
            <a:stCxn id="3" idx="3"/>
            <a:endCxn id="4" idx="1"/>
          </p:cNvCxnSpPr>
          <p:nvPr/>
        </p:nvCxnSpPr>
        <p:spPr>
          <a:xfrm flipV="1">
            <a:off x="1536783" y="1625790"/>
            <a:ext cx="1122045" cy="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s 26"/>
          <p:cNvSpPr/>
          <p:nvPr/>
        </p:nvSpPr>
        <p:spPr>
          <a:xfrm>
            <a:off x="3129915" y="2338705"/>
            <a:ext cx="8783955" cy="3763645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965888" y="2405962"/>
            <a:ext cx="1058710" cy="482076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93782" y="3303252"/>
            <a:ext cx="1058710" cy="482076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10" name="Straight Connector 9"/>
          <p:cNvCxnSpPr>
            <a:stCxn id="9" idx="2"/>
            <a:endCxn id="21" idx="0"/>
          </p:cNvCxnSpPr>
          <p:nvPr/>
        </p:nvCxnSpPr>
        <p:spPr>
          <a:xfrm>
            <a:off x="9723380" y="3785328"/>
            <a:ext cx="1064524" cy="566378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8"/>
          <p:cNvSpPr txBox="1"/>
          <p:nvPr/>
        </p:nvSpPr>
        <p:spPr>
          <a:xfrm rot="503120">
            <a:off x="8973319" y="3011584"/>
            <a:ext cx="572236" cy="2141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cxnSp>
        <p:nvCxnSpPr>
          <p:cNvPr id="12" name="Straight Connector 11"/>
          <p:cNvCxnSpPr>
            <a:stCxn id="8" idx="2"/>
            <a:endCxn id="9" idx="0"/>
          </p:cNvCxnSpPr>
          <p:nvPr/>
        </p:nvCxnSpPr>
        <p:spPr>
          <a:xfrm>
            <a:off x="7495486" y="2888037"/>
            <a:ext cx="2227894" cy="41521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 flipH="1">
            <a:off x="10258791" y="4351706"/>
            <a:ext cx="1058710" cy="482076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ndara" panose="020E0502030303020204" charset="0"/>
                <a:cs typeface="Candara" panose="020E0502030303020204" charset="0"/>
              </a:rPr>
              <a:t>weight ≤ 84.5 kg</a:t>
            </a:r>
          </a:p>
        </p:txBody>
      </p:sp>
      <p:sp>
        <p:nvSpPr>
          <p:cNvPr id="22" name="Rectangle 82"/>
          <p:cNvSpPr/>
          <p:nvPr/>
        </p:nvSpPr>
        <p:spPr>
          <a:xfrm>
            <a:off x="9769410" y="5445218"/>
            <a:ext cx="909958" cy="423936"/>
          </a:xfrm>
          <a:prstGeom prst="rect">
            <a:avLst/>
          </a:prstGeom>
          <a:solidFill>
            <a:srgbClr val="FFD700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andara" panose="020E0502030303020204" charset="0"/>
                <a:sym typeface="+mn-ea"/>
              </a:rPr>
              <a:t>Normal</a:t>
            </a:r>
          </a:p>
        </p:txBody>
      </p:sp>
      <p:cxnSp>
        <p:nvCxnSpPr>
          <p:cNvPr id="24" name="Straight Connector 23"/>
          <p:cNvCxnSpPr>
            <a:stCxn id="21" idx="2"/>
            <a:endCxn id="22" idx="0"/>
          </p:cNvCxnSpPr>
          <p:nvPr/>
        </p:nvCxnSpPr>
        <p:spPr>
          <a:xfrm flipH="1">
            <a:off x="10224389" y="4833782"/>
            <a:ext cx="563999" cy="611437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7"/>
          <p:cNvSpPr txBox="1"/>
          <p:nvPr/>
        </p:nvSpPr>
        <p:spPr>
          <a:xfrm rot="1501825">
            <a:off x="10308310" y="4003935"/>
            <a:ext cx="465057" cy="2140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26" name="Text Box 7"/>
          <p:cNvSpPr txBox="1"/>
          <p:nvPr/>
        </p:nvSpPr>
        <p:spPr>
          <a:xfrm rot="18671151">
            <a:off x="10139154" y="4994120"/>
            <a:ext cx="556335" cy="193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 dirty="0">
                <a:latin typeface="Arvo" panose="02000000000000000000" charset="0"/>
                <a:cs typeface="Arvo" panose="02000000000000000000" charset="0"/>
                <a:sym typeface="+mn-ea"/>
              </a:rPr>
              <a:t>True</a:t>
            </a:r>
          </a:p>
        </p:txBody>
      </p:sp>
      <p:sp>
        <p:nvSpPr>
          <p:cNvPr id="27" name="TextBox 123"/>
          <p:cNvSpPr txBox="1"/>
          <p:nvPr/>
        </p:nvSpPr>
        <p:spPr>
          <a:xfrm>
            <a:off x="3070708" y="2718463"/>
            <a:ext cx="1121215" cy="30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</a:rPr>
              <a:t>depth=3</a:t>
            </a:r>
          </a:p>
        </p:txBody>
      </p:sp>
      <p:sp>
        <p:nvSpPr>
          <p:cNvPr id="28" name="TextBox 123"/>
          <p:cNvSpPr txBox="1"/>
          <p:nvPr/>
        </p:nvSpPr>
        <p:spPr>
          <a:xfrm>
            <a:off x="3184089" y="2405962"/>
            <a:ext cx="1430833" cy="30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202020"/>
                </a:solidFill>
                <a:latin typeface="Candara" panose="020E0502030303020204" charset="0"/>
              </a:rPr>
              <a:t>max depth = 3</a:t>
            </a:r>
            <a:endParaRPr lang="en-US" sz="1400" b="1" dirty="0">
              <a:solidFill>
                <a:srgbClr val="202020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9" name="TextBox 123"/>
          <p:cNvSpPr txBox="1"/>
          <p:nvPr/>
        </p:nvSpPr>
        <p:spPr>
          <a:xfrm rot="691217">
            <a:off x="8781927" y="2315845"/>
            <a:ext cx="1815554" cy="52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  <p:sp>
        <p:nvSpPr>
          <p:cNvPr id="31" name="TextBox 123"/>
          <p:cNvSpPr txBox="1"/>
          <p:nvPr/>
        </p:nvSpPr>
        <p:spPr>
          <a:xfrm>
            <a:off x="292100" y="368300"/>
            <a:ext cx="46177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To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classify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 given instance, we just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traverse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the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Decision Tree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from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root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to a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leaf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according to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instance's features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34" name="TextBox 123"/>
          <p:cNvSpPr txBox="1"/>
          <p:nvPr/>
        </p:nvSpPr>
        <p:spPr>
          <a:xfrm>
            <a:off x="5641340" y="368300"/>
            <a:ext cx="4391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Decision Tree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can also estimate the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probability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of an 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belongs to a particular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class c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48" name="TextBox 123"/>
          <p:cNvSpPr txBox="1"/>
          <p:nvPr/>
        </p:nvSpPr>
        <p:spPr>
          <a:xfrm>
            <a:off x="5641340" y="951865"/>
            <a:ext cx="4391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This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probability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is the </a:t>
            </a:r>
            <a:r>
              <a:rPr lang="en-US" sz="1600" dirty="0">
                <a:solidFill>
                  <a:schemeClr val="tx1"/>
                </a:solidFill>
                <a:latin typeface="Candara" panose="020E0502030303020204" charset="0"/>
              </a:rPr>
              <a:t>ratio of training samples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of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class c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in the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leaf node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found for the 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117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93368" y="2647242"/>
            <a:ext cx="8913514" cy="3221912"/>
            <a:chOff x="102" y="1564"/>
            <a:chExt cx="18396" cy="6650"/>
          </a:xfrm>
        </p:grpSpPr>
        <p:sp>
          <p:nvSpPr>
            <p:cNvPr id="7" name="Rectangle 6"/>
            <p:cNvSpPr/>
            <p:nvPr/>
          </p:nvSpPr>
          <p:spPr>
            <a:xfrm>
              <a:off x="70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02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Sick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712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Candara" panose="020E0502030303020204" charset="0"/>
                  <a:cs typeface="Candara" panose="020E0502030303020204" charset="0"/>
                </a:rPr>
                <a:t>workout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4" y="5080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910" y="2918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</a:rPr>
                <a:t>weight ≤ 91.5 kg</a:t>
              </a:r>
            </a:p>
          </p:txBody>
        </p:sp>
        <p:cxnSp>
          <p:nvCxnSpPr>
            <p:cNvPr id="47" name="Straight Connector 46"/>
            <p:cNvCxnSpPr>
              <a:stCxn id="30" idx="2"/>
              <a:endCxn id="41" idx="0"/>
            </p:cNvCxnSpPr>
            <p:nvPr/>
          </p:nvCxnSpPr>
          <p:spPr>
            <a:xfrm flipH="1">
              <a:off x="5003" y="2061"/>
              <a:ext cx="4597" cy="85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Box 7"/>
            <p:cNvSpPr txBox="1"/>
            <p:nvPr/>
          </p:nvSpPr>
          <p:spPr>
            <a:xfrm rot="21016818">
              <a:off x="5098" y="2319"/>
              <a:ext cx="1581" cy="4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cxnSp>
          <p:nvCxnSpPr>
            <p:cNvPr id="71" name="Straight Connector 70"/>
            <p:cNvCxnSpPr>
              <a:stCxn id="43" idx="2"/>
              <a:endCxn id="39" idx="0"/>
            </p:cNvCxnSpPr>
            <p:nvPr/>
          </p:nvCxnSpPr>
          <p:spPr>
            <a:xfrm flipH="1">
              <a:off x="11928" y="3913"/>
              <a:ext cx="2270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2805" y="3913"/>
              <a:ext cx="2198" cy="1169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41" idx="2"/>
              <a:endCxn id="38" idx="0"/>
            </p:cNvCxnSpPr>
            <p:nvPr/>
          </p:nvCxnSpPr>
          <p:spPr>
            <a:xfrm>
              <a:off x="5003" y="3913"/>
              <a:ext cx="2430" cy="1167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/>
            <p:cNvSpPr/>
            <p:nvPr/>
          </p:nvSpPr>
          <p:spPr>
            <a:xfrm>
              <a:off x="16620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cxnSp>
          <p:nvCxnSpPr>
            <p:cNvPr id="85" name="Straight Connector 84"/>
            <p:cNvCxnSpPr>
              <a:stCxn id="32" idx="2"/>
              <a:endCxn id="7" idx="0"/>
            </p:cNvCxnSpPr>
            <p:nvPr/>
          </p:nvCxnSpPr>
          <p:spPr>
            <a:xfrm flipH="1">
              <a:off x="1641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32" idx="2"/>
              <a:endCxn id="36" idx="0"/>
            </p:cNvCxnSpPr>
            <p:nvPr/>
          </p:nvCxnSpPr>
          <p:spPr>
            <a:xfrm>
              <a:off x="2805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68" idx="2"/>
              <a:endCxn id="84" idx="0"/>
            </p:cNvCxnSpPr>
            <p:nvPr/>
          </p:nvCxnSpPr>
          <p:spPr>
            <a:xfrm>
              <a:off x="16396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/>
            <p:cNvGrpSpPr/>
            <p:nvPr/>
          </p:nvGrpSpPr>
          <p:grpSpPr>
            <a:xfrm>
              <a:off x="2846" y="4294"/>
              <a:ext cx="4558" cy="639"/>
              <a:chOff x="1807518" y="2923518"/>
              <a:chExt cx="2894439" cy="406238"/>
            </a:xfrm>
          </p:grpSpPr>
          <p:sp>
            <p:nvSpPr>
              <p:cNvPr id="99" name="Text Box 7"/>
              <p:cNvSpPr txBox="1"/>
              <p:nvPr/>
            </p:nvSpPr>
            <p:spPr>
              <a:xfrm rot="19891182">
                <a:off x="1807518" y="2923518"/>
                <a:ext cx="789784" cy="2578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0" name="Text Box 7"/>
              <p:cNvSpPr txBox="1"/>
              <p:nvPr/>
            </p:nvSpPr>
            <p:spPr>
              <a:xfrm rot="1501825">
                <a:off x="4092495" y="3049032"/>
                <a:ext cx="609462" cy="280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105" name="Text Box 7"/>
            <p:cNvSpPr txBox="1"/>
            <p:nvPr/>
          </p:nvSpPr>
          <p:spPr>
            <a:xfrm rot="19891182">
              <a:off x="11905" y="4288"/>
              <a:ext cx="1271" cy="4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grpSp>
          <p:nvGrpSpPr>
            <p:cNvPr id="111" name="Group 110"/>
            <p:cNvGrpSpPr/>
            <p:nvPr/>
          </p:nvGrpSpPr>
          <p:grpSpPr>
            <a:xfrm>
              <a:off x="1791" y="6048"/>
              <a:ext cx="2117" cy="1381"/>
              <a:chOff x="1137490" y="4049906"/>
              <a:chExt cx="1344436" cy="876598"/>
            </a:xfrm>
          </p:grpSpPr>
          <p:sp>
            <p:nvSpPr>
              <p:cNvPr id="107" name="Text Box 7"/>
              <p:cNvSpPr txBox="1"/>
              <p:nvPr/>
            </p:nvSpPr>
            <p:spPr>
              <a:xfrm rot="18671151">
                <a:off x="904571" y="4282824"/>
                <a:ext cx="720568" cy="2547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108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110" name="Text Box 7"/>
            <p:cNvSpPr txBox="1"/>
            <p:nvPr/>
          </p:nvSpPr>
          <p:spPr>
            <a:xfrm rot="2812816">
              <a:off x="16719" y="6605"/>
              <a:ext cx="1212" cy="43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102" y="1564"/>
              <a:ext cx="487" cy="6212"/>
              <a:chOff x="12073981" y="1470992"/>
              <a:chExt cx="309434" cy="3944406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 flipV="1">
                <a:off x="12228698" y="1470992"/>
                <a:ext cx="0" cy="3944406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flipH="1">
                <a:off x="12073981" y="5415398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H="1">
                <a:off x="12073981" y="1470992"/>
                <a:ext cx="309434" cy="0"/>
              </a:xfrm>
              <a:prstGeom prst="line">
                <a:avLst/>
              </a:prstGeom>
              <a:ln w="28575">
                <a:solidFill>
                  <a:srgbClr val="FF564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6"/>
            <p:cNvSpPr/>
            <p:nvPr/>
          </p:nvSpPr>
          <p:spPr>
            <a:xfrm>
              <a:off x="5289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14" name="Rectangle 35"/>
            <p:cNvSpPr/>
            <p:nvPr/>
          </p:nvSpPr>
          <p:spPr>
            <a:xfrm>
              <a:off x="7616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Attention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99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117.5 kg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flipH="1">
              <a:off x="6228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5" idx="2"/>
              <a:endCxn id="14" idx="0"/>
            </p:cNvCxnSpPr>
            <p:nvPr/>
          </p:nvCxnSpPr>
          <p:spPr>
            <a:xfrm>
              <a:off x="7392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6335" y="6156"/>
              <a:ext cx="2160" cy="1269"/>
              <a:chOff x="1109948" y="4120855"/>
              <a:chExt cx="1371978" cy="805649"/>
            </a:xfrm>
          </p:grpSpPr>
          <p:sp>
            <p:nvSpPr>
              <p:cNvPr id="19" name="Text Box 7"/>
              <p:cNvSpPr txBox="1"/>
              <p:nvPr/>
            </p:nvSpPr>
            <p:spPr>
              <a:xfrm rot="18671151">
                <a:off x="917045" y="4313757"/>
                <a:ext cx="645682" cy="2598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20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sp>
          <p:nvSpPr>
            <p:cNvPr id="33" name="Rectangle 37"/>
            <p:cNvSpPr/>
            <p:nvPr/>
          </p:nvSpPr>
          <p:spPr>
            <a:xfrm>
              <a:off x="11030" y="509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andara" panose="020E0502030303020204" charset="0"/>
                </a:rPr>
                <a:t>Attention</a:t>
              </a:r>
            </a:p>
          </p:txBody>
        </p:sp>
        <p:sp>
          <p:nvSpPr>
            <p:cNvPr id="35" name="Rectangle 6"/>
            <p:cNvSpPr/>
            <p:nvPr/>
          </p:nvSpPr>
          <p:spPr>
            <a:xfrm>
              <a:off x="9825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</a:rPr>
                <a:t>Normal</a:t>
              </a:r>
            </a:p>
          </p:txBody>
        </p:sp>
        <p:sp>
          <p:nvSpPr>
            <p:cNvPr id="37" name="Rectangle 35"/>
            <p:cNvSpPr/>
            <p:nvPr/>
          </p:nvSpPr>
          <p:spPr>
            <a:xfrm>
              <a:off x="12152" y="7339"/>
              <a:ext cx="1878" cy="875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Normal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835" y="5082"/>
              <a:ext cx="2185" cy="995"/>
            </a:xfrm>
            <a:prstGeom prst="roundRect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ndara" panose="020E0502030303020204" charset="0"/>
                  <a:cs typeface="Candara" panose="020E0502030303020204" charset="0"/>
                  <a:sym typeface="+mn-ea"/>
                </a:rPr>
                <a:t>weight ≤ 79.0 kg</a:t>
              </a:r>
            </a:p>
          </p:txBody>
        </p:sp>
        <p:cxnSp>
          <p:nvCxnSpPr>
            <p:cNvPr id="40" name="Straight Connector 39"/>
            <p:cNvCxnSpPr>
              <a:stCxn id="39" idx="2"/>
              <a:endCxn id="35" idx="0"/>
            </p:cNvCxnSpPr>
            <p:nvPr/>
          </p:nvCxnSpPr>
          <p:spPr>
            <a:xfrm flipH="1">
              <a:off x="10764" y="6077"/>
              <a:ext cx="1164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9" idx="2"/>
              <a:endCxn id="37" idx="0"/>
            </p:cNvCxnSpPr>
            <p:nvPr/>
          </p:nvCxnSpPr>
          <p:spPr>
            <a:xfrm>
              <a:off x="11928" y="6077"/>
              <a:ext cx="1163" cy="1262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10898" y="6105"/>
              <a:ext cx="2133" cy="1340"/>
              <a:chOff x="1127391" y="4076024"/>
              <a:chExt cx="1354535" cy="850480"/>
            </a:xfrm>
          </p:grpSpPr>
          <p:sp>
            <p:nvSpPr>
              <p:cNvPr id="45" name="Text Box 7"/>
              <p:cNvSpPr txBox="1"/>
              <p:nvPr/>
            </p:nvSpPr>
            <p:spPr>
              <a:xfrm rot="18671151">
                <a:off x="908729" y="4294686"/>
                <a:ext cx="693942" cy="2566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46" name="Text Box 7"/>
              <p:cNvSpPr txBox="1"/>
              <p:nvPr/>
            </p:nvSpPr>
            <p:spPr>
              <a:xfrm rot="2812816">
                <a:off x="1958958" y="4403536"/>
                <a:ext cx="769219" cy="2767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b="1" dirty="0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sp>
        <p:nvSpPr>
          <p:cNvPr id="3" name="TextBox 123"/>
          <p:cNvSpPr txBox="1"/>
          <p:nvPr/>
        </p:nvSpPr>
        <p:spPr>
          <a:xfrm>
            <a:off x="291872" y="1257093"/>
            <a:ext cx="1244911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Candara" panose="020E0502030303020204" charset="0"/>
              </a:rPr>
              <a:t>Weight: 80 kg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Smoke: No</a:t>
            </a:r>
          </a:p>
          <a:p>
            <a:pPr algn="l"/>
            <a:r>
              <a:rPr lang="en-US" sz="1400" dirty="0">
                <a:latin typeface="Candara" panose="020E0502030303020204" charset="0"/>
              </a:rPr>
              <a:t>Work out: No</a:t>
            </a:r>
          </a:p>
        </p:txBody>
      </p:sp>
      <p:sp>
        <p:nvSpPr>
          <p:cNvPr id="4" name="TextBox 123"/>
          <p:cNvSpPr txBox="1"/>
          <p:nvPr/>
        </p:nvSpPr>
        <p:spPr>
          <a:xfrm>
            <a:off x="2658745" y="1426210"/>
            <a:ext cx="1435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ndara" panose="020E0502030303020204" charset="0"/>
              </a:rPr>
              <a:t>Normal</a:t>
            </a:r>
          </a:p>
        </p:txBody>
      </p:sp>
      <p:cxnSp>
        <p:nvCxnSpPr>
          <p:cNvPr id="5" name="Straight Arrow Connector 4"/>
          <p:cNvCxnSpPr>
            <a:stCxn id="3" idx="3"/>
            <a:endCxn id="4" idx="1"/>
          </p:cNvCxnSpPr>
          <p:nvPr/>
        </p:nvCxnSpPr>
        <p:spPr>
          <a:xfrm flipV="1">
            <a:off x="1536783" y="1625790"/>
            <a:ext cx="1122045" cy="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s 26"/>
          <p:cNvSpPr/>
          <p:nvPr/>
        </p:nvSpPr>
        <p:spPr>
          <a:xfrm>
            <a:off x="3129915" y="2338705"/>
            <a:ext cx="8783955" cy="3763645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965888" y="2405962"/>
            <a:ext cx="1058710" cy="482076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andara" panose="020E0502030303020204" charset="0"/>
                <a:cs typeface="Candara" panose="020E0502030303020204" charset="0"/>
              </a:rPr>
              <a:t>smoke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93782" y="3303252"/>
            <a:ext cx="1058710" cy="482076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andara" panose="020E0502030303020204" charset="0"/>
                <a:cs typeface="Candara" panose="020E0502030303020204" charset="0"/>
              </a:rPr>
              <a:t>workout</a:t>
            </a:r>
          </a:p>
        </p:txBody>
      </p:sp>
      <p:cxnSp>
        <p:nvCxnSpPr>
          <p:cNvPr id="10" name="Straight Connector 9"/>
          <p:cNvCxnSpPr>
            <a:stCxn id="9" idx="2"/>
            <a:endCxn id="21" idx="0"/>
          </p:cNvCxnSpPr>
          <p:nvPr/>
        </p:nvCxnSpPr>
        <p:spPr>
          <a:xfrm>
            <a:off x="9723380" y="3785328"/>
            <a:ext cx="1064524" cy="566378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8"/>
          <p:cNvSpPr txBox="1"/>
          <p:nvPr/>
        </p:nvSpPr>
        <p:spPr>
          <a:xfrm rot="503120">
            <a:off x="8973319" y="3011584"/>
            <a:ext cx="572236" cy="2141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cxnSp>
        <p:nvCxnSpPr>
          <p:cNvPr id="12" name="Straight Connector 11"/>
          <p:cNvCxnSpPr>
            <a:stCxn id="8" idx="2"/>
            <a:endCxn id="9" idx="0"/>
          </p:cNvCxnSpPr>
          <p:nvPr/>
        </p:nvCxnSpPr>
        <p:spPr>
          <a:xfrm>
            <a:off x="7495486" y="2888037"/>
            <a:ext cx="2227894" cy="415215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 flipH="1">
            <a:off x="10258791" y="4351706"/>
            <a:ext cx="1058710" cy="482076"/>
          </a:xfrm>
          <a:prstGeom prst="roundRect">
            <a:avLst/>
          </a:prstGeom>
          <a:solidFill>
            <a:srgbClr val="358EF2"/>
          </a:solidFill>
          <a:ln w="19050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ndara" panose="020E0502030303020204" charset="0"/>
                <a:cs typeface="Candara" panose="020E0502030303020204" charset="0"/>
              </a:rPr>
              <a:t>weight ≤ 84.5 kg</a:t>
            </a:r>
          </a:p>
        </p:txBody>
      </p:sp>
      <p:sp>
        <p:nvSpPr>
          <p:cNvPr id="25" name="Text Box 7"/>
          <p:cNvSpPr txBox="1"/>
          <p:nvPr/>
        </p:nvSpPr>
        <p:spPr>
          <a:xfrm rot="1501825">
            <a:off x="10308310" y="4003935"/>
            <a:ext cx="465057" cy="2140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 dirty="0">
                <a:latin typeface="Arvo" panose="02000000000000000000" charset="0"/>
                <a:cs typeface="Arvo" panose="02000000000000000000" charset="0"/>
                <a:sym typeface="+mn-ea"/>
              </a:rPr>
              <a:t>False</a:t>
            </a:r>
          </a:p>
        </p:txBody>
      </p:sp>
      <p:sp>
        <p:nvSpPr>
          <p:cNvPr id="27" name="TextBox 123"/>
          <p:cNvSpPr txBox="1"/>
          <p:nvPr/>
        </p:nvSpPr>
        <p:spPr>
          <a:xfrm>
            <a:off x="3070708" y="2718463"/>
            <a:ext cx="1121215" cy="30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</a:rPr>
              <a:t>depth=3</a:t>
            </a:r>
          </a:p>
        </p:txBody>
      </p:sp>
      <p:sp>
        <p:nvSpPr>
          <p:cNvPr id="28" name="TextBox 123"/>
          <p:cNvSpPr txBox="1"/>
          <p:nvPr/>
        </p:nvSpPr>
        <p:spPr>
          <a:xfrm>
            <a:off x="3184089" y="2405962"/>
            <a:ext cx="1430833" cy="30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202020"/>
                </a:solidFill>
                <a:latin typeface="Candara" panose="020E0502030303020204" charset="0"/>
              </a:rPr>
              <a:t>max depth = 3</a:t>
            </a:r>
            <a:endParaRPr lang="en-US" sz="1400" b="1" dirty="0">
              <a:solidFill>
                <a:srgbClr val="202020"/>
              </a:solidFill>
              <a:latin typeface="Candara" panose="020E0502030303020204" charset="0"/>
              <a:sym typeface="+mn-ea"/>
            </a:endParaRPr>
          </a:p>
        </p:txBody>
      </p:sp>
      <p:sp>
        <p:nvSpPr>
          <p:cNvPr id="29" name="TextBox 123"/>
          <p:cNvSpPr txBox="1"/>
          <p:nvPr/>
        </p:nvSpPr>
        <p:spPr>
          <a:xfrm rot="691217">
            <a:off x="8781927" y="2315845"/>
            <a:ext cx="1815554" cy="52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</a:rPr>
              <a:t>Does a person have a heart disorder?</a:t>
            </a:r>
          </a:p>
        </p:txBody>
      </p:sp>
      <p:sp>
        <p:nvSpPr>
          <p:cNvPr id="31" name="TextBox 123"/>
          <p:cNvSpPr txBox="1"/>
          <p:nvPr/>
        </p:nvSpPr>
        <p:spPr>
          <a:xfrm>
            <a:off x="292100" y="368300"/>
            <a:ext cx="46177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To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classify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 given instance, we just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traverse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the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Decision Tree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from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root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to a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leaf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according to the </a:t>
            </a:r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instance's features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34" name="TextBox 123"/>
          <p:cNvSpPr txBox="1"/>
          <p:nvPr/>
        </p:nvSpPr>
        <p:spPr>
          <a:xfrm>
            <a:off x="5641340" y="368300"/>
            <a:ext cx="4391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Decision Tree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can also estimate the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probability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of an 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belongs to a particular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class c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sp>
        <p:nvSpPr>
          <p:cNvPr id="48" name="TextBox 123"/>
          <p:cNvSpPr txBox="1"/>
          <p:nvPr/>
        </p:nvSpPr>
        <p:spPr>
          <a:xfrm>
            <a:off x="5641340" y="951865"/>
            <a:ext cx="4391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This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probability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is the </a:t>
            </a:r>
            <a:r>
              <a:rPr lang="en-US" sz="1600" dirty="0">
                <a:solidFill>
                  <a:schemeClr val="tx1"/>
                </a:solidFill>
                <a:latin typeface="Candara" panose="020E0502030303020204" charset="0"/>
              </a:rPr>
              <a:t>ratio of training samples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of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class c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in the 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leaf node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found for the </a:t>
            </a:r>
            <a:r>
              <a:rPr lang="en-US" sz="1600" b="1" dirty="0">
                <a:solidFill>
                  <a:srgbClr val="595959"/>
                </a:solidFill>
                <a:latin typeface="Candara" panose="020E0502030303020204" charset="0"/>
              </a:rPr>
              <a:t>instance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.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10384155" y="4834255"/>
            <a:ext cx="959485" cy="654050"/>
            <a:chOff x="1376708" y="4221694"/>
            <a:chExt cx="1257618" cy="857210"/>
          </a:xfrm>
        </p:grpSpPr>
        <p:sp>
          <p:nvSpPr>
            <p:cNvPr id="109" name="Text Box 7"/>
            <p:cNvSpPr txBox="1"/>
            <p:nvPr/>
          </p:nvSpPr>
          <p:spPr>
            <a:xfrm rot="18431151">
              <a:off x="1139371" y="4459030"/>
              <a:ext cx="728889" cy="2542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23" name="Text Box 7"/>
            <p:cNvSpPr txBox="1"/>
            <p:nvPr/>
          </p:nvSpPr>
          <p:spPr>
            <a:xfrm rot="2812816">
              <a:off x="2111358" y="4555936"/>
              <a:ext cx="769219" cy="2767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800" b="1" dirty="0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9425940" y="5659120"/>
            <a:ext cx="1605280" cy="776605"/>
            <a:chOff x="6226115" y="2006160"/>
            <a:chExt cx="1922172" cy="930459"/>
          </a:xfrm>
        </p:grpSpPr>
        <p:sp>
          <p:nvSpPr>
            <p:cNvPr id="50" name="Rectangle 80"/>
            <p:cNvSpPr/>
            <p:nvPr/>
          </p:nvSpPr>
          <p:spPr>
            <a:xfrm>
              <a:off x="6227906" y="2010156"/>
              <a:ext cx="1920381" cy="926463"/>
            </a:xfrm>
            <a:prstGeom prst="rect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ndara" panose="020E0502030303020204" charset="0"/>
              </a:endParaRPr>
            </a:p>
          </p:txBody>
        </p:sp>
        <p:sp>
          <p:nvSpPr>
            <p:cNvPr id="52" name="TextBox 86"/>
            <p:cNvSpPr txBox="1"/>
            <p:nvPr/>
          </p:nvSpPr>
          <p:spPr>
            <a:xfrm>
              <a:off x="6227906" y="2006160"/>
              <a:ext cx="1909753" cy="367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andara" panose="020E0502030303020204" charset="0"/>
                </a:rPr>
                <a:t>Heart Condition</a:t>
              </a:r>
            </a:p>
          </p:txBody>
        </p:sp>
        <p:sp>
          <p:nvSpPr>
            <p:cNvPr id="53" name="TextBox 87"/>
            <p:cNvSpPr txBox="1"/>
            <p:nvPr/>
          </p:nvSpPr>
          <p:spPr>
            <a:xfrm>
              <a:off x="6226115" y="2344714"/>
              <a:ext cx="1909753" cy="551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andara" panose="020E0502030303020204" charset="0"/>
                </a:rPr>
                <a:t>Normal    Attention    Sick</a:t>
              </a:r>
            </a:p>
            <a:p>
              <a:r>
                <a:rPr lang="en-US" sz="1000" dirty="0">
                  <a:latin typeface="Candara" panose="020E0502030303020204" charset="0"/>
                </a:rPr>
                <a:t>       </a:t>
              </a:r>
              <a:r>
                <a:rPr lang="en-US" sz="1400" dirty="0">
                  <a:latin typeface="Candara" panose="020E0502030303020204" charset="0"/>
                  <a:sym typeface="+mn-ea"/>
                </a:rPr>
                <a:t>7</a:t>
              </a:r>
              <a:r>
                <a:rPr lang="en-US" sz="1400" dirty="0">
                  <a:latin typeface="Candara" panose="020E0502030303020204" charset="0"/>
                </a:rPr>
                <a:t>            5           1</a:t>
              </a:r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6362812" y="2578520"/>
              <a:ext cx="1651391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Straight Connector 55"/>
          <p:cNvCxnSpPr>
            <a:endCxn id="52" idx="0"/>
          </p:cNvCxnSpPr>
          <p:nvPr/>
        </p:nvCxnSpPr>
        <p:spPr>
          <a:xfrm flipH="1">
            <a:off x="10224770" y="4833620"/>
            <a:ext cx="563245" cy="825500"/>
          </a:xfrm>
          <a:prstGeom prst="line">
            <a:avLst/>
          </a:prstGeom>
          <a:ln w="25400">
            <a:solidFill>
              <a:srgbClr val="595959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123"/>
              <p:cNvSpPr txBox="1"/>
              <p:nvPr/>
            </p:nvSpPr>
            <p:spPr>
              <a:xfrm>
                <a:off x="292100" y="2190750"/>
                <a:ext cx="2528570" cy="1759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𝑁𝑜𝑟𝑚𝑎𝑙</m:t>
                          </m:r>
                        </m:sub>
                      </m:sSub>
                      <m:r>
                        <a:rPr lang="en-US" sz="1400" i="1" dirty="0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7</m:t>
                          </m:r>
                        </m:num>
                        <m:den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13</m:t>
                          </m:r>
                        </m:den>
                      </m:f>
                      <m:r>
                        <a:rPr lang="en-US" sz="1400" i="1" dirty="0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=0.538</m:t>
                      </m:r>
                    </m:oMath>
                  </m:oMathPara>
                </a14:m>
                <a:endParaRPr lang="en-US" sz="1400" dirty="0">
                  <a:latin typeface="Candara" panose="020E0502030303020204" charset="0"/>
                </a:endParaRPr>
              </a:p>
              <a:p>
                <a:pPr algn="l"/>
                <a:endParaRPr lang="en-US" sz="1400" i="1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𝐴𝑡𝑡𝑒𝑛𝑡𝑖𝑜𝑛</m:t>
                          </m:r>
                        </m:sub>
                      </m:sSub>
                      <m:r>
                        <a:rPr lang="en-US" sz="1400" i="1" dirty="0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13</m:t>
                          </m:r>
                        </m:den>
                      </m:f>
                      <m:r>
                        <a:rPr lang="en-US" sz="1400" i="1" dirty="0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=0.384</m:t>
                      </m:r>
                    </m:oMath>
                  </m:oMathPara>
                </a14:m>
                <a:endParaRPr lang="en-US" sz="1400" i="1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algn="l"/>
                <a:endParaRPr lang="en-US" sz="1400" dirty="0">
                  <a:latin typeface="Candara" panose="020E0502030303020204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𝑆𝑖𝑐𝑘</m:t>
                          </m:r>
                        </m:sub>
                      </m:sSub>
                      <m:r>
                        <a:rPr lang="en-US" sz="1400" i="1" dirty="0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 dirty="0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13</m:t>
                          </m:r>
                        </m:den>
                      </m:f>
                      <m:r>
                        <a:rPr lang="en-US" sz="1400" i="1" dirty="0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=0.076</m:t>
                      </m:r>
                    </m:oMath>
                  </m:oMathPara>
                </a14:m>
                <a:endParaRPr lang="en-US" sz="1400" dirty="0">
                  <a:latin typeface="Candara" panose="020E0502030303020204" charset="0"/>
                </a:endParaRPr>
              </a:p>
            </p:txBody>
          </p:sp>
        </mc:Choice>
        <mc:Fallback xmlns="">
          <p:sp>
            <p:nvSpPr>
              <p:cNvPr id="57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" y="2190750"/>
                <a:ext cx="2528570" cy="175958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118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70" y="1392555"/>
            <a:ext cx="5306060" cy="1103630"/>
          </a:xfrm>
          <a:prstGeom prst="rect">
            <a:avLst/>
          </a:prstGeom>
          <a:ln w="12700" cmpd="sng">
            <a:solidFill>
              <a:srgbClr val="595959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478" y="929640"/>
            <a:ext cx="4297045" cy="37338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 rot="21360000">
            <a:off x="8518704" y="608285"/>
            <a:ext cx="3176905" cy="521970"/>
            <a:chOff x="6928" y="9058"/>
            <a:chExt cx="4781" cy="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Text Box 7"/>
            <p:cNvSpPr txBox="1"/>
            <p:nvPr/>
          </p:nvSpPr>
          <p:spPr>
            <a:xfrm>
              <a:off x="6928" y="9058"/>
              <a:ext cx="4781" cy="82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Scikit-learn implements the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sym typeface="+mn-ea"/>
                </a:rPr>
                <a:t>CART algorithm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for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Decision Tree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6" name="Picture 5" descr="pngwing.com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4" y="9120"/>
              <a:ext cx="591" cy="591"/>
            </a:xfrm>
            <a:prstGeom prst="rect">
              <a:avLst/>
            </a:prstGeom>
          </p:spPr>
        </p:pic>
      </p:grpSp>
      <p:sp>
        <p:nvSpPr>
          <p:cNvPr id="7" name="Google Shape;208;p43"/>
          <p:cNvSpPr/>
          <p:nvPr/>
        </p:nvSpPr>
        <p:spPr>
          <a:xfrm>
            <a:off x="248285" y="274955"/>
            <a:ext cx="162433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Codes</a:t>
            </a:r>
          </a:p>
        </p:txBody>
      </p:sp>
      <p:cxnSp>
        <p:nvCxnSpPr>
          <p:cNvPr id="8" name="Google Shape;211;p43"/>
          <p:cNvCxnSpPr/>
          <p:nvPr/>
        </p:nvCxnSpPr>
        <p:spPr>
          <a:xfrm flipH="1">
            <a:off x="227965" y="869315"/>
            <a:ext cx="166497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119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70" y="1392555"/>
            <a:ext cx="5306060" cy="1103630"/>
          </a:xfrm>
          <a:prstGeom prst="rect">
            <a:avLst/>
          </a:prstGeom>
          <a:ln w="12700" cmpd="sng">
            <a:solidFill>
              <a:srgbClr val="595959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478" y="929640"/>
            <a:ext cx="4297045" cy="373380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6785610" y="1920240"/>
            <a:ext cx="1227455" cy="268605"/>
          </a:xfrm>
          <a:prstGeom prst="rect">
            <a:avLst/>
          </a:prstGeom>
          <a:noFill/>
          <a:ln w="19050">
            <a:solidFill>
              <a:srgbClr val="FF564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123"/>
          <p:cNvSpPr txBox="1"/>
          <p:nvPr/>
        </p:nvSpPr>
        <p:spPr>
          <a:xfrm>
            <a:off x="7890510" y="2955290"/>
            <a:ext cx="38195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</a:rPr>
              <a:t>default=None</a:t>
            </a:r>
            <a:endParaRPr lang="en-US" sz="1200" b="1" dirty="0">
              <a:solidFill>
                <a:schemeClr val="tx1"/>
              </a:solidFill>
              <a:latin typeface="Candara" panose="020E0502030303020204" charset="0"/>
            </a:endParaRPr>
          </a:p>
          <a:p>
            <a:pPr algn="l"/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</a:rPr>
              <a:t>it expands the </a:t>
            </a:r>
            <a:r>
              <a:rPr lang="en-US" sz="1200" b="1" dirty="0">
                <a:solidFill>
                  <a:srgbClr val="358EF2"/>
                </a:solidFill>
                <a:latin typeface="Candara" panose="020E0502030303020204" charset="0"/>
              </a:rPr>
              <a:t>nodes</a:t>
            </a: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</a:rPr>
              <a:t> until </a:t>
            </a:r>
            <a:r>
              <a:rPr lang="en-US" sz="1200" b="1" dirty="0">
                <a:solidFill>
                  <a:srgbClr val="FFD700"/>
                </a:solidFill>
                <a:latin typeface="Candara" panose="020E0502030303020204" charset="0"/>
              </a:rPr>
              <a:t>all leaves</a:t>
            </a: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</a:rPr>
              <a:t> are </a:t>
            </a:r>
            <a:r>
              <a:rPr lang="en-US" sz="1200" b="1" dirty="0">
                <a:solidFill>
                  <a:srgbClr val="358EF2"/>
                </a:solidFill>
                <a:latin typeface="Candara" panose="020E0502030303020204" charset="0"/>
              </a:rPr>
              <a:t>pure </a:t>
            </a: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</a:rPr>
              <a:t>or until</a:t>
            </a:r>
          </a:p>
          <a:p>
            <a:pPr algn="l"/>
            <a:r>
              <a:rPr lang="en-US" sz="1200" b="1" dirty="0">
                <a:solidFill>
                  <a:srgbClr val="FFD700"/>
                </a:solidFill>
                <a:latin typeface="Candara" panose="020E0502030303020204" charset="0"/>
              </a:rPr>
              <a:t>all leaves</a:t>
            </a: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</a:rPr>
              <a:t> contain less than a </a:t>
            </a:r>
            <a:r>
              <a:rPr lang="en-US" sz="1200" i="1" dirty="0">
                <a:solidFill>
                  <a:schemeClr val="tx1"/>
                </a:solidFill>
                <a:latin typeface="Candara" panose="020E0502030303020204" charset="0"/>
              </a:rPr>
              <a:t>min_samples_split</a:t>
            </a:r>
            <a:r>
              <a:rPr lang="en-US" sz="1200" i="1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200" dirty="0">
                <a:solidFill>
                  <a:srgbClr val="595959"/>
                </a:solidFill>
                <a:latin typeface="Candara" panose="020E0502030303020204" charset="0"/>
              </a:rPr>
              <a:t>samples.</a:t>
            </a:r>
          </a:p>
        </p:txBody>
      </p:sp>
      <p:cxnSp>
        <p:nvCxnSpPr>
          <p:cNvPr id="6" name="Curved Connector 5"/>
          <p:cNvCxnSpPr>
            <a:stCxn id="5" idx="2"/>
            <a:endCxn id="34" idx="0"/>
          </p:cNvCxnSpPr>
          <p:nvPr/>
        </p:nvCxnSpPr>
        <p:spPr>
          <a:xfrm rot="5400000" flipV="1">
            <a:off x="8216900" y="1370965"/>
            <a:ext cx="766445" cy="2400935"/>
          </a:xfrm>
          <a:prstGeom prst="curvedConnector3">
            <a:avLst>
              <a:gd name="adj1" fmla="val 50041"/>
            </a:avLst>
          </a:prstGeom>
          <a:ln w="19050">
            <a:solidFill>
              <a:srgbClr val="FF564F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21360000">
            <a:off x="8518704" y="608285"/>
            <a:ext cx="3176905" cy="521970"/>
            <a:chOff x="6928" y="9058"/>
            <a:chExt cx="4781" cy="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Text Box 7"/>
            <p:cNvSpPr txBox="1"/>
            <p:nvPr/>
          </p:nvSpPr>
          <p:spPr>
            <a:xfrm>
              <a:off x="6928" y="9058"/>
              <a:ext cx="4781" cy="82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Scikit-learn implements the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sym typeface="+mn-ea"/>
                </a:rPr>
                <a:t>CART algorithm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for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Decision Tree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8" name="Picture 7" descr="pngwing.com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4" y="9120"/>
              <a:ext cx="591" cy="591"/>
            </a:xfrm>
            <a:prstGeom prst="rect">
              <a:avLst/>
            </a:prstGeom>
          </p:spPr>
        </p:pic>
      </p:grpSp>
      <p:sp>
        <p:nvSpPr>
          <p:cNvPr id="9" name="Google Shape;208;p43"/>
          <p:cNvSpPr/>
          <p:nvPr/>
        </p:nvSpPr>
        <p:spPr>
          <a:xfrm>
            <a:off x="248285" y="274955"/>
            <a:ext cx="162433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Codes</a:t>
            </a:r>
          </a:p>
        </p:txBody>
      </p:sp>
      <p:cxnSp>
        <p:nvCxnSpPr>
          <p:cNvPr id="10" name="Google Shape;211;p43"/>
          <p:cNvCxnSpPr/>
          <p:nvPr/>
        </p:nvCxnSpPr>
        <p:spPr>
          <a:xfrm flipH="1">
            <a:off x="227965" y="869315"/>
            <a:ext cx="166497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120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70" y="1392555"/>
            <a:ext cx="5306060" cy="1103630"/>
          </a:xfrm>
          <a:prstGeom prst="rect">
            <a:avLst/>
          </a:prstGeom>
          <a:ln w="12700" cmpd="sng">
            <a:solidFill>
              <a:srgbClr val="595959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478" y="929640"/>
            <a:ext cx="4297045" cy="373380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 rot="21240000">
            <a:off x="1071862" y="2914050"/>
            <a:ext cx="3350895" cy="737235"/>
            <a:chOff x="6928" y="9058"/>
            <a:chExt cx="5277" cy="116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Text Box 7"/>
            <p:cNvSpPr txBox="1"/>
            <p:nvPr/>
          </p:nvSpPr>
          <p:spPr>
            <a:xfrm>
              <a:off x="6928" y="9058"/>
              <a:ext cx="5277" cy="11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The default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cost function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(</a:t>
              </a:r>
              <a:r>
                <a:rPr lang="en-US" sz="1400" i="1" dirty="0">
                  <a:latin typeface="Candara" panose="020E0502030303020204" charset="0"/>
                  <a:sym typeface="+mn-ea"/>
                </a:rPr>
                <a:t>criterion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) is based on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Gini Impurity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, but </a:t>
              </a:r>
              <a:r>
                <a:rPr lang="en-US" sz="1400" b="1" dirty="0">
                  <a:latin typeface="Candara" panose="020E0502030303020204" charset="0"/>
                  <a:sym typeface="+mn-ea"/>
                </a:rPr>
                <a:t>Entropy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is also supported.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21" name="Picture 20" descr="pngwing.com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48" y="9351"/>
              <a:ext cx="591" cy="591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 rot="21360000">
            <a:off x="8518704" y="608285"/>
            <a:ext cx="3176905" cy="521970"/>
            <a:chOff x="6928" y="9058"/>
            <a:chExt cx="4781" cy="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Text Box 7"/>
            <p:cNvSpPr txBox="1"/>
            <p:nvPr/>
          </p:nvSpPr>
          <p:spPr>
            <a:xfrm>
              <a:off x="6928" y="9058"/>
              <a:ext cx="4781" cy="82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Scikit-learn implements the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sym typeface="+mn-ea"/>
                </a:rPr>
                <a:t>CART algorithm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for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Decision Tree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8" name="Picture 7" descr="pngwing.com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4" y="9120"/>
              <a:ext cx="591" cy="591"/>
            </a:xfrm>
            <a:prstGeom prst="rect">
              <a:avLst/>
            </a:prstGeom>
          </p:spPr>
        </p:pic>
      </p:grpSp>
      <p:sp>
        <p:nvSpPr>
          <p:cNvPr id="5" name="Google Shape;208;p43"/>
          <p:cNvSpPr/>
          <p:nvPr/>
        </p:nvSpPr>
        <p:spPr>
          <a:xfrm>
            <a:off x="248285" y="274955"/>
            <a:ext cx="162433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Codes</a:t>
            </a:r>
          </a:p>
        </p:txBody>
      </p:sp>
      <p:cxnSp>
        <p:nvCxnSpPr>
          <p:cNvPr id="6" name="Google Shape;211;p43"/>
          <p:cNvCxnSpPr/>
          <p:nvPr/>
        </p:nvCxnSpPr>
        <p:spPr>
          <a:xfrm flipH="1">
            <a:off x="227965" y="869315"/>
            <a:ext cx="166497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121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70" y="1392555"/>
            <a:ext cx="5306060" cy="1103630"/>
          </a:xfrm>
          <a:prstGeom prst="rect">
            <a:avLst/>
          </a:prstGeom>
          <a:ln w="12700" cmpd="sng">
            <a:solidFill>
              <a:srgbClr val="595959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478" y="929640"/>
            <a:ext cx="4297045" cy="37338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 rot="21360000">
            <a:off x="8518704" y="608285"/>
            <a:ext cx="3176905" cy="521970"/>
            <a:chOff x="6928" y="9058"/>
            <a:chExt cx="4781" cy="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Text Box 7"/>
            <p:cNvSpPr txBox="1"/>
            <p:nvPr/>
          </p:nvSpPr>
          <p:spPr>
            <a:xfrm>
              <a:off x="6928" y="9058"/>
              <a:ext cx="4781" cy="82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Scikit-learn implements the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sym typeface="+mn-ea"/>
                </a:rPr>
                <a:t>CART algorithm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for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Decision Tree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8" name="Picture 7" descr="pngwing.com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4" y="9120"/>
              <a:ext cx="591" cy="591"/>
            </a:xfrm>
            <a:prstGeom prst="rect">
              <a:avLst/>
            </a:prstGeom>
          </p:spPr>
        </p:pic>
      </p:grpSp>
      <p:sp>
        <p:nvSpPr>
          <p:cNvPr id="5" name="Google Shape;208;p43"/>
          <p:cNvSpPr/>
          <p:nvPr/>
        </p:nvSpPr>
        <p:spPr>
          <a:xfrm>
            <a:off x="248285" y="274955"/>
            <a:ext cx="162433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Codes</a:t>
            </a:r>
          </a:p>
        </p:txBody>
      </p:sp>
      <p:cxnSp>
        <p:nvCxnSpPr>
          <p:cNvPr id="6" name="Google Shape;211;p43"/>
          <p:cNvCxnSpPr/>
          <p:nvPr/>
        </p:nvCxnSpPr>
        <p:spPr>
          <a:xfrm flipH="1">
            <a:off x="227965" y="869315"/>
            <a:ext cx="166497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C00F2AC-3C4D-1E41-BBDB-B21DBD9A58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5458"/>
          <a:stretch/>
        </p:blipFill>
        <p:spPr>
          <a:xfrm>
            <a:off x="3947478" y="2734661"/>
            <a:ext cx="4069912" cy="630177"/>
          </a:xfrm>
          <a:prstGeom prst="rect">
            <a:avLst/>
          </a:prstGeom>
          <a:ln>
            <a:solidFill>
              <a:srgbClr val="595959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8617C0-D359-6144-8F83-6C4BFD2F2EB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7134"/>
          <a:stretch/>
        </p:blipFill>
        <p:spPr>
          <a:xfrm>
            <a:off x="3947478" y="3603314"/>
            <a:ext cx="4069912" cy="610811"/>
          </a:xfrm>
          <a:prstGeom prst="rect">
            <a:avLst/>
          </a:prstGeom>
          <a:ln>
            <a:solidFill>
              <a:srgbClr val="595959"/>
            </a:solidFill>
          </a:ln>
        </p:spPr>
      </p:pic>
      <p:sp>
        <p:nvSpPr>
          <p:cNvPr id="23" name="TextBox 123">
            <a:extLst>
              <a:ext uri="{FF2B5EF4-FFF2-40B4-BE49-F238E27FC236}">
                <a16:creationId xmlns:a16="http://schemas.microsoft.com/office/drawing/2014/main" id="{015B56AA-C218-4A4D-91AF-8329DB2A3578}"/>
              </a:ext>
            </a:extLst>
          </p:cNvPr>
          <p:cNvSpPr txBox="1"/>
          <p:nvPr/>
        </p:nvSpPr>
        <p:spPr>
          <a:xfrm>
            <a:off x="8097335" y="2895860"/>
            <a:ext cx="212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</a:rPr>
              <a:t>Classification/prediction</a:t>
            </a:r>
          </a:p>
        </p:txBody>
      </p:sp>
      <p:sp>
        <p:nvSpPr>
          <p:cNvPr id="24" name="TextBox 123">
            <a:extLst>
              <a:ext uri="{FF2B5EF4-FFF2-40B4-BE49-F238E27FC236}">
                <a16:creationId xmlns:a16="http://schemas.microsoft.com/office/drawing/2014/main" id="{9CD174B2-5F45-BF4A-A27E-9C05B76D6CB4}"/>
              </a:ext>
            </a:extLst>
          </p:cNvPr>
          <p:cNvSpPr txBox="1"/>
          <p:nvPr/>
        </p:nvSpPr>
        <p:spPr>
          <a:xfrm>
            <a:off x="8097335" y="3754830"/>
            <a:ext cx="240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376C8A"/>
                </a:solidFill>
                <a:latin typeface="Candara" panose="020E0502030303020204" charset="0"/>
              </a:rPr>
              <a:t>Predicting class probabilities</a:t>
            </a:r>
          </a:p>
        </p:txBody>
      </p:sp>
    </p:spTree>
    <p:extLst>
      <p:ext uri="{BB962C8B-B14F-4D97-AF65-F5344CB8AC3E}">
        <p14:creationId xmlns:p14="http://schemas.microsoft.com/office/powerpoint/2010/main" val="86759915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122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8" name="Google Shape;208;p43"/>
          <p:cNvSpPr/>
          <p:nvPr/>
        </p:nvSpPr>
        <p:spPr>
          <a:xfrm>
            <a:off x="248285" y="274955"/>
            <a:ext cx="162433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Codes</a:t>
            </a:r>
          </a:p>
        </p:txBody>
      </p:sp>
      <p:cxnSp>
        <p:nvCxnSpPr>
          <p:cNvPr id="211" name="Google Shape;211;p43"/>
          <p:cNvCxnSpPr/>
          <p:nvPr/>
        </p:nvCxnSpPr>
        <p:spPr>
          <a:xfrm flipH="1">
            <a:off x="227965" y="869315"/>
            <a:ext cx="166497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70" y="1392555"/>
            <a:ext cx="5306060" cy="1103630"/>
          </a:xfrm>
          <a:prstGeom prst="rect">
            <a:avLst/>
          </a:prstGeom>
          <a:ln w="12700" cmpd="sng">
            <a:solidFill>
              <a:srgbClr val="595959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478" y="929640"/>
            <a:ext cx="4297045" cy="37338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3430905"/>
            <a:ext cx="6582410" cy="1244600"/>
          </a:xfrm>
          <a:prstGeom prst="rect">
            <a:avLst/>
          </a:prstGeom>
          <a:ln w="12700"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4" name="TextBox 123"/>
          <p:cNvSpPr txBox="1"/>
          <p:nvPr/>
        </p:nvSpPr>
        <p:spPr>
          <a:xfrm>
            <a:off x="364490" y="2972435"/>
            <a:ext cx="4089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02020"/>
                </a:solidFill>
                <a:latin typeface="Candara" panose="020E0502030303020204" charset="0"/>
              </a:rPr>
              <a:t>To visualize a trained</a:t>
            </a:r>
            <a:r>
              <a:rPr lang="en-US" b="1" dirty="0">
                <a:solidFill>
                  <a:srgbClr val="FF564F"/>
                </a:solidFill>
                <a:latin typeface="Candara" panose="020E0502030303020204" charset="0"/>
              </a:rPr>
              <a:t> Decision Tree: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245" y="4794885"/>
            <a:ext cx="6828790" cy="1868805"/>
          </a:xfrm>
          <a:prstGeom prst="rect">
            <a:avLst/>
          </a:prstGeom>
          <a:ln w="12700"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/>
          <p:cNvGrpSpPr/>
          <p:nvPr/>
        </p:nvGrpSpPr>
        <p:grpSpPr>
          <a:xfrm>
            <a:off x="9253812" y="4455121"/>
            <a:ext cx="2025650" cy="526097"/>
            <a:chOff x="1186791" y="4319567"/>
            <a:chExt cx="2025650" cy="5260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Text Box 7"/>
            <p:cNvSpPr txBox="1"/>
            <p:nvPr/>
          </p:nvSpPr>
          <p:spPr>
            <a:xfrm rot="21435373">
              <a:off x="1186791" y="4319567"/>
              <a:ext cx="2025650" cy="52197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marL="457200"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We need to install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cs typeface="Candara" panose="020E0502030303020204" charset="0"/>
                </a:rPr>
                <a:t>grapviz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first.</a:t>
              </a:r>
            </a:p>
          </p:txBody>
        </p:sp>
        <p:pic>
          <p:nvPicPr>
            <p:cNvPr id="17" name="Picture 16" descr="warning-icon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240000">
              <a:off x="1243450" y="4380844"/>
              <a:ext cx="464820" cy="464820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21360000">
            <a:off x="8518704" y="608285"/>
            <a:ext cx="3176905" cy="521970"/>
            <a:chOff x="6928" y="9058"/>
            <a:chExt cx="4781" cy="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Text Box 7"/>
            <p:cNvSpPr txBox="1"/>
            <p:nvPr/>
          </p:nvSpPr>
          <p:spPr>
            <a:xfrm>
              <a:off x="6928" y="9058"/>
              <a:ext cx="4781" cy="82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Scikit-learn implements the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sym typeface="+mn-ea"/>
                </a:rPr>
                <a:t>CART algorithm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for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Decision Tree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8" name="Picture 7" descr="pngwing.com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54" y="9120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123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395095"/>
            <a:ext cx="11420475" cy="406781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8339412" y="875629"/>
            <a:ext cx="2896235" cy="547049"/>
            <a:chOff x="1186791" y="4298615"/>
            <a:chExt cx="2896235" cy="54704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Text Box 7"/>
            <p:cNvSpPr txBox="1"/>
            <p:nvPr/>
          </p:nvSpPr>
          <p:spPr>
            <a:xfrm rot="21435373">
              <a:off x="1186791" y="4298615"/>
              <a:ext cx="2896235" cy="52197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marL="457200" lvl="1"/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Scikit-learn Decision Tree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treat </a:t>
              </a:r>
              <a:r>
                <a:rPr lang="en-US" sz="1400" b="1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all variables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as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cs typeface="Candara" panose="020E0502030303020204" charset="0"/>
                </a:rPr>
                <a:t>numeric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!</a:t>
              </a:r>
            </a:p>
          </p:txBody>
        </p:sp>
        <p:pic>
          <p:nvPicPr>
            <p:cNvPr id="9" name="Picture 8" descr="warning-ic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240000">
              <a:off x="1243450" y="4380844"/>
              <a:ext cx="464820" cy="4648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124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395095"/>
            <a:ext cx="11420475" cy="406781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8339412" y="875629"/>
            <a:ext cx="2896235" cy="547049"/>
            <a:chOff x="1186791" y="4298615"/>
            <a:chExt cx="2896235" cy="54704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Text Box 7"/>
            <p:cNvSpPr txBox="1"/>
            <p:nvPr/>
          </p:nvSpPr>
          <p:spPr>
            <a:xfrm rot="21435373">
              <a:off x="1186791" y="4298615"/>
              <a:ext cx="2896235" cy="52197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marL="457200" lvl="1"/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Scikit-learn Decision Tree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treat </a:t>
              </a:r>
              <a:r>
                <a:rPr lang="en-US" sz="1400" b="1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all variables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as </a:t>
              </a:r>
              <a:r>
                <a:rPr lang="en-US" sz="1400" b="1" dirty="0">
                  <a:solidFill>
                    <a:srgbClr val="202020"/>
                  </a:solidFill>
                  <a:latin typeface="Candara" panose="020E0502030303020204" charset="0"/>
                  <a:cs typeface="Candara" panose="020E0502030303020204" charset="0"/>
                </a:rPr>
                <a:t>numeric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!</a:t>
              </a:r>
            </a:p>
          </p:txBody>
        </p:sp>
        <p:pic>
          <p:nvPicPr>
            <p:cNvPr id="9" name="Picture 8" descr="warning-ic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240000">
              <a:off x="1243450" y="4380844"/>
              <a:ext cx="464820" cy="464820"/>
            </a:xfrm>
            <a:prstGeom prst="rect">
              <a:avLst/>
            </a:prstGeom>
          </p:spPr>
        </p:pic>
      </p:grpSp>
      <p:sp>
        <p:nvSpPr>
          <p:cNvPr id="5" name="Rectangles 4"/>
          <p:cNvSpPr/>
          <p:nvPr/>
        </p:nvSpPr>
        <p:spPr>
          <a:xfrm>
            <a:off x="5482590" y="1426845"/>
            <a:ext cx="1227455" cy="217805"/>
          </a:xfrm>
          <a:prstGeom prst="rect">
            <a:avLst/>
          </a:prstGeom>
          <a:noFill/>
          <a:ln w="19050">
            <a:solidFill>
              <a:srgbClr val="FF564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123"/>
          <p:cNvSpPr txBox="1"/>
          <p:nvPr/>
        </p:nvSpPr>
        <p:spPr>
          <a:xfrm rot="21060000">
            <a:off x="2625090" y="1872615"/>
            <a:ext cx="1427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</a:rPr>
              <a:t>non-smokers</a:t>
            </a:r>
            <a:endParaRPr lang="en-US" sz="1200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24460" y="1868170"/>
            <a:ext cx="5969635" cy="4076065"/>
          </a:xfrm>
          <a:custGeom>
            <a:avLst/>
            <a:gdLst>
              <a:gd name="connisteX0" fmla="*/ 4671749 w 5969554"/>
              <a:gd name="connsiteY0" fmla="*/ 73205 h 4075919"/>
              <a:gd name="connisteX1" fmla="*/ 5433749 w 5969554"/>
              <a:gd name="connsiteY1" fmla="*/ 591365 h 4075919"/>
              <a:gd name="connisteX2" fmla="*/ 5776649 w 5969554"/>
              <a:gd name="connsiteY2" fmla="*/ 1216205 h 4075919"/>
              <a:gd name="connisteX3" fmla="*/ 5746169 w 5969554"/>
              <a:gd name="connsiteY3" fmla="*/ 2374445 h 4075919"/>
              <a:gd name="connisteX4" fmla="*/ 5890949 w 5969554"/>
              <a:gd name="connsiteY4" fmla="*/ 2862125 h 4075919"/>
              <a:gd name="connisteX5" fmla="*/ 5913809 w 5969554"/>
              <a:gd name="connsiteY5" fmla="*/ 3410765 h 4075919"/>
              <a:gd name="connisteX6" fmla="*/ 5281349 w 5969554"/>
              <a:gd name="connsiteY6" fmla="*/ 4050845 h 4075919"/>
              <a:gd name="connisteX7" fmla="*/ 1029389 w 5969554"/>
              <a:gd name="connsiteY7" fmla="*/ 3860345 h 4075919"/>
              <a:gd name="connisteX8" fmla="*/ 107369 w 5969554"/>
              <a:gd name="connsiteY8" fmla="*/ 3517445 h 4075919"/>
              <a:gd name="connisteX9" fmla="*/ 191189 w 5969554"/>
              <a:gd name="connsiteY9" fmla="*/ 2595425 h 4075919"/>
              <a:gd name="connisteX10" fmla="*/ 1219889 w 5969554"/>
              <a:gd name="connsiteY10" fmla="*/ 2511605 h 4075919"/>
              <a:gd name="connisteX11" fmla="*/ 1486589 w 5969554"/>
              <a:gd name="connsiteY11" fmla="*/ 1635305 h 4075919"/>
              <a:gd name="connisteX12" fmla="*/ 3033449 w 5969554"/>
              <a:gd name="connsiteY12" fmla="*/ 1368605 h 4075919"/>
              <a:gd name="connisteX13" fmla="*/ 3521129 w 5969554"/>
              <a:gd name="connsiteY13" fmla="*/ 576125 h 4075919"/>
              <a:gd name="connisteX14" fmla="*/ 4382189 w 5969554"/>
              <a:gd name="connsiteY14" fmla="*/ 27485 h 4075919"/>
              <a:gd name="connisteX15" fmla="*/ 4725089 w 5969554"/>
              <a:gd name="connsiteY15" fmla="*/ 118925 h 4075919"/>
              <a:gd name="connisteX16" fmla="*/ 4747949 w 5969554"/>
              <a:gd name="connsiteY16" fmla="*/ 118925 h 4075919"/>
              <a:gd name="connisteX17" fmla="*/ 4770809 w 5969554"/>
              <a:gd name="connsiteY17" fmla="*/ 118925 h 4075919"/>
              <a:gd name="connisteX18" fmla="*/ 4732709 w 5969554"/>
              <a:gd name="connsiteY18" fmla="*/ 355145 h 407591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</a:cxnLst>
            <a:rect l="l" t="t" r="r" b="b"/>
            <a:pathLst>
              <a:path w="5969555" h="4075919">
                <a:moveTo>
                  <a:pt x="4671749" y="73206"/>
                </a:moveTo>
                <a:cubicBezTo>
                  <a:pt x="4817164" y="164646"/>
                  <a:pt x="5212769" y="362766"/>
                  <a:pt x="5433749" y="591366"/>
                </a:cubicBezTo>
                <a:cubicBezTo>
                  <a:pt x="5654729" y="819966"/>
                  <a:pt x="5714419" y="859336"/>
                  <a:pt x="5776649" y="1216206"/>
                </a:cubicBezTo>
                <a:cubicBezTo>
                  <a:pt x="5838879" y="1573076"/>
                  <a:pt x="5723309" y="2045516"/>
                  <a:pt x="5746169" y="2374446"/>
                </a:cubicBezTo>
                <a:cubicBezTo>
                  <a:pt x="5769029" y="2703376"/>
                  <a:pt x="5857294" y="2655116"/>
                  <a:pt x="5890949" y="2862126"/>
                </a:cubicBezTo>
                <a:cubicBezTo>
                  <a:pt x="5924604" y="3069136"/>
                  <a:pt x="6035729" y="3173276"/>
                  <a:pt x="5913809" y="3410766"/>
                </a:cubicBezTo>
                <a:cubicBezTo>
                  <a:pt x="5791889" y="3648256"/>
                  <a:pt x="6257979" y="3960676"/>
                  <a:pt x="5281349" y="4050846"/>
                </a:cubicBezTo>
                <a:cubicBezTo>
                  <a:pt x="4304719" y="4141016"/>
                  <a:pt x="2064439" y="3967026"/>
                  <a:pt x="1029389" y="3860346"/>
                </a:cubicBezTo>
                <a:cubicBezTo>
                  <a:pt x="-5661" y="3753666"/>
                  <a:pt x="275009" y="3770176"/>
                  <a:pt x="107369" y="3517446"/>
                </a:cubicBezTo>
                <a:cubicBezTo>
                  <a:pt x="-60271" y="3264716"/>
                  <a:pt x="-31061" y="2796721"/>
                  <a:pt x="191189" y="2595426"/>
                </a:cubicBezTo>
                <a:cubicBezTo>
                  <a:pt x="413439" y="2394131"/>
                  <a:pt x="960809" y="2703376"/>
                  <a:pt x="1219889" y="2511606"/>
                </a:cubicBezTo>
                <a:cubicBezTo>
                  <a:pt x="1478969" y="2319836"/>
                  <a:pt x="1124004" y="1863906"/>
                  <a:pt x="1486589" y="1635306"/>
                </a:cubicBezTo>
                <a:cubicBezTo>
                  <a:pt x="1849174" y="1406706"/>
                  <a:pt x="2626414" y="1580696"/>
                  <a:pt x="3033449" y="1368606"/>
                </a:cubicBezTo>
                <a:cubicBezTo>
                  <a:pt x="3440484" y="1156516"/>
                  <a:pt x="3251254" y="844096"/>
                  <a:pt x="3521129" y="576126"/>
                </a:cubicBezTo>
                <a:cubicBezTo>
                  <a:pt x="3791004" y="308156"/>
                  <a:pt x="4141524" y="118926"/>
                  <a:pt x="4382189" y="27486"/>
                </a:cubicBezTo>
                <a:cubicBezTo>
                  <a:pt x="4622854" y="-63954"/>
                  <a:pt x="4652064" y="100511"/>
                  <a:pt x="4725089" y="118926"/>
                </a:cubicBezTo>
                <a:lnTo>
                  <a:pt x="4747949" y="118926"/>
                </a:lnTo>
                <a:cubicBezTo>
                  <a:pt x="4756839" y="118926"/>
                  <a:pt x="4773984" y="71936"/>
                  <a:pt x="4770809" y="11892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6107430" y="2005330"/>
            <a:ext cx="5887720" cy="3721735"/>
          </a:xfrm>
          <a:custGeom>
            <a:avLst/>
            <a:gdLst>
              <a:gd name="connisteX0" fmla="*/ 1020254 w 5887533"/>
              <a:gd name="connsiteY0" fmla="*/ 95831 h 3721756"/>
              <a:gd name="connisteX1" fmla="*/ 418274 w 5887533"/>
              <a:gd name="connsiteY1" fmla="*/ 560651 h 3721756"/>
              <a:gd name="connisteX2" fmla="*/ 486854 w 5887533"/>
              <a:gd name="connsiteY2" fmla="*/ 2412311 h 3721756"/>
              <a:gd name="connisteX3" fmla="*/ 37274 w 5887533"/>
              <a:gd name="connsiteY3" fmla="*/ 2663771 h 3721756"/>
              <a:gd name="connisteX4" fmla="*/ 113474 w 5887533"/>
              <a:gd name="connsiteY4" fmla="*/ 3646751 h 3721756"/>
              <a:gd name="connisteX5" fmla="*/ 570674 w 5887533"/>
              <a:gd name="connsiteY5" fmla="*/ 3585791 h 3721756"/>
              <a:gd name="connisteX6" fmla="*/ 1523174 w 5887533"/>
              <a:gd name="connsiteY6" fmla="*/ 3463871 h 3721756"/>
              <a:gd name="connisteX7" fmla="*/ 4106354 w 5887533"/>
              <a:gd name="connsiteY7" fmla="*/ 3608651 h 3721756"/>
              <a:gd name="connisteX8" fmla="*/ 5759894 w 5887533"/>
              <a:gd name="connsiteY8" fmla="*/ 3380051 h 3721756"/>
              <a:gd name="connisteX9" fmla="*/ 5546534 w 5887533"/>
              <a:gd name="connsiteY9" fmla="*/ 2450411 h 3721756"/>
              <a:gd name="connisteX10" fmla="*/ 4533074 w 5887533"/>
              <a:gd name="connsiteY10" fmla="*/ 2419931 h 3721756"/>
              <a:gd name="connisteX11" fmla="*/ 4334954 w 5887533"/>
              <a:gd name="connsiteY11" fmla="*/ 1566491 h 3721756"/>
              <a:gd name="connisteX12" fmla="*/ 3108134 w 5887533"/>
              <a:gd name="connsiteY12" fmla="*/ 1299791 h 3721756"/>
              <a:gd name="connisteX13" fmla="*/ 2292794 w 5887533"/>
              <a:gd name="connsiteY13" fmla="*/ 522551 h 3721756"/>
              <a:gd name="connisteX14" fmla="*/ 2026094 w 5887533"/>
              <a:gd name="connsiteY14" fmla="*/ 50111 h 3721756"/>
              <a:gd name="connisteX15" fmla="*/ 1020254 w 5887533"/>
              <a:gd name="connsiteY15" fmla="*/ 95831 h 372175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</a:cxnLst>
            <a:rect l="l" t="t" r="r" b="b"/>
            <a:pathLst>
              <a:path w="5887533" h="3721756">
                <a:moveTo>
                  <a:pt x="1020255" y="95832"/>
                </a:moveTo>
                <a:cubicBezTo>
                  <a:pt x="698945" y="198067"/>
                  <a:pt x="524955" y="97102"/>
                  <a:pt x="418275" y="560652"/>
                </a:cubicBezTo>
                <a:cubicBezTo>
                  <a:pt x="311595" y="1024202"/>
                  <a:pt x="563055" y="1991942"/>
                  <a:pt x="486855" y="2412312"/>
                </a:cubicBezTo>
                <a:cubicBezTo>
                  <a:pt x="410655" y="2832682"/>
                  <a:pt x="112205" y="2416757"/>
                  <a:pt x="37275" y="2663772"/>
                </a:cubicBezTo>
                <a:cubicBezTo>
                  <a:pt x="-37655" y="2910787"/>
                  <a:pt x="6795" y="3462602"/>
                  <a:pt x="113475" y="3646752"/>
                </a:cubicBezTo>
                <a:cubicBezTo>
                  <a:pt x="220155" y="3830902"/>
                  <a:pt x="288735" y="3622622"/>
                  <a:pt x="570675" y="3585792"/>
                </a:cubicBezTo>
                <a:cubicBezTo>
                  <a:pt x="852615" y="3548962"/>
                  <a:pt x="815785" y="3459427"/>
                  <a:pt x="1523175" y="3463872"/>
                </a:cubicBezTo>
                <a:cubicBezTo>
                  <a:pt x="2230565" y="3468317"/>
                  <a:pt x="3259265" y="3625162"/>
                  <a:pt x="4106355" y="3608652"/>
                </a:cubicBezTo>
                <a:cubicBezTo>
                  <a:pt x="4953445" y="3592142"/>
                  <a:pt x="5471605" y="3611827"/>
                  <a:pt x="5759895" y="3380052"/>
                </a:cubicBezTo>
                <a:cubicBezTo>
                  <a:pt x="6048185" y="3148277"/>
                  <a:pt x="5791645" y="2642182"/>
                  <a:pt x="5546535" y="2450412"/>
                </a:cubicBezTo>
                <a:cubicBezTo>
                  <a:pt x="5301425" y="2258642"/>
                  <a:pt x="4775645" y="2596462"/>
                  <a:pt x="4533075" y="2419932"/>
                </a:cubicBezTo>
                <a:cubicBezTo>
                  <a:pt x="4290505" y="2243402"/>
                  <a:pt x="4620070" y="1790647"/>
                  <a:pt x="4334955" y="1566492"/>
                </a:cubicBezTo>
                <a:cubicBezTo>
                  <a:pt x="4049840" y="1342337"/>
                  <a:pt x="3516440" y="1508707"/>
                  <a:pt x="3108135" y="1299792"/>
                </a:cubicBezTo>
                <a:cubicBezTo>
                  <a:pt x="2699830" y="1090877"/>
                  <a:pt x="2509330" y="772742"/>
                  <a:pt x="2292795" y="522552"/>
                </a:cubicBezTo>
                <a:cubicBezTo>
                  <a:pt x="2076260" y="272362"/>
                  <a:pt x="2280730" y="135202"/>
                  <a:pt x="2026095" y="50112"/>
                </a:cubicBezTo>
                <a:cubicBezTo>
                  <a:pt x="1771460" y="-34978"/>
                  <a:pt x="1341565" y="-6403"/>
                  <a:pt x="1020255" y="95832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23"/>
          <p:cNvSpPr txBox="1"/>
          <p:nvPr/>
        </p:nvSpPr>
        <p:spPr>
          <a:xfrm rot="21060000">
            <a:off x="8726170" y="2399030"/>
            <a:ext cx="1427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</a:rPr>
              <a:t>smokers</a:t>
            </a:r>
            <a:endParaRPr lang="en-US" sz="1200" dirty="0">
              <a:solidFill>
                <a:srgbClr val="595959"/>
              </a:solidFill>
              <a:latin typeface="Candara" panose="020E0502030303020204" charset="0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125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395095"/>
            <a:ext cx="11420475" cy="4067810"/>
          </a:xfrm>
          <a:prstGeom prst="rect">
            <a:avLst/>
          </a:prstGeom>
        </p:spPr>
      </p:pic>
      <p:sp>
        <p:nvSpPr>
          <p:cNvPr id="34" name="TextBox 123"/>
          <p:cNvSpPr txBox="1"/>
          <p:nvPr/>
        </p:nvSpPr>
        <p:spPr>
          <a:xfrm>
            <a:off x="3289935" y="5428615"/>
            <a:ext cx="12998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358EF2"/>
                </a:solidFill>
                <a:latin typeface="Candara" panose="020E0502030303020204" charset="0"/>
              </a:rPr>
              <a:t>pure</a:t>
            </a:r>
            <a:r>
              <a:rPr lang="en-US" sz="1600" b="1" dirty="0">
                <a:solidFill>
                  <a:srgbClr val="FFD700"/>
                </a:solidFill>
                <a:latin typeface="Candara" panose="020E0502030303020204" charset="0"/>
              </a:rPr>
              <a:t> leaf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126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585403" y="274955"/>
            <a:ext cx="702119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Decision Tree is nonparametric!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575560" y="869315"/>
            <a:ext cx="704088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5869305" cy="4140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 (DT)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make very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few assumptions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about the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training data: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208286" y="148191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127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585403" y="274955"/>
            <a:ext cx="702119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Decision Tree is nonparametric!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575560" y="869315"/>
            <a:ext cx="704088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6824345" cy="7372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 (DT)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make very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few assumptions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about the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training data: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as opposed to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linear models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which assume that the data is linear, for example.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208286" y="148191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128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585403" y="274955"/>
            <a:ext cx="702119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Decision Tree is nonparametric!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575560" y="869315"/>
            <a:ext cx="704088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6824345" cy="106045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 (DT)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make very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few assumptions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about the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training data: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as opposed to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linear models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which assume that the data is linear, for example.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Such a model is often called a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nonparametric model: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208286" y="148191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129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585403" y="274955"/>
            <a:ext cx="702119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Decision Tree is nonparametric!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575560" y="869315"/>
            <a:ext cx="704088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6824345" cy="170688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 (DT)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make very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few assumptions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about the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training data: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as opposed to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linear models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which assume that the data is linear, for example.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Such a model is often called a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nonparametric model: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not because it does not have any parameters (it often has a lot),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but because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the number of parameters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not </a:t>
            </a:r>
            <a:r>
              <a:rPr lang="en-US" sz="1400" b="1">
                <a:solidFill>
                  <a:srgbClr val="202020"/>
                </a:solidFill>
                <a:latin typeface="Candara" panose="020E0502030303020204" charset="0"/>
                <a:cs typeface="Candara" panose="020E0502030303020204" charset="0"/>
              </a:rPr>
              <a:t>determined prior to training.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208286" y="148191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130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585403" y="274955"/>
            <a:ext cx="702119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Decision Tree is nonparametric!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575560" y="869315"/>
            <a:ext cx="704088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7384415" cy="203009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 (DT)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make very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few assumptions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about the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training data: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as opposed to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linear models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which assume that the data is linear, for example.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Such a model is often called a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nonparametric model: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not because it does not have any parameters (it often has a lot),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but because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the number of parameters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not </a:t>
            </a:r>
            <a:r>
              <a:rPr lang="en-US" sz="1400" b="1">
                <a:solidFill>
                  <a:srgbClr val="202020"/>
                </a:solidFill>
                <a:latin typeface="Candara" panose="020E0502030303020204" charset="0"/>
                <a:cs typeface="Candara" panose="020E0502030303020204" charset="0"/>
              </a:rPr>
              <a:t>determined prior to training.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Thus, the </a:t>
            </a:r>
            <a:r>
              <a:rPr lang="en-US" sz="1400" b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model structure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</a:t>
            </a:r>
            <a:r>
              <a:rPr lang="en-US" sz="1400" b="1">
                <a:solidFill>
                  <a:srgbClr val="202020"/>
                </a:solidFill>
                <a:latin typeface="Candara" panose="020E0502030303020204" charset="0"/>
                <a:cs typeface="Candara" panose="020E0502030303020204" charset="0"/>
              </a:rPr>
              <a:t>free to stick closely to the data, 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which tends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to overfit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 the data.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208286" y="148191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131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585403" y="274955"/>
            <a:ext cx="702119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Decision Tree is nonparametric!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575560" y="869315"/>
            <a:ext cx="704088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7384415" cy="299974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 (DT)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make very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few assumptions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about the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training data: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as opposed to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linear models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which assume that the data is linear, for example.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Such a model is often called a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nonparametric model: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not because it does not have any parameters (it often has a lot),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but because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the number of parameters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not </a:t>
            </a:r>
            <a:r>
              <a:rPr lang="en-US" sz="1400" b="1">
                <a:solidFill>
                  <a:srgbClr val="202020"/>
                </a:solidFill>
                <a:latin typeface="Candara" panose="020E0502030303020204" charset="0"/>
                <a:cs typeface="Candara" panose="020E0502030303020204" charset="0"/>
              </a:rPr>
              <a:t>determined prior to training.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Thus, the </a:t>
            </a:r>
            <a:r>
              <a:rPr lang="en-US" sz="1400" b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model structure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</a:t>
            </a:r>
            <a:r>
              <a:rPr lang="en-US" sz="1400" b="1">
                <a:solidFill>
                  <a:srgbClr val="202020"/>
                </a:solidFill>
                <a:latin typeface="Candara" panose="020E0502030303020204" charset="0"/>
                <a:cs typeface="Candara" panose="020E0502030303020204" charset="0"/>
              </a:rPr>
              <a:t>free to stick closely to the data, 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which tends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to overfit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 the data.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E.g., a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DT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without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 maximum depth allowed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can make the </a:t>
            </a: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tree grow deep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until</a:t>
            </a:r>
            <a:b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</a:b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it has </a:t>
            </a:r>
            <a:r>
              <a:rPr lang="en-US" sz="1400" b="1" i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only</a:t>
            </a:r>
            <a:r>
              <a:rPr lang="en-US" sz="1400" b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</a:t>
            </a:r>
            <a:r>
              <a:rPr lang="en-US" sz="1400" b="1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pure </a:t>
            </a:r>
            <a:r>
              <a:rPr lang="en-US" sz="1400" b="1">
                <a:solidFill>
                  <a:srgbClr val="FFD700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leafs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which consequently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overfits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the data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.</a:t>
            </a:r>
          </a:p>
          <a:p>
            <a:pPr lvl="0" indent="0" algn="l">
              <a:lnSpc>
                <a:spcPct val="150000"/>
              </a:lnSpc>
              <a:buFont typeface="Arial" panose="02080604020202020204" pitchFamily="34" charset="0"/>
              <a:buNone/>
            </a:pP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208286" y="148191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132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585403" y="274955"/>
            <a:ext cx="702119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Decision Tree is nonparametric!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575560" y="869315"/>
            <a:ext cx="704088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7384415" cy="429260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 (DT)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make very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few assumptions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about the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training data: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as opposed to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linear models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which assume that the data is linear, for example.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Such a model is often called a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nonparametric model: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not because it does not have any parameters (it often has a lot),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but because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the number of parameters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not </a:t>
            </a:r>
            <a:r>
              <a:rPr lang="en-US" sz="1400" b="1">
                <a:solidFill>
                  <a:srgbClr val="202020"/>
                </a:solidFill>
                <a:latin typeface="Candara" panose="020E0502030303020204" charset="0"/>
                <a:cs typeface="Candara" panose="020E0502030303020204" charset="0"/>
              </a:rPr>
              <a:t>determined prior to training.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Thus, the </a:t>
            </a:r>
            <a:r>
              <a:rPr lang="en-US" sz="1400" b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model structure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is </a:t>
            </a:r>
            <a:r>
              <a:rPr lang="en-US" sz="1400" b="1">
                <a:solidFill>
                  <a:srgbClr val="202020"/>
                </a:solidFill>
                <a:latin typeface="Candara" panose="020E0502030303020204" charset="0"/>
                <a:cs typeface="Candara" panose="020E0502030303020204" charset="0"/>
              </a:rPr>
              <a:t>free to stick closely to the data, 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which tends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to overfit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 the data.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E.g., a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DT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without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a maximum depth allowed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can make the </a:t>
            </a: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tree grow deep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until</a:t>
            </a:r>
            <a:b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</a:b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it has </a:t>
            </a:r>
            <a:r>
              <a:rPr lang="en-US" sz="1400" b="1" i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only</a:t>
            </a:r>
            <a:r>
              <a:rPr lang="en-US" sz="1400" b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</a:t>
            </a:r>
            <a:r>
              <a:rPr lang="en-US" sz="1400" b="1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pure </a:t>
            </a:r>
            <a:r>
              <a:rPr lang="en-US" sz="1400" b="1">
                <a:solidFill>
                  <a:srgbClr val="FFD700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leafs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, which consequently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overfits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the data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In contrast, a </a:t>
            </a:r>
            <a:r>
              <a:rPr lang="en-US" sz="1400" b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parametric model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(</a:t>
            </a:r>
            <a:r>
              <a:rPr lang="en-US" sz="1400" i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e.g.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a linear model):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has a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pre‐determined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number of parameters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so its degree of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freedom is limited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reducing 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risk of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but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increasing 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risk of </a:t>
            </a:r>
            <a:r>
              <a:rPr lang="en-US" sz="1400" b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underfitting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208286" y="148191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133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855913" y="274955"/>
            <a:ext cx="648017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Regularization Parameters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3078480" y="869315"/>
            <a:ext cx="603504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9389745" cy="4140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To avoid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the training data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you need to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Tree’s freedom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during training (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Regularization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).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467366" y="300845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134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855913" y="274955"/>
            <a:ext cx="648017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Regularization Parameters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3078480" y="869315"/>
            <a:ext cx="603504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9389745" cy="138366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To avoid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the training data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you need to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Tree’s freedom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during training (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Regularization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).</a:t>
            </a: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common strategy is to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 the </a:t>
            </a:r>
            <a:r>
              <a:rPr lang="en-US" sz="1400" b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maximum 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 i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max_depth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in sklearn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Reducing </a:t>
            </a:r>
            <a:r>
              <a:rPr lang="en-US" sz="1400" b="1" i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max_depth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will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model and thus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reduce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risk of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467366" y="300845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8128000" y="3195955"/>
            <a:ext cx="236220" cy="2735580"/>
            <a:chOff x="4556" y="4169"/>
            <a:chExt cx="372" cy="4740"/>
          </a:xfrm>
        </p:grpSpPr>
        <p:cxnSp>
          <p:nvCxnSpPr>
            <p:cNvPr id="15" name="Straight Connector 14"/>
            <p:cNvCxnSpPr/>
            <p:nvPr/>
          </p:nvCxnSpPr>
          <p:spPr>
            <a:xfrm flipV="1">
              <a:off x="4742" y="4169"/>
              <a:ext cx="0" cy="4740"/>
            </a:xfrm>
            <a:prstGeom prst="line">
              <a:avLst/>
            </a:prstGeom>
            <a:ln w="28575">
              <a:solidFill>
                <a:srgbClr val="376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4556" y="8909"/>
              <a:ext cx="372" cy="0"/>
            </a:xfrm>
            <a:prstGeom prst="line">
              <a:avLst/>
            </a:prstGeom>
            <a:ln w="28575">
              <a:solidFill>
                <a:srgbClr val="376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4556" y="4169"/>
              <a:ext cx="372" cy="0"/>
            </a:xfrm>
            <a:prstGeom prst="line">
              <a:avLst/>
            </a:prstGeom>
            <a:ln w="28575">
              <a:solidFill>
                <a:srgbClr val="376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23"/>
          <p:cNvSpPr txBox="1"/>
          <p:nvPr/>
        </p:nvSpPr>
        <p:spPr>
          <a:xfrm>
            <a:off x="7678619" y="2889197"/>
            <a:ext cx="1430833" cy="30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376C8A"/>
                </a:solidFill>
                <a:latin typeface="Candara" panose="020E0502030303020204" charset="0"/>
              </a:rPr>
              <a:t>max depth = 3</a:t>
            </a:r>
            <a:endParaRPr lang="en-US" sz="1400" b="1" dirty="0">
              <a:solidFill>
                <a:srgbClr val="376C8A"/>
              </a:solidFill>
              <a:latin typeface="Candara" panose="020E0502030303020204" charset="0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135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855913" y="274955"/>
            <a:ext cx="648017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Regularization Parameters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3078480" y="869315"/>
            <a:ext cx="603504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9389745" cy="138366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To avoid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the training data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you need to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Tree’s freedom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during training (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Regularization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).</a:t>
            </a: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common strategy is to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 the </a:t>
            </a:r>
            <a:r>
              <a:rPr lang="en-US" sz="1400" b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maximum 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 i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max_depth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in sklearn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Reducing </a:t>
            </a:r>
            <a:r>
              <a:rPr lang="en-US" sz="1400" b="1" i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max_depth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will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model and thus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reduce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risk of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467366" y="300845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8128000" y="3195955"/>
            <a:ext cx="236220" cy="2735580"/>
            <a:chOff x="4556" y="4169"/>
            <a:chExt cx="372" cy="4740"/>
          </a:xfrm>
        </p:grpSpPr>
        <p:cxnSp>
          <p:nvCxnSpPr>
            <p:cNvPr id="15" name="Straight Connector 14"/>
            <p:cNvCxnSpPr/>
            <p:nvPr/>
          </p:nvCxnSpPr>
          <p:spPr>
            <a:xfrm flipV="1">
              <a:off x="4742" y="4169"/>
              <a:ext cx="0" cy="4740"/>
            </a:xfrm>
            <a:prstGeom prst="line">
              <a:avLst/>
            </a:prstGeom>
            <a:ln w="28575">
              <a:solidFill>
                <a:srgbClr val="376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4556" y="8909"/>
              <a:ext cx="372" cy="0"/>
            </a:xfrm>
            <a:prstGeom prst="line">
              <a:avLst/>
            </a:prstGeom>
            <a:ln w="28575">
              <a:solidFill>
                <a:srgbClr val="376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4556" y="4169"/>
              <a:ext cx="372" cy="0"/>
            </a:xfrm>
            <a:prstGeom prst="line">
              <a:avLst/>
            </a:prstGeom>
            <a:ln w="28575">
              <a:solidFill>
                <a:srgbClr val="376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23"/>
          <p:cNvSpPr txBox="1"/>
          <p:nvPr/>
        </p:nvSpPr>
        <p:spPr>
          <a:xfrm>
            <a:off x="7678619" y="2889197"/>
            <a:ext cx="1430833" cy="30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376C8A"/>
                </a:solidFill>
                <a:latin typeface="Candara" panose="020E0502030303020204" charset="0"/>
              </a:rPr>
              <a:t>max depth = 3</a:t>
            </a:r>
            <a:endParaRPr lang="en-US" sz="1400" b="1" dirty="0">
              <a:solidFill>
                <a:srgbClr val="376C8A"/>
              </a:solidFill>
              <a:latin typeface="Candara" panose="020E0502030303020204" charset="0"/>
              <a:sym typeface="+mn-ea"/>
            </a:endParaRPr>
          </a:p>
        </p:txBody>
      </p:sp>
      <p:grpSp>
        <p:nvGrpSpPr>
          <p:cNvPr id="19" name="Group 18"/>
          <p:cNvGrpSpPr/>
          <p:nvPr/>
        </p:nvGrpSpPr>
        <p:grpSpPr>
          <a:xfrm rot="21360000">
            <a:off x="7881687" y="1714828"/>
            <a:ext cx="3176905" cy="737235"/>
            <a:chOff x="6928" y="9058"/>
            <a:chExt cx="4781" cy="116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Text Box 7"/>
            <p:cNvSpPr txBox="1"/>
            <p:nvPr/>
          </p:nvSpPr>
          <p:spPr>
            <a:xfrm>
              <a:off x="6928" y="9058"/>
              <a:ext cx="4781" cy="11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i="1" dirty="0">
                  <a:solidFill>
                    <a:srgbClr val="376C8A"/>
                  </a:solidFill>
                  <a:latin typeface="Candara" panose="020E0502030303020204" charset="0"/>
                  <a:sym typeface="+mn-ea"/>
                </a:rPr>
                <a:t>max_depth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is a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hyperparameter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that can be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optimized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by a fune-tunning technique.</a:t>
              </a:r>
              <a:endPara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21" name="Picture 20" descr="pngwing.co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36" y="9395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136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855913" y="274955"/>
            <a:ext cx="648017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Regularization Parameters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3078480" y="869315"/>
            <a:ext cx="603504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9389745" cy="267652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To avoid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the training data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you need to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Tree’s freedom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during training (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Regularization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).</a:t>
            </a: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common strategy is to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 the </a:t>
            </a:r>
            <a:r>
              <a:rPr lang="en-US" sz="1400" b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maximum 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 i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max_depth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in sklearn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Reducing </a:t>
            </a:r>
            <a:r>
              <a:rPr lang="en-US" sz="1400" b="1" i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max_depth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will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model and thus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reduce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risk of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Scikit-learn DT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has a few other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hyparameters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that similarly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DT's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 shape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: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min_samples_split, min_samples_leaf , min_weight_fraction_leaf;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max_leaf_nodes, max_features;</a:t>
            </a: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467366" y="300845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137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855913" y="274955"/>
            <a:ext cx="648017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Regularization Parameters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3078480" y="869315"/>
            <a:ext cx="603504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9389745" cy="299974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To avoid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the training data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you need to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Tree’s freedom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during training (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Regularization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).</a:t>
            </a: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common strategy is to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 the </a:t>
            </a:r>
            <a:r>
              <a:rPr lang="en-US" sz="1400" b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maximum 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 i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max_depth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in sklearn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Reducing </a:t>
            </a:r>
            <a:r>
              <a:rPr lang="en-US" sz="1400" b="1" i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max_depth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will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model and thus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reduce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risk of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Scikit-learn DT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has a few other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hyparameters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that similarly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DT's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 shape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: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min_samples_split, min_samples_leaf , min_weight_fraction_leaf;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max_leaf_nodes, max_features;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>
                <a:solidFill>
                  <a:srgbClr val="202020"/>
                </a:solidFill>
                <a:latin typeface="Candara" panose="020E0502030303020204" charset="0"/>
                <a:cs typeface="Candara" panose="020E0502030303020204" charset="0"/>
              </a:rPr>
              <a:t>↑Increasing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</a:t>
            </a: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min_*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hyperparameters or ↓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reducing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</a:t>
            </a: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max_*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hyperparameters will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model.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467366" y="300845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138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2855913" y="274955"/>
            <a:ext cx="648017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Regularization Parameters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3078480" y="869315"/>
            <a:ext cx="603504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9389745" cy="299974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To avoid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the training data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, you need to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Tree’s freedom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during training (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Regularization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).</a:t>
            </a: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common strategy is to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 the </a:t>
            </a:r>
            <a:r>
              <a:rPr lang="en-US" sz="1400" b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maximum 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of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 i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max_depth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in sklearn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Reducing </a:t>
            </a:r>
            <a:r>
              <a:rPr lang="en-US" sz="1400" b="1" i="1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max_depth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will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model and thus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reduce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risk of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overfitting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140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</a:endParaRP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Scikit-learn DT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has a few other </a:t>
            </a:r>
            <a:r>
              <a:rPr lang="en-US" sz="140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hyparameters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that similarly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restrict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DT's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 shape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: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min_samples_split, min_samples_leaf , min_weight_fraction_leaf;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max_leaf_nodes, max_features;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>
                <a:solidFill>
                  <a:srgbClr val="202020"/>
                </a:solidFill>
                <a:latin typeface="Candara" panose="020E0502030303020204" charset="0"/>
                <a:cs typeface="Candara" panose="020E0502030303020204" charset="0"/>
              </a:rPr>
              <a:t>↑Increasing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</a:t>
            </a: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min_*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hyperparameters or ↓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reducing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</a:t>
            </a:r>
            <a:r>
              <a:rPr lang="en-US" sz="140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max_*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hyperparameters will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regularize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the model.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467366" y="3008455"/>
            <a:ext cx="3457252" cy="3105012"/>
            <a:chOff x="3568700" y="1159510"/>
            <a:chExt cx="5054600" cy="4539615"/>
          </a:xfrm>
        </p:grpSpPr>
        <p:sp>
          <p:nvSpPr>
            <p:cNvPr id="36" name="Oval 35"/>
            <p:cNvSpPr/>
            <p:nvPr/>
          </p:nvSpPr>
          <p:spPr>
            <a:xfrm>
              <a:off x="5798185" y="1159510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Oval 36"/>
            <p:cNvSpPr/>
            <p:nvPr/>
          </p:nvSpPr>
          <p:spPr>
            <a:xfrm>
              <a:off x="46761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Oval 38"/>
            <p:cNvSpPr/>
            <p:nvPr/>
          </p:nvSpPr>
          <p:spPr>
            <a:xfrm>
              <a:off x="522986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Oval 39"/>
            <p:cNvSpPr/>
            <p:nvPr/>
          </p:nvSpPr>
          <p:spPr>
            <a:xfrm>
              <a:off x="6898640" y="240220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1" name="Oval 40"/>
            <p:cNvSpPr/>
            <p:nvPr/>
          </p:nvSpPr>
          <p:spPr>
            <a:xfrm>
              <a:off x="6344920" y="374205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Oval 41"/>
            <p:cNvSpPr/>
            <p:nvPr/>
          </p:nvSpPr>
          <p:spPr>
            <a:xfrm>
              <a:off x="745236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3" name="Oval 42"/>
            <p:cNvSpPr/>
            <p:nvPr/>
          </p:nvSpPr>
          <p:spPr>
            <a:xfrm>
              <a:off x="68986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4" name="Oval 43"/>
            <p:cNvSpPr/>
            <p:nvPr/>
          </p:nvSpPr>
          <p:spPr>
            <a:xfrm>
              <a:off x="800608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Oval 44"/>
            <p:cNvSpPr/>
            <p:nvPr/>
          </p:nvSpPr>
          <p:spPr>
            <a:xfrm>
              <a:off x="4122420" y="3742055"/>
              <a:ext cx="617220" cy="617220"/>
            </a:xfrm>
            <a:prstGeom prst="ellipse">
              <a:avLst/>
            </a:prstGeom>
            <a:solidFill>
              <a:srgbClr val="358EF2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6" name="Oval 45"/>
            <p:cNvSpPr/>
            <p:nvPr/>
          </p:nvSpPr>
          <p:spPr>
            <a:xfrm>
              <a:off x="356870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7" name="Oval 46"/>
            <p:cNvSpPr/>
            <p:nvPr/>
          </p:nvSpPr>
          <p:spPr>
            <a:xfrm>
              <a:off x="4676140" y="5081905"/>
              <a:ext cx="617220" cy="617220"/>
            </a:xfrm>
            <a:prstGeom prst="ellipse">
              <a:avLst/>
            </a:prstGeom>
            <a:solidFill>
              <a:srgbClr val="FFD700"/>
            </a:solidFill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4984750" y="1776730"/>
              <a:ext cx="112204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36" idx="4"/>
              <a:endCxn id="40" idx="0"/>
            </p:cNvCxnSpPr>
            <p:nvPr/>
          </p:nvCxnSpPr>
          <p:spPr>
            <a:xfrm>
              <a:off x="6106795" y="1776730"/>
              <a:ext cx="1100455" cy="625475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7" idx="4"/>
              <a:endCxn id="45" idx="0"/>
            </p:cNvCxnSpPr>
            <p:nvPr/>
          </p:nvCxnSpPr>
          <p:spPr>
            <a:xfrm flipH="1">
              <a:off x="44310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>
              <a:stCxn id="37" idx="4"/>
              <a:endCxn id="39" idx="0"/>
            </p:cNvCxnSpPr>
            <p:nvPr/>
          </p:nvCxnSpPr>
          <p:spPr>
            <a:xfrm>
              <a:off x="49847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0" idx="4"/>
              <a:endCxn id="41" idx="0"/>
            </p:cNvCxnSpPr>
            <p:nvPr/>
          </p:nvCxnSpPr>
          <p:spPr>
            <a:xfrm flipH="1">
              <a:off x="665353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40" idx="4"/>
              <a:endCxn id="42" idx="0"/>
            </p:cNvCxnSpPr>
            <p:nvPr/>
          </p:nvCxnSpPr>
          <p:spPr>
            <a:xfrm>
              <a:off x="7207250" y="301942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5" idx="4"/>
              <a:endCxn id="46" idx="0"/>
            </p:cNvCxnSpPr>
            <p:nvPr/>
          </p:nvCxnSpPr>
          <p:spPr>
            <a:xfrm flipH="1">
              <a:off x="387731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5" idx="4"/>
              <a:endCxn id="47" idx="0"/>
            </p:cNvCxnSpPr>
            <p:nvPr/>
          </p:nvCxnSpPr>
          <p:spPr>
            <a:xfrm>
              <a:off x="443103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2" idx="4"/>
              <a:endCxn id="43" idx="0"/>
            </p:cNvCxnSpPr>
            <p:nvPr/>
          </p:nvCxnSpPr>
          <p:spPr>
            <a:xfrm flipH="1">
              <a:off x="720725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4" idx="0"/>
            </p:cNvCxnSpPr>
            <p:nvPr/>
          </p:nvCxnSpPr>
          <p:spPr>
            <a:xfrm>
              <a:off x="7760970" y="4359275"/>
              <a:ext cx="553720" cy="722630"/>
            </a:xfrm>
            <a:prstGeom prst="line">
              <a:avLst/>
            </a:prstGeom>
            <a:ln w="25400">
              <a:solidFill>
                <a:srgbClr val="595959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7"/>
            <p:cNvSpPr txBox="1"/>
            <p:nvPr/>
          </p:nvSpPr>
          <p:spPr>
            <a:xfrm rot="19860000">
              <a:off x="4979227" y="1924035"/>
              <a:ext cx="647313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True</a:t>
              </a:r>
            </a:p>
          </p:txBody>
        </p:sp>
        <p:sp>
          <p:nvSpPr>
            <p:cNvPr id="59" name="Text Box 8"/>
            <p:cNvSpPr txBox="1"/>
            <p:nvPr/>
          </p:nvSpPr>
          <p:spPr>
            <a:xfrm rot="1800000">
              <a:off x="6610646" y="1958960"/>
              <a:ext cx="680124" cy="3149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sz="800" b="1">
                  <a:latin typeface="Arvo" panose="02000000000000000000" charset="0"/>
                  <a:cs typeface="Arvo" panose="02000000000000000000" charset="0"/>
                  <a:sym typeface="+mn-ea"/>
                </a:rPr>
                <a:t>False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426585" y="3031490"/>
              <a:ext cx="1123950" cy="680085"/>
              <a:chOff x="7027" y="4824"/>
              <a:chExt cx="1770" cy="1071"/>
            </a:xfrm>
          </p:grpSpPr>
          <p:sp>
            <p:nvSpPr>
              <p:cNvPr id="8" name="Text Box 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9" name="Text Box 11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644005" y="3031490"/>
              <a:ext cx="1123950" cy="680085"/>
              <a:chOff x="7027" y="4824"/>
              <a:chExt cx="1770" cy="1071"/>
            </a:xfrm>
          </p:grpSpPr>
          <p:sp>
            <p:nvSpPr>
              <p:cNvPr id="68" name="Text Box 34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69" name="Text Box 35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02805" y="4385945"/>
              <a:ext cx="1123950" cy="680085"/>
              <a:chOff x="7027" y="4824"/>
              <a:chExt cx="1770" cy="1071"/>
            </a:xfrm>
          </p:grpSpPr>
          <p:sp>
            <p:nvSpPr>
              <p:cNvPr id="71" name="Text Box 39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2" name="Text Box 40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70960" y="4385945"/>
              <a:ext cx="1123950" cy="680085"/>
              <a:chOff x="7027" y="4824"/>
              <a:chExt cx="1770" cy="1071"/>
            </a:xfrm>
          </p:grpSpPr>
          <p:sp>
            <p:nvSpPr>
              <p:cNvPr id="74" name="Text Box 42"/>
              <p:cNvSpPr txBox="1"/>
              <p:nvPr/>
            </p:nvSpPr>
            <p:spPr>
              <a:xfrm rot="18480000">
                <a:off x="6765" y="5112"/>
                <a:ext cx="1019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True</a:t>
                </a:r>
              </a:p>
            </p:txBody>
          </p:sp>
          <p:sp>
            <p:nvSpPr>
              <p:cNvPr id="75" name="Text Box 43"/>
              <p:cNvSpPr txBox="1"/>
              <p:nvPr/>
            </p:nvSpPr>
            <p:spPr>
              <a:xfrm rot="3180000">
                <a:off x="8013" y="5112"/>
                <a:ext cx="1071" cy="496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800" b="1">
                    <a:latin typeface="Arvo" panose="02000000000000000000" charset="0"/>
                    <a:cs typeface="Arvo" panose="02000000000000000000" charset="0"/>
                    <a:sym typeface="+mn-ea"/>
                  </a:rPr>
                  <a:t>False</a:t>
                </a:r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 rot="21360000">
            <a:off x="2105228" y="4454293"/>
            <a:ext cx="3513135" cy="953135"/>
            <a:chOff x="6928" y="9058"/>
            <a:chExt cx="5287" cy="15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Text Box 7"/>
            <p:cNvSpPr txBox="1"/>
            <p:nvPr/>
          </p:nvSpPr>
          <p:spPr>
            <a:xfrm>
              <a:off x="6928" y="9058"/>
              <a:ext cx="5287" cy="15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Other algorithms work by first </a:t>
              </a:r>
              <a:r>
                <a:rPr lang="en-US" sz="1400" b="1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training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the </a:t>
              </a:r>
              <a:r>
                <a:rPr lang="en-US" sz="1400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Decision Tree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without restrictions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, then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pruning (deleting)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unnecessary nodes.</a:t>
              </a:r>
              <a:endParaRPr lang="en-US" sz="14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21" name="Picture 20" descr="pngwing.co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36" y="9395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139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190500" y="274955"/>
            <a:ext cx="280733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Instability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22568" y="869315"/>
            <a:ext cx="274320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7416800" cy="7372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output </a:t>
            </a:r>
            <a:r>
              <a:rPr lang="en-US" sz="1400" b="1" i="1" dirty="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orthogonal</a:t>
            </a:r>
            <a:r>
              <a:rPr lang="en-US" sz="1400" b="1" dirty="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 decision boundaries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(all splits are perpendicular to an axis)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because of its nature of </a:t>
            </a:r>
            <a:r>
              <a:rPr lang="en-US" sz="1400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statements/rules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based on </a:t>
            </a:r>
            <a:r>
              <a:rPr lang="en-US" sz="1400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thresholds</a:t>
            </a:r>
            <a:endParaRPr lang="en-US" sz="1400" b="1" dirty="0">
              <a:solidFill>
                <a:schemeClr val="tx1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140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190500" y="274955"/>
            <a:ext cx="280733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Instability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22568" y="869315"/>
            <a:ext cx="274320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7500195" cy="102842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output </a:t>
            </a:r>
            <a:r>
              <a:rPr lang="en-US" sz="1400" b="1" i="1" dirty="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orthogonal</a:t>
            </a:r>
            <a:r>
              <a:rPr lang="en-US" sz="1400" b="1" dirty="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 decision boundaries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(all splits are perpendicular to an axis)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because of its nature of </a:t>
            </a:r>
            <a:r>
              <a:rPr lang="en-US" sz="1400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statements/rules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based on </a:t>
            </a:r>
            <a:r>
              <a:rPr lang="en-US" sz="1400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thresholds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Consequently, they are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sensitive to training set rotation.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425" y="3029585"/>
            <a:ext cx="5645150" cy="248793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Text Box 31"/>
          <p:cNvSpPr txBox="1"/>
          <p:nvPr/>
        </p:nvSpPr>
        <p:spPr>
          <a:xfrm>
            <a:off x="371475" y="6368415"/>
            <a:ext cx="107759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Géron, Aurélien. </a:t>
            </a:r>
            <a:r>
              <a:rPr lang="en-US" sz="1000" b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Hands-on machine learning with Scikit-Learn, Keras, and TensorFlow: Concepts, tools, and techniques to build intelligent systems.</a:t>
            </a:r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O'Reilly Media, 2019.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141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190500" y="274955"/>
            <a:ext cx="280733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Instability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22568" y="869315"/>
            <a:ext cx="274320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7500195" cy="102842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output </a:t>
            </a:r>
            <a:r>
              <a:rPr lang="en-US" sz="1400" b="1" i="1" dirty="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orthogonal</a:t>
            </a:r>
            <a:r>
              <a:rPr lang="en-US" sz="1400" b="1" dirty="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 decision boundaries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(all splits are perpendicular to an axis)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because of its nature of </a:t>
            </a:r>
            <a:r>
              <a:rPr lang="en-US" sz="1400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statements/rules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based on </a:t>
            </a:r>
            <a:r>
              <a:rPr lang="en-US" sz="1400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thresholds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Consequently, they are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sensitive to training set rotation.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425" y="3029585"/>
            <a:ext cx="5645150" cy="248793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Group 18"/>
          <p:cNvGrpSpPr/>
          <p:nvPr/>
        </p:nvGrpSpPr>
        <p:grpSpPr>
          <a:xfrm rot="21360000">
            <a:off x="7440523" y="1430728"/>
            <a:ext cx="4014157" cy="953135"/>
            <a:chOff x="6928" y="9058"/>
            <a:chExt cx="6041" cy="15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Text Box 7"/>
            <p:cNvSpPr txBox="1"/>
            <p:nvPr/>
          </p:nvSpPr>
          <p:spPr>
            <a:xfrm>
              <a:off x="6928" y="9058"/>
              <a:ext cx="6041" cy="15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One possible solution is to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reduce the data dimensionaly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by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Principal Component Analysis (PCA)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, which tends to result in a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better orientation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of the training data.</a:t>
              </a:r>
              <a:endParaRPr lang="en-US" sz="14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21" name="Picture 20" descr="pngwing.co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6" y="9395"/>
              <a:ext cx="591" cy="591"/>
            </a:xfrm>
            <a:prstGeom prst="rect">
              <a:avLst/>
            </a:prstGeom>
          </p:spPr>
        </p:pic>
      </p:grpSp>
      <p:sp>
        <p:nvSpPr>
          <p:cNvPr id="32" name="Text Box 31"/>
          <p:cNvSpPr txBox="1"/>
          <p:nvPr/>
        </p:nvSpPr>
        <p:spPr>
          <a:xfrm>
            <a:off x="371475" y="6368415"/>
            <a:ext cx="107759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Géron, Aurélien. </a:t>
            </a:r>
            <a:r>
              <a:rPr lang="en-US" sz="1000" b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Hands-on machine learning with Scikit-Learn, Keras, and TensorFlow: Concepts, tools, and techniques to build intelligent systems.</a:t>
            </a:r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O'Reilly Media, 2019.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142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190500" y="274955"/>
            <a:ext cx="280733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Instability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22568" y="869315"/>
            <a:ext cx="274320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7500195" cy="135158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output </a:t>
            </a:r>
            <a:r>
              <a:rPr lang="en-US" sz="1400" b="1" i="1" dirty="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orthogonal</a:t>
            </a:r>
            <a:r>
              <a:rPr lang="en-US" sz="1400" b="1" dirty="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 decision boundaries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(all splits are perpendicular to an axis)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because of its nature of </a:t>
            </a:r>
            <a:r>
              <a:rPr lang="en-US" sz="1400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statements/rules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based on </a:t>
            </a:r>
            <a:r>
              <a:rPr lang="en-US" sz="1400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thresholds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Consequently, they are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sensitive to training set rotation.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Similarly,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a small change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in the </a:t>
            </a:r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training data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can cause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a large change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in the </a:t>
            </a: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DT's structure</a:t>
            </a:r>
            <a:r>
              <a:rPr lang="en-US" sz="1400" b="1" dirty="0">
                <a:latin typeface="Candara" panose="020E0502030303020204" charset="0"/>
                <a:cs typeface="Candara" panose="020E0502030303020204" charset="0"/>
                <a:sym typeface="+mn-ea"/>
              </a:rPr>
              <a:t>.</a:t>
            </a:r>
            <a:endParaRPr lang="en-US" sz="1400" b="1" dirty="0">
              <a:solidFill>
                <a:schemeClr val="tx1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425" y="3029585"/>
            <a:ext cx="5645150" cy="248793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Text Box 31"/>
          <p:cNvSpPr txBox="1"/>
          <p:nvPr/>
        </p:nvSpPr>
        <p:spPr>
          <a:xfrm>
            <a:off x="371475" y="6368415"/>
            <a:ext cx="107759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Géron, Aurélien. </a:t>
            </a:r>
            <a:r>
              <a:rPr lang="en-US" sz="1000" b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Hands-on machine learning with Scikit-Learn, Keras, and TensorFlow: Concepts, tools, and techniques to build intelligent systems.</a:t>
            </a:r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O'Reilly Media, 2019.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143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190500" y="274955"/>
            <a:ext cx="280733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Instability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222568" y="869315"/>
            <a:ext cx="274320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371475" y="1094423"/>
            <a:ext cx="7500195" cy="135158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Decision Trees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output </a:t>
            </a:r>
            <a:r>
              <a:rPr lang="en-US" sz="1400" b="1" i="1" dirty="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orthogonal</a:t>
            </a:r>
            <a:r>
              <a:rPr lang="en-US" sz="1400" b="1" dirty="0">
                <a:solidFill>
                  <a:srgbClr val="376C8A"/>
                </a:solidFill>
                <a:latin typeface="Candara" panose="020E0502030303020204" charset="0"/>
                <a:cs typeface="Candara" panose="020E0502030303020204" charset="0"/>
              </a:rPr>
              <a:t> decision boundaries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(all splits are perpendicular to an axis)</a:t>
            </a:r>
          </a:p>
          <a:p>
            <a:pPr marL="742950" lvl="1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because of its nature of </a:t>
            </a:r>
            <a:r>
              <a:rPr lang="en-US" sz="1400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statements/rules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based on </a:t>
            </a:r>
            <a:r>
              <a:rPr lang="en-US" sz="1400" dirty="0">
                <a:solidFill>
                  <a:srgbClr val="358EF2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thresholds</a:t>
            </a:r>
            <a:endParaRPr lang="en-US" sz="1400" dirty="0">
              <a:solidFill>
                <a:srgbClr val="595959"/>
              </a:solidFill>
              <a:latin typeface="Candara" panose="020E0502030303020204" charset="0"/>
              <a:cs typeface="Candara" panose="020E0502030303020204" charset="0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Consequently, they are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sensitive to training set rotation.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Similarly,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a small change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in the </a:t>
            </a:r>
            <a:r>
              <a:rPr lang="en-US" sz="1400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training data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can cause </a:t>
            </a:r>
            <a:r>
              <a:rPr lang="en-US" sz="14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a large change</a:t>
            </a:r>
            <a:r>
              <a:rPr lang="en-US" sz="1400" dirty="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 in the </a:t>
            </a:r>
            <a:r>
              <a:rPr lang="en-US" sz="1400" b="1" dirty="0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  <a:sym typeface="+mn-ea"/>
              </a:rPr>
              <a:t>DT's structure</a:t>
            </a:r>
            <a:r>
              <a:rPr lang="en-US" sz="1400" b="1" dirty="0">
                <a:latin typeface="Candara" panose="020E0502030303020204" charset="0"/>
                <a:cs typeface="Candara" panose="020E0502030303020204" charset="0"/>
                <a:sym typeface="+mn-ea"/>
              </a:rPr>
              <a:t>.</a:t>
            </a:r>
            <a:endParaRPr lang="en-US" sz="1400" b="1" dirty="0">
              <a:solidFill>
                <a:schemeClr val="tx1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425" y="3029585"/>
            <a:ext cx="5645150" cy="248793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Text Box 31"/>
          <p:cNvSpPr txBox="1"/>
          <p:nvPr/>
        </p:nvSpPr>
        <p:spPr>
          <a:xfrm>
            <a:off x="371475" y="6368415"/>
            <a:ext cx="107759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Géron, Aurélien. </a:t>
            </a:r>
            <a:r>
              <a:rPr lang="en-US" sz="1000" b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Hands-on machine learning with Scikit-Learn, Keras, and TensorFlow: Concepts, tools, and techniques to build intelligent systems.</a:t>
            </a:r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O'Reilly Media, 2019.</a:t>
            </a:r>
          </a:p>
        </p:txBody>
      </p:sp>
      <p:grpSp>
        <p:nvGrpSpPr>
          <p:cNvPr id="8" name="Group 7"/>
          <p:cNvGrpSpPr/>
          <p:nvPr/>
        </p:nvGrpSpPr>
        <p:grpSpPr>
          <a:xfrm rot="21360000">
            <a:off x="8019334" y="1864868"/>
            <a:ext cx="3299170" cy="737235"/>
            <a:chOff x="6928" y="9058"/>
            <a:chExt cx="4965" cy="116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Text Box 7"/>
            <p:cNvSpPr txBox="1"/>
            <p:nvPr/>
          </p:nvSpPr>
          <p:spPr>
            <a:xfrm>
              <a:off x="6928" y="9058"/>
              <a:ext cx="4965" cy="11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lvl="1"/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Random Forests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can limit this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sym typeface="+mn-ea"/>
                </a:rPr>
                <a:t>instability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by averaging predictions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sym typeface="+mn-ea"/>
                </a:rPr>
                <a:t>over many trees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sym typeface="+mn-ea"/>
                </a:rPr>
                <a:t> (we'll see soon).</a:t>
              </a:r>
              <a:endParaRPr lang="en-US" sz="1400" b="1" dirty="0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  <a:sym typeface="+mn-ea"/>
              </a:endParaRPr>
            </a:p>
          </p:txBody>
        </p:sp>
        <p:pic>
          <p:nvPicPr>
            <p:cNvPr id="11" name="Picture 10" descr="pngwing.co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6" y="9395"/>
              <a:ext cx="591" cy="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144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3366453" y="274955"/>
            <a:ext cx="545909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Regression Trees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4130040" y="869315"/>
            <a:ext cx="393192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Text Box 31"/>
          <p:cNvSpPr txBox="1"/>
          <p:nvPr/>
        </p:nvSpPr>
        <p:spPr>
          <a:xfrm>
            <a:off x="371475" y="6368415"/>
            <a:ext cx="107759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Géron, Aurélien. </a:t>
            </a:r>
            <a:r>
              <a:rPr lang="en-US" sz="1000" b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Hands-on machine learning with Scikit-Learn, Keras, and TensorFlow: Concepts, tools, and techniques to build intelligent systems.</a:t>
            </a:r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O'Reilly Media, 2019.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255" y="1785303"/>
            <a:ext cx="6079490" cy="3287395"/>
          </a:xfrm>
          <a:prstGeom prst="rect">
            <a:avLst/>
          </a:prstGeom>
          <a:ln w="12700"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145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3366453" y="274955"/>
            <a:ext cx="545909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Regression Trees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4130040" y="869315"/>
            <a:ext cx="393192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Text Box 31"/>
          <p:cNvSpPr txBox="1"/>
          <p:nvPr/>
        </p:nvSpPr>
        <p:spPr>
          <a:xfrm>
            <a:off x="371475" y="6368415"/>
            <a:ext cx="107759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Géron, Aurélien. </a:t>
            </a:r>
            <a:r>
              <a:rPr lang="en-US" sz="1000" b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Hands-on machine learning with Scikit-Learn, Keras, and TensorFlow: Concepts, tools, and techniques to build intelligent systems.</a:t>
            </a:r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O'Reilly Media, 2019.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275" y="1993265"/>
            <a:ext cx="4540250" cy="2454910"/>
          </a:xfrm>
          <a:prstGeom prst="rect">
            <a:avLst/>
          </a:prstGeom>
          <a:ln w="12700">
            <a:solidFill>
              <a:srgbClr val="59595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 Box 2"/>
          <p:cNvSpPr txBox="1"/>
          <p:nvPr/>
        </p:nvSpPr>
        <p:spPr>
          <a:xfrm>
            <a:off x="371475" y="1094423"/>
            <a:ext cx="5920740" cy="106045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lvl="0" indent="0" algn="l">
              <a:lnSpc>
                <a:spcPct val="150000"/>
              </a:lnSpc>
              <a:buFont typeface="Arial" panose="02080604020202020204" pitchFamily="34" charset="0"/>
              <a:buNone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The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CART algorithm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works mostly the same way as earlier,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except 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that: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instead of trying to split the training set in a way that minimizes impurity,</a:t>
            </a:r>
          </a:p>
          <a:p>
            <a:pPr marL="285750" lvl="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it now tries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to split the training set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in a way </a:t>
            </a:r>
            <a:r>
              <a:rPr lang="en-US" sz="1400" b="1">
                <a:solidFill>
                  <a:schemeClr val="tx1"/>
                </a:solidFill>
                <a:latin typeface="Candara" panose="020E0502030303020204" charset="0"/>
                <a:cs typeface="Candara" panose="020E0502030303020204" charset="0"/>
              </a:rPr>
              <a:t>that minimizes the </a:t>
            </a:r>
            <a:r>
              <a:rPr lang="en-US" sz="1400" b="1">
                <a:solidFill>
                  <a:srgbClr val="FF564F"/>
                </a:solidFill>
                <a:latin typeface="Candara" panose="020E0502030303020204" charset="0"/>
                <a:cs typeface="Candara" panose="020E0502030303020204" charset="0"/>
              </a:rPr>
              <a:t>MSE</a:t>
            </a:r>
            <a:r>
              <a:rPr lang="en-US" sz="14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.</a:t>
            </a:r>
            <a:endParaRPr lang="en-US" sz="1400" b="1">
              <a:solidFill>
                <a:schemeClr val="tx1"/>
              </a:solidFill>
              <a:latin typeface="Candara" panose="020E0502030303020204" charset="0"/>
              <a:cs typeface="Candara" panose="020E050203030302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2486025"/>
            <a:ext cx="5720715" cy="146939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roup 60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62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71475" y="6919251"/>
            <a:ext cx="11449050" cy="486103"/>
            <a:chOff x="-6550695" y="2877427"/>
            <a:chExt cx="11458643" cy="486103"/>
          </a:xfrm>
        </p:grpSpPr>
        <p:sp>
          <p:nvSpPr>
            <p:cNvPr id="65" name="Rectangle 12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ctangle 15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latin typeface="Arvo" panose="02000000000000000000" pitchFamily="2" charset="77"/>
                <a:ea typeface="Lato" panose="020F0502020204030203" pitchFamily="34" charset="0"/>
                <a:cs typeface="Lato" panose="020F0502020204030203" pitchFamily="34" charset="0"/>
              </a:rPr>
              <a:t>146</a:t>
            </a:fld>
            <a:endParaRPr lang="en-US" dirty="0">
              <a:latin typeface="Arvo" panose="02000000000000000000" pitchFamily="2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Google Shape;208;p43"/>
          <p:cNvSpPr/>
          <p:nvPr/>
        </p:nvSpPr>
        <p:spPr>
          <a:xfrm>
            <a:off x="3366453" y="274955"/>
            <a:ext cx="545909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Regression Trees</a:t>
            </a:r>
          </a:p>
        </p:txBody>
      </p:sp>
      <p:cxnSp>
        <p:nvCxnSpPr>
          <p:cNvPr id="7" name="Google Shape;211;p43"/>
          <p:cNvCxnSpPr/>
          <p:nvPr/>
        </p:nvCxnSpPr>
        <p:spPr>
          <a:xfrm flipH="1">
            <a:off x="4130040" y="869315"/>
            <a:ext cx="393192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Text Box 31"/>
          <p:cNvSpPr txBox="1"/>
          <p:nvPr/>
        </p:nvSpPr>
        <p:spPr>
          <a:xfrm>
            <a:off x="371475" y="6368415"/>
            <a:ext cx="107759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Géron, Aurélien. </a:t>
            </a:r>
            <a:r>
              <a:rPr lang="en-US" sz="1000" b="1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Hands-on machine learning with Scikit-Learn, Keras, and TensorFlow: Concepts, tools, and techniques to build intelligent systems.</a:t>
            </a:r>
            <a:r>
              <a:rPr lang="en-US" sz="1000">
                <a:solidFill>
                  <a:srgbClr val="595959"/>
                </a:solidFill>
                <a:latin typeface="Candara" panose="020E0502030303020204" charset="0"/>
                <a:cs typeface="Candara" panose="020E0502030303020204" charset="0"/>
              </a:rPr>
              <a:t> O'Reilly Media, 2019.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553" y="1877695"/>
            <a:ext cx="7414895" cy="3102610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8670247" y="4976760"/>
            <a:ext cx="3139361" cy="737235"/>
            <a:chOff x="1186156" y="4185251"/>
            <a:chExt cx="3139361" cy="7372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Text Box 7"/>
            <p:cNvSpPr txBox="1"/>
            <p:nvPr/>
          </p:nvSpPr>
          <p:spPr>
            <a:xfrm rot="21435373">
              <a:off x="1186156" y="4185251"/>
              <a:ext cx="3139361" cy="7372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marL="457200" lvl="1"/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Decision Trees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are also prone to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overfitting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when dealing with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cs typeface="Candara" panose="020E0502030303020204" charset="0"/>
                </a:rPr>
                <a:t>regression tasks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.</a:t>
              </a:r>
            </a:p>
          </p:txBody>
        </p:sp>
        <p:pic>
          <p:nvPicPr>
            <p:cNvPr id="17" name="Picture 16" descr="warning-ic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240000">
              <a:off x="1243450" y="4380844"/>
              <a:ext cx="464820" cy="4648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147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/>
          <p:cNvSpPr/>
          <p:nvPr/>
        </p:nvSpPr>
        <p:spPr>
          <a:xfrm>
            <a:off x="371475" y="1608533"/>
            <a:ext cx="10604245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Easy to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understand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and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interpret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, perfect for visual representation (white box model).</a:t>
            </a:r>
          </a:p>
          <a:p>
            <a:pPr marL="285750" lvl="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Requires l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ittle data preprocessing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no need for one-hot encoding, dummy variables, and so on.</a:t>
            </a:r>
          </a:p>
          <a:p>
            <a:pPr marL="285750" lvl="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Non-parametric model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: no assumptions about the shape of data.</a:t>
            </a:r>
          </a:p>
          <a:p>
            <a:pPr marL="285750" lvl="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Feature selection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happens automatically:</a:t>
            </a: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unimportant features will not influence the result;</a:t>
            </a:r>
          </a:p>
          <a:p>
            <a:pPr marL="742950" lvl="1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the presence of features that depend on each other (multicollinearity) also does not affect the quality.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1475" y="1180211"/>
            <a:ext cx="10604245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2400" b="1" dirty="0">
                <a:solidFill>
                  <a:srgbClr val="0FC391"/>
                </a:solidFill>
                <a:latin typeface="Candara" panose="020E0502030303020204" charset="0"/>
              </a:rPr>
              <a:t>Pros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863865" y="-1608222"/>
            <a:ext cx="6096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/>
              <a:t>https://dhirajkumarblog.medium.com/top-5-advantages-and-disadvantages-of-decision-tree-algorithm-428ebd199d9a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4794" y="-257239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https://ethen8181.github.io/machine-learning/</a:t>
            </a:r>
            <a:r>
              <a:rPr lang="en-US" dirty="0" err="1"/>
              <a:t>text_classification</a:t>
            </a:r>
            <a:r>
              <a:rPr lang="en-US" dirty="0"/>
              <a:t>/</a:t>
            </a:r>
            <a:r>
              <a:rPr lang="en-US" dirty="0" err="1"/>
              <a:t>naive_bayes</a:t>
            </a:r>
            <a:r>
              <a:rPr lang="en-US" dirty="0"/>
              <a:t>/</a:t>
            </a:r>
            <a:r>
              <a:rPr lang="en-US" dirty="0" err="1"/>
              <a:t>naive_bayes.html</a:t>
            </a:r>
            <a:endParaRPr lang="en-US" dirty="0"/>
          </a:p>
        </p:txBody>
      </p:sp>
      <p:sp>
        <p:nvSpPr>
          <p:cNvPr id="2" name="Google Shape;208;p43"/>
          <p:cNvSpPr/>
          <p:nvPr/>
        </p:nvSpPr>
        <p:spPr>
          <a:xfrm>
            <a:off x="190500" y="274955"/>
            <a:ext cx="34010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Decision Trees</a:t>
            </a:r>
          </a:p>
        </p:txBody>
      </p:sp>
      <p:cxnSp>
        <p:nvCxnSpPr>
          <p:cNvPr id="8" name="Google Shape;211;p43"/>
          <p:cNvCxnSpPr/>
          <p:nvPr/>
        </p:nvCxnSpPr>
        <p:spPr>
          <a:xfrm flipH="1">
            <a:off x="222568" y="869315"/>
            <a:ext cx="338328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Text Box 8"/>
          <p:cNvSpPr txBox="1"/>
          <p:nvPr/>
        </p:nvSpPr>
        <p:spPr>
          <a:xfrm>
            <a:off x="10134600" y="-2438400"/>
            <a:ext cx="2540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https://www.oreilly.com/library/view/machine-learning-with/9781787121515/697c4c5f-1109-4058-8938-d01482389ce3.xhtml</a:t>
            </a:r>
          </a:p>
        </p:txBody>
      </p:sp>
    </p:spTree>
  </p:cSld>
  <p:clrMapOvr>
    <a:masterClrMapping/>
  </p:clrMapOvr>
  <p:transition/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67061" y="6356350"/>
            <a:ext cx="2743200" cy="365125"/>
          </a:xfrm>
        </p:spPr>
        <p:txBody>
          <a:bodyPr/>
          <a:lstStyle/>
          <a:p>
            <a:fld id="{F547A1EB-5142-CB48-AB43-FD63342FB24F}" type="slidenum">
              <a:rPr lang="en-US">
                <a:ea typeface="Lato" panose="020F0502020204030203" pitchFamily="34" charset="0"/>
                <a:cs typeface="Lato" panose="020F0502020204030203" pitchFamily="34" charset="0"/>
              </a:rPr>
              <a:t>148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3115" y="6782724"/>
            <a:ext cx="12194763" cy="75278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5"/>
          </a:p>
        </p:txBody>
      </p:sp>
      <p:grpSp>
        <p:nvGrpSpPr>
          <p:cNvPr id="3" name="Group 2"/>
          <p:cNvGrpSpPr/>
          <p:nvPr/>
        </p:nvGrpSpPr>
        <p:grpSpPr>
          <a:xfrm rot="16200000">
            <a:off x="-3521126" y="3185947"/>
            <a:ext cx="6121399" cy="486103"/>
            <a:chOff x="-6550695" y="2877427"/>
            <a:chExt cx="11458643" cy="486103"/>
          </a:xfrm>
        </p:grpSpPr>
        <p:sp>
          <p:nvSpPr>
            <p:cNvPr id="7" name="Rectangle 6"/>
            <p:cNvSpPr/>
            <p:nvPr/>
          </p:nvSpPr>
          <p:spPr>
            <a:xfrm>
              <a:off x="-6550695" y="2877428"/>
              <a:ext cx="5726113" cy="4861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818165" y="2877427"/>
              <a:ext cx="5726113" cy="486102"/>
            </a:xfrm>
            <a:prstGeom prst="rect">
              <a:avLst/>
            </a:prstGeom>
            <a:solidFill>
              <a:srgbClr val="FFD7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371475" y="6919252"/>
            <a:ext cx="5721319" cy="486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6099206" y="6919251"/>
            <a:ext cx="5721319" cy="486102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/>
          <p:cNvSpPr/>
          <p:nvPr/>
        </p:nvSpPr>
        <p:spPr>
          <a:xfrm>
            <a:off x="371475" y="1608533"/>
            <a:ext cx="10604245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A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small change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in the data can cause a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large change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in the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structure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of the decision tree causing </a:t>
            </a:r>
            <a:r>
              <a:rPr lang="en-US" sz="1600" b="1" dirty="0">
                <a:solidFill>
                  <a:srgbClr val="FF564F"/>
                </a:solidFill>
                <a:latin typeface="Candara" panose="020E0502030303020204" charset="0"/>
              </a:rPr>
              <a:t>instability;</a:t>
            </a:r>
            <a:endParaRPr lang="en-US" sz="1600" dirty="0">
              <a:solidFill>
                <a:srgbClr val="595959"/>
              </a:solidFill>
              <a:latin typeface="Candara" panose="020E0502030303020204" charset="0"/>
            </a:endParaRPr>
          </a:p>
          <a:p>
            <a:pPr marL="285750" lvl="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Sometimes calculation can go far more complex compared to other algorithms;</a:t>
            </a:r>
          </a:p>
          <a:p>
            <a:pPr marL="285750" lvl="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It often involves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higher time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to train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the model;</a:t>
            </a:r>
          </a:p>
          <a:p>
            <a:pPr marL="285750" lvl="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Decision Tree is </a:t>
            </a:r>
            <a:r>
              <a:rPr lang="en-US" sz="1600" b="1" i="1" dirty="0">
                <a:solidFill>
                  <a:schemeClr val="tx1"/>
                </a:solidFill>
                <a:latin typeface="Candara" panose="020E0502030303020204" charset="0"/>
              </a:rPr>
              <a:t>often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inadequate 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for applying </a:t>
            </a:r>
            <a:r>
              <a:rPr lang="en-US" sz="1600" b="1" dirty="0">
                <a:solidFill>
                  <a:schemeClr val="tx1"/>
                </a:solidFill>
                <a:latin typeface="Candara" panose="020E0502030303020204" charset="0"/>
              </a:rPr>
              <a:t>regression</a:t>
            </a:r>
            <a:r>
              <a:rPr lang="en-US" sz="1600" dirty="0">
                <a:solidFill>
                  <a:srgbClr val="595959"/>
                </a:solidFill>
                <a:latin typeface="Candara" panose="020E0502030303020204" charset="0"/>
              </a:rPr>
              <a:t> and predicting continuous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1475" y="1180856"/>
            <a:ext cx="10604245" cy="4603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2400" b="1" dirty="0">
                <a:solidFill>
                  <a:srgbClr val="FF5657"/>
                </a:solidFill>
                <a:latin typeface="Candara" panose="020E0502030303020204" charset="0"/>
                <a:sym typeface="+mn-ea"/>
              </a:rPr>
              <a:t>Cons</a:t>
            </a:r>
            <a:endParaRPr lang="en-US" sz="2400" b="1" dirty="0">
              <a:solidFill>
                <a:srgbClr val="0FC391"/>
              </a:solidFill>
              <a:latin typeface="Candara" panose="020E05020303030202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63865" y="-1608222"/>
            <a:ext cx="6096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/>
              <a:t>https://dhirajkumarblog.medium.com/top-5-advantages-and-disadvantages-of-decision-tree-algorithm-428ebd199d9a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4794" y="-257239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https://ethen8181.github.io/machine-learning/</a:t>
            </a:r>
            <a:r>
              <a:rPr lang="en-US" dirty="0" err="1"/>
              <a:t>text_classification</a:t>
            </a:r>
            <a:r>
              <a:rPr lang="en-US" dirty="0"/>
              <a:t>/</a:t>
            </a:r>
            <a:r>
              <a:rPr lang="en-US" dirty="0" err="1"/>
              <a:t>naive_bayes</a:t>
            </a:r>
            <a:r>
              <a:rPr lang="en-US" dirty="0"/>
              <a:t>/</a:t>
            </a:r>
            <a:r>
              <a:rPr lang="en-US" dirty="0" err="1"/>
              <a:t>naive_bayes.html</a:t>
            </a:r>
            <a:endParaRPr lang="en-US" dirty="0"/>
          </a:p>
        </p:txBody>
      </p:sp>
      <p:sp>
        <p:nvSpPr>
          <p:cNvPr id="2" name="Google Shape;208;p43"/>
          <p:cNvSpPr/>
          <p:nvPr/>
        </p:nvSpPr>
        <p:spPr>
          <a:xfrm>
            <a:off x="190500" y="274955"/>
            <a:ext cx="340106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/>
            <a:r>
              <a:rPr lang="en-US" sz="3200" b="1" strike="noStrike" dirty="0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Decision Trees</a:t>
            </a:r>
          </a:p>
        </p:txBody>
      </p:sp>
      <p:cxnSp>
        <p:nvCxnSpPr>
          <p:cNvPr id="8" name="Google Shape;211;p43"/>
          <p:cNvCxnSpPr/>
          <p:nvPr/>
        </p:nvCxnSpPr>
        <p:spPr>
          <a:xfrm flipH="1">
            <a:off x="222568" y="869315"/>
            <a:ext cx="3383280" cy="0"/>
          </a:xfrm>
          <a:prstGeom prst="straightConnector1">
            <a:avLst/>
          </a:prstGeom>
          <a:noFill/>
          <a:ln w="28575" cap="flat" cmpd="sng">
            <a:solidFill>
              <a:srgbClr val="FFC7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Text Box 8"/>
          <p:cNvSpPr txBox="1"/>
          <p:nvPr/>
        </p:nvSpPr>
        <p:spPr>
          <a:xfrm>
            <a:off x="10134600" y="-2438400"/>
            <a:ext cx="2540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https://www.oreilly.com/library/view/machine-learning-with/9781787121515/697c4c5f-1109-4058-8938-d01482389ce3.xhtml</a:t>
            </a:r>
          </a:p>
        </p:txBody>
      </p:sp>
    </p:spTree>
  </p:cSld>
  <p:clrMapOvr>
    <a:masterClrMapping/>
  </p:clrMapOvr>
  <p:transition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0"/>
          <p:cNvSpPr txBox="1"/>
          <p:nvPr/>
        </p:nvSpPr>
        <p:spPr>
          <a:xfrm>
            <a:off x="896724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4" name="Google Shape;174;p40"/>
          <p:cNvPicPr preferRelativeResize="0"/>
          <p:nvPr/>
        </p:nvPicPr>
        <p:blipFill rotWithShape="1">
          <a:blip r:embed="rId3"/>
          <a:srcRect l="6560" t="12703" r="7068" b="11590"/>
          <a:stretch>
            <a:fillRect/>
          </a:stretch>
        </p:blipFill>
        <p:spPr>
          <a:xfrm>
            <a:off x="10016640" y="5689440"/>
            <a:ext cx="1803600" cy="78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0"/>
          <p:cNvSpPr/>
          <p:nvPr/>
        </p:nvSpPr>
        <p:spPr>
          <a:xfrm>
            <a:off x="-3240" y="6782760"/>
            <a:ext cx="12194281" cy="748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0"/>
          <p:cNvSpPr/>
          <p:nvPr/>
        </p:nvSpPr>
        <p:spPr>
          <a:xfrm>
            <a:off x="11400480" y="6422400"/>
            <a:ext cx="306720" cy="222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0"/>
          <p:cNvSpPr/>
          <p:nvPr/>
        </p:nvSpPr>
        <p:spPr>
          <a:xfrm>
            <a:off x="556350" y="798120"/>
            <a:ext cx="11079300" cy="1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strike="noStrike">
                <a:solidFill>
                  <a:srgbClr val="FF5657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Inteligência Artificial</a:t>
            </a:r>
            <a:endParaRPr sz="3600" b="1" strike="noStrike" dirty="0">
              <a:solidFill>
                <a:srgbClr val="FF5657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sp>
        <p:nvSpPr>
          <p:cNvPr id="178" name="Google Shape;178;p40"/>
          <p:cNvSpPr/>
          <p:nvPr/>
        </p:nvSpPr>
        <p:spPr>
          <a:xfrm>
            <a:off x="556200" y="3118860"/>
            <a:ext cx="11079360" cy="6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 algn="ctr"/>
            <a:r>
              <a:rPr lang="en-US" sz="3600" dirty="0">
                <a:solidFill>
                  <a:srgbClr val="303030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Decision Trees</a:t>
            </a:r>
          </a:p>
        </p:txBody>
      </p:sp>
      <p:sp>
        <p:nvSpPr>
          <p:cNvPr id="179" name="Google Shape;179;p40"/>
          <p:cNvSpPr/>
          <p:nvPr/>
        </p:nvSpPr>
        <p:spPr>
          <a:xfrm>
            <a:off x="3580350" y="5459400"/>
            <a:ext cx="5031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0000" bIns="45700" anchor="t" anchorCtr="0">
            <a:noAutofit/>
          </a:bodyPr>
          <a:lstStyle/>
          <a:p>
            <a:pPr lvl="0" algn="ctr"/>
            <a:r>
              <a:rPr lang="en-US" sz="2400" dirty="0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Prof. Dr. Samuel Martins (</a:t>
            </a:r>
            <a:r>
              <a:rPr lang="en-US" sz="2400" dirty="0" err="1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Samuka</a:t>
            </a:r>
            <a:r>
              <a:rPr lang="en-US" sz="2400" dirty="0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)</a:t>
            </a:r>
            <a:endParaRPr lang="en-US" sz="2400" dirty="0">
              <a:latin typeface="Candara" panose="020E0502030303020204" charset="0"/>
              <a:ea typeface="Mulish"/>
              <a:cs typeface="Candara" panose="020E0502030303020204" charset="0"/>
              <a:sym typeface="Mulish"/>
            </a:endParaRPr>
          </a:p>
          <a:p>
            <a:pPr lvl="0" algn="ctr"/>
            <a:r>
              <a:rPr lang="en-US" sz="1600" i="1" dirty="0" err="1">
                <a:solidFill>
                  <a:srgbClr val="333333"/>
                </a:solidFill>
                <a:latin typeface="Candara" panose="020E0502030303020204" charset="0"/>
                <a:ea typeface="Mulish"/>
                <a:cs typeface="Candara" panose="020E0502030303020204" charset="0"/>
                <a:sym typeface="Mulish"/>
              </a:rPr>
              <a:t>samuel.martins@ifsp.edu.br</a:t>
            </a:r>
            <a:endParaRPr lang="en-US" sz="1600" dirty="0">
              <a:latin typeface="Candara" panose="020E0502030303020204" charset="0"/>
              <a:ea typeface="Mulish"/>
              <a:cs typeface="Candara" panose="020E0502030303020204" charset="0"/>
              <a:sym typeface="Mulish"/>
            </a:endParaRPr>
          </a:p>
        </p:txBody>
      </p:sp>
      <p:pic>
        <p:nvPicPr>
          <p:cNvPr id="180" name="Google Shape;180;p4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71520" y="6034680"/>
            <a:ext cx="1306080" cy="45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0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424160" y="592560"/>
            <a:ext cx="1053360" cy="10533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/>
          <p:cNvGrpSpPr/>
          <p:nvPr/>
        </p:nvGrpSpPr>
        <p:grpSpPr>
          <a:xfrm rot="21240000">
            <a:off x="12672443" y="5265280"/>
            <a:ext cx="3928745" cy="953135"/>
            <a:chOff x="6928" y="8961"/>
            <a:chExt cx="6187" cy="15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Text Box 7"/>
            <p:cNvSpPr txBox="1"/>
            <p:nvPr/>
          </p:nvSpPr>
          <p:spPr>
            <a:xfrm>
              <a:off x="6928" y="8961"/>
              <a:ext cx="6187" cy="15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t">
              <a:spAutoFit/>
            </a:bodyPr>
            <a:lstStyle/>
            <a:p>
              <a:pPr marL="457200"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It may be a good idea to treat the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cs typeface="Candara" panose="020E0502030303020204" charset="0"/>
                </a:rPr>
                <a:t>degree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for the polynomial features transform as a </a:t>
              </a:r>
              <a:r>
                <a:rPr lang="en-US" sz="1400" b="1" dirty="0">
                  <a:solidFill>
                    <a:srgbClr val="376C8A"/>
                  </a:solidFill>
                  <a:latin typeface="Candara" panose="020E0502030303020204" charset="0"/>
                  <a:cs typeface="Candara" panose="020E0502030303020204" charset="0"/>
                </a:rPr>
                <a:t>hyperparameter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and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evaluate different values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for your dataset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  <a:sym typeface="Wingdings" panose="05000000000000000000" pitchFamily="2" charset="2"/>
                </a:rPr>
                <a:t> </a:t>
              </a:r>
              <a:r>
                <a:rPr lang="en-US" sz="1400" b="1" dirty="0">
                  <a:solidFill>
                    <a:srgbClr val="376C8A"/>
                  </a:solidFill>
                  <a:latin typeface="Candara" panose="020E0502030303020204" charset="0"/>
                  <a:cs typeface="Candara" panose="020E0502030303020204" charset="0"/>
                  <a:sym typeface="Wingdings" panose="05000000000000000000" pitchFamily="2" charset="2"/>
                </a:rPr>
                <a:t>fine-tuning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  <a:sym typeface="Wingdings" panose="05000000000000000000" pitchFamily="2" charset="2"/>
                </a:rPr>
                <a:t>.</a:t>
              </a:r>
            </a:p>
          </p:txBody>
        </p:sp>
        <p:pic>
          <p:nvPicPr>
            <p:cNvPr id="14" name="Picture 13" descr="pngwing.com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93" y="9405"/>
              <a:ext cx="591" cy="591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/>
        </p:nvGrpSpPr>
        <p:grpSpPr>
          <a:xfrm>
            <a:off x="12498027" y="4275718"/>
            <a:ext cx="3139361" cy="737235"/>
            <a:chOff x="1186156" y="4185249"/>
            <a:chExt cx="3139361" cy="7372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Text Box 7"/>
            <p:cNvSpPr txBox="1"/>
            <p:nvPr/>
          </p:nvSpPr>
          <p:spPr>
            <a:xfrm rot="21435373">
              <a:off x="1186156" y="4185249"/>
              <a:ext cx="3139361" cy="7372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595959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marL="457200" lvl="1"/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You may even try to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cs typeface="Candara" panose="020E0502030303020204" charset="0"/>
                </a:rPr>
                <a:t>fit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 </a:t>
              </a:r>
              <a:r>
                <a:rPr lang="en-US" sz="1400" b="1" dirty="0">
                  <a:solidFill>
                    <a:schemeClr val="tx1"/>
                  </a:solidFill>
                  <a:latin typeface="Candara" panose="020E0502030303020204" charset="0"/>
                  <a:cs typeface="Candara" panose="020E0502030303020204" charset="0"/>
                </a:rPr>
                <a:t>different lines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but the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prediction error 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tends to be </a:t>
              </a:r>
              <a:r>
                <a:rPr lang="en-US" sz="1400" b="1" dirty="0">
                  <a:solidFill>
                    <a:srgbClr val="FF564F"/>
                  </a:solidFill>
                  <a:latin typeface="Candara" panose="020E0502030303020204" charset="0"/>
                  <a:cs typeface="Candara" panose="020E0502030303020204" charset="0"/>
                </a:rPr>
                <a:t>high</a:t>
              </a:r>
              <a:r>
                <a:rPr lang="en-US" sz="1400" dirty="0">
                  <a:solidFill>
                    <a:srgbClr val="595959"/>
                  </a:solidFill>
                  <a:latin typeface="Candara" panose="020E0502030303020204" charset="0"/>
                  <a:cs typeface="Candara" panose="020E0502030303020204" charset="0"/>
                </a:rPr>
                <a:t>.</a:t>
              </a:r>
            </a:p>
          </p:txBody>
        </p:sp>
        <p:pic>
          <p:nvPicPr>
            <p:cNvPr id="17" name="Picture 16" descr="warning-icon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240000">
              <a:off x="1243450" y="4380844"/>
              <a:ext cx="464820" cy="4648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11429</Words>
  <Application>Microsoft Office PowerPoint</Application>
  <PresentationFormat>Widescreen</PresentationFormat>
  <Paragraphs>4388</Paragraphs>
  <Slides>149</Slides>
  <Notes>5</Notes>
  <HiddenSlides>15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149</vt:i4>
      </vt:variant>
    </vt:vector>
  </HeadingPairs>
  <TitlesOfParts>
    <vt:vector size="160" baseType="lpstr">
      <vt:lpstr>宋体</vt:lpstr>
      <vt:lpstr>Arial</vt:lpstr>
      <vt:lpstr>Arial Black</vt:lpstr>
      <vt:lpstr>Arvo</vt:lpstr>
      <vt:lpstr>Calibri</vt:lpstr>
      <vt:lpstr>Cambria Math</vt:lpstr>
      <vt:lpstr>Candara</vt:lpstr>
      <vt:lpstr>DejaVu Math TeX Gyre</vt:lpstr>
      <vt:lpstr>Lato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Everton Silva</dc:creator>
  <cp:lastModifiedBy>Everton Josue Meyer da Silva</cp:lastModifiedBy>
  <cp:revision>415</cp:revision>
  <cp:lastPrinted>2022-10-27T17:32:21Z</cp:lastPrinted>
  <dcterms:created xsi:type="dcterms:W3CDTF">2021-11-18T21:57:15Z</dcterms:created>
  <dcterms:modified xsi:type="dcterms:W3CDTF">2025-10-07T17:22:38Z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1033-11.1.0.10702</vt:lpwstr>
  </property>
</Properties>
</file>