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6ED3F-D19A-4E12-9A1C-74B406A5005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Olá pessoal. Nesta aula vamos entender por que uma única divisão entre treino e teste nem sempre é suficiente para avaliar um modelo. A ideia central é simples: em vez de confiar em uma única separação dos dados, vamos repetir o processo várias vezes e obter uma estimativa mais estável do desempenho.</a:t>
            </a:r>
          </a:p>
        </p:txBody>
      </p:sp>
      <p:sp>
        <p:nvSpPr>
          <p:cNvPr id="3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44DB07-12F3-4686-A432-1423458074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aula está organizada em três partes. Primeiro, vamos discutir a limitação do treino e teste tradicional. Depois, vamos construir a ideia de K-Fold Cross Validation. Por fim, vamos ver como essa técnica ajuda a comparar modelos de forma mais justa.</a:t>
            </a:r>
          </a:p>
        </p:txBody>
      </p:sp>
      <p:sp>
        <p:nvSpPr>
          <p:cNvPr id="3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8E57D6-8CAE-47AD-82DD-2090D1D654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Começamos pelo problema. Quando fazemos apenas uma divisão entre treino e teste, o resultado pode depender muito da sorte da divisão. Se o conjunto de teste ficou fácil demais ou difícil demais, a métrica não representa bem o que acontecerá com dados futuros.</a:t>
            </a:r>
          </a:p>
        </p:txBody>
      </p:sp>
      <p:sp>
        <p:nvSpPr>
          <p:cNvPr id="3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672362-BAB2-47A4-AA7B-A3BB919367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Aqui temos a mesma base de dados sendo separada de maneiras diferentes. O modelo pode parecer melhor ou pior dependendo de quais pontos ficaram no teste. A validação cruzada tenta reduzir essa dependência da sorte.</a:t>
            </a:r>
          </a:p>
        </p:txBody>
      </p:sp>
      <p:sp>
        <p:nvSpPr>
          <p:cNvPr id="3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DA00B0-CFDF-4EF5-BF75-D0E2B2C0B9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Dois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termos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importantes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aqui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Overfitting é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quando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modelo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ajusta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demais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treino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Data leakage é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quando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alguma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informação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do teste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acaba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influenciando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treino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direta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ou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indiretamente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Em ambos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casos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métrica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fica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mais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bonita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do que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deveria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3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AFD8F5-CC40-4335-91ED-8161017430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entramos na ideia central. Em K-Fold, os dados são divididos em K partes. A cada iteração, uma parte é usada como teste e as demais como treino. No final, calculamos a média das métricas.</a:t>
            </a:r>
          </a:p>
        </p:txBody>
      </p:sp>
      <p:sp>
        <p:nvSpPr>
          <p:cNvPr id="3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ED4E07-4453-4875-B866-0C9ED4823D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intuição é esta: em vez de escolher um único teste, todos os blocos terão a chance de ser teste. Isso usa melhor os dados disponíveis e fornece uma avaliação menos dependente de uma única divisão.</a:t>
            </a:r>
          </a:p>
        </p:txBody>
      </p:sp>
      <p:sp>
        <p:nvSpPr>
          <p:cNvPr id="3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386CE8-8D6F-41AD-93FA-9DDD33D240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 3-Fold Cross Validation, fazemos três rodadas. Na primeira, o fold 1 é teste e os folds 2 e 3 são treino. Na segunda, o fold 2 é teste. Na terceira, o fold 3 é teste. O resultado final é a média dessas três avaliações.</a:t>
            </a:r>
          </a:p>
        </p:txBody>
      </p:sp>
      <p:sp>
        <p:nvSpPr>
          <p:cNvPr id="3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4AFEFD-CB6D-4DA7-90EE-BBBE18BF8F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Ao final, temos uma lista de erros ou métricas. Podemos calcular média e desvio padrão. A média resume o desempenho esperado. O desvio padrão indica o quanto esse desempenho variou entre as divisões.</a:t>
            </a:r>
          </a:p>
        </p:txBody>
      </p:sp>
      <p:sp>
        <p:nvSpPr>
          <p:cNvPr id="3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21CFC0-F76B-47AB-BF34-34510D7EA6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terceira parte, vamos usar validação cruzada como ferramenta de comparação. A ideia é aplicar o mesmo procedimento para todos os modelos e comparar as médias das métricas.</a:t>
            </a:r>
          </a:p>
        </p:txBody>
      </p:sp>
      <p:sp>
        <p:nvSpPr>
          <p:cNvPr id="3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F94EF6-12B8-4474-82A7-00B9CFE966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10-Fold é uma escolha comum quando temos uma quantidade razoável de dados. Em classificação, especialmente com classes desbalanceadas, usamos StratifiedKFold para manter a proporção das classes. Quando há grupos, como dados de um mesmo paciente ou usuário, precisamos cuidar para não misturar grupos entre treino e teste.</a:t>
            </a:r>
          </a:p>
        </p:txBody>
      </p:sp>
      <p:sp>
        <p:nvSpPr>
          <p:cNvPr id="3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C060F7-B79E-4D5E-B41E-BE34BBE421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Leave-One-Out é uma forma extrema de validação cruzada. Se a base tem n linhas, fazemos n treinamentos. Em cada treinamento, uma linha fica para teste. É útil para bases pequenas, mas pode ser computacionalmente caro.</a:t>
            </a:r>
          </a:p>
        </p:txBody>
      </p:sp>
      <p:sp>
        <p:nvSpPr>
          <p:cNvPr id="3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58B644-36C1-4EBC-935B-19152A246F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comparação entre modelos, o ideal é não decidir com base em uma única divisão. A validação cruzada permite comparar médias e também observar a variação. Um modelo com média um pouco maior, mas variação muito grande, pode ser menos confiável do que parece.</a:t>
            </a:r>
          </a:p>
        </p:txBody>
      </p:sp>
      <p:sp>
        <p:nvSpPr>
          <p:cNvPr id="3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641C49-37BE-4447-B345-3460BE34E0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código, cross_val_score automatiza o processo. Ele treina e avalia o modelo várias vezes, de acordo com o valor de cv, e retorna uma pontuação por fold. A média e o desvio padrão ajudam a resumir o desempenho.</a:t>
            </a:r>
          </a:p>
        </p:txBody>
      </p:sp>
      <p:sp>
        <p:nvSpPr>
          <p:cNvPr id="4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7E89D0-15FE-4D80-818F-B25E5BD2A1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Recapitulando: a validação cruzada existe porque uma única divisão pode ser frágil. A técnica faz cada parte da base ser teste uma vez. E o resultado ajuda a comparar modelos de forma mais confiável.</a:t>
            </a:r>
          </a:p>
        </p:txBody>
      </p:sp>
      <p:sp>
        <p:nvSpPr>
          <p:cNvPr id="4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38396F-EC77-442A-ABBC-2CCB85EE12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próxima aula, vamos transformar essa ideia em prática. A proposta é comparar modelos usando cross_val_score, KFold e StratifiedKFold, observando as métricas médias e a variação entre os folds.</a:t>
            </a:r>
          </a:p>
        </p:txBody>
      </p:sp>
      <p:sp>
        <p:nvSpPr>
          <p:cNvPr id="4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5FC657-161C-463D-8B14-2FBE7878BC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Fechamos a aula. A principal mensagem é que avaliar bem é tão importante quanto treinar bem. Sem uma estimativa confiável de desempenho, não sabemos se o modelo está realmente aprendendo ou apenas parecendo bom em uma divisão específica.</a:t>
            </a:r>
          </a:p>
        </p:txBody>
      </p:sp>
      <p:sp>
        <p:nvSpPr>
          <p:cNvPr id="4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47E3F-8BBD-48EF-90C5-AA53796CEF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08 </a:t>
            </a: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— AVALIAÇÃO DE MODELOS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01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217620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INTRODUÇÃO AO APRENDIZADO DE MÁQUINA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77240" y="2560320"/>
            <a:ext cx="658332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4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Validação</a:t>
            </a:r>
            <a:endParaRPr lang="pt-BR" sz="4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4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Cruzada</a:t>
            </a:r>
            <a:endParaRPr lang="pt-BR" sz="4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4005000"/>
            <a:ext cx="6766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i="1" u="none" strike="noStrike" noProof="0" dirty="0">
                <a:solidFill>
                  <a:srgbClr val="73777D"/>
                </a:solidFill>
                <a:effectLst/>
                <a:uFillTx/>
                <a:latin typeface="Georgia"/>
                <a:ea typeface="Georgia"/>
              </a:rPr>
              <a:t>Como avaliar modelos de forma mais confiável.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9966960" y="2541960"/>
            <a:ext cx="1416960" cy="1416960"/>
          </a:xfrm>
          <a:prstGeom prst="ellipse">
            <a:avLst/>
          </a:prstGeom>
          <a:noFill/>
          <a:ln w="12700">
            <a:solidFill>
              <a:srgbClr val="1B777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131480" y="2907720"/>
            <a:ext cx="10785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IFSP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· · ·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AULA 06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Instituto Federal de São Paulo — Campus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v. 2026.1 · 30 min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ROTEIRO DA AULA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02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HOJE, EM TRÊS PARTES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777240" y="157284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4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Três perguntas para avaliar melhor.</a:t>
            </a:r>
            <a:endParaRPr lang="pt-BR" sz="3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777240" y="2788920"/>
            <a:ext cx="10652760" cy="360"/>
          </a:xfrm>
          <a:prstGeom prst="line">
            <a:avLst/>
          </a:prstGeom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777240" y="3611880"/>
            <a:ext cx="10652760" cy="360"/>
          </a:xfrm>
          <a:prstGeom prst="line">
            <a:avLst/>
          </a:prstGeom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777240" y="4434840"/>
            <a:ext cx="10652760" cy="360"/>
          </a:xfrm>
          <a:prstGeom prst="line">
            <a:avLst/>
          </a:prstGeom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777240" y="5257800"/>
            <a:ext cx="10652760" cy="360"/>
          </a:xfrm>
          <a:prstGeom prst="line">
            <a:avLst/>
          </a:prstGeom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777240" y="3035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1874520" y="294444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Por que treino/teste não basta?</a:t>
            </a:r>
            <a:endParaRPr lang="pt-BR" sz="2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10835640" y="303588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~10 min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777240" y="3858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1874520" y="376740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Como funciona o K-</a:t>
            </a:r>
            <a:r>
              <a:rPr lang="pt-BR" sz="23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Fold</a:t>
            </a:r>
            <a:r>
              <a:rPr lang="pt-BR" sz="2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?</a:t>
            </a:r>
            <a:endParaRPr lang="pt-BR" sz="2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10835640" y="385884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~10 min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777240" y="46818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1874520" y="459036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Como comparar modelos com CV?</a:t>
            </a:r>
            <a:endParaRPr lang="pt-BR" sz="2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10835640" y="468180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~10 min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01 DE 03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03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777240" y="1417320"/>
            <a:ext cx="438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1325880" y="14446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UM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77240" y="1874520"/>
            <a:ext cx="84121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Por que treino/teste não basta?</a:t>
            </a:r>
            <a:endParaRPr lang="pt-BR" sz="3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777240" y="304488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i="1" u="none" strike="noStrike" noProof="0" dirty="0">
                <a:solidFill>
                  <a:srgbClr val="73777D"/>
                </a:solidFill>
                <a:effectLst/>
                <a:uFillTx/>
                <a:latin typeface="Georgia"/>
                <a:ea typeface="Georgia"/>
              </a:rPr>
              <a:t>A avaliação de um modelo depende dos dados que usamos para testar. Uma única divisão pode enganar.</a:t>
            </a:r>
            <a:endParaRPr lang="pt-BR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777240" y="3858840"/>
            <a:ext cx="5028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 err="1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Holdout</a:t>
            </a:r>
            <a:r>
              <a:rPr lang="pt-BR" sz="14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 · Generalização · Vazamento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01 · HOLDOUT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04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O PROBLEMA DA DIVISÃO ÚNICA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777240" y="17373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1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Uma única separação pode mudar a conclusão.</a:t>
            </a:r>
            <a:endParaRPr lang="pt-BR" sz="3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 flipV="1">
            <a:off x="1097280" y="3108960"/>
            <a:ext cx="1097280" cy="822960"/>
          </a:xfrm>
          <a:prstGeom prst="line">
            <a:avLst/>
          </a:prstGeom>
          <a:ln w="2540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1005840" y="4069080"/>
            <a:ext cx="1417320" cy="36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1005840" y="3063240"/>
            <a:ext cx="360" cy="100584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1143000" y="370332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1325880" y="353880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1508760" y="347472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1664280" y="32918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1810440" y="341064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1417320" y="32277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 flipV="1">
            <a:off x="3840480" y="3108960"/>
            <a:ext cx="1097280" cy="822960"/>
          </a:xfrm>
          <a:prstGeom prst="line">
            <a:avLst/>
          </a:prstGeom>
          <a:ln w="2540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3749040" y="4069080"/>
            <a:ext cx="1417320" cy="36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6"/>
          <p:cNvSpPr/>
          <p:nvPr/>
        </p:nvSpPr>
        <p:spPr>
          <a:xfrm>
            <a:off x="3749040" y="3063240"/>
            <a:ext cx="360" cy="100584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7"/>
          <p:cNvSpPr/>
          <p:nvPr/>
        </p:nvSpPr>
        <p:spPr>
          <a:xfrm>
            <a:off x="3886200" y="370332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4069080" y="353880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9"/>
          <p:cNvSpPr/>
          <p:nvPr/>
        </p:nvSpPr>
        <p:spPr>
          <a:xfrm>
            <a:off x="4251960" y="347472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0"/>
          <p:cNvSpPr/>
          <p:nvPr/>
        </p:nvSpPr>
        <p:spPr>
          <a:xfrm>
            <a:off x="4407480" y="32918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1"/>
          <p:cNvSpPr/>
          <p:nvPr/>
        </p:nvSpPr>
        <p:spPr>
          <a:xfrm>
            <a:off x="4553640" y="34106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2"/>
          <p:cNvSpPr/>
          <p:nvPr/>
        </p:nvSpPr>
        <p:spPr>
          <a:xfrm>
            <a:off x="4160520" y="322776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3"/>
          <p:cNvSpPr/>
          <p:nvPr/>
        </p:nvSpPr>
        <p:spPr>
          <a:xfrm flipV="1">
            <a:off x="6583680" y="3108960"/>
            <a:ext cx="1097280" cy="822960"/>
          </a:xfrm>
          <a:prstGeom prst="line">
            <a:avLst/>
          </a:prstGeom>
          <a:ln w="2540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4"/>
          <p:cNvSpPr/>
          <p:nvPr/>
        </p:nvSpPr>
        <p:spPr>
          <a:xfrm>
            <a:off x="6492240" y="4069080"/>
            <a:ext cx="1417320" cy="36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5"/>
          <p:cNvSpPr/>
          <p:nvPr/>
        </p:nvSpPr>
        <p:spPr>
          <a:xfrm>
            <a:off x="6492240" y="3063240"/>
            <a:ext cx="360" cy="100584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6"/>
          <p:cNvSpPr/>
          <p:nvPr/>
        </p:nvSpPr>
        <p:spPr>
          <a:xfrm>
            <a:off x="6629400" y="370332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7"/>
          <p:cNvSpPr/>
          <p:nvPr/>
        </p:nvSpPr>
        <p:spPr>
          <a:xfrm>
            <a:off x="6812280" y="353880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8"/>
          <p:cNvSpPr/>
          <p:nvPr/>
        </p:nvSpPr>
        <p:spPr>
          <a:xfrm>
            <a:off x="6995160" y="347472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9"/>
          <p:cNvSpPr/>
          <p:nvPr/>
        </p:nvSpPr>
        <p:spPr>
          <a:xfrm>
            <a:off x="7150680" y="329184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0"/>
          <p:cNvSpPr/>
          <p:nvPr/>
        </p:nvSpPr>
        <p:spPr>
          <a:xfrm>
            <a:off x="7296840" y="34106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1"/>
          <p:cNvSpPr/>
          <p:nvPr/>
        </p:nvSpPr>
        <p:spPr>
          <a:xfrm>
            <a:off x="6903720" y="32277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2"/>
          <p:cNvSpPr/>
          <p:nvPr/>
        </p:nvSpPr>
        <p:spPr>
          <a:xfrm>
            <a:off x="1234440" y="26974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Divisão 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3"/>
          <p:cNvSpPr/>
          <p:nvPr/>
        </p:nvSpPr>
        <p:spPr>
          <a:xfrm>
            <a:off x="3977640" y="26974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Divisão B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4"/>
          <p:cNvSpPr/>
          <p:nvPr/>
        </p:nvSpPr>
        <p:spPr>
          <a:xfrm>
            <a:off x="6720840" y="26974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Divisão C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5"/>
          <p:cNvSpPr/>
          <p:nvPr/>
        </p:nvSpPr>
        <p:spPr>
          <a:xfrm>
            <a:off x="8869680" y="2761560"/>
            <a:ext cx="2323440" cy="2336854"/>
          </a:xfrm>
          <a:prstGeom prst="roundRect">
            <a:avLst>
              <a:gd name="adj" fmla="val 5517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6"/>
          <p:cNvSpPr/>
          <p:nvPr/>
        </p:nvSpPr>
        <p:spPr>
          <a:xfrm>
            <a:off x="9070920" y="29628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IDEIA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7"/>
          <p:cNvSpPr/>
          <p:nvPr/>
        </p:nvSpPr>
        <p:spPr>
          <a:xfrm>
            <a:off x="9070920" y="3264480"/>
            <a:ext cx="1928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A métrica oscila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8"/>
          <p:cNvSpPr/>
          <p:nvPr/>
        </p:nvSpPr>
        <p:spPr>
          <a:xfrm>
            <a:off x="9070920" y="3630239"/>
            <a:ext cx="1978080" cy="12299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O desempenho medido pode variar apenas porque os pontos de teste mudaram.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9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0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01 · RISCO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05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DOIS ERROS COMUNS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777240" y="1737360"/>
            <a:ext cx="8686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Avaliar mal leva a confiança falsa.</a:t>
            </a:r>
            <a:endParaRPr lang="pt-BR" sz="3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777240" y="2743200"/>
            <a:ext cx="3230881" cy="2331720"/>
          </a:xfrm>
          <a:prstGeom prst="roundRect">
            <a:avLst>
              <a:gd name="adj" fmla="val 4571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97848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C85A4A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97848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Overfitting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978480" y="3611879"/>
            <a:ext cx="2843280" cy="12682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O modelo aprende detalhes do treino e parece ótimo nos dados conhecidos, mas falha em dados novos.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4480560" y="2743199"/>
            <a:ext cx="3245760" cy="2331719"/>
          </a:xfrm>
          <a:prstGeom prst="roundRect">
            <a:avLst>
              <a:gd name="adj" fmla="val 4571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468180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468180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Data </a:t>
            </a:r>
            <a:r>
              <a:rPr lang="pt-BR" sz="18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leakage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4681800" y="3611880"/>
            <a:ext cx="2843280" cy="12682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Informação do teste escapa para o treino. A métrica fica artificialmente otimista.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3"/>
          <p:cNvSpPr/>
          <p:nvPr/>
        </p:nvSpPr>
        <p:spPr>
          <a:xfrm>
            <a:off x="8183880" y="2743200"/>
            <a:ext cx="3245760" cy="2331718"/>
          </a:xfrm>
          <a:prstGeom prst="roundRect">
            <a:avLst>
              <a:gd name="adj" fmla="val 4571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838512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838512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Generalização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8385120" y="3611880"/>
            <a:ext cx="2843280" cy="12682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O objetivo não é decorar a base. É estimar desempenho em observações futuras.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02 DE 03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06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777240" y="1417320"/>
            <a:ext cx="438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1325880" y="14446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DOIS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777240" y="1874520"/>
            <a:ext cx="84121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Como funciona o K-</a:t>
            </a:r>
            <a:r>
              <a:rPr lang="pt-BR" sz="33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Fold</a:t>
            </a:r>
            <a:r>
              <a:rPr lang="pt-BR" sz="3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 Cross </a:t>
            </a:r>
            <a:r>
              <a:rPr lang="pt-BR" sz="33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Validation</a:t>
            </a:r>
            <a:r>
              <a:rPr lang="pt-BR" sz="3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?</a:t>
            </a:r>
            <a:endParaRPr lang="pt-BR" sz="3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777240" y="304488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i="1" u="none" strike="noStrike" noProof="0" dirty="0">
                <a:solidFill>
                  <a:srgbClr val="73777D"/>
                </a:solidFill>
                <a:effectLst/>
                <a:uFillTx/>
                <a:latin typeface="Georgia"/>
                <a:ea typeface="Georgia"/>
              </a:rPr>
              <a:t>Dividimos os dados em partes, treinamos várias vezes e deixamos cada parte ser teste uma vez.</a:t>
            </a:r>
            <a:endParaRPr lang="pt-BR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777240" y="3858840"/>
            <a:ext cx="5028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 err="1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Folds</a:t>
            </a:r>
            <a:r>
              <a:rPr lang="pt-BR" sz="14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 · Iterações · Erro médio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02 · CONCEITO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07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A IDEIA CENTRAL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777240" y="17373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Cada parte dos dados vira teste uma vez.</a:t>
            </a:r>
            <a:endParaRPr lang="pt-BR" sz="3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1097280" y="2743200"/>
            <a:ext cx="310680" cy="310680"/>
          </a:xfrm>
          <a:prstGeom prst="rect">
            <a:avLst/>
          </a:prstGeom>
          <a:solidFill>
            <a:srgbClr val="2D89C8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6"/>
          <p:cNvSpPr/>
          <p:nvPr/>
        </p:nvSpPr>
        <p:spPr>
          <a:xfrm>
            <a:off x="1097280" y="309996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1097280" y="345636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1097280" y="381312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1097280" y="416952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804600" y="464508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 err="1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fold</a:t>
            </a:r>
            <a:r>
              <a:rPr lang="pt-BR" sz="14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 1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2103120" y="274320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2"/>
          <p:cNvSpPr/>
          <p:nvPr/>
        </p:nvSpPr>
        <p:spPr>
          <a:xfrm>
            <a:off x="2103120" y="3099960"/>
            <a:ext cx="310680" cy="310680"/>
          </a:xfrm>
          <a:prstGeom prst="rect">
            <a:avLst/>
          </a:prstGeom>
          <a:solidFill>
            <a:srgbClr val="2D89C8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3"/>
          <p:cNvSpPr/>
          <p:nvPr/>
        </p:nvSpPr>
        <p:spPr>
          <a:xfrm>
            <a:off x="2103120" y="345636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4"/>
          <p:cNvSpPr/>
          <p:nvPr/>
        </p:nvSpPr>
        <p:spPr>
          <a:xfrm>
            <a:off x="2103120" y="381312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2103120" y="416952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1810440" y="464508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 err="1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fold</a:t>
            </a:r>
            <a:r>
              <a:rPr lang="pt-BR" sz="14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 2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7"/>
          <p:cNvSpPr/>
          <p:nvPr/>
        </p:nvSpPr>
        <p:spPr>
          <a:xfrm>
            <a:off x="3108960" y="274320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3108960" y="309996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9"/>
          <p:cNvSpPr/>
          <p:nvPr/>
        </p:nvSpPr>
        <p:spPr>
          <a:xfrm>
            <a:off x="3108960" y="3456360"/>
            <a:ext cx="310680" cy="310680"/>
          </a:xfrm>
          <a:prstGeom prst="rect">
            <a:avLst/>
          </a:prstGeom>
          <a:solidFill>
            <a:srgbClr val="2D89C8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0"/>
          <p:cNvSpPr/>
          <p:nvPr/>
        </p:nvSpPr>
        <p:spPr>
          <a:xfrm>
            <a:off x="3108960" y="381312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1"/>
          <p:cNvSpPr/>
          <p:nvPr/>
        </p:nvSpPr>
        <p:spPr>
          <a:xfrm>
            <a:off x="3108960" y="416952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2816280" y="464508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 err="1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fold</a:t>
            </a:r>
            <a:r>
              <a:rPr lang="pt-BR" sz="14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 3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4114800" y="274320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4"/>
          <p:cNvSpPr/>
          <p:nvPr/>
        </p:nvSpPr>
        <p:spPr>
          <a:xfrm>
            <a:off x="4114800" y="309996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5"/>
          <p:cNvSpPr/>
          <p:nvPr/>
        </p:nvSpPr>
        <p:spPr>
          <a:xfrm>
            <a:off x="4114800" y="345636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6"/>
          <p:cNvSpPr/>
          <p:nvPr/>
        </p:nvSpPr>
        <p:spPr>
          <a:xfrm>
            <a:off x="4114800" y="3813120"/>
            <a:ext cx="310680" cy="310680"/>
          </a:xfrm>
          <a:prstGeom prst="rect">
            <a:avLst/>
          </a:prstGeom>
          <a:solidFill>
            <a:srgbClr val="2D89C8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7"/>
          <p:cNvSpPr/>
          <p:nvPr/>
        </p:nvSpPr>
        <p:spPr>
          <a:xfrm>
            <a:off x="4114800" y="416952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8"/>
          <p:cNvSpPr/>
          <p:nvPr/>
        </p:nvSpPr>
        <p:spPr>
          <a:xfrm>
            <a:off x="3822120" y="464508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 err="1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fold</a:t>
            </a:r>
            <a:r>
              <a:rPr lang="pt-BR" sz="14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 4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9"/>
          <p:cNvSpPr/>
          <p:nvPr/>
        </p:nvSpPr>
        <p:spPr>
          <a:xfrm>
            <a:off x="5120640" y="274320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0"/>
          <p:cNvSpPr/>
          <p:nvPr/>
        </p:nvSpPr>
        <p:spPr>
          <a:xfrm>
            <a:off x="5120640" y="309996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1"/>
          <p:cNvSpPr/>
          <p:nvPr/>
        </p:nvSpPr>
        <p:spPr>
          <a:xfrm>
            <a:off x="5120640" y="345636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2"/>
          <p:cNvSpPr/>
          <p:nvPr/>
        </p:nvSpPr>
        <p:spPr>
          <a:xfrm>
            <a:off x="5120640" y="3813120"/>
            <a:ext cx="310680" cy="310680"/>
          </a:xfrm>
          <a:prstGeom prst="rect">
            <a:avLst/>
          </a:prstGeom>
          <a:solidFill>
            <a:srgbClr val="D6675E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3"/>
          <p:cNvSpPr/>
          <p:nvPr/>
        </p:nvSpPr>
        <p:spPr>
          <a:xfrm>
            <a:off x="5120640" y="4169520"/>
            <a:ext cx="310680" cy="310680"/>
          </a:xfrm>
          <a:prstGeom prst="rect">
            <a:avLst/>
          </a:prstGeom>
          <a:solidFill>
            <a:srgbClr val="2D89C8"/>
          </a:solidFill>
          <a:ln w="889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4"/>
          <p:cNvSpPr/>
          <p:nvPr/>
        </p:nvSpPr>
        <p:spPr>
          <a:xfrm>
            <a:off x="4827960" y="464508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 err="1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fold</a:t>
            </a:r>
            <a:r>
              <a:rPr lang="pt-BR" sz="14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 5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5"/>
          <p:cNvSpPr/>
          <p:nvPr/>
        </p:nvSpPr>
        <p:spPr>
          <a:xfrm flipV="1">
            <a:off x="5742000" y="3572342"/>
            <a:ext cx="1659835" cy="2457"/>
          </a:xfrm>
          <a:prstGeom prst="line">
            <a:avLst/>
          </a:prstGeom>
          <a:ln w="25400">
            <a:solidFill>
              <a:srgbClr val="1B777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6"/>
          <p:cNvSpPr/>
          <p:nvPr/>
        </p:nvSpPr>
        <p:spPr>
          <a:xfrm>
            <a:off x="7635240" y="2770560"/>
            <a:ext cx="3017160" cy="1828800"/>
          </a:xfrm>
          <a:prstGeom prst="roundRect">
            <a:avLst>
              <a:gd name="adj" fmla="val 5161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7"/>
          <p:cNvSpPr/>
          <p:nvPr/>
        </p:nvSpPr>
        <p:spPr>
          <a:xfrm>
            <a:off x="7836480" y="3017520"/>
            <a:ext cx="671416" cy="16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K-FOLD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8"/>
          <p:cNvSpPr/>
          <p:nvPr/>
        </p:nvSpPr>
        <p:spPr>
          <a:xfrm>
            <a:off x="7836480" y="3319200"/>
            <a:ext cx="2660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Repetição controlada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9"/>
          <p:cNvSpPr/>
          <p:nvPr/>
        </p:nvSpPr>
        <p:spPr>
          <a:xfrm>
            <a:off x="7836480" y="3684960"/>
            <a:ext cx="2660400" cy="90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Treinamos</a:t>
            </a:r>
            <a:r>
              <a:rPr lang="pt-BR" sz="16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 K vezes. Em cada rodada, um </a:t>
            </a:r>
            <a:r>
              <a:rPr lang="pt-BR" sz="1600" b="0" u="none" strike="noStrike" noProof="0" dirty="0" err="1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fold</a:t>
            </a:r>
            <a:r>
              <a:rPr lang="pt-BR" sz="16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 diferente é usado como teste.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0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1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02 · EXEMPLO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08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EXEMPLO COM 3 FOLDS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777240" y="17373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Três iterações, três conjuntos de teste.</a:t>
            </a:r>
            <a:endParaRPr lang="pt-BR" sz="3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822960" y="2743200"/>
            <a:ext cx="3154320" cy="1782720"/>
          </a:xfrm>
          <a:prstGeom prst="roundRect">
            <a:avLst>
              <a:gd name="adj" fmla="val 4103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102420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2D89C8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1024200" y="3246120"/>
            <a:ext cx="2751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Iteração 1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1024200" y="3611880"/>
            <a:ext cx="2751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Testa no </a:t>
            </a:r>
            <a:r>
              <a:rPr lang="pt-BR" sz="1250" b="0" u="none" strike="noStrike" noProof="0" dirty="0" err="1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Fold</a:t>
            </a:r>
            <a:r>
              <a:rPr lang="pt-BR" sz="125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 1</a:t>
            </a:r>
            <a:endParaRPr lang="pt-BR" sz="12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1188720" y="3977640"/>
            <a:ext cx="475200" cy="310680"/>
          </a:xfrm>
          <a:prstGeom prst="rect">
            <a:avLst/>
          </a:prstGeom>
          <a:solidFill>
            <a:srgbClr val="2D89C8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1828800" y="3977640"/>
            <a:ext cx="475200" cy="310680"/>
          </a:xfrm>
          <a:prstGeom prst="rect">
            <a:avLst/>
          </a:prstGeom>
          <a:solidFill>
            <a:srgbClr val="C85A4A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2468880" y="3977640"/>
            <a:ext cx="475200" cy="310680"/>
          </a:xfrm>
          <a:prstGeom prst="rect">
            <a:avLst/>
          </a:prstGeom>
          <a:solidFill>
            <a:srgbClr val="C85A4A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3"/>
          <p:cNvSpPr/>
          <p:nvPr/>
        </p:nvSpPr>
        <p:spPr>
          <a:xfrm>
            <a:off x="4617720" y="2743200"/>
            <a:ext cx="3154320" cy="1782720"/>
          </a:xfrm>
          <a:prstGeom prst="roundRect">
            <a:avLst>
              <a:gd name="adj" fmla="val 4103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481896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4E9A51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4818960" y="3246120"/>
            <a:ext cx="2751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Iteração 2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4818960" y="3611880"/>
            <a:ext cx="2751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Testa no </a:t>
            </a:r>
            <a:r>
              <a:rPr lang="pt-BR" sz="1250" b="0" u="none" strike="noStrike" noProof="0" dirty="0" err="1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Fold</a:t>
            </a:r>
            <a:r>
              <a:rPr lang="pt-BR" sz="125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 2</a:t>
            </a:r>
            <a:endParaRPr lang="pt-BR" sz="12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7"/>
          <p:cNvSpPr/>
          <p:nvPr/>
        </p:nvSpPr>
        <p:spPr>
          <a:xfrm>
            <a:off x="4983480" y="3977640"/>
            <a:ext cx="475200" cy="310680"/>
          </a:xfrm>
          <a:prstGeom prst="rect">
            <a:avLst/>
          </a:prstGeom>
          <a:solidFill>
            <a:srgbClr val="C85A4A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8"/>
          <p:cNvSpPr/>
          <p:nvPr/>
        </p:nvSpPr>
        <p:spPr>
          <a:xfrm>
            <a:off x="5623560" y="3977640"/>
            <a:ext cx="475200" cy="310680"/>
          </a:xfrm>
          <a:prstGeom prst="rect">
            <a:avLst/>
          </a:prstGeom>
          <a:solidFill>
            <a:srgbClr val="2D89C8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9"/>
          <p:cNvSpPr/>
          <p:nvPr/>
        </p:nvSpPr>
        <p:spPr>
          <a:xfrm>
            <a:off x="6263640" y="3977640"/>
            <a:ext cx="475200" cy="310680"/>
          </a:xfrm>
          <a:prstGeom prst="rect">
            <a:avLst/>
          </a:prstGeom>
          <a:solidFill>
            <a:srgbClr val="C85A4A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8412480" y="2743200"/>
            <a:ext cx="3154320" cy="1782720"/>
          </a:xfrm>
          <a:prstGeom prst="roundRect">
            <a:avLst>
              <a:gd name="adj" fmla="val 4103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861372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8613720" y="3246120"/>
            <a:ext cx="2751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Iteração 3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4"/>
          <p:cNvSpPr/>
          <p:nvPr/>
        </p:nvSpPr>
        <p:spPr>
          <a:xfrm>
            <a:off x="8613720" y="3611880"/>
            <a:ext cx="2751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Testa no </a:t>
            </a:r>
            <a:r>
              <a:rPr lang="pt-BR" sz="1250" b="0" u="none" strike="noStrike" noProof="0" dirty="0" err="1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Fold</a:t>
            </a:r>
            <a:r>
              <a:rPr lang="pt-BR" sz="125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 3</a:t>
            </a:r>
            <a:endParaRPr lang="pt-BR" sz="12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5"/>
          <p:cNvSpPr/>
          <p:nvPr/>
        </p:nvSpPr>
        <p:spPr>
          <a:xfrm>
            <a:off x="8778240" y="3977640"/>
            <a:ext cx="475200" cy="310680"/>
          </a:xfrm>
          <a:prstGeom prst="rect">
            <a:avLst/>
          </a:prstGeom>
          <a:solidFill>
            <a:srgbClr val="C85A4A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6"/>
          <p:cNvSpPr/>
          <p:nvPr/>
        </p:nvSpPr>
        <p:spPr>
          <a:xfrm>
            <a:off x="9418320" y="3977640"/>
            <a:ext cx="475200" cy="310680"/>
          </a:xfrm>
          <a:prstGeom prst="rect">
            <a:avLst/>
          </a:prstGeom>
          <a:solidFill>
            <a:srgbClr val="C85A4A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7"/>
          <p:cNvSpPr/>
          <p:nvPr/>
        </p:nvSpPr>
        <p:spPr>
          <a:xfrm>
            <a:off x="10058400" y="3977640"/>
            <a:ext cx="475200" cy="310680"/>
          </a:xfrm>
          <a:prstGeom prst="rect">
            <a:avLst/>
          </a:prstGeom>
          <a:solidFill>
            <a:srgbClr val="2D89C8">
              <a:alpha val="96000"/>
            </a:srgbClr>
          </a:solidFill>
          <a:ln w="635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9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0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02 · RESULTADO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09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DEPOIS DAS ITERAÇÕES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777240" y="173736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1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A média dos erros vira uma estimativa mais estável.</a:t>
            </a:r>
            <a:endParaRPr lang="pt-BR" sz="3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777240" y="2788920"/>
            <a:ext cx="2285640" cy="1395454"/>
          </a:xfrm>
          <a:prstGeom prst="roundRect">
            <a:avLst>
              <a:gd name="adj" fmla="val 6400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978480" y="2990160"/>
            <a:ext cx="671416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2D89C8"/>
                </a:solidFill>
                <a:effectLst/>
                <a:uFillTx/>
                <a:latin typeface="Courier New"/>
                <a:ea typeface="Courier New"/>
              </a:rPr>
              <a:t>FOLD</a:t>
            </a:r>
            <a:r>
              <a:rPr lang="pt-BR" sz="1200" b="0" u="none" strike="noStrike" noProof="0" dirty="0">
                <a:solidFill>
                  <a:srgbClr val="2D89C8"/>
                </a:solidFill>
                <a:effectLst/>
                <a:uFillTx/>
                <a:latin typeface="Courier New"/>
                <a:ea typeface="Courier New"/>
              </a:rPr>
              <a:t> 1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978480" y="3291840"/>
            <a:ext cx="188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Erro = 0,18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978480" y="3657600"/>
            <a:ext cx="1883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Primeira rodada.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9"/>
          <p:cNvSpPr/>
          <p:nvPr/>
        </p:nvSpPr>
        <p:spPr>
          <a:xfrm>
            <a:off x="3429000" y="2788920"/>
            <a:ext cx="2285640" cy="1395454"/>
          </a:xfrm>
          <a:prstGeom prst="roundRect">
            <a:avLst>
              <a:gd name="adj" fmla="val 6400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3630239" y="2990160"/>
            <a:ext cx="673403" cy="16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4E9A51"/>
                </a:solidFill>
                <a:effectLst/>
                <a:uFillTx/>
                <a:latin typeface="Courier New"/>
                <a:ea typeface="Courier New"/>
              </a:rPr>
              <a:t>FOLD 2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3630240" y="3291840"/>
            <a:ext cx="188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Erro = 0,22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3630240" y="3657600"/>
            <a:ext cx="1883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Segunda rodada.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3"/>
          <p:cNvSpPr/>
          <p:nvPr/>
        </p:nvSpPr>
        <p:spPr>
          <a:xfrm>
            <a:off x="6080760" y="2788920"/>
            <a:ext cx="2285640" cy="1394374"/>
          </a:xfrm>
          <a:prstGeom prst="roundRect">
            <a:avLst>
              <a:gd name="adj" fmla="val 6400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4"/>
          <p:cNvSpPr/>
          <p:nvPr/>
        </p:nvSpPr>
        <p:spPr>
          <a:xfrm>
            <a:off x="6282000" y="2990160"/>
            <a:ext cx="71280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FOLD</a:t>
            </a:r>
            <a:r>
              <a:rPr lang="pt-BR" sz="1200" b="0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 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6282000" y="3291840"/>
            <a:ext cx="188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Erro = 0,20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6282000" y="3657600"/>
            <a:ext cx="1883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Terceira rodada.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9006840" y="29991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MÉDIA = 0,20</a:t>
            </a:r>
            <a:endParaRPr lang="pt-BR" sz="17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8"/>
          <p:cNvSpPr/>
          <p:nvPr/>
        </p:nvSpPr>
        <p:spPr>
          <a:xfrm>
            <a:off x="8549640" y="3364920"/>
            <a:ext cx="2606040" cy="360"/>
          </a:xfrm>
          <a:prstGeom prst="line">
            <a:avLst/>
          </a:prstGeom>
          <a:ln w="17780">
            <a:solidFill>
              <a:srgbClr val="1B777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8732520" y="3584520"/>
            <a:ext cx="2559960" cy="11457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Essa média representa melhor o desempenho esperado do que uma única divisão.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03 DE 03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10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777240" y="1417320"/>
            <a:ext cx="438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1325880" y="14446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TRÊS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777240" y="1874520"/>
            <a:ext cx="84121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3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Como comparar modelos com CV?</a:t>
            </a:r>
            <a:endParaRPr lang="pt-BR" sz="3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777240" y="304488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i="1" u="none" strike="noStrike" noProof="0" dirty="0">
                <a:solidFill>
                  <a:srgbClr val="73777D"/>
                </a:solidFill>
                <a:effectLst/>
                <a:uFillTx/>
                <a:latin typeface="Georgia"/>
                <a:ea typeface="Georgia"/>
              </a:rPr>
              <a:t>A validação cruzada é especialmente útil quando queremos escolher entre algoritmos ou configurações.</a:t>
            </a:r>
            <a:endParaRPr lang="pt-BR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777240" y="3858840"/>
            <a:ext cx="5028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Modelos · Métricas · </a:t>
            </a:r>
            <a:r>
              <a:rPr lang="pt-BR" sz="1400" b="0" u="none" strike="noStrike" noProof="0" dirty="0" err="1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Scikit-Learn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03 · VARIAÇÕES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11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NA PRÁTICA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777240" y="173736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A escolha do tipo de CV depende do problema.</a:t>
            </a:r>
            <a:endParaRPr lang="pt-BR" sz="3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777240" y="2743200"/>
            <a:ext cx="3245760" cy="2007704"/>
          </a:xfrm>
          <a:prstGeom prst="roundRect">
            <a:avLst>
              <a:gd name="adj" fmla="val 4324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97848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97848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10-Fold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978480" y="3611880"/>
            <a:ext cx="2843280" cy="982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Muito usado quando há dados suficientes. Equilibra custo computacional e estabilidade.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4480560" y="2743200"/>
            <a:ext cx="3245760" cy="2007704"/>
          </a:xfrm>
          <a:prstGeom prst="roundRect">
            <a:avLst>
              <a:gd name="adj" fmla="val 4324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468180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2D89C8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468180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StratifiedKFold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4681800" y="3611880"/>
            <a:ext cx="2843280" cy="982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Em classificação, preserva a proporção das classes em cada </a:t>
            </a:r>
            <a:r>
              <a:rPr lang="pt-BR" sz="1400" b="0" u="none" strike="noStrike" noProof="0" dirty="0" err="1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fold</a:t>
            </a: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3"/>
          <p:cNvSpPr/>
          <p:nvPr/>
        </p:nvSpPr>
        <p:spPr>
          <a:xfrm>
            <a:off x="8183880" y="2743200"/>
            <a:ext cx="3245760" cy="2007704"/>
          </a:xfrm>
          <a:prstGeom prst="roundRect">
            <a:avLst>
              <a:gd name="adj" fmla="val 4324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838512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838512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GroupKFold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8385120" y="3611880"/>
            <a:ext cx="2843280" cy="982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Evita que amostras relacionadas apareçam ao mesmo tempo em treino e teste.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03 · LEAVE-ONE-OUT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12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CASO EXTREMO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777240" y="17373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Leave</a:t>
            </a: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-</a:t>
            </a:r>
            <a:r>
              <a:rPr lang="pt-BR" sz="32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One</a:t>
            </a: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-Out testa uma observação por vez.</a:t>
            </a:r>
            <a:endParaRPr lang="pt-BR" sz="3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5"/>
          <p:cNvSpPr/>
          <p:nvPr/>
        </p:nvSpPr>
        <p:spPr>
          <a:xfrm flipV="1">
            <a:off x="1005840" y="2926080"/>
            <a:ext cx="1097280" cy="822960"/>
          </a:xfrm>
          <a:prstGeom prst="line">
            <a:avLst/>
          </a:prstGeom>
          <a:ln w="2540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6"/>
          <p:cNvSpPr/>
          <p:nvPr/>
        </p:nvSpPr>
        <p:spPr>
          <a:xfrm>
            <a:off x="914400" y="3886200"/>
            <a:ext cx="1417320" cy="36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7"/>
          <p:cNvSpPr/>
          <p:nvPr/>
        </p:nvSpPr>
        <p:spPr>
          <a:xfrm>
            <a:off x="914400" y="2880360"/>
            <a:ext cx="360" cy="100584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8"/>
          <p:cNvSpPr/>
          <p:nvPr/>
        </p:nvSpPr>
        <p:spPr>
          <a:xfrm>
            <a:off x="1051560" y="352044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9"/>
          <p:cNvSpPr/>
          <p:nvPr/>
        </p:nvSpPr>
        <p:spPr>
          <a:xfrm>
            <a:off x="1234440" y="335592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0"/>
          <p:cNvSpPr/>
          <p:nvPr/>
        </p:nvSpPr>
        <p:spPr>
          <a:xfrm>
            <a:off x="1417320" y="32918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1"/>
          <p:cNvSpPr/>
          <p:nvPr/>
        </p:nvSpPr>
        <p:spPr>
          <a:xfrm>
            <a:off x="1572840" y="31089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2"/>
          <p:cNvSpPr/>
          <p:nvPr/>
        </p:nvSpPr>
        <p:spPr>
          <a:xfrm>
            <a:off x="1719000" y="32277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3"/>
          <p:cNvSpPr/>
          <p:nvPr/>
        </p:nvSpPr>
        <p:spPr>
          <a:xfrm>
            <a:off x="1325880" y="304488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4"/>
          <p:cNvSpPr/>
          <p:nvPr/>
        </p:nvSpPr>
        <p:spPr>
          <a:xfrm flipV="1">
            <a:off x="3383280" y="2926080"/>
            <a:ext cx="1097280" cy="822960"/>
          </a:xfrm>
          <a:prstGeom prst="line">
            <a:avLst/>
          </a:prstGeom>
          <a:ln w="2540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5"/>
          <p:cNvSpPr/>
          <p:nvPr/>
        </p:nvSpPr>
        <p:spPr>
          <a:xfrm>
            <a:off x="3291840" y="3886200"/>
            <a:ext cx="1417320" cy="36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6"/>
          <p:cNvSpPr/>
          <p:nvPr/>
        </p:nvSpPr>
        <p:spPr>
          <a:xfrm>
            <a:off x="3291840" y="2880360"/>
            <a:ext cx="360" cy="100584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7"/>
          <p:cNvSpPr/>
          <p:nvPr/>
        </p:nvSpPr>
        <p:spPr>
          <a:xfrm>
            <a:off x="3429000" y="35204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8"/>
          <p:cNvSpPr/>
          <p:nvPr/>
        </p:nvSpPr>
        <p:spPr>
          <a:xfrm>
            <a:off x="3611880" y="335592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9"/>
          <p:cNvSpPr/>
          <p:nvPr/>
        </p:nvSpPr>
        <p:spPr>
          <a:xfrm>
            <a:off x="3794760" y="32918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0"/>
          <p:cNvSpPr/>
          <p:nvPr/>
        </p:nvSpPr>
        <p:spPr>
          <a:xfrm>
            <a:off x="3950280" y="31089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1"/>
          <p:cNvSpPr/>
          <p:nvPr/>
        </p:nvSpPr>
        <p:spPr>
          <a:xfrm>
            <a:off x="4096440" y="32277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2"/>
          <p:cNvSpPr/>
          <p:nvPr/>
        </p:nvSpPr>
        <p:spPr>
          <a:xfrm>
            <a:off x="3703320" y="304488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3"/>
          <p:cNvSpPr/>
          <p:nvPr/>
        </p:nvSpPr>
        <p:spPr>
          <a:xfrm flipV="1">
            <a:off x="5760720" y="2926080"/>
            <a:ext cx="1097280" cy="822960"/>
          </a:xfrm>
          <a:prstGeom prst="line">
            <a:avLst/>
          </a:prstGeom>
          <a:ln w="2540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4"/>
          <p:cNvSpPr/>
          <p:nvPr/>
        </p:nvSpPr>
        <p:spPr>
          <a:xfrm>
            <a:off x="5669280" y="3886200"/>
            <a:ext cx="1417320" cy="36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5"/>
          <p:cNvSpPr/>
          <p:nvPr/>
        </p:nvSpPr>
        <p:spPr>
          <a:xfrm>
            <a:off x="5669280" y="2880360"/>
            <a:ext cx="360" cy="100584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6"/>
          <p:cNvSpPr/>
          <p:nvPr/>
        </p:nvSpPr>
        <p:spPr>
          <a:xfrm>
            <a:off x="5806440" y="35204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7"/>
          <p:cNvSpPr/>
          <p:nvPr/>
        </p:nvSpPr>
        <p:spPr>
          <a:xfrm>
            <a:off x="5989320" y="335592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8"/>
          <p:cNvSpPr/>
          <p:nvPr/>
        </p:nvSpPr>
        <p:spPr>
          <a:xfrm>
            <a:off x="6172200" y="329184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9"/>
          <p:cNvSpPr/>
          <p:nvPr/>
        </p:nvSpPr>
        <p:spPr>
          <a:xfrm>
            <a:off x="6327720" y="31089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0"/>
          <p:cNvSpPr/>
          <p:nvPr/>
        </p:nvSpPr>
        <p:spPr>
          <a:xfrm>
            <a:off x="6473880" y="32277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1"/>
          <p:cNvSpPr/>
          <p:nvPr/>
        </p:nvSpPr>
        <p:spPr>
          <a:xfrm>
            <a:off x="6080760" y="304488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2"/>
          <p:cNvSpPr/>
          <p:nvPr/>
        </p:nvSpPr>
        <p:spPr>
          <a:xfrm flipV="1">
            <a:off x="8138160" y="2926080"/>
            <a:ext cx="1097280" cy="822960"/>
          </a:xfrm>
          <a:prstGeom prst="line">
            <a:avLst/>
          </a:prstGeom>
          <a:ln w="25400">
            <a:solidFill>
              <a:srgbClr val="1C24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3"/>
          <p:cNvSpPr/>
          <p:nvPr/>
        </p:nvSpPr>
        <p:spPr>
          <a:xfrm>
            <a:off x="8046720" y="3886200"/>
            <a:ext cx="1417320" cy="36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4"/>
          <p:cNvSpPr/>
          <p:nvPr/>
        </p:nvSpPr>
        <p:spPr>
          <a:xfrm>
            <a:off x="8046720" y="2880360"/>
            <a:ext cx="360" cy="1005840"/>
          </a:xfrm>
          <a:prstGeom prst="line">
            <a:avLst/>
          </a:prstGeom>
          <a:ln w="19050">
            <a:solidFill>
              <a:srgbClr val="9AA0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5"/>
          <p:cNvSpPr/>
          <p:nvPr/>
        </p:nvSpPr>
        <p:spPr>
          <a:xfrm>
            <a:off x="8183880" y="35204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6"/>
          <p:cNvSpPr/>
          <p:nvPr/>
        </p:nvSpPr>
        <p:spPr>
          <a:xfrm>
            <a:off x="8366760" y="335592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7"/>
          <p:cNvSpPr/>
          <p:nvPr/>
        </p:nvSpPr>
        <p:spPr>
          <a:xfrm>
            <a:off x="8549640" y="329184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8"/>
          <p:cNvSpPr/>
          <p:nvPr/>
        </p:nvSpPr>
        <p:spPr>
          <a:xfrm>
            <a:off x="8705160" y="3108960"/>
            <a:ext cx="127800" cy="127800"/>
          </a:xfrm>
          <a:prstGeom prst="ellipse">
            <a:avLst/>
          </a:prstGeom>
          <a:solidFill>
            <a:srgbClr val="2D89C8">
              <a:alpha val="92000"/>
            </a:srgbClr>
          </a:solidFill>
          <a:ln w="17780">
            <a:solidFill>
              <a:srgbClr val="2D89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9"/>
          <p:cNvSpPr/>
          <p:nvPr/>
        </p:nvSpPr>
        <p:spPr>
          <a:xfrm>
            <a:off x="8851320" y="322776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40"/>
          <p:cNvSpPr/>
          <p:nvPr/>
        </p:nvSpPr>
        <p:spPr>
          <a:xfrm>
            <a:off x="8458200" y="3044880"/>
            <a:ext cx="127800" cy="127800"/>
          </a:xfrm>
          <a:prstGeom prst="ellipse">
            <a:avLst/>
          </a:prstGeom>
          <a:solidFill>
            <a:srgbClr val="C85A4A">
              <a:alpha val="92000"/>
            </a:srgbClr>
          </a:solidFill>
          <a:ln w="17780">
            <a:solidFill>
              <a:srgbClr val="C85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1"/>
          <p:cNvSpPr/>
          <p:nvPr/>
        </p:nvSpPr>
        <p:spPr>
          <a:xfrm>
            <a:off x="6327720" y="421560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... repete até todos serem teste uma vez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2"/>
          <p:cNvSpPr/>
          <p:nvPr/>
        </p:nvSpPr>
        <p:spPr>
          <a:xfrm>
            <a:off x="777240" y="5093280"/>
            <a:ext cx="1697242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QUANDO USAR?</a:t>
            </a:r>
            <a:endParaRPr lang="pt-BR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43"/>
          <p:cNvSpPr/>
          <p:nvPr/>
        </p:nvSpPr>
        <p:spPr>
          <a:xfrm>
            <a:off x="2674620" y="5052600"/>
            <a:ext cx="57142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Bases muito pequenas. Pode ser caro e sensível a ruído.</a:t>
            </a:r>
            <a:endParaRPr lang="pt-BR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4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5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03 · COMPARAÇÃO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13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ESCOLHA DE MODELOS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777240" y="17373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Comparamos médias, não uma única rodada.</a:t>
            </a:r>
            <a:endParaRPr lang="pt-BR" sz="3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5"/>
          <p:cNvSpPr/>
          <p:nvPr/>
        </p:nvSpPr>
        <p:spPr>
          <a:xfrm>
            <a:off x="914400" y="27889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Regressão Logística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6"/>
          <p:cNvSpPr/>
          <p:nvPr/>
        </p:nvSpPr>
        <p:spPr>
          <a:xfrm>
            <a:off x="3977640" y="2926080"/>
            <a:ext cx="3383280" cy="360"/>
          </a:xfrm>
          <a:prstGeom prst="line">
            <a:avLst/>
          </a:prstGeom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7543800" y="27889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0,78 ± 0,04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914400" y="350208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Árvore de Decisão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9"/>
          <p:cNvSpPr/>
          <p:nvPr/>
        </p:nvSpPr>
        <p:spPr>
          <a:xfrm>
            <a:off x="3977640" y="3639240"/>
            <a:ext cx="3383280" cy="360"/>
          </a:xfrm>
          <a:prstGeom prst="line">
            <a:avLst/>
          </a:prstGeom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0"/>
          <p:cNvSpPr/>
          <p:nvPr/>
        </p:nvSpPr>
        <p:spPr>
          <a:xfrm>
            <a:off x="7543800" y="35020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0,73 ± 0,08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914400" y="421524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Random Forest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2"/>
          <p:cNvSpPr/>
          <p:nvPr/>
        </p:nvSpPr>
        <p:spPr>
          <a:xfrm>
            <a:off x="3977640" y="4352400"/>
            <a:ext cx="3383280" cy="360"/>
          </a:xfrm>
          <a:prstGeom prst="line">
            <a:avLst/>
          </a:prstGeom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3"/>
          <p:cNvSpPr/>
          <p:nvPr/>
        </p:nvSpPr>
        <p:spPr>
          <a:xfrm>
            <a:off x="7543800" y="42152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 noProof="0" dirty="0">
                <a:solidFill>
                  <a:srgbClr val="4E9A51"/>
                </a:solidFill>
                <a:effectLst/>
                <a:uFillTx/>
                <a:latin typeface="Courier New"/>
                <a:ea typeface="Courier New"/>
              </a:rPr>
              <a:t>0,82 ± 0,03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4"/>
          <p:cNvSpPr/>
          <p:nvPr/>
        </p:nvSpPr>
        <p:spPr>
          <a:xfrm>
            <a:off x="6400800" y="516636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Média ± variação entre </a:t>
            </a:r>
            <a:r>
              <a:rPr lang="pt-BR" sz="1600" b="0" u="none" strike="noStrike" noProof="0" dirty="0" err="1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folds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5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6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PARTE 03 · SCIKIT-LEARN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14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DO CONCEITO AO CÓDIGO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777240" y="17373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No </a:t>
            </a:r>
            <a:r>
              <a:rPr lang="pt-BR" sz="32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Scikit-Learn</a:t>
            </a: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, a ideia vira poucas linhas.</a:t>
            </a:r>
            <a:endParaRPr lang="pt-BR" sz="3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5"/>
          <p:cNvSpPr/>
          <p:nvPr/>
        </p:nvSpPr>
        <p:spPr>
          <a:xfrm>
            <a:off x="914400" y="2743200"/>
            <a:ext cx="10149480" cy="1371240"/>
          </a:xfrm>
          <a:prstGeom prst="roundRect">
            <a:avLst>
              <a:gd name="adj" fmla="val 3333"/>
            </a:avLst>
          </a:prstGeom>
          <a:solidFill>
            <a:srgbClr val="272B33"/>
          </a:solidFill>
          <a:ln w="12700">
            <a:solidFill>
              <a:srgbClr val="272B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1143000" y="2971800"/>
            <a:ext cx="969228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sklearn.model_selection</a:t>
            </a: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cross_val_score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scores = </a:t>
            </a: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cross_val_score</a:t>
            </a: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(modelo, X, y, cv=5, </a:t>
            </a: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scoring</a:t>
            </a: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='</a:t>
            </a: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accuracy</a:t>
            </a: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')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scores.mean</a:t>
            </a: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(), </a:t>
            </a:r>
            <a:r>
              <a:rPr lang="pt-BR" sz="1600" b="0" u="none" strike="noStrike" noProof="0" dirty="0" err="1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scores.std</a:t>
            </a:r>
            <a:r>
              <a:rPr lang="pt-BR" sz="1600" b="0" u="none" strike="noStrike" noProof="0" dirty="0">
                <a:solidFill>
                  <a:srgbClr val="F8F4ED"/>
                </a:solidFill>
                <a:effectLst/>
                <a:uFillTx/>
                <a:latin typeface="Courier New"/>
                <a:ea typeface="Courier New"/>
              </a:rPr>
              <a:t>()</a:t>
            </a:r>
            <a:endParaRPr lang="pt-BR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914400" y="457200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i="1" u="none" strike="noStrike" noProof="0" dirty="0">
                <a:solidFill>
                  <a:srgbClr val="73777D"/>
                </a:solidFill>
                <a:effectLst/>
                <a:uFillTx/>
                <a:latin typeface="Georgia"/>
                <a:ea typeface="Georgia"/>
              </a:rPr>
              <a:t>O mais importante não é decorar a função. É entender o que ela está repetindo por baixo.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RECAPITULAÇÃO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15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TRÊS IDEIAS PARA LEVAR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4"/>
          <p:cNvSpPr/>
          <p:nvPr/>
        </p:nvSpPr>
        <p:spPr>
          <a:xfrm>
            <a:off x="777240" y="17373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Se gravar isto, a aula cumpriu sua parte.</a:t>
            </a:r>
            <a:endParaRPr lang="pt-BR" sz="3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5"/>
          <p:cNvSpPr/>
          <p:nvPr/>
        </p:nvSpPr>
        <p:spPr>
          <a:xfrm>
            <a:off x="777240" y="2743199"/>
            <a:ext cx="3245760" cy="1764721"/>
          </a:xfrm>
          <a:prstGeom prst="roundRect">
            <a:avLst>
              <a:gd name="adj" fmla="val 4706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978480" y="2880360"/>
            <a:ext cx="11613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D98A30"/>
                </a:solidFill>
                <a:effectLst/>
                <a:uFillTx/>
                <a:latin typeface="Courier New"/>
                <a:ea typeface="Courier New"/>
              </a:rPr>
              <a:t>01 · POR QUÊ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97848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Uma divisão é frágil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8"/>
          <p:cNvSpPr/>
          <p:nvPr/>
        </p:nvSpPr>
        <p:spPr>
          <a:xfrm>
            <a:off x="978480" y="3611880"/>
            <a:ext cx="2843280" cy="771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O resultado pode depender da sorte do treino/teste.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9"/>
          <p:cNvSpPr/>
          <p:nvPr/>
        </p:nvSpPr>
        <p:spPr>
          <a:xfrm>
            <a:off x="4480560" y="2743200"/>
            <a:ext cx="3245760" cy="1764720"/>
          </a:xfrm>
          <a:prstGeom prst="roundRect">
            <a:avLst>
              <a:gd name="adj" fmla="val 4706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0"/>
          <p:cNvSpPr/>
          <p:nvPr/>
        </p:nvSpPr>
        <p:spPr>
          <a:xfrm>
            <a:off x="4681800" y="2944440"/>
            <a:ext cx="84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02 · COMO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1"/>
          <p:cNvSpPr/>
          <p:nvPr/>
        </p:nvSpPr>
        <p:spPr>
          <a:xfrm>
            <a:off x="468180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Cada </a:t>
            </a:r>
            <a:r>
              <a:rPr lang="pt-BR" sz="18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fold</a:t>
            </a: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 testa uma vez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2"/>
          <p:cNvSpPr/>
          <p:nvPr/>
        </p:nvSpPr>
        <p:spPr>
          <a:xfrm>
            <a:off x="4681800" y="3611880"/>
            <a:ext cx="2843280" cy="771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Treinamos várias vezes e calculamos a média.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3"/>
          <p:cNvSpPr/>
          <p:nvPr/>
        </p:nvSpPr>
        <p:spPr>
          <a:xfrm>
            <a:off x="8183880" y="2743200"/>
            <a:ext cx="3245760" cy="1764720"/>
          </a:xfrm>
          <a:prstGeom prst="roundRect">
            <a:avLst>
              <a:gd name="adj" fmla="val 4706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4"/>
          <p:cNvSpPr/>
          <p:nvPr/>
        </p:nvSpPr>
        <p:spPr>
          <a:xfrm>
            <a:off x="8385120" y="2944440"/>
            <a:ext cx="1235958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4E9A51"/>
                </a:solidFill>
                <a:effectLst/>
                <a:uFillTx/>
                <a:latin typeface="Courier New"/>
                <a:ea typeface="Courier New"/>
              </a:rPr>
              <a:t>03 · PARA QUÊ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5"/>
          <p:cNvSpPr/>
          <p:nvPr/>
        </p:nvSpPr>
        <p:spPr>
          <a:xfrm>
            <a:off x="838512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Comparar melhor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6"/>
          <p:cNvSpPr/>
          <p:nvPr/>
        </p:nvSpPr>
        <p:spPr>
          <a:xfrm>
            <a:off x="8385120" y="3611880"/>
            <a:ext cx="2843280" cy="771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CV ajuda a escolher modelos e </a:t>
            </a:r>
            <a:r>
              <a:rPr lang="pt-BR" sz="1400" b="0" u="none" strike="noStrike" noProof="0" dirty="0" err="1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hiperparâmetros</a:t>
            </a: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 com menos viés.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7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8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PARA A PRÓXIMA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16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AULA PRÁTICA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777240" y="17373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4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Vamos abrir o notebook.</a:t>
            </a:r>
            <a:endParaRPr lang="pt-BR" sz="3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5"/>
          <p:cNvSpPr/>
          <p:nvPr/>
        </p:nvSpPr>
        <p:spPr>
          <a:xfrm>
            <a:off x="777240" y="2743200"/>
            <a:ext cx="3245760" cy="1371240"/>
          </a:xfrm>
          <a:prstGeom prst="roundRect">
            <a:avLst>
              <a:gd name="adj" fmla="val 5333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97848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7"/>
          <p:cNvSpPr/>
          <p:nvPr/>
        </p:nvSpPr>
        <p:spPr>
          <a:xfrm>
            <a:off x="97848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Usar </a:t>
            </a:r>
            <a:r>
              <a:rPr lang="pt-BR" sz="18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cross_val_score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978480" y="361188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Comparar métricas médias entre modelos.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9"/>
          <p:cNvSpPr/>
          <p:nvPr/>
        </p:nvSpPr>
        <p:spPr>
          <a:xfrm>
            <a:off x="4480560" y="2743200"/>
            <a:ext cx="3245760" cy="1371240"/>
          </a:xfrm>
          <a:prstGeom prst="roundRect">
            <a:avLst>
              <a:gd name="adj" fmla="val 5333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0"/>
          <p:cNvSpPr/>
          <p:nvPr/>
        </p:nvSpPr>
        <p:spPr>
          <a:xfrm>
            <a:off x="468180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2D89C8"/>
                </a:solidFill>
                <a:effectLst/>
                <a:uFillTx/>
                <a:latin typeface="Courier New"/>
                <a:ea typeface="Courier New"/>
              </a:rPr>
              <a:t>B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468180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Testar </a:t>
            </a:r>
            <a:r>
              <a:rPr lang="pt-BR" sz="18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KFold</a:t>
            </a: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 e </a:t>
            </a:r>
            <a:r>
              <a:rPr lang="pt-BR" sz="1800" b="0" u="none" strike="noStrike" noProof="0" dirty="0" err="1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StratifiedKFold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2"/>
          <p:cNvSpPr/>
          <p:nvPr/>
        </p:nvSpPr>
        <p:spPr>
          <a:xfrm>
            <a:off x="4681800" y="361188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Observar diferenças em bases balanceadas e desbalanceadas.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3"/>
          <p:cNvSpPr/>
          <p:nvPr/>
        </p:nvSpPr>
        <p:spPr>
          <a:xfrm>
            <a:off x="8183880" y="2743200"/>
            <a:ext cx="3245760" cy="1371240"/>
          </a:xfrm>
          <a:prstGeom prst="roundRect">
            <a:avLst>
              <a:gd name="adj" fmla="val 5333"/>
            </a:avLst>
          </a:prstGeom>
          <a:solidFill>
            <a:srgbClr val="F8F4ED"/>
          </a:solidFill>
          <a:ln w="12700">
            <a:solidFill>
              <a:srgbClr val="D8D0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4"/>
          <p:cNvSpPr/>
          <p:nvPr/>
        </p:nvSpPr>
        <p:spPr>
          <a:xfrm>
            <a:off x="8385120" y="294444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4E9A51"/>
                </a:solidFill>
                <a:effectLst/>
                <a:uFillTx/>
                <a:latin typeface="Courier New"/>
                <a:ea typeface="Courier New"/>
              </a:rPr>
              <a:t>C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5"/>
          <p:cNvSpPr/>
          <p:nvPr/>
        </p:nvSpPr>
        <p:spPr>
          <a:xfrm>
            <a:off x="8385120" y="3246120"/>
            <a:ext cx="2843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Comparar modelos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6"/>
          <p:cNvSpPr/>
          <p:nvPr/>
        </p:nvSpPr>
        <p:spPr>
          <a:xfrm>
            <a:off x="8385120" y="361188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Regressão logística, árvore de decisão e </a:t>
            </a:r>
            <a:r>
              <a:rPr lang="pt-BR" sz="1400" b="0" u="none" strike="noStrike" noProof="0" dirty="0" err="1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random</a:t>
            </a: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pt-BR" sz="1400" b="0" u="none" strike="noStrike" noProof="0" dirty="0" err="1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forest</a:t>
            </a:r>
            <a:r>
              <a:rPr lang="pt-BR" sz="1400" b="0" u="none" strike="noStrike" noProof="0" dirty="0">
                <a:solidFill>
                  <a:srgbClr val="4C5159"/>
                </a:solidFill>
                <a:effectLst/>
                <a:uFillTx/>
                <a:latin typeface="Aptos"/>
                <a:ea typeface="Aptos"/>
              </a:rPr>
              <a:t>.</a:t>
            </a:r>
            <a:endParaRPr lang="pt-B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7"/>
          <p:cNvSpPr/>
          <p:nvPr/>
        </p:nvSpPr>
        <p:spPr>
          <a:xfrm>
            <a:off x="777240" y="62179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Aula · Validação Cruzada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8"/>
          <p:cNvSpPr/>
          <p:nvPr/>
        </p:nvSpPr>
        <p:spPr>
          <a:xfrm>
            <a:off x="9692640" y="62179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IFSP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749880" y="603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1B7772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1051560" y="6217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ENCERRAMENTO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10835640" y="621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17 / 17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777240" y="1188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 noProof="0" dirty="0">
                <a:solidFill>
                  <a:srgbClr val="1B7772"/>
                </a:solidFill>
                <a:effectLst/>
                <a:uFillTx/>
                <a:latin typeface="Courier New"/>
                <a:ea typeface="Courier New"/>
              </a:rPr>
              <a:t>PERGUNTAS, DÚVIDAS, CONTESTAÇÕES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777240" y="1828800"/>
            <a:ext cx="77720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0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Obrigado.</a:t>
            </a:r>
            <a:endParaRPr lang="pt-BR" sz="4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000" b="0" u="none" strike="noStrike" noProof="0" dirty="0">
                <a:solidFill>
                  <a:srgbClr val="1C2433"/>
                </a:solidFill>
                <a:effectLst/>
                <a:uFillTx/>
                <a:latin typeface="Georgia"/>
                <a:ea typeface="Georgia"/>
              </a:rPr>
              <a:t>Vamos conversar?</a:t>
            </a:r>
            <a:endParaRPr lang="pt-BR" sz="4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777240" y="333756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i="1" u="none" strike="noStrike" noProof="0" dirty="0">
                <a:solidFill>
                  <a:srgbClr val="73777D"/>
                </a:solidFill>
                <a:effectLst/>
                <a:uFillTx/>
                <a:latin typeface="Georgia"/>
                <a:ea typeface="Georgia"/>
              </a:rPr>
              <a:t>A avaliação do modelo é parte do modelo. Sem avaliação confiável, a previsão não vale muito.</a:t>
            </a:r>
            <a:endParaRPr lang="pt-BR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"/>
          <p:cNvSpPr/>
          <p:nvPr/>
        </p:nvSpPr>
        <p:spPr>
          <a:xfrm>
            <a:off x="777240" y="5897880"/>
            <a:ext cx="6583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 noProof="0" dirty="0">
                <a:solidFill>
                  <a:srgbClr val="9AA0A6"/>
                </a:solidFill>
                <a:effectLst/>
                <a:uFillTx/>
                <a:latin typeface="Courier New"/>
                <a:ea typeface="Courier New"/>
              </a:rPr>
              <a:t>Introdução ao Aprendizado de Máquina · IFSP Campus Campinas</a:t>
            </a:r>
            <a:endParaRPr lang="pt-B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1741</Words>
  <Application>Microsoft Office PowerPoint</Application>
  <PresentationFormat>Widescreen</PresentationFormat>
  <Paragraphs>263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Aptos</vt:lpstr>
      <vt:lpstr>Arial</vt:lpstr>
      <vt:lpstr>Courier New</vt:lpstr>
      <vt:lpstr>Georgia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IFSP Campinas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Everton Josue Meyer da Silva</cp:lastModifiedBy>
  <cp:revision>16</cp:revision>
  <dcterms:modified xsi:type="dcterms:W3CDTF">2026-05-16T19:39:31Z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2026-05-16T15:34:31Z</dcterms:created>
  <dc:creator>Everton Meyer da Silva</dc:creator>
  <dc:description/>
  <dc:language>en-US</dc:language>
  <cp:lastModifiedBy>Everton Meyer da Silva</cp:lastModifiedBy>
  <dcterms:modified xsi:type="dcterms:W3CDTF">2026-05-16T15:34:31Z</dcterms:modified>
  <cp:revision>1</cp:revision>
  <dc:subject>Validação Cruzada</dc:subject>
  <dc:title>Aula — Validação Cruzada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17</vt:r8>
  </property>
  <property fmtid="{D5CDD505-2E9C-101B-9397-08002B2CF9AE}" pid="3" name="PresentationFormat">
    <vt:lpwstr>On-screen Show (16:9)</vt:lpwstr>
  </property>
  <property fmtid="{D5CDD505-2E9C-101B-9397-08002B2CF9AE}" pid="4" name="Slides">
    <vt:r8>17</vt:r8>
  </property>
</Properties>
</file>