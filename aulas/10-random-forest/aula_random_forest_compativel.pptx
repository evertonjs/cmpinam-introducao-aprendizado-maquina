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1005840"/>
            <a:ext cx="2743200" cy="2743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79" y="1463040"/>
            <a:ext cx="2743200" cy="2743200"/>
          </a:xfrm>
          <a:prstGeom prst="ellipse">
            <a:avLst/>
          </a:prstGeom>
          <a:solidFill>
            <a:srgbClr val="296699"/>
          </a:solidFill>
          <a:ln w="12700">
            <a:solidFill>
              <a:srgbClr val="29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920240"/>
            <a:ext cx="2743200" cy="2743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30352"/>
            <a:ext cx="3566160" cy="329184"/>
          </a:xfrm>
          <a:prstGeom prst="roundRect">
            <a:avLst/>
          </a:prstGeom>
          <a:solidFill>
            <a:srgbClr val="254866"/>
          </a:solidFill>
          <a:ln w="12700">
            <a:solidFill>
              <a:srgbClr val="25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08076"/>
            <a:ext cx="3200400" cy="137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50" b="1">
                <a:solidFill>
                  <a:srgbClr val="DCEBFF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34440"/>
            <a:ext cx="6400800" cy="7498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tos Display"/>
              </a:rPr>
              <a:t>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84248"/>
            <a:ext cx="667512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D8E3F2"/>
                </a:solidFill>
                <a:latin typeface="Aptos"/>
              </a:rPr>
              <a:t>Construção, uso e avaliação de florestas aleatórias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897880"/>
            <a:ext cx="65836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50" b="0">
                <a:solidFill>
                  <a:srgbClr val="B9C7D8"/>
                </a:solidFill>
                <a:latin typeface="Aptos"/>
              </a:rPr>
              <a:t>Material elaborado pelo docente com apoio de ferramentas de IA para fins de organização e revisão didática.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6272784"/>
            <a:ext cx="438912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Prof. Everton Meyer da Silva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668889" y="2123602"/>
            <a:ext cx="261153" cy="44769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30042" y="2123602"/>
            <a:ext cx="261153" cy="44769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494788" y="2571292"/>
            <a:ext cx="174101" cy="39172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68889" y="2571292"/>
            <a:ext cx="167884" cy="39172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041965" y="2571292"/>
            <a:ext cx="149230" cy="39172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91195" y="2571292"/>
            <a:ext cx="186537" cy="39172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2011680"/>
            <a:ext cx="223845" cy="22384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6967" y="2459370"/>
            <a:ext cx="223845" cy="22384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79272" y="2459370"/>
            <a:ext cx="223845" cy="22384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82865" y="2851099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24851" y="2851099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30042" y="2851099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65810" y="2851099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8327257" y="2324770"/>
            <a:ext cx="261153" cy="44769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88410" y="2324770"/>
            <a:ext cx="261153" cy="44769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153156" y="2772460"/>
            <a:ext cx="174101" cy="39172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27257" y="2772460"/>
            <a:ext cx="167884" cy="39172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700333" y="2772460"/>
            <a:ext cx="149230" cy="39172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849563" y="2772460"/>
            <a:ext cx="186537" cy="39172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476488" y="2212848"/>
            <a:ext cx="223845" cy="223845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15335" y="2660538"/>
            <a:ext cx="223845" cy="223845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37640" y="2660538"/>
            <a:ext cx="223845" cy="223845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41233" y="3052267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83219" y="3052267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88410" y="3052267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24178" y="3052267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H="1">
            <a:off x="8985625" y="2123602"/>
            <a:ext cx="261153" cy="44769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246778" y="2123602"/>
            <a:ext cx="261153" cy="44769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811524" y="2571292"/>
            <a:ext cx="174101" cy="39172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85625" y="2571292"/>
            <a:ext cx="167884" cy="39172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9358701" y="2571292"/>
            <a:ext cx="149230" cy="39172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507931" y="2571292"/>
            <a:ext cx="186537" cy="39172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134856" y="2011680"/>
            <a:ext cx="223845" cy="22384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873703" y="2459370"/>
            <a:ext cx="223845" cy="22384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396008" y="2459370"/>
            <a:ext cx="223845" cy="22384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99601" y="2851099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41587" y="2851099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46778" y="2851099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582546" y="2851099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>
            <a:off x="9643993" y="2324770"/>
            <a:ext cx="261153" cy="44769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905146" y="2324770"/>
            <a:ext cx="261153" cy="44769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9469892" y="2772460"/>
            <a:ext cx="174101" cy="39172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643993" y="2772460"/>
            <a:ext cx="167884" cy="39172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0017069" y="2772460"/>
            <a:ext cx="149230" cy="39172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166299" y="2772460"/>
            <a:ext cx="186537" cy="39172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9793224" y="2212848"/>
            <a:ext cx="223845" cy="223845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532071" y="2660538"/>
            <a:ext cx="223845" cy="223845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054376" y="2660538"/>
            <a:ext cx="223845" cy="223845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357969" y="3052267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699955" y="3052267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905146" y="3052267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240914" y="3052267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H="1">
            <a:off x="10302361" y="2123602"/>
            <a:ext cx="261153" cy="44769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563514" y="2123602"/>
            <a:ext cx="261153" cy="44769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0128260" y="2571292"/>
            <a:ext cx="174101" cy="39172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302361" y="2571292"/>
            <a:ext cx="167884" cy="39172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0675437" y="2571292"/>
            <a:ext cx="149230" cy="39172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824667" y="2571292"/>
            <a:ext cx="186537" cy="39172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0451592" y="2011680"/>
            <a:ext cx="223845" cy="22384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190439" y="2459370"/>
            <a:ext cx="223845" cy="22384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12744" y="2459370"/>
            <a:ext cx="223845" cy="22384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016337" y="2851099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358323" y="2851099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563514" y="2851099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99282" y="2851099"/>
            <a:ext cx="223845" cy="2238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360920" y="4297680"/>
            <a:ext cx="3657600" cy="621792"/>
          </a:xfrm>
          <a:prstGeom prst="roundRect">
            <a:avLst/>
          </a:prstGeom>
          <a:solidFill>
            <a:srgbClr val="102844"/>
          </a:solidFill>
          <a:ln w="12700">
            <a:solidFill>
              <a:srgbClr val="315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89520" y="4498848"/>
            <a:ext cx="32004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0">
                <a:solidFill>
                  <a:srgbClr val="EAF2FF"/>
                </a:solidFill>
                <a:latin typeface="Aptos"/>
              </a:rPr>
              <a:t>Base conceitual: StatQuest — Random Forests Part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Objetivos da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Ao final, o estudante deve conseguir explicar a intuição e o funcionamento básico do Random Forest.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581912"/>
            <a:ext cx="30266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1. Entender a motivação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984248"/>
            <a:ext cx="3026664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Por que uma única árvore pode ser instável e sofrer com overfitting?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581912"/>
            <a:ext cx="30266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2. Explicar a construção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984248"/>
            <a:ext cx="3026664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Como bootstrap e seleção aleatória de atributos geram árvores diferentes?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30266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3. Usar o modelo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84248"/>
            <a:ext cx="3026664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Como várias árvores votam para classificar um novo exemplo?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33375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3502152"/>
            <a:ext cx="30266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4. Avaliar o modelo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3904487"/>
            <a:ext cx="3026664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O que é erro out-of-bag e por que ele é útil?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3375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502152"/>
            <a:ext cx="30266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5. Preparar a prática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904487"/>
            <a:ext cx="3026664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Conectar a intuição com uma implementação em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Ponto de partida: árvore de decisão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Random Forest nasce a partir de árvores de decisão, mas combina muitas árvores.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3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132027" y="1786737"/>
            <a:ext cx="499262" cy="85587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31289" y="1786737"/>
            <a:ext cx="499263" cy="85587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99185" y="2642615"/>
            <a:ext cx="332842" cy="748894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32027" y="2642615"/>
            <a:ext cx="320954" cy="748894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845259" y="2642615"/>
            <a:ext cx="285293" cy="748894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30552" y="2642615"/>
            <a:ext cx="356616" cy="748894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417320" y="1572768"/>
            <a:ext cx="427939" cy="4279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8057" y="2428646"/>
            <a:ext cx="427939" cy="4279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16582" y="2428646"/>
            <a:ext cx="427939" cy="4279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177540"/>
            <a:ext cx="427939" cy="4279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9012" y="3177540"/>
            <a:ext cx="427939" cy="4279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31289" y="3177540"/>
            <a:ext cx="427939" cy="4279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73198" y="3177540"/>
            <a:ext cx="427939" cy="4279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1234440"/>
            <a:ext cx="2880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1399032"/>
            <a:ext cx="247802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Ideia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1801368"/>
            <a:ext cx="2478024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Dividir os dados em regras do tipo: “se variável X &lt;= valor, então siga por este caminho”.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1234440"/>
            <a:ext cx="2880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9288" y="1399032"/>
            <a:ext cx="247802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Ponto forte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9288" y="1801368"/>
            <a:ext cx="2478024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Modelo intuitivo, visual e fácil de explicar.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971800"/>
            <a:ext cx="2880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3136392"/>
            <a:ext cx="247802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Ponto fraco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3538728"/>
            <a:ext cx="2478024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Uma árvore pode se ajustar demais aos dados de treino.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2971800"/>
            <a:ext cx="2880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3136392"/>
            <a:ext cx="247802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Consequência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3538728"/>
            <a:ext cx="2478024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Pequenas mudanças nos dados podem gerar árvores bem diferentes.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4983480"/>
            <a:ext cx="10149840" cy="621792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61872" y="5193792"/>
            <a:ext cx="9646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Aptos"/>
              </a:rPr>
              <a:t>Pergunta-guia: como manter a simplicidade das árvores, mas reduzir sua instabilidade?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O problema de uma única árvore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Árvores profundas tendem a capturar detalhes muito específicos do conjunto de treino.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3291840" cy="150876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490472"/>
            <a:ext cx="288950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Aptos"/>
              </a:rPr>
              <a:t>Alta variância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92807"/>
            <a:ext cx="2889504" cy="8229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O modelo pode mudar bastante quando o conjunto de treino muda um pouco.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291840" cy="150876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490472"/>
            <a:ext cx="288950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Overfitting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892807"/>
            <a:ext cx="2889504" cy="8229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A árvore aprende regras muito específicas, inclusive ruídos e exceções.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291840" cy="1508760"/>
          </a:xfrm>
          <a:prstGeom prst="roundRect">
            <a:avLst/>
          </a:prstGeom>
          <a:solidFill>
            <a:srgbClr val="EDE9FE"/>
          </a:solidFill>
          <a:ln w="1016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90472"/>
            <a:ext cx="288950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Baixa generalização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892807"/>
            <a:ext cx="2889504" cy="8229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O desempenho em dados novos pode ser pior do que no treino.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657600"/>
            <a:ext cx="100584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895344"/>
            <a:ext cx="2560320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7324D"/>
                </a:solidFill>
                <a:latin typeface="Aptos"/>
              </a:rPr>
              <a:t>Estratégia do 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895344"/>
            <a:ext cx="699516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50" b="0">
                <a:solidFill>
                  <a:srgbClr val="374151"/>
                </a:solidFill>
                <a:latin typeface="Aptos"/>
              </a:rPr>
              <a:t>Em vez de confiar em uma única árvore, criamos muitas árvores diferentes e combinamos suas previsões.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Ideia central do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Combinar muitas árvores para obter uma previsão mais robusta.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5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93699" y="1507845"/>
            <a:ext cx="211226" cy="362103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04925" y="1507845"/>
            <a:ext cx="211227" cy="362103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52881" y="1869948"/>
            <a:ext cx="140818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3699" y="1869948"/>
            <a:ext cx="135788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95451" y="1869948"/>
            <a:ext cx="120701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16152" y="1869948"/>
            <a:ext cx="150876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14400" y="1417320"/>
            <a:ext cx="181051" cy="181051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3173" y="1779422"/>
            <a:ext cx="181051" cy="181051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5626" y="1779422"/>
            <a:ext cx="181051" cy="181051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2356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8962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4925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76502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506931" y="1672437"/>
            <a:ext cx="211226" cy="362103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8157" y="1672437"/>
            <a:ext cx="211227" cy="362103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366113" y="2034540"/>
            <a:ext cx="140818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506931" y="2034540"/>
            <a:ext cx="135788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808683" y="2034540"/>
            <a:ext cx="120701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29384" y="2034540"/>
            <a:ext cx="150876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627632" y="1581912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16405" y="1944014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38858" y="1944014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75588" y="2260854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52194" y="2260854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718157" y="2260854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89734" y="2260854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2220163" y="1507845"/>
            <a:ext cx="211226" cy="362103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431389" y="1507845"/>
            <a:ext cx="211227" cy="362103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079345" y="1869948"/>
            <a:ext cx="140818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20163" y="1869948"/>
            <a:ext cx="135788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2521915" y="1869948"/>
            <a:ext cx="120701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642616" y="1869948"/>
            <a:ext cx="150876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340864" y="1417320"/>
            <a:ext cx="181051" cy="181051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129637" y="1779422"/>
            <a:ext cx="181051" cy="181051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552090" y="1779422"/>
            <a:ext cx="181051" cy="181051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988819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265426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431389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702966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>
            <a:off x="2933395" y="1672437"/>
            <a:ext cx="211226" cy="362103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144621" y="1672437"/>
            <a:ext cx="211227" cy="362103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792577" y="2034540"/>
            <a:ext cx="140818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933395" y="2034540"/>
            <a:ext cx="135788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3235147" y="2034540"/>
            <a:ext cx="120701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355848" y="2034540"/>
            <a:ext cx="150876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3054096" y="1581912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842869" y="1944014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265322" y="1944014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702052" y="2260854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978658" y="2260854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144621" y="2260854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416198" y="2260854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H="1">
            <a:off x="3646627" y="1507845"/>
            <a:ext cx="211226" cy="362103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857853" y="1507845"/>
            <a:ext cx="211227" cy="362103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3505809" y="1869948"/>
            <a:ext cx="140818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646627" y="1869948"/>
            <a:ext cx="135788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3948379" y="1869948"/>
            <a:ext cx="120701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069080" y="1869948"/>
            <a:ext cx="150876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3767328" y="1417320"/>
            <a:ext cx="181051" cy="181051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556101" y="1779422"/>
            <a:ext cx="181051" cy="181051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978554" y="1779422"/>
            <a:ext cx="181051" cy="181051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15284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691890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857853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129430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 flipH="1">
            <a:off x="4359859" y="1672437"/>
            <a:ext cx="211226" cy="362103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571085" y="1672437"/>
            <a:ext cx="211227" cy="362103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4219041" y="2034540"/>
            <a:ext cx="140818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359859" y="2034540"/>
            <a:ext cx="135788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4661611" y="2034540"/>
            <a:ext cx="120701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782312" y="2034540"/>
            <a:ext cx="150876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4480560" y="1581912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269333" y="1944014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691786" y="1944014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128516" y="2260854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405122" y="2260854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571085" y="2260854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842662" y="2260854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5073091" y="1507845"/>
            <a:ext cx="211226" cy="362103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284317" y="1507845"/>
            <a:ext cx="211227" cy="362103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4932273" y="1869948"/>
            <a:ext cx="140818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73091" y="1869948"/>
            <a:ext cx="135788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5374843" y="1869948"/>
            <a:ext cx="120701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495544" y="1869948"/>
            <a:ext cx="150876" cy="316839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5193792" y="1417320"/>
            <a:ext cx="181051" cy="181051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982565" y="1779422"/>
            <a:ext cx="181051" cy="181051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405018" y="1779422"/>
            <a:ext cx="181051" cy="181051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841748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118354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284317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555894" y="20962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5669280" y="2423160"/>
            <a:ext cx="96012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6812280" y="1508760"/>
            <a:ext cx="196596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077456" y="1764792"/>
            <a:ext cx="1444752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17324D"/>
                </a:solidFill>
                <a:latin typeface="Aptos"/>
              </a:rPr>
              <a:t>Votação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69480" y="2176272"/>
            <a:ext cx="10515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0">
                <a:solidFill>
                  <a:srgbClr val="374151"/>
                </a:solidFill>
                <a:latin typeface="Aptos"/>
              </a:rPr>
              <a:t>classe A
classe A
classe B
classe A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9006840" y="2423160"/>
            <a:ext cx="86868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10012680" y="1783080"/>
            <a:ext cx="1371600" cy="1261872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149840" y="2240280"/>
            <a:ext cx="1097280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Aptos"/>
              </a:rPr>
              <a:t>Classe 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1560" y="4892040"/>
            <a:ext cx="101498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17324D"/>
                </a:solidFill>
                <a:latin typeface="Aptos"/>
              </a:rPr>
              <a:t>A floresta não tenta encontrar uma árvore perfeita. Ela busca um conjunto diverso de árvores “boas o suficiente”.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Passo 1: criar amostras bootstrap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Cada árvore é treinada com uma versão diferente do conjunto de dados.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170432"/>
            <a:ext cx="19202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Aptos"/>
              </a:rPr>
              <a:t>Dados originais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1600200"/>
            <a:ext cx="16002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64208"/>
            <a:ext cx="160020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374151"/>
                </a:solidFill>
                <a:latin typeface="Aptos"/>
              </a:rP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2011680"/>
            <a:ext cx="16002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75688"/>
            <a:ext cx="160020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374151"/>
                </a:solidFill>
                <a:latin typeface="Aptos"/>
              </a:rPr>
              <a:t>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2423160"/>
            <a:ext cx="16002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487168"/>
            <a:ext cx="160020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374151"/>
                </a:solidFill>
                <a:latin typeface="Aptos"/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2834640"/>
            <a:ext cx="16002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898648"/>
            <a:ext cx="160020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374151"/>
                </a:solidFill>
                <a:latin typeface="Aptos"/>
              </a:rPr>
              <a:t>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246120"/>
            <a:ext cx="16002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310128"/>
            <a:ext cx="160020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374151"/>
                </a:solidFill>
                <a:latin typeface="Aptos"/>
              </a:rPr>
              <a:t>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3657600"/>
            <a:ext cx="16002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721608"/>
            <a:ext cx="160020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374151"/>
                </a:solidFill>
                <a:latin typeface="Aptos"/>
              </a:rPr>
              <a:t>F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88920" y="2560320"/>
            <a:ext cx="86868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77639" y="1170432"/>
            <a:ext cx="1645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250" b="1">
                <a:solidFill>
                  <a:srgbClr val="17324D"/>
                </a:solidFill>
                <a:latin typeface="Aptos"/>
              </a:rPr>
              <a:t>Bootstrap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79" y="1600200"/>
            <a:ext cx="14173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9079" y="166420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79" y="2011680"/>
            <a:ext cx="1417320" cy="2926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69079" y="207568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79" y="2423160"/>
            <a:ext cx="14173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79" y="248716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9079" y="2834640"/>
            <a:ext cx="1417320" cy="2926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69079" y="289864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69079" y="3246120"/>
            <a:ext cx="14173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9079" y="331012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79" y="3657600"/>
            <a:ext cx="1417320" cy="2926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9079" y="372160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79" y="1170432"/>
            <a:ext cx="1645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250" b="1">
                <a:solidFill>
                  <a:srgbClr val="17324D"/>
                </a:solidFill>
                <a:latin typeface="Aptos"/>
              </a:rPr>
              <a:t>Bootstrap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19" y="1600200"/>
            <a:ext cx="14173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19" y="166420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19" y="2011680"/>
            <a:ext cx="1417320" cy="2926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19" y="207568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19" y="2423160"/>
            <a:ext cx="14173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19" y="248716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19" y="2834640"/>
            <a:ext cx="1417320" cy="2926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19" y="289864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19" y="3246120"/>
            <a:ext cx="14173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19" y="331012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19" y="3657600"/>
            <a:ext cx="1417320" cy="2926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19" y="372160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1170432"/>
            <a:ext cx="1645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250" b="1">
                <a:solidFill>
                  <a:srgbClr val="17324D"/>
                </a:solidFill>
                <a:latin typeface="Aptos"/>
              </a:rPr>
              <a:t>Bootstrap 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60" y="1600200"/>
            <a:ext cx="14173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166420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66760" y="2011680"/>
            <a:ext cx="1417320" cy="2926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66760" y="207568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66760" y="2423160"/>
            <a:ext cx="14173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6760" y="248716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66760" y="2834640"/>
            <a:ext cx="1417320" cy="2926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289864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66760" y="3246120"/>
            <a:ext cx="14173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66760" y="331012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B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66760" y="3657600"/>
            <a:ext cx="1417320" cy="2926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66760" y="3721608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1">
                <a:solidFill>
                  <a:srgbClr val="374151"/>
                </a:solidFill>
                <a:latin typeface="Aptos"/>
              </a:rPr>
              <a:t>F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12680" y="1572768"/>
            <a:ext cx="1481328" cy="246888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13848" y="1737360"/>
            <a:ext cx="1078992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Atenção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13848" y="2139696"/>
            <a:ext cx="1078992" cy="1783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Amostragem com reposição: uma linha pode aparecer mais de uma vez, e outra pode ficar de fora.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5212080"/>
            <a:ext cx="98755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Aptos"/>
              </a:rPr>
              <a:t>Essa variação nos dados ajuda a gerar árvores diferentes.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Passo 2: construir uma árvore para cada amostra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Cada bootstrap dataset dá origem a uma árvore de decisão.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234440"/>
            <a:ext cx="182880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417320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50" b="1">
                <a:solidFill>
                  <a:srgbClr val="17324D"/>
                </a:solidFill>
                <a:latin typeface="Aptos"/>
              </a:rPr>
              <a:t>Bootstrap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28800"/>
            <a:ext cx="13716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Aptos"/>
              </a:rPr>
              <a:t>dados sorteados
com reposição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53512" y="1965960"/>
            <a:ext cx="612648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675888" y="1449324"/>
            <a:ext cx="288036" cy="493776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63924" y="1449324"/>
            <a:ext cx="288036" cy="493776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483864" y="1943100"/>
            <a:ext cx="192024" cy="432054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75888" y="1943100"/>
            <a:ext cx="185166" cy="432054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087368" y="1943100"/>
            <a:ext cx="164592" cy="432054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251960" y="1943100"/>
            <a:ext cx="205740" cy="432054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840480" y="1325880"/>
            <a:ext cx="246888" cy="2468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52444" y="1819656"/>
            <a:ext cx="246888" cy="2468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28516" y="1819656"/>
            <a:ext cx="246888" cy="2468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60420" y="225171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37610" y="225171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63924" y="225171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34256" y="225171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63440" y="1234440"/>
            <a:ext cx="182880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1" y="1417320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50" b="1">
                <a:solidFill>
                  <a:srgbClr val="17324D"/>
                </a:solidFill>
                <a:latin typeface="Aptos"/>
              </a:rPr>
              <a:t>Bootstrap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1828800"/>
            <a:ext cx="13716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Aptos"/>
              </a:rPr>
              <a:t>dados sorteados
com reposição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56831" y="1965960"/>
            <a:ext cx="612648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379208" y="1449324"/>
            <a:ext cx="288036" cy="493776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67244" y="1449324"/>
            <a:ext cx="288035" cy="493776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187183" y="1943100"/>
            <a:ext cx="192025" cy="43205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79208" y="1943100"/>
            <a:ext cx="185165" cy="43205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7790688" y="1943100"/>
            <a:ext cx="164591" cy="43205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955279" y="1943100"/>
            <a:ext cx="205740" cy="43205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543800" y="1325880"/>
            <a:ext cx="246888" cy="24688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55764" y="1819656"/>
            <a:ext cx="246888" cy="24688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31836" y="1819656"/>
            <a:ext cx="246888" cy="24688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063740" y="225171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40929" y="225171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67244" y="225171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37575" y="225171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66760" y="1234440"/>
            <a:ext cx="1828800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31352" y="1417320"/>
            <a:ext cx="15087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50" b="1">
                <a:solidFill>
                  <a:srgbClr val="17324D"/>
                </a:solidFill>
                <a:latin typeface="Aptos"/>
              </a:rPr>
              <a:t>Bootstrap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1828800"/>
            <a:ext cx="13716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Aptos"/>
              </a:rPr>
              <a:t>dados sorteados
com reposição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60152" y="1965960"/>
            <a:ext cx="612648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1082528" y="1449324"/>
            <a:ext cx="288036" cy="493776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370564" y="1449324"/>
            <a:ext cx="288036" cy="493776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0890504" y="1943100"/>
            <a:ext cx="192024" cy="432054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082528" y="1943100"/>
            <a:ext cx="185166" cy="432054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1494008" y="1943100"/>
            <a:ext cx="164592" cy="432054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658600" y="1943100"/>
            <a:ext cx="205740" cy="432054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1247120" y="1325880"/>
            <a:ext cx="246888" cy="24688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959084" y="1819656"/>
            <a:ext cx="246888" cy="24688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535156" y="1819656"/>
            <a:ext cx="246888" cy="24688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767060" y="225171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144250" y="225171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370564" y="225171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740896" y="2251710"/>
            <a:ext cx="246888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143000" y="4828032"/>
            <a:ext cx="9875520" cy="786384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89888" y="5111496"/>
            <a:ext cx="93268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17324D"/>
                </a:solidFill>
                <a:latin typeface="Aptos"/>
              </a:rPr>
              <a:t>Na prática, uma Random Forest pode ter dezenas, centenas ou milhares de árvores.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Passo 3: escolher atributos aleatórios em cada divisão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Além de mudar os dados, o algoritmo também muda as opções disponíveis para cada nó.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234440"/>
            <a:ext cx="292608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508760"/>
            <a:ext cx="23317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50" b="1">
                <a:solidFill>
                  <a:srgbClr val="17324D"/>
                </a:solidFill>
                <a:latin typeface="Aptos"/>
              </a:rPr>
              <a:t>Atributos disponíveis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1920240"/>
            <a:ext cx="2240280" cy="256032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975104"/>
            <a:ext cx="205740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374151"/>
                </a:solidFill>
                <a:latin typeface="Aptos"/>
              </a:rPr>
              <a:t>idade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313432"/>
            <a:ext cx="2240280" cy="256032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368296"/>
            <a:ext cx="205740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374151"/>
                </a:solidFill>
                <a:latin typeface="Aptos"/>
              </a:rPr>
              <a:t>renda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706624"/>
            <a:ext cx="2240280" cy="256032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761488"/>
            <a:ext cx="205740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374151"/>
                </a:solidFill>
                <a:latin typeface="Aptos"/>
              </a:rPr>
              <a:t>tempo de conta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099816"/>
            <a:ext cx="2240280" cy="256032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154680"/>
            <a:ext cx="205740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374151"/>
                </a:solidFill>
                <a:latin typeface="Aptos"/>
              </a:rPr>
              <a:t>nº compras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93008"/>
            <a:ext cx="2240280" cy="256032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547872"/>
            <a:ext cx="205740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374151"/>
                </a:solidFill>
                <a:latin typeface="Aptos"/>
              </a:rPr>
              <a:t>cidade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886200"/>
            <a:ext cx="2240280" cy="256032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941064"/>
            <a:ext cx="205740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374151"/>
                </a:solidFill>
                <a:latin typeface="Aptos"/>
              </a:rPr>
              <a:t>score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69080" y="2880360"/>
            <a:ext cx="100584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479084" y="1825142"/>
            <a:ext cx="460858" cy="790042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39942" y="1825142"/>
            <a:ext cx="460858" cy="790042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171846" y="2615184"/>
            <a:ext cx="307238" cy="691286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79084" y="2615184"/>
            <a:ext cx="296266" cy="691286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137452" y="2615184"/>
            <a:ext cx="263348" cy="691286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00800" y="2615184"/>
            <a:ext cx="329184" cy="691286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742432" y="1627632"/>
            <a:ext cx="395020" cy="395020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281574" y="2417673"/>
            <a:ext cx="395020" cy="395020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03289" y="2417673"/>
            <a:ext cx="395020" cy="395020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74336" y="3108960"/>
            <a:ext cx="395020" cy="3950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77840" y="3108960"/>
            <a:ext cx="395020" cy="3950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39942" y="3108960"/>
            <a:ext cx="395020" cy="3950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32473" y="3108960"/>
            <a:ext cx="395020" cy="3950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49240" y="1234440"/>
            <a:ext cx="2606040" cy="292608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04103" y="1307592"/>
            <a:ext cx="2496312" cy="1097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750" b="1">
                <a:solidFill>
                  <a:srgbClr val="F97316"/>
                </a:solidFill>
                <a:latin typeface="Aptos"/>
              </a:rPr>
              <a:t>nó 1: renda, compras, score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3337560"/>
            <a:ext cx="2514600" cy="29260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81144" y="3410712"/>
            <a:ext cx="2404872" cy="1097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750" b="1">
                <a:solidFill>
                  <a:srgbClr val="2563EB"/>
                </a:solidFill>
                <a:latin typeface="Aptos"/>
              </a:rPr>
              <a:t>nó 2: idade, cidade, renda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20840" y="3337560"/>
            <a:ext cx="2606040" cy="292608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75703" y="3410712"/>
            <a:ext cx="2496312" cy="1097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750" b="1">
                <a:solidFill>
                  <a:srgbClr val="16A34A"/>
                </a:solidFill>
                <a:latin typeface="Aptos"/>
              </a:rPr>
              <a:t>nó 3: compras, score, idade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6840" y="1572768"/>
            <a:ext cx="224028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08008" y="1737360"/>
            <a:ext cx="183794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Por que isso importa?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08008" y="2139696"/>
            <a:ext cx="1837944" cy="1737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Se todas as árvores sempre olhassem para os mesmos atributos, elas poderiam ficar parecidas demais. A seleção aleatória aumenta a diversidade.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Como a floresta faz uma previsão?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Cada árvore faz uma previsão; a floresta agrega as respostas.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34440"/>
            <a:ext cx="20116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08760"/>
            <a:ext cx="15544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Aptos"/>
              </a:rPr>
              <a:t>Novo exemplo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47088"/>
            <a:ext cx="155448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60" b="0">
                <a:solidFill>
                  <a:srgbClr val="374151"/>
                </a:solidFill>
                <a:latin typeface="Aptos"/>
              </a:rPr>
              <a:t>x = cliente, imóvel, aluno, paciente...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1810512"/>
            <a:ext cx="91440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077126" y="1287840"/>
            <a:ext cx="145938" cy="2501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3064" y="1287840"/>
            <a:ext cx="145939" cy="2501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979834" y="1538020"/>
            <a:ext cx="97292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77126" y="1538020"/>
            <a:ext cx="93818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285609" y="1538020"/>
            <a:ext cx="83394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69003" y="1538020"/>
            <a:ext cx="104241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160520" y="1225296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14581" y="1475475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06458" y="1475475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17289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08399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23064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0699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87952" y="2788920"/>
            <a:ext cx="384048" cy="38404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87952" y="2880360"/>
            <a:ext cx="384048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A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790358" y="1287840"/>
            <a:ext cx="145938" cy="2501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36296" y="1287840"/>
            <a:ext cx="145939" cy="2501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693066" y="1538020"/>
            <a:ext cx="97292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790358" y="1538020"/>
            <a:ext cx="93818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998841" y="1538020"/>
            <a:ext cx="83394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82235" y="1538020"/>
            <a:ext cx="104241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873752" y="1225296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27813" y="1475475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9690" y="1475475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630521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21631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36296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23931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01184" y="2788920"/>
            <a:ext cx="384048" cy="38404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184" y="2880360"/>
            <a:ext cx="384048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A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5503590" y="1287840"/>
            <a:ext cx="145938" cy="25018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649528" y="1287840"/>
            <a:ext cx="145939" cy="25018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406298" y="1538020"/>
            <a:ext cx="97292" cy="218908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503590" y="1538020"/>
            <a:ext cx="93818" cy="218908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5712073" y="1538020"/>
            <a:ext cx="83394" cy="218908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795467" y="1538020"/>
            <a:ext cx="104241" cy="218908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586983" y="1225296"/>
            <a:ext cx="125089" cy="125089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441045" y="1475475"/>
            <a:ext cx="125089" cy="125089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732922" y="1475475"/>
            <a:ext cx="125089" cy="125089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343753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534863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649528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837163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614416" y="2788920"/>
            <a:ext cx="384048" cy="38404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14416" y="2880360"/>
            <a:ext cx="384048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  <a:latin typeface="Aptos"/>
              </a:rPr>
              <a:t>B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6216822" y="1287840"/>
            <a:ext cx="145938" cy="2501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362760" y="1287840"/>
            <a:ext cx="145939" cy="2501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119530" y="1538020"/>
            <a:ext cx="97292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216822" y="1538020"/>
            <a:ext cx="93818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6425305" y="1538020"/>
            <a:ext cx="83394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508699" y="1538020"/>
            <a:ext cx="104241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6300216" y="1225296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154277" y="1475475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46154" y="1475475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056985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248095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362760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550395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327648" y="2788920"/>
            <a:ext cx="384048" cy="38404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27648" y="2880360"/>
            <a:ext cx="384048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A</a:t>
            </a:r>
          </a:p>
        </p:txBody>
      </p:sp>
      <p:cxnSp>
        <p:nvCxnSpPr>
          <p:cNvPr id="72" name="Connector 71"/>
          <p:cNvCxnSpPr/>
          <p:nvPr/>
        </p:nvCxnSpPr>
        <p:spPr>
          <a:xfrm flipH="1">
            <a:off x="6930054" y="1287840"/>
            <a:ext cx="145938" cy="25018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075992" y="1287840"/>
            <a:ext cx="145939" cy="25018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6832762" y="1538020"/>
            <a:ext cx="97292" cy="218908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930054" y="1538020"/>
            <a:ext cx="93818" cy="218908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7138537" y="1538020"/>
            <a:ext cx="83394" cy="218908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21931" y="1538020"/>
            <a:ext cx="104241" cy="218908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7013448" y="1225296"/>
            <a:ext cx="125089" cy="125089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867509" y="1475475"/>
            <a:ext cx="125089" cy="125089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159386" y="1475475"/>
            <a:ext cx="125089" cy="125089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770217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961327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075992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263627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040880" y="2788920"/>
            <a:ext cx="384048" cy="38404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040880" y="2880360"/>
            <a:ext cx="384048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  <a:latin typeface="Aptos"/>
              </a:rPr>
              <a:t>B</a:t>
            </a:r>
          </a:p>
        </p:txBody>
      </p:sp>
      <p:cxnSp>
        <p:nvCxnSpPr>
          <p:cNvPr id="87" name="Connector 86"/>
          <p:cNvCxnSpPr/>
          <p:nvPr/>
        </p:nvCxnSpPr>
        <p:spPr>
          <a:xfrm flipH="1">
            <a:off x="7643286" y="1287840"/>
            <a:ext cx="145938" cy="2501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789224" y="1287840"/>
            <a:ext cx="145939" cy="2501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7545994" y="1538020"/>
            <a:ext cx="97292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643286" y="1538020"/>
            <a:ext cx="93818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7851769" y="1538020"/>
            <a:ext cx="83394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935163" y="1538020"/>
            <a:ext cx="104241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7726679" y="1225296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580741" y="1475475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872618" y="1475475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483449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674559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789224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976859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754111" y="2788920"/>
            <a:ext cx="384048" cy="38404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54111" y="2880360"/>
            <a:ext cx="384048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A</a:t>
            </a:r>
          </a:p>
        </p:txBody>
      </p:sp>
      <p:cxnSp>
        <p:nvCxnSpPr>
          <p:cNvPr id="102" name="Connector 101"/>
          <p:cNvCxnSpPr/>
          <p:nvPr/>
        </p:nvCxnSpPr>
        <p:spPr>
          <a:xfrm flipH="1">
            <a:off x="8356518" y="1287840"/>
            <a:ext cx="145938" cy="2501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502456" y="1287840"/>
            <a:ext cx="145939" cy="2501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8259226" y="1538020"/>
            <a:ext cx="97292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356518" y="1538020"/>
            <a:ext cx="93818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8565001" y="1538020"/>
            <a:ext cx="83394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648395" y="1538020"/>
            <a:ext cx="104241" cy="218908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8439912" y="1225296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293973" y="1475475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585850" y="1475475"/>
            <a:ext cx="125089" cy="12508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196681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387791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502456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690091" y="1694383"/>
            <a:ext cx="125089" cy="1250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467344" y="2788920"/>
            <a:ext cx="384048" cy="38404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67344" y="2880360"/>
            <a:ext cx="384048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A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281160" y="2057400"/>
            <a:ext cx="73152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10149840" y="1481328"/>
            <a:ext cx="1234440" cy="114300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241280" y="1920240"/>
            <a:ext cx="10515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450" b="1">
                <a:solidFill>
                  <a:srgbClr val="2563EB"/>
                </a:solidFill>
                <a:latin typeface="Aptos"/>
              </a:rPr>
              <a:t>Classe 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88720" y="4846320"/>
            <a:ext cx="98755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17324D"/>
                </a:solidFill>
                <a:latin typeface="Aptos"/>
              </a:rPr>
              <a:t>Classificação: maioria dos votos.
Regressão: média das previsões.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Erro out-of-bag: avaliação interna da floresta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As amostras que ficaram fora do bootstrap podem testar árvores que não as viram.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234440"/>
            <a:ext cx="2926080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508760"/>
            <a:ext cx="2514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Aptos"/>
              </a:rPr>
              <a:t>Bootstrap de uma árvore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1901952"/>
            <a:ext cx="1783080" cy="219456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947672"/>
            <a:ext cx="1783080" cy="5486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60" b="0">
                <a:solidFill>
                  <a:srgbClr val="374151"/>
                </a:solidFill>
                <a:latin typeface="Aptos"/>
              </a:rP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2212848"/>
            <a:ext cx="1783080" cy="219456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258568"/>
            <a:ext cx="1783080" cy="5486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60" b="0">
                <a:solidFill>
                  <a:srgbClr val="374151"/>
                </a:solidFill>
                <a:latin typeface="Aptos"/>
              </a:rPr>
              <a:t>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2523744"/>
            <a:ext cx="1783080" cy="219456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2569464"/>
            <a:ext cx="1783080" cy="5486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60" b="0">
                <a:solidFill>
                  <a:srgbClr val="374151"/>
                </a:solidFill>
                <a:latin typeface="Aptos"/>
              </a:rPr>
              <a:t>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2834640"/>
            <a:ext cx="1783080" cy="219456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880360"/>
            <a:ext cx="1783080" cy="5486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60" b="0">
                <a:solidFill>
                  <a:srgbClr val="374151"/>
                </a:solidFill>
                <a:latin typeface="Aptos"/>
              </a:rPr>
              <a:t>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3145536"/>
            <a:ext cx="1783080" cy="219456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3191256"/>
            <a:ext cx="1783080" cy="5486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60" b="0">
                <a:solidFill>
                  <a:srgbClr val="374151"/>
                </a:solidFill>
                <a:latin typeface="Aptos"/>
              </a:rPr>
              <a:t>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456432"/>
            <a:ext cx="1783080" cy="219456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502152"/>
            <a:ext cx="1783080" cy="5486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60" b="0">
                <a:solidFill>
                  <a:srgbClr val="374151"/>
                </a:solidFill>
                <a:latin typeface="Aptos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959352"/>
            <a:ext cx="2011680" cy="12801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Aptos"/>
              </a:rPr>
              <a:t>Treino da árvore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1234440"/>
            <a:ext cx="2468880" cy="3154680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1508760"/>
            <a:ext cx="19202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Aptos"/>
              </a:rPr>
              <a:t>Ficaram de fora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2148840"/>
            <a:ext cx="13716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221992"/>
            <a:ext cx="1371600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Aptos"/>
              </a:rPr>
              <a:t>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2624328"/>
            <a:ext cx="13716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697480"/>
            <a:ext cx="1371600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Aptos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3429000"/>
            <a:ext cx="178308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  <a:latin typeface="Aptos"/>
              </a:rPr>
              <a:t>Out-of-bag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60" y="2743200"/>
            <a:ext cx="960119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83879" y="1417320"/>
            <a:ext cx="2971800" cy="2670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1581912"/>
            <a:ext cx="25694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Como usar?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1984248"/>
            <a:ext cx="2569464" cy="1984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Para cada amostra, usamos apenas as árvores em que ela ficou de fora. Comparamos a previsão agregada com o valor real e estimamos o erro.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138928"/>
            <a:ext cx="98755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550" b="1">
                <a:solidFill>
                  <a:srgbClr val="17324D"/>
                </a:solidFill>
                <a:latin typeface="Aptos"/>
              </a:rPr>
              <a:t>OOB é uma forma de obter uma estimativa de desempenho sem criar uma validação separada para essa finalidade.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Exemplo didático: classificar clientes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Imagine um problema de classificação binária: “vai comprar?” sim ou não.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11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727118" y="1470720"/>
            <a:ext cx="337962" cy="57936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65080" y="1470720"/>
            <a:ext cx="337963" cy="57936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501810" y="2050084"/>
            <a:ext cx="225308" cy="50694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27118" y="2050084"/>
            <a:ext cx="217262" cy="50694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209921" y="2050084"/>
            <a:ext cx="193122" cy="50694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03043" y="2050084"/>
            <a:ext cx="241401" cy="50694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920240" y="1325880"/>
            <a:ext cx="289681" cy="28968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82277" y="1905243"/>
            <a:ext cx="289681" cy="28968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58202" y="1905243"/>
            <a:ext cx="289681" cy="28968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6969" y="2412187"/>
            <a:ext cx="289681" cy="289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99539" y="2412187"/>
            <a:ext cx="289681" cy="289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5080" y="2412187"/>
            <a:ext cx="289681" cy="289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99603" y="2412187"/>
            <a:ext cx="289681" cy="289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063240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Aptos"/>
              </a:rPr>
              <a:t>Árvore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81328" y="3474720"/>
            <a:ext cx="1417320" cy="402336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1328" y="3575304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Aptos"/>
              </a:rPr>
              <a:t>Sim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744638" y="1470720"/>
            <a:ext cx="337962" cy="579364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82600" y="1470720"/>
            <a:ext cx="337963" cy="579364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519330" y="2050084"/>
            <a:ext cx="225308" cy="506944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44638" y="2050084"/>
            <a:ext cx="217262" cy="506944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227441" y="2050084"/>
            <a:ext cx="193122" cy="506944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20563" y="2050084"/>
            <a:ext cx="241401" cy="506944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937759" y="1325880"/>
            <a:ext cx="289681" cy="289681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9797" y="1905243"/>
            <a:ext cx="289681" cy="289681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75722" y="1905243"/>
            <a:ext cx="289681" cy="289681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374489" y="2412187"/>
            <a:ext cx="289681" cy="289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17059" y="2412187"/>
            <a:ext cx="289681" cy="289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82600" y="2412187"/>
            <a:ext cx="289681" cy="289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517123" y="2412187"/>
            <a:ext cx="289681" cy="289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0520" y="3063240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Aptos"/>
              </a:rPr>
              <a:t>Árvore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98848" y="3474720"/>
            <a:ext cx="1417320" cy="402336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3575304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97316"/>
                </a:solidFill>
                <a:latin typeface="Aptos"/>
              </a:rPr>
              <a:t>Não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7762158" y="1470720"/>
            <a:ext cx="337962" cy="57936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100120" y="1470720"/>
            <a:ext cx="337963" cy="57936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536850" y="2050084"/>
            <a:ext cx="225308" cy="50694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62158" y="2050084"/>
            <a:ext cx="217262" cy="50694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244961" y="2050084"/>
            <a:ext cx="193122" cy="50694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438083" y="2050084"/>
            <a:ext cx="241401" cy="506944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955279" y="1325880"/>
            <a:ext cx="289681" cy="28968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17317" y="1905243"/>
            <a:ext cx="289681" cy="28968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293242" y="1905243"/>
            <a:ext cx="289681" cy="28968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392009" y="2412187"/>
            <a:ext cx="289681" cy="289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834579" y="2412187"/>
            <a:ext cx="289681" cy="289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100120" y="2412187"/>
            <a:ext cx="289681" cy="289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534643" y="2412187"/>
            <a:ext cx="289681" cy="289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3063240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Aptos"/>
              </a:rPr>
              <a:t>Árvore 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16367" y="3474720"/>
            <a:ext cx="1417320" cy="402336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16367" y="3575304"/>
            <a:ext cx="1417320" cy="914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Aptos"/>
              </a:rPr>
              <a:t>Sim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464040" y="2788920"/>
            <a:ext cx="59436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10149840" y="2103120"/>
            <a:ext cx="1188720" cy="128016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14432" y="2578608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000" b="1">
                <a:solidFill>
                  <a:srgbClr val="16A34A"/>
                </a:solidFill>
                <a:latin typeface="Aptos"/>
              </a:rPr>
              <a:t>Sim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" y="5074920"/>
            <a:ext cx="101498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Aptos"/>
              </a:rPr>
              <a:t>Resultado final: a maioria das árvores votou em “Sim”.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Principais hiperparâmetros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Na prática, controlamos o comportamento da floresta por meio de alguns parâmetros.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234440"/>
            <a:ext cx="274320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399032"/>
            <a:ext cx="23408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n_estimators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01368"/>
            <a:ext cx="2340864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Quantidade de árvores na floresta. Mais árvores podem melhorar estabilidade, mas aumentam custo.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234440"/>
            <a:ext cx="274320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77055" y="1399032"/>
            <a:ext cx="23408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max_depth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5" y="1801368"/>
            <a:ext cx="2340864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Profundidade máxima de cada árvore. Ajuda a controlar complexidade.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1234440"/>
            <a:ext cx="274320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136" y="1399032"/>
            <a:ext cx="23408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max_features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1801368"/>
            <a:ext cx="2340864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Número ou proporção de atributos candidatos em cada divisão.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8" y="1234440"/>
            <a:ext cx="192024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9216" y="1399032"/>
            <a:ext cx="151790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bootstrap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1801368"/>
            <a:ext cx="1517904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Define se as árvores usam amostragem com reposição.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3154680"/>
            <a:ext cx="288036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47088" y="3319272"/>
            <a:ext cx="247802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min_samples_split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3721608"/>
            <a:ext cx="2478024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Mínimo de amostras necessário para dividir um nó.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154680"/>
            <a:ext cx="288036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3319272"/>
            <a:ext cx="247802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min_samples_leaf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3721608"/>
            <a:ext cx="2478024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Mínimo de amostras em cada folha da árvore.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3154680"/>
            <a:ext cx="2606040" cy="1207008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3319272"/>
            <a:ext cx="220370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oob_score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3721608"/>
            <a:ext cx="2203704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Permite calcular desempenho out-of-bag quando bootstrap=True.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49240"/>
            <a:ext cx="99212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50" b="0">
                <a:solidFill>
                  <a:srgbClr val="6B7280"/>
                </a:solidFill>
                <a:latin typeface="Aptos"/>
              </a:rPr>
              <a:t>Em uma primeira prática, comece com poucos parâmetros e depois explore o impacto de cada um.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Vantagens e 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Random Forest costuma ser forte como modelo-base para problemas tabulares.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4300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16A34A"/>
                </a:solidFill>
                <a:latin typeface="Aptos"/>
              </a:rPr>
              <a:t>Vantagens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4572000" cy="2057400"/>
          </a:xfrm>
          <a:prstGeom prst="rect">
            <a:avLst/>
          </a:prstGeom>
          <a:noFill/>
        </p:spPr>
        <p:txBody>
          <a:bodyPr wrap="none" lIns="36576" rIns="18288" tIns="18288" bIns="18288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374151"/>
                </a:solidFill>
                <a:latin typeface="Aptos"/>
              </a:defRPr>
            </a:pPr>
            <a:r>
              <a:t>• Geralmente tem bom desempenho sem muita engenharia de atributos.</a:t>
            </a:r>
          </a:p>
          <a:p>
            <a:pPr>
              <a:spcAft>
                <a:spcPts val="600"/>
              </a:spcAft>
              <a:defRPr sz="1350">
                <a:solidFill>
                  <a:srgbClr val="374151"/>
                </a:solidFill>
                <a:latin typeface="Aptos"/>
              </a:defRPr>
            </a:pPr>
            <a:r>
              <a:t>• Reduz a instabilidade de uma única árvore.</a:t>
            </a:r>
          </a:p>
          <a:p>
            <a:pPr>
              <a:spcAft>
                <a:spcPts val="600"/>
              </a:spcAft>
              <a:defRPr sz="1350">
                <a:solidFill>
                  <a:srgbClr val="374151"/>
                </a:solidFill>
                <a:latin typeface="Aptos"/>
              </a:defRPr>
            </a:pPr>
            <a:r>
              <a:t>• Funciona bem com variáveis numéricas e categóricas codificadas.</a:t>
            </a:r>
          </a:p>
          <a:p>
            <a:pPr>
              <a:spcAft>
                <a:spcPts val="600"/>
              </a:spcAft>
              <a:defRPr sz="1350">
                <a:solidFill>
                  <a:srgbClr val="374151"/>
                </a:solidFill>
                <a:latin typeface="Aptos"/>
              </a:defRPr>
            </a:pPr>
            <a:r>
              <a:t>• Permite estimar importância das variáveis.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4300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F97316"/>
                </a:solidFill>
                <a:latin typeface="Aptos"/>
              </a:rPr>
              <a:t>Limitações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72768"/>
            <a:ext cx="4572000" cy="2057400"/>
          </a:xfrm>
          <a:prstGeom prst="rect">
            <a:avLst/>
          </a:prstGeom>
          <a:noFill/>
        </p:spPr>
        <p:txBody>
          <a:bodyPr wrap="none" lIns="36576" rIns="18288" tIns="18288" bIns="18288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374151"/>
                </a:solidFill>
                <a:latin typeface="Aptos"/>
              </a:defRPr>
            </a:pPr>
            <a:r>
              <a:t>• Menos interpretável do que uma única árvore.</a:t>
            </a:r>
          </a:p>
          <a:p>
            <a:pPr>
              <a:spcAft>
                <a:spcPts val="600"/>
              </a:spcAft>
              <a:defRPr sz="1350">
                <a:solidFill>
                  <a:srgbClr val="374151"/>
                </a:solidFill>
                <a:latin typeface="Aptos"/>
              </a:defRPr>
            </a:pPr>
            <a:r>
              <a:t>• Pode ser pesado com muitas árvores e muitos dados.</a:t>
            </a:r>
          </a:p>
          <a:p>
            <a:pPr>
              <a:spcAft>
                <a:spcPts val="600"/>
              </a:spcAft>
              <a:defRPr sz="1350">
                <a:solidFill>
                  <a:srgbClr val="374151"/>
                </a:solidFill>
                <a:latin typeface="Aptos"/>
              </a:defRPr>
            </a:pPr>
            <a:r>
              <a:t>• A importância das variáveis precisa ser interpretada com cuidado.</a:t>
            </a:r>
          </a:p>
          <a:p>
            <a:pPr>
              <a:spcAft>
                <a:spcPts val="600"/>
              </a:spcAft>
              <a:defRPr sz="1350">
                <a:solidFill>
                  <a:srgbClr val="374151"/>
                </a:solidFill>
                <a:latin typeface="Aptos"/>
              </a:defRPr>
            </a:pPr>
            <a:r>
              <a:t>• Nem sempre supera modelos mais especializados.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736592"/>
            <a:ext cx="10287000" cy="621792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956048"/>
            <a:ext cx="97383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550" b="1">
                <a:solidFill>
                  <a:srgbClr val="17324D"/>
                </a:solidFill>
                <a:latin typeface="Aptos"/>
              </a:rPr>
              <a:t>Boa escolha para começar: forte, robusto e relativamente fácil de explicar.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Comparação: árvore única vs. floresta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A Random Forest troca interpretabilidade individual por estabilidade e desempenho.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097280"/>
            <a:ext cx="457200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417320"/>
            <a:ext cx="384048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17324D"/>
                </a:solidFill>
                <a:latin typeface="Aptos"/>
              </a:rPr>
              <a:t>Árvore de decisão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364638" y="2055571"/>
            <a:ext cx="422453" cy="724204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87091" y="2055571"/>
            <a:ext cx="422453" cy="724204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083003" y="2779775"/>
            <a:ext cx="281635" cy="6336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64638" y="2779775"/>
            <a:ext cx="271577" cy="6336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968142" y="2779775"/>
            <a:ext cx="241402" cy="6336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9544" y="2779775"/>
            <a:ext cx="301752" cy="63368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606040" y="1874519"/>
            <a:ext cx="362102" cy="36210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83587" y="2598724"/>
            <a:ext cx="362102" cy="36210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8492" y="2598724"/>
            <a:ext cx="362102" cy="36210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01952" y="3232404"/>
            <a:ext cx="362102" cy="3621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55164" y="3232404"/>
            <a:ext cx="362102" cy="3621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87091" y="3232404"/>
            <a:ext cx="362102" cy="3621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30244" y="3232404"/>
            <a:ext cx="362102" cy="3621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3886200"/>
            <a:ext cx="3794760" cy="822960"/>
          </a:xfrm>
          <a:prstGeom prst="rect">
            <a:avLst/>
          </a:prstGeom>
          <a:noFill/>
        </p:spPr>
        <p:txBody>
          <a:bodyPr wrap="none" lIns="36576" rIns="18288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• Mais interpretável</a:t>
            </a:r>
          </a:p>
          <a:p>
            <a:pPr>
              <a:spcAft>
                <a:spcPts val="6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• Pode sofrer overfitting</a:t>
            </a:r>
          </a:p>
          <a:p>
            <a:pPr>
              <a:spcAft>
                <a:spcPts val="6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• Mais sensível a mudanças nos dados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1097280"/>
            <a:ext cx="457200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1417320"/>
            <a:ext cx="384048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17324D"/>
                </a:solidFill>
                <a:latin typeface="Aptos"/>
              </a:rPr>
              <a:t>Random Forest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194499" y="1965045"/>
            <a:ext cx="211226" cy="362103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05725" y="1965045"/>
            <a:ext cx="211227" cy="362103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053681" y="2327148"/>
            <a:ext cx="140818" cy="31683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194499" y="2327148"/>
            <a:ext cx="135788" cy="31683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496251" y="2327148"/>
            <a:ext cx="120701" cy="31683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16952" y="2327148"/>
            <a:ext cx="150876" cy="31683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15200" y="1874519"/>
            <a:ext cx="181051" cy="181051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03973" y="2236622"/>
            <a:ext cx="181051" cy="181051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26426" y="2236622"/>
            <a:ext cx="181051" cy="181051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63156" y="25534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39762" y="25534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405725" y="25534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677302" y="25534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H="1">
            <a:off x="7880299" y="2074773"/>
            <a:ext cx="211226" cy="362103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091525" y="2074773"/>
            <a:ext cx="211227" cy="362103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739481" y="2436876"/>
            <a:ext cx="140818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880299" y="2436876"/>
            <a:ext cx="135788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8182051" y="2436876"/>
            <a:ext cx="120701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02752" y="2436876"/>
            <a:ext cx="150876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001000" y="1984248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89773" y="2346350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12226" y="2346350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648956" y="2663190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925562" y="2663190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091525" y="2663190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363102" y="2663190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>
            <a:off x="8566099" y="1965045"/>
            <a:ext cx="211226" cy="362103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777325" y="1965045"/>
            <a:ext cx="211227" cy="362103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8425281" y="2327148"/>
            <a:ext cx="140818" cy="31683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566099" y="2327148"/>
            <a:ext cx="135788" cy="31683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8867851" y="2327148"/>
            <a:ext cx="120701" cy="31683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988552" y="2327148"/>
            <a:ext cx="150876" cy="316839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8686800" y="1874519"/>
            <a:ext cx="181051" cy="181051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475573" y="2236622"/>
            <a:ext cx="181051" cy="181051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898026" y="2236622"/>
            <a:ext cx="181051" cy="181051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334756" y="25534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11362" y="25534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77325" y="25534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048902" y="2553462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H="1">
            <a:off x="9251899" y="2074773"/>
            <a:ext cx="211226" cy="362103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463125" y="2074773"/>
            <a:ext cx="211227" cy="362103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9111081" y="2436876"/>
            <a:ext cx="140818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251899" y="2436876"/>
            <a:ext cx="135788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9553651" y="2436876"/>
            <a:ext cx="120701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674352" y="2436876"/>
            <a:ext cx="150876" cy="316839"/>
          </a:xfrm>
          <a:prstGeom prst="line">
            <a:avLst/>
          </a:prstGeom>
          <a:ln w="127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9372600" y="1984248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61373" y="2346350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83826" y="2346350"/>
            <a:ext cx="181051" cy="18105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020556" y="2663190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297162" y="2663190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3125" y="2663190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34702" y="2663190"/>
            <a:ext cx="181051" cy="18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86600" y="3886200"/>
            <a:ext cx="3794760" cy="822960"/>
          </a:xfrm>
          <a:prstGeom prst="rect">
            <a:avLst/>
          </a:prstGeom>
          <a:noFill/>
        </p:spPr>
        <p:txBody>
          <a:bodyPr wrap="none" lIns="36576" rIns="18288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• Menos interpretável</a:t>
            </a:r>
          </a:p>
          <a:p>
            <a:pPr>
              <a:spcAft>
                <a:spcPts val="6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• Geralmente mais robusta</a:t>
            </a:r>
          </a:p>
          <a:p>
            <a:pPr>
              <a:spcAft>
                <a:spcPts val="600"/>
              </a:spcAft>
              <a:defRPr sz="1150">
                <a:solidFill>
                  <a:srgbClr val="374151"/>
                </a:solidFill>
                <a:latin typeface="Aptos"/>
              </a:defRPr>
            </a:pPr>
            <a:r>
              <a:t>• Combina várias previsões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Ponte para a prática em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Depois da intuição, a próxima etapa é implementar e comparar modelos.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34440"/>
            <a:ext cx="10561320" cy="347472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536192"/>
            <a:ext cx="9966960" cy="2880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50" b="0">
                <a:solidFill>
                  <a:srgbClr val="E5E7EB"/>
                </a:solidFill>
                <a:latin typeface="Consolas"/>
              </a:rPr>
              <a:t>from sklearn.ensemble import RandomForestClassifier
from sklearn.metrics import accuracy_score, classification_report
modelo = RandomForestClassifier(
    n_estimators=100,
    max_features='sqrt',
    random_state=42,
    oob_score=True
)
modelo.fit(X_train, y_train)
y_pred = modelo.predict(X_test)
print(accuracy_score(y_test, y_pred))
print(modelo.oob_score_)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257800"/>
            <a:ext cx="101498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Aptos"/>
              </a:rPr>
              <a:t>Sugestão de prática: comparar DecisionTreeClassifier e RandomForestClassifier no mesmo dataset.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Resumo da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Random Forest combina aleatoriedade e agregação para melhorar a previsão.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16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1143000"/>
            <a:ext cx="384048" cy="38404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234440"/>
            <a:ext cx="384048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161288"/>
            <a:ext cx="23774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20" b="1">
                <a:solidFill>
                  <a:srgbClr val="17324D"/>
                </a:solidFill>
                <a:latin typeface="Aptos"/>
              </a:rPr>
              <a:t>Bootstrap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170432"/>
            <a:ext cx="67665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30" b="0">
                <a:solidFill>
                  <a:srgbClr val="374151"/>
                </a:solidFill>
                <a:latin typeface="Aptos"/>
              </a:rPr>
              <a:t>Cada árvore recebe uma amostra diferente dos dados.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1892807"/>
            <a:ext cx="384048" cy="38404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84248"/>
            <a:ext cx="384048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911095"/>
            <a:ext cx="23774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20" b="1">
                <a:solidFill>
                  <a:srgbClr val="17324D"/>
                </a:solidFill>
                <a:latin typeface="Aptos"/>
              </a:rPr>
              <a:t>Atributos aleatórios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920239"/>
            <a:ext cx="67665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30" b="0">
                <a:solidFill>
                  <a:srgbClr val="374151"/>
                </a:solidFill>
                <a:latin typeface="Aptos"/>
              </a:rPr>
              <a:t>Cada divisão considera apenas parte das variáveis.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2642615"/>
            <a:ext cx="384048" cy="38404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734056"/>
            <a:ext cx="384048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660903"/>
            <a:ext cx="23774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20" b="1">
                <a:solidFill>
                  <a:srgbClr val="17324D"/>
                </a:solidFill>
                <a:latin typeface="Aptos"/>
              </a:rPr>
              <a:t>Muitas árvores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670047"/>
            <a:ext cx="67665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30" b="0">
                <a:solidFill>
                  <a:srgbClr val="374151"/>
                </a:solidFill>
                <a:latin typeface="Aptos"/>
              </a:rPr>
              <a:t>A diversidade reduz a dependência de uma única árvore.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3392424"/>
            <a:ext cx="384048" cy="38404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483864"/>
            <a:ext cx="384048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410712"/>
            <a:ext cx="23774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20" b="1">
                <a:solidFill>
                  <a:srgbClr val="17324D"/>
                </a:solidFill>
                <a:latin typeface="Aptos"/>
              </a:rPr>
              <a:t>Votação ou média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419856"/>
            <a:ext cx="67665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30" b="0">
                <a:solidFill>
                  <a:srgbClr val="374151"/>
                </a:solidFill>
                <a:latin typeface="Aptos"/>
              </a:rPr>
              <a:t>A previsão final agrega as previsões individuais.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4142231"/>
            <a:ext cx="384048" cy="38404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33671"/>
            <a:ext cx="384048" cy="731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160519"/>
            <a:ext cx="23774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20" b="1">
                <a:solidFill>
                  <a:srgbClr val="17324D"/>
                </a:solidFill>
                <a:latin typeface="Aptos"/>
              </a:rPr>
              <a:t>OOB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169663"/>
            <a:ext cx="676656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30" b="0">
                <a:solidFill>
                  <a:srgbClr val="374151"/>
                </a:solidFill>
                <a:latin typeface="Aptos"/>
              </a:rPr>
              <a:t>Amostras fora do bootstrap ajudam na avaliação.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5440680"/>
            <a:ext cx="10104120" cy="457200"/>
          </a:xfrm>
          <a:prstGeom prst="roundRect">
            <a:avLst/>
          </a:prstGeom>
          <a:solidFill>
            <a:srgbClr val="17324D"/>
          </a:solidFill>
          <a:ln w="1016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98448" y="5596128"/>
            <a:ext cx="9601200" cy="1188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280" b="1">
                <a:solidFill>
                  <a:srgbClr val="FFFFFF"/>
                </a:solidFill>
                <a:latin typeface="Aptos"/>
              </a:rPr>
              <a:t>Ideia-chave: a força da floresta vem da diversidade das árvores e da agregação das previsões.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932688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Questões rápidas para fixação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786384"/>
            <a:ext cx="103327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Aptos"/>
              </a:rPr>
              <a:t>Use estas perguntas para discussão ou como fechamento da aula.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10528"/>
            <a:ext cx="11201400" cy="0"/>
          </a:xfrm>
          <a:prstGeom prst="line">
            <a:avLst/>
          </a:prstGeom>
          <a:ln w="1016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65392"/>
            <a:ext cx="402336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ptos"/>
              </a:rPr>
              <a:t>Introdução ao Aprendizado de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56539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65392"/>
            <a:ext cx="320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34440"/>
            <a:ext cx="52578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99032"/>
            <a:ext cx="48554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1. Por que usar bootstrap?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01368"/>
            <a:ext cx="4855464" cy="3657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Explique como a amostragem com reposição contribui para criar árvores diferentes.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2578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399032"/>
            <a:ext cx="48554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2. Por que sortear atributos?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801368"/>
            <a:ext cx="4855464" cy="3657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Explique por que limitar os atributos candidatos em cada divisão aumenta a diversidade.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88920"/>
            <a:ext cx="52578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53512"/>
            <a:ext cx="48554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3. Como classificar um novo exemplo?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355848"/>
            <a:ext cx="4855464" cy="3657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Descreva o processo de votação das árvores em um problema de classificação.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88920"/>
            <a:ext cx="52578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2953512"/>
            <a:ext cx="48554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4. O que é out-of-bag?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3355848"/>
            <a:ext cx="4855464" cy="3657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50" b="0">
                <a:solidFill>
                  <a:srgbClr val="374151"/>
                </a:solidFill>
                <a:latin typeface="Aptos"/>
              </a:rPr>
              <a:t>Explique como amostras não usadas no treino de uma árvore podem ajudar na avaliação.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303520"/>
            <a:ext cx="98755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450" b="1">
                <a:solidFill>
                  <a:srgbClr val="17324D"/>
                </a:solidFill>
                <a:latin typeface="Aptos"/>
              </a:rPr>
              <a:t>Para a próxima aula: implementar, avaliar e comparar com uma árvore de decisão única.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 - Introdução ao Aprendizado de Máquina</dc:title>
  <dc:subject>Aula sobre Random Forest</dc:subject>
  <dc:creator>Everton Meyer da Silva</dc:creator>
  <cp:keywords/>
  <dc:description>Arquivo gerado em formato compatível, sem notas e sem elementos especiais.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