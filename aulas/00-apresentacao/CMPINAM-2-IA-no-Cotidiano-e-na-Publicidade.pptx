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62" r:id="rId2"/>
    <p:sldId id="256" r:id="rId3"/>
    <p:sldId id="257" r:id="rId4"/>
    <p:sldId id="258" r:id="rId5"/>
    <p:sldId id="270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2" r:id="rId17"/>
  </p:sldIdLst>
  <p:sldSz cx="14630400" cy="8229600"/>
  <p:notesSz cx="8229600" cy="14630400"/>
  <p:embeddedFontLst>
    <p:embeddedFont>
      <p:font typeface="Instrument Sans" pitchFamily="2" charset="0"/>
      <p:regular r:id="rId19"/>
      <p:bold r:id="rId20"/>
      <p:italic r:id="rId21"/>
      <p:boldItalic r:id="rId22"/>
    </p:embeddedFont>
    <p:embeddedFont>
      <p:font typeface="Instrument Sans Medium" pitchFamily="2" charset="0"/>
      <p:regular r:id="rId23"/>
      <p:italic r:id="rId24"/>
    </p:embeddedFont>
    <p:embeddedFont>
      <p:font typeface="Instrument Sans Semi Bold" panose="020B0604020202020204" charset="0"/>
      <p:regular r:id="rId2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3811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pt-BR" dirty="0"/>
              <a:t>“Modelos de IA aprendem padrões a partir de grandes volumes de dados. Eles não têm intenção ou criatividade própria — eles combinam padrões que aprenderam.”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t-BR" dirty="0"/>
              <a:t>“Esses sistemas analisam padrões de comportamento. Eles comparam você com outras pessoas que assistiram conteúdos parecidos.”</a:t>
            </a:r>
          </a:p>
          <a:p>
            <a:pPr marL="171450" indent="-171450">
              <a:buFontTx/>
              <a:buChar char="-"/>
            </a:pPr>
            <a:r>
              <a:rPr lang="pt-BR" dirty="0"/>
              <a:t>“Em áreas como saúde e finanças, explicabilidade é fundamental.”</a:t>
            </a:r>
          </a:p>
          <a:p>
            <a:pPr marL="171450" indent="-171450">
              <a:buFontTx/>
              <a:buChar char="-"/>
            </a:pPr>
            <a:r>
              <a:rPr lang="pt-BR" dirty="0"/>
              <a:t>“A IA não é uma entidade independente. Ela foi treinada com dados e configurada por alguém.”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1036-BA2D-3452-A3B4-74D628B18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411E7-4DA7-6DBF-DC94-DA2BB4A7B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21475-E421-A154-ACBA-5ECF3CB3D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9038E-5B56-CA4E-67A7-596F1B032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71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D6624-84F7-CD48-5703-B1C5E3ADE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F02D7-F857-BD97-3347-68E869A7A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C14E9-BCDA-95C8-28C9-174E666C8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1FE96-9EA0-99BD-D515-2CAA5277BB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64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D89B6-8AB3-18EE-CACF-03252E3C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51C88-488C-0E92-B1B4-FF5334D7C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B7667-F3F2-4E07-99C4-B9D905444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8E390-BD9E-07EE-3225-A51D743E9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75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58675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watch?v=4zFniCcLZoU" TargetMode="External"/><Relationship Id="rId5" Type="http://schemas.openxmlformats.org/officeDocument/2006/relationships/hyperlink" Target="https://www.youtube.com/watch?v=h9v8LfziQlQ" TargetMode="External"/><Relationship Id="rId4" Type="http://schemas.openxmlformats.org/officeDocument/2006/relationships/hyperlink" Target="https://www.youtube.com/watch?v=xfVUmd545KU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5330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pt-BR" sz="61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INTRODUÇÃO AO</a:t>
            </a:r>
            <a:endParaRPr lang="pt-BR" sz="6150" noProof="0" dirty="0"/>
          </a:p>
        </p:txBody>
      </p:sp>
      <p:sp>
        <p:nvSpPr>
          <p:cNvPr id="3" name="Text 1"/>
          <p:cNvSpPr/>
          <p:nvPr/>
        </p:nvSpPr>
        <p:spPr>
          <a:xfrm>
            <a:off x="793790" y="2053709"/>
            <a:ext cx="10884337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pt-BR" sz="61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APRENDIZADO DE MÁQUINA</a:t>
            </a:r>
            <a:endParaRPr lang="pt-BR" sz="6150" noProof="0" dirty="0"/>
          </a:p>
        </p:txBody>
      </p:sp>
      <p:sp>
        <p:nvSpPr>
          <p:cNvPr id="4" name="Text 2"/>
          <p:cNvSpPr/>
          <p:nvPr/>
        </p:nvSpPr>
        <p:spPr>
          <a:xfrm>
            <a:off x="793790" y="3372088"/>
            <a:ext cx="726498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pt-BR" sz="3550" b="1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 IA Está em Toda Parte: E Agora?</a:t>
            </a:r>
            <a:endParaRPr lang="pt-BR" sz="3550" noProof="0" dirty="0"/>
          </a:p>
        </p:txBody>
      </p:sp>
      <p:sp>
        <p:nvSpPr>
          <p:cNvPr id="5" name="Text 3"/>
          <p:cNvSpPr/>
          <p:nvPr/>
        </p:nvSpPr>
        <p:spPr>
          <a:xfrm>
            <a:off x="793790" y="4279225"/>
            <a:ext cx="45097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pt-BR" sz="26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Prof. Everton Meyer da Silva</a:t>
            </a:r>
            <a:endParaRPr lang="pt-BR" sz="2650" noProof="0" dirty="0"/>
          </a:p>
        </p:txBody>
      </p:sp>
      <p:sp>
        <p:nvSpPr>
          <p:cNvPr id="6" name="Text 4"/>
          <p:cNvSpPr/>
          <p:nvPr/>
        </p:nvSpPr>
        <p:spPr>
          <a:xfrm>
            <a:off x="793790" y="50446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i="1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everton.silva@ifsp.edu.br</a:t>
            </a:r>
            <a:endParaRPr lang="pt-BR" sz="1750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917883"/>
            <a:ext cx="2409944" cy="8430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EB1BD4D-42F2-324A-B400-D8E8371CF6A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5" t="12712" r="7073" b="11593"/>
          <a:stretch>
            <a:fillRect/>
          </a:stretch>
        </p:blipFill>
        <p:spPr>
          <a:xfrm>
            <a:off x="7416640" y="5668114"/>
            <a:ext cx="2997185" cy="13054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pt-BR" sz="44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IA no Cotidiano e na Publicidade</a:t>
            </a:r>
            <a:endParaRPr lang="pt-BR" sz="4450" noProof="0" dirty="0"/>
          </a:p>
        </p:txBody>
      </p:sp>
      <p:sp>
        <p:nvSpPr>
          <p:cNvPr id="4" name="Text 1"/>
          <p:cNvSpPr/>
          <p:nvPr/>
        </p:nvSpPr>
        <p:spPr>
          <a:xfrm>
            <a:off x="62801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Inteligência Artificial tem se tornado uma das tecnologias mais impactantes e transformadoras do nosso tempo. No cotidiano, sua presença é quase invisível, mas profundamente integrada a ações simples como buscas na internet, sugestões de filmes ou reconhecimento facial.</a:t>
            </a:r>
            <a:endParaRPr lang="pt-BR" sz="17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2567" y="1064062"/>
            <a:ext cx="7575233" cy="615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pt-BR" sz="38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IA Transformando Nossa Rotina</a:t>
            </a:r>
            <a:endParaRPr lang="pt-BR" sz="3850" noProof="0" dirty="0"/>
          </a:p>
        </p:txBody>
      </p:sp>
      <p:sp>
        <p:nvSpPr>
          <p:cNvPr id="4" name="Shape 1"/>
          <p:cNvSpPr/>
          <p:nvPr/>
        </p:nvSpPr>
        <p:spPr>
          <a:xfrm>
            <a:off x="6252567" y="1975247"/>
            <a:ext cx="7611666" cy="1804035"/>
          </a:xfrm>
          <a:prstGeom prst="roundRect">
            <a:avLst>
              <a:gd name="adj" fmla="val 9829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2"/>
          <p:cNvSpPr/>
          <p:nvPr/>
        </p:nvSpPr>
        <p:spPr>
          <a:xfrm>
            <a:off x="6275427" y="1998107"/>
            <a:ext cx="788075" cy="1758315"/>
          </a:xfrm>
          <a:prstGeom prst="roundRect">
            <a:avLst>
              <a:gd name="adj" fmla="val 190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3"/>
          <p:cNvSpPr/>
          <p:nvPr/>
        </p:nvSpPr>
        <p:spPr>
          <a:xfrm>
            <a:off x="6521648" y="2692598"/>
            <a:ext cx="29551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pt-BR" sz="2300" noProof="0" dirty="0"/>
          </a:p>
        </p:txBody>
      </p:sp>
      <p:sp>
        <p:nvSpPr>
          <p:cNvPr id="7" name="Text 4"/>
          <p:cNvSpPr/>
          <p:nvPr/>
        </p:nvSpPr>
        <p:spPr>
          <a:xfrm>
            <a:off x="7260431" y="2195036"/>
            <a:ext cx="6580942" cy="615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Manual do Mundo: "</a:t>
            </a: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hlinkClick r:id="rId4"/>
              </a:rPr>
              <a:t>5 DICAS de IA que EU USO no meu dia a dia</a:t>
            </a: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"</a:t>
            </a:r>
            <a:endParaRPr lang="pt-BR" sz="1900" noProof="0" dirty="0"/>
          </a:p>
        </p:txBody>
      </p:sp>
      <p:sp>
        <p:nvSpPr>
          <p:cNvPr id="8" name="Text 5"/>
          <p:cNvSpPr/>
          <p:nvPr/>
        </p:nvSpPr>
        <p:spPr>
          <a:xfrm>
            <a:off x="7260431" y="2928938"/>
            <a:ext cx="6580942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Apresenta aplicações práticas de IA no cotidiano, como ferramentas de escrita automática, geração de imagens e assistentes pessoais.</a:t>
            </a:r>
            <a:endParaRPr lang="pt-BR" sz="1550" noProof="0" dirty="0"/>
          </a:p>
        </p:txBody>
      </p:sp>
      <p:sp>
        <p:nvSpPr>
          <p:cNvPr id="9" name="Shape 6"/>
          <p:cNvSpPr/>
          <p:nvPr/>
        </p:nvSpPr>
        <p:spPr>
          <a:xfrm>
            <a:off x="6252567" y="3976211"/>
            <a:ext cx="7611666" cy="1496139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6275427" y="3999071"/>
            <a:ext cx="788075" cy="1450419"/>
          </a:xfrm>
          <a:prstGeom prst="roundRect">
            <a:avLst>
              <a:gd name="adj" fmla="val 190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6521648" y="4539615"/>
            <a:ext cx="29551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pt-BR" sz="2300" noProof="0" dirty="0"/>
          </a:p>
        </p:txBody>
      </p:sp>
      <p:sp>
        <p:nvSpPr>
          <p:cNvPr id="12" name="Text 9"/>
          <p:cNvSpPr/>
          <p:nvPr/>
        </p:nvSpPr>
        <p:spPr>
          <a:xfrm>
            <a:off x="7260431" y="4196001"/>
            <a:ext cx="5771436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Manual do Mundo: "</a:t>
            </a: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hlinkClick r:id="rId5"/>
              </a:rPr>
              <a:t>IA vai TIRAR meu EMPREGO?</a:t>
            </a: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"</a:t>
            </a:r>
            <a:endParaRPr lang="pt-BR" sz="1900" noProof="0" dirty="0"/>
          </a:p>
        </p:txBody>
      </p:sp>
      <p:sp>
        <p:nvSpPr>
          <p:cNvPr id="13" name="Text 10"/>
          <p:cNvSpPr/>
          <p:nvPr/>
        </p:nvSpPr>
        <p:spPr>
          <a:xfrm>
            <a:off x="7260431" y="4622006"/>
            <a:ext cx="6580942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Aborda a preocupação crescente sobre os impactos da IA no mercado de trabalho e a substituição de certas funções humanas.</a:t>
            </a:r>
            <a:endParaRPr lang="pt-BR" sz="1550" noProof="0" dirty="0"/>
          </a:p>
        </p:txBody>
      </p:sp>
      <p:sp>
        <p:nvSpPr>
          <p:cNvPr id="14" name="Shape 11"/>
          <p:cNvSpPr/>
          <p:nvPr/>
        </p:nvSpPr>
        <p:spPr>
          <a:xfrm>
            <a:off x="6252567" y="5669280"/>
            <a:ext cx="7611666" cy="1496139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2"/>
          <p:cNvSpPr/>
          <p:nvPr/>
        </p:nvSpPr>
        <p:spPr>
          <a:xfrm>
            <a:off x="6275427" y="5692140"/>
            <a:ext cx="788075" cy="1450419"/>
          </a:xfrm>
          <a:prstGeom prst="roundRect">
            <a:avLst>
              <a:gd name="adj" fmla="val 190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6521648" y="6232684"/>
            <a:ext cx="29551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pt-BR" sz="2300" noProof="0" dirty="0"/>
          </a:p>
        </p:txBody>
      </p:sp>
      <p:sp>
        <p:nvSpPr>
          <p:cNvPr id="17" name="Text 14"/>
          <p:cNvSpPr/>
          <p:nvPr/>
        </p:nvSpPr>
        <p:spPr>
          <a:xfrm>
            <a:off x="7260431" y="5889069"/>
            <a:ext cx="5098494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0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Amazon</a:t>
            </a: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pt-BR" sz="190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Ads</a:t>
            </a: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: "</a:t>
            </a: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hlinkClick r:id="rId6"/>
              </a:rPr>
              <a:t>AI-</a:t>
            </a:r>
            <a:r>
              <a:rPr lang="pt-BR" sz="190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hlinkClick r:id="rId6"/>
              </a:rPr>
              <a:t>powered</a:t>
            </a: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hlinkClick r:id="rId6"/>
              </a:rPr>
              <a:t> </a:t>
            </a:r>
            <a:r>
              <a:rPr lang="pt-BR" sz="190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hlinkClick r:id="rId6"/>
              </a:rPr>
              <a:t>Video</a:t>
            </a: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hlinkClick r:id="rId6"/>
              </a:rPr>
              <a:t> </a:t>
            </a:r>
            <a:r>
              <a:rPr lang="pt-BR" sz="190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hlinkClick r:id="rId6"/>
              </a:rPr>
              <a:t>Generator</a:t>
            </a:r>
            <a:r>
              <a:rPr lang="pt-BR" sz="19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"</a:t>
            </a:r>
            <a:endParaRPr lang="pt-BR" sz="1900" noProof="0" dirty="0"/>
          </a:p>
        </p:txBody>
      </p:sp>
      <p:sp>
        <p:nvSpPr>
          <p:cNvPr id="18" name="Text 15"/>
          <p:cNvSpPr/>
          <p:nvPr/>
        </p:nvSpPr>
        <p:spPr>
          <a:xfrm>
            <a:off x="7260431" y="6315075"/>
            <a:ext cx="6580942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Mostra como grandes empresas utilizam IA para automatizar processos criativos complexos, como a produção de vídeos publicitários.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3E4552DD-0030-F9D5-67B9-EA2B70D35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0"/>
            <a:ext cx="12344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0A8938-CD00-4D5E-F409-48E531EF2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0BA104-64C3-3FC8-AAEC-7E6B01C428EC}"/>
              </a:ext>
            </a:extLst>
          </p:cNvPr>
          <p:cNvSpPr/>
          <p:nvPr/>
        </p:nvSpPr>
        <p:spPr>
          <a:xfrm>
            <a:off x="793790" y="1787128"/>
            <a:ext cx="61102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pt-BR" sz="44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Perguntas para Debate</a:t>
            </a:r>
            <a:endParaRPr lang="pt-BR" sz="4450" noProof="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3FFD7D2-08DC-0E1B-3A71-D0B6EAE61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49535"/>
            <a:ext cx="4196358" cy="1814513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A62B9C5B-9347-7076-F1B2-865BD4811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949535"/>
            <a:ext cx="4196358" cy="1814513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6B08CAAC-F400-9316-D4FB-03654AFC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949535"/>
            <a:ext cx="4196358" cy="1814513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27EA408C-9481-93B1-56BF-BECAB7BC0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990862"/>
            <a:ext cx="6407944" cy="1451610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F0574C37-5A38-0B77-ABBE-2878A4731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4990862"/>
            <a:ext cx="6407944" cy="145161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5D392C9F-60C9-91ED-01E5-4DE9A257BF88}"/>
              </a:ext>
            </a:extLst>
          </p:cNvPr>
          <p:cNvSpPr/>
          <p:nvPr/>
        </p:nvSpPr>
        <p:spPr>
          <a:xfrm>
            <a:off x="1020604" y="317634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 quais situações a IA colabora positivamente com a criatividade? Em quais ela prejudica?</a:t>
            </a:r>
            <a:endParaRPr lang="pt-BR" sz="1750" noProof="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DE3942E-32A6-AD12-452B-5B067F33C6D0}"/>
              </a:ext>
            </a:extLst>
          </p:cNvPr>
          <p:cNvSpPr/>
          <p:nvPr/>
        </p:nvSpPr>
        <p:spPr>
          <a:xfrm>
            <a:off x="5443776" y="317634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Quais dessas aplicações de IA você já utilizou pessoalmente? Te surpreendeu?</a:t>
            </a:r>
            <a:endParaRPr lang="pt-BR" sz="1750" noProof="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3576402-9395-2D5F-FB40-F390F9F2143F}"/>
              </a:ext>
            </a:extLst>
          </p:cNvPr>
          <p:cNvSpPr/>
          <p:nvPr/>
        </p:nvSpPr>
        <p:spPr>
          <a:xfrm>
            <a:off x="9866948" y="317634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Os anúncios gerados por IA são eficazes ou genéricos demais?</a:t>
            </a:r>
            <a:endParaRPr lang="pt-BR" sz="1750" noProof="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8A61DD5-435E-27FC-07D9-E9DF4B076DF5}"/>
              </a:ext>
            </a:extLst>
          </p:cNvPr>
          <p:cNvSpPr/>
          <p:nvPr/>
        </p:nvSpPr>
        <p:spPr>
          <a:xfrm>
            <a:off x="1020604" y="5217676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Você se sentiria confortável sendo avaliado, atendido ou diagnosticado por uma IA?</a:t>
            </a:r>
            <a:endParaRPr lang="pt-BR" sz="1750" noProof="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1C7EDAFE-3810-3F4B-0BD6-999A815A1071}"/>
              </a:ext>
            </a:extLst>
          </p:cNvPr>
          <p:cNvSpPr/>
          <p:nvPr/>
        </p:nvSpPr>
        <p:spPr>
          <a:xfrm>
            <a:off x="7655362" y="5217676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IA pode ser criativa de verdade ou apenas imita padrões humanos?</a:t>
            </a:r>
            <a:endParaRPr lang="pt-BR" sz="1750" noProof="0" dirty="0"/>
          </a:p>
        </p:txBody>
      </p:sp>
    </p:spTree>
    <p:extLst>
      <p:ext uri="{BB962C8B-B14F-4D97-AF65-F5344CB8AC3E}">
        <p14:creationId xmlns:p14="http://schemas.microsoft.com/office/powerpoint/2010/main" val="3328435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pt-BR" sz="44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Modelos Clássicos de ML vs. </a:t>
            </a:r>
            <a:r>
              <a:rPr lang="pt-BR" sz="4450" noProof="0" dirty="0" err="1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LLMs</a:t>
            </a:r>
            <a:endParaRPr lang="pt-BR" sz="4450" noProof="0" dirty="0"/>
          </a:p>
        </p:txBody>
      </p:sp>
      <p:sp>
        <p:nvSpPr>
          <p:cNvPr id="4" name="Text 1"/>
          <p:cNvSpPr/>
          <p:nvPr/>
        </p:nvSpPr>
        <p:spPr>
          <a:xfrm>
            <a:off x="62801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 o avanço das tecnologias de Inteligência Artificial, temos duas abordagens amplamente utilizadas: os modelos clássicos de aprendizado de máquina e os modelos de linguagem de larga escala (</a:t>
            </a:r>
            <a:r>
              <a:rPr lang="pt-BR" sz="17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LLMs</a:t>
            </a: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). Ambos são úteis, mas cada um tem aplicações práticas distintas.</a:t>
            </a:r>
            <a:endParaRPr lang="pt-BR" sz="17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857"/>
            <a:ext cx="727948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pt-BR" sz="4000" noProof="0" dirty="0">
                <a:solidFill>
                  <a:srgbClr val="091C53"/>
                </a:solidFill>
                <a:latin typeface="Instrument Sans" pitchFamily="2" charset="0"/>
                <a:ea typeface="Instrument Sans Semi Bold" pitchFamily="34" charset="-122"/>
                <a:cs typeface="Instrument Sans Semi Bold" pitchFamily="34" charset="-120"/>
              </a:rPr>
              <a:t>Comparação de Modelos de IA</a:t>
            </a:r>
            <a:endParaRPr lang="pt-BR" sz="4000" noProof="0" dirty="0">
              <a:latin typeface="Instrument Sans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07977"/>
            <a:ext cx="3599855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pt-BR" sz="2400" b="1" noProof="0" dirty="0">
                <a:solidFill>
                  <a:srgbClr val="091C53"/>
                </a:solidFill>
                <a:latin typeface="Instrument Sans" pitchFamily="2" charset="0"/>
                <a:ea typeface="Instrument Sans Semi Bold" pitchFamily="34" charset="-122"/>
                <a:cs typeface="Instrument Sans Semi Bold" pitchFamily="34" charset="-120"/>
              </a:rPr>
              <a:t>Modelos Clássicos de ML</a:t>
            </a:r>
            <a:endParaRPr lang="pt-BR" sz="2400" b="1" noProof="0" dirty="0">
              <a:latin typeface="Instrument Sans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494836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Aprendem a partir de dados estruturados (tabelas, registros, métricas):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377803"/>
            <a:ext cx="6272451" cy="3862388"/>
          </a:xfrm>
          <a:prstGeom prst="roundRect">
            <a:avLst>
              <a:gd name="adj" fmla="val 475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01410" y="3385423"/>
            <a:ext cx="6257211" cy="586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483" y="3515439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b="1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Modelo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37898" y="3515439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b="1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Aplicação prática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1410" y="3972163"/>
            <a:ext cx="6257211" cy="9134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483" y="4102179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Regressão linear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37898" y="4102179"/>
            <a:ext cx="2716649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Previsão de preços de imóveis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1410" y="4885611"/>
            <a:ext cx="6257211" cy="586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483" y="501562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Árvore de decisão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37898" y="501562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Análise de crédito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1410" y="5472351"/>
            <a:ext cx="6257211" cy="5867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483" y="560236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KNN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37898" y="560236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Classificação de clientes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1410" y="6059091"/>
            <a:ext cx="6257211" cy="586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483" y="618910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SVM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37898" y="618910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Diagnóstico médico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1410" y="6645831"/>
            <a:ext cx="6257211" cy="5867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5483" y="677584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Random Forest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37898" y="677584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Previsão de </a:t>
            </a:r>
            <a:r>
              <a:rPr lang="pt-BR" sz="1600" noProof="0" dirty="0" err="1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churn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71780" y="1907977"/>
            <a:ext cx="452401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pt-BR" sz="2400" b="1" noProof="0" dirty="0" err="1">
                <a:solidFill>
                  <a:srgbClr val="091C53"/>
                </a:solidFill>
                <a:latin typeface="Instrument Sans" pitchFamily="2" charset="0"/>
                <a:ea typeface="Instrument Sans Semi Bold" pitchFamily="34" charset="-122"/>
                <a:cs typeface="Instrument Sans Semi Bold" pitchFamily="34" charset="-120"/>
              </a:rPr>
              <a:t>LLMs</a:t>
            </a:r>
            <a:r>
              <a:rPr lang="pt-BR" sz="2400" b="1" noProof="0" dirty="0">
                <a:solidFill>
                  <a:srgbClr val="091C53"/>
                </a:solidFill>
                <a:latin typeface="Instrument Sans" pitchFamily="2" charset="0"/>
                <a:ea typeface="Instrument Sans Semi Bold" pitchFamily="34" charset="-122"/>
                <a:cs typeface="Instrument Sans Semi Bold" pitchFamily="34" charset="-120"/>
              </a:rPr>
              <a:t> (Large </a:t>
            </a:r>
            <a:r>
              <a:rPr lang="pt-BR" sz="2400" b="1" noProof="0" dirty="0" err="1">
                <a:solidFill>
                  <a:srgbClr val="091C53"/>
                </a:solidFill>
                <a:latin typeface="Instrument Sans" pitchFamily="2" charset="0"/>
                <a:ea typeface="Instrument Sans Semi Bold" pitchFamily="34" charset="-122"/>
                <a:cs typeface="Instrument Sans Semi Bold" pitchFamily="34" charset="-120"/>
              </a:rPr>
              <a:t>Language</a:t>
            </a:r>
            <a:r>
              <a:rPr lang="pt-BR" sz="2400" b="1" noProof="0" dirty="0">
                <a:solidFill>
                  <a:srgbClr val="091C53"/>
                </a:solidFill>
                <a:latin typeface="Instrument Sans" pitchFamily="2" charset="0"/>
                <a:ea typeface="Instrument Sans Semi Bold" pitchFamily="34" charset="-122"/>
                <a:cs typeface="Instrument Sans Semi Bold" pitchFamily="34" charset="-120"/>
              </a:rPr>
              <a:t> Models)</a:t>
            </a:r>
            <a:endParaRPr lang="pt-BR" sz="2400" b="1" noProof="0" dirty="0">
              <a:latin typeface="Instrument Sans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71780" y="2494836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Treinados com grandes volumes de texto, capazes de gerar, resumir, traduzir e interpretar linguagem natural: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571780" y="3377803"/>
            <a:ext cx="6272451" cy="3862388"/>
          </a:xfrm>
          <a:prstGeom prst="roundRect">
            <a:avLst>
              <a:gd name="adj" fmla="val 475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579400" y="3385423"/>
            <a:ext cx="6257211" cy="586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83473" y="3515439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b="1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Modelo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915888" y="3515439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b="1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Aplicação prática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579400" y="3972163"/>
            <a:ext cx="6257211" cy="9134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783473" y="4102179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ChatGPT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915888" y="4102179"/>
            <a:ext cx="2716649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Atendimento, criação de conteúdo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579400" y="4885611"/>
            <a:ext cx="6257211" cy="586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783473" y="501562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Claude, Gemini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915888" y="501562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Resumos de documentos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579400" y="5472351"/>
            <a:ext cx="6257211" cy="5867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783473" y="560236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 err="1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Copilot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915888" y="560236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Programação assistida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579400" y="6059091"/>
            <a:ext cx="6257211" cy="586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783473" y="618910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DALL·E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915888" y="618910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Geração de imagens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579400" y="6645831"/>
            <a:ext cx="6257211" cy="5867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 noProof="0" dirty="0">
              <a:latin typeface="Instrument Sans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783473" y="677584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 err="1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Whisper</a:t>
            </a:r>
            <a:endParaRPr lang="pt-BR" sz="1600" noProof="0" dirty="0">
              <a:latin typeface="Instrument Sans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915888" y="6775847"/>
            <a:ext cx="271664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pt-BR" sz="1600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Transcrição de áudio</a:t>
            </a:r>
            <a:endParaRPr lang="pt-BR" sz="1600" noProof="0" dirty="0">
              <a:latin typeface="Instrument Sans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567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pt-BR" sz="44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Inteligência Artificial: Fundamentos e Evolução</a:t>
            </a:r>
            <a:endParaRPr lang="pt-BR" sz="4450" noProof="0" dirty="0"/>
          </a:p>
        </p:txBody>
      </p:sp>
      <p:sp>
        <p:nvSpPr>
          <p:cNvPr id="4" name="Text 1"/>
          <p:cNvSpPr/>
          <p:nvPr/>
        </p:nvSpPr>
        <p:spPr>
          <a:xfrm>
            <a:off x="6280190" y="341447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Inteligência Artificial (IA) é uma área da ciência da computação dedicada à criação de sistemas capazes de simular capacidades humanas, como percepção, raciocínio, aprendizado e tomada de decisão. Em termos simples, é a tentativa de fazer com que máquinas "pensem" ou atuem de forma inteligente.</a:t>
            </a:r>
            <a:endParaRPr lang="pt-BR" sz="1750" noProof="0" dirty="0"/>
          </a:p>
        </p:txBody>
      </p:sp>
      <p:sp>
        <p:nvSpPr>
          <p:cNvPr id="5" name="Text 2"/>
          <p:cNvSpPr/>
          <p:nvPr/>
        </p:nvSpPr>
        <p:spPr>
          <a:xfrm>
            <a:off x="6280190" y="548413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Embora o conceito pareça recente para muitos, sua origem remonta à década de 1950, passando por várias fases de avanços e estagnação até a atual popularização.</a:t>
            </a:r>
            <a:endParaRPr lang="pt-BR" sz="17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03432" y="2390775"/>
            <a:ext cx="22860" cy="4365784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2"/>
          <p:cNvSpPr/>
          <p:nvPr/>
        </p:nvSpPr>
        <p:spPr>
          <a:xfrm>
            <a:off x="6703814" y="2602587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3"/>
          <p:cNvSpPr/>
          <p:nvPr/>
        </p:nvSpPr>
        <p:spPr>
          <a:xfrm>
            <a:off x="6280190" y="2390775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6354604" y="242798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pt-BR" sz="2300" noProof="0" dirty="0"/>
          </a:p>
        </p:txBody>
      </p:sp>
      <p:sp>
        <p:nvSpPr>
          <p:cNvPr id="8" name="Text 5"/>
          <p:cNvSpPr/>
          <p:nvPr/>
        </p:nvSpPr>
        <p:spPr>
          <a:xfrm>
            <a:off x="7495818" y="2427922"/>
            <a:ext cx="469963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1956 – Conferência de </a:t>
            </a:r>
            <a:r>
              <a:rPr lang="pt-BR" sz="230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Dartmouth</a:t>
            </a:r>
            <a:endParaRPr lang="pt-BR" sz="2300" noProof="0" dirty="0"/>
          </a:p>
        </p:txBody>
      </p:sp>
      <p:sp>
        <p:nvSpPr>
          <p:cNvPr id="9" name="Text 6"/>
          <p:cNvSpPr/>
          <p:nvPr/>
        </p:nvSpPr>
        <p:spPr>
          <a:xfrm>
            <a:off x="7495818" y="2919055"/>
            <a:ext cx="634079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Foi nesta conferência que o termo 'Inteligência Artificial' foi proposto por John McCarthy. O evento reuniu pesquisadores interessados em simular aspectos da inteligência humana com máquinas. É considerado o nascimento oficial da IA como área de pesquisa.</a:t>
            </a:r>
            <a:endParaRPr lang="pt-BR" sz="1550" noProof="0" dirty="0"/>
          </a:p>
        </p:txBody>
      </p:sp>
      <p:sp>
        <p:nvSpPr>
          <p:cNvPr id="10" name="Shape 7"/>
          <p:cNvSpPr/>
          <p:nvPr/>
        </p:nvSpPr>
        <p:spPr>
          <a:xfrm>
            <a:off x="6703814" y="4797862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6280190" y="4586049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6354604" y="462325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pt-BR" sz="2300" noProof="0" dirty="0"/>
          </a:p>
        </p:txBody>
      </p:sp>
      <p:sp>
        <p:nvSpPr>
          <p:cNvPr id="13" name="Text 10"/>
          <p:cNvSpPr/>
          <p:nvPr/>
        </p:nvSpPr>
        <p:spPr>
          <a:xfrm>
            <a:off x="7495818" y="4623197"/>
            <a:ext cx="634079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1960–1980 – Sistemas simbólicos e especialistas</a:t>
            </a:r>
            <a:endParaRPr lang="pt-BR" sz="2300" noProof="0" dirty="0"/>
          </a:p>
        </p:txBody>
      </p:sp>
      <p:sp>
        <p:nvSpPr>
          <p:cNvPr id="14" name="Text 11"/>
          <p:cNvSpPr/>
          <p:nvPr/>
        </p:nvSpPr>
        <p:spPr>
          <a:xfrm>
            <a:off x="7495818" y="5486400"/>
            <a:ext cx="634079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Durante esse período, a IA foi dominada por abordagens baseadas em regras e lógica simbólica. Foram criados sistemas especialistas capazes de tomar decisões em domínios restritos, como diagnóstico médico e regras de jogos.</a:t>
            </a:r>
            <a:endParaRPr lang="pt-BR" sz="1550" noProof="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F3F2476B-EBA9-25A3-BB4F-F68A8B3C11BC}"/>
              </a:ext>
            </a:extLst>
          </p:cNvPr>
          <p:cNvSpPr/>
          <p:nvPr/>
        </p:nvSpPr>
        <p:spPr>
          <a:xfrm>
            <a:off x="6280190" y="1497806"/>
            <a:ext cx="413123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pt-BR" sz="2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Evolução Histórica da IA</a:t>
            </a:r>
            <a:endParaRPr lang="pt-BR" sz="2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0484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03770" y="3721179"/>
            <a:ext cx="22860" cy="3268147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6519505" y="3932992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2"/>
          <p:cNvSpPr/>
          <p:nvPr/>
        </p:nvSpPr>
        <p:spPr>
          <a:xfrm>
            <a:off x="7091958" y="3721179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3"/>
          <p:cNvSpPr/>
          <p:nvPr/>
        </p:nvSpPr>
        <p:spPr>
          <a:xfrm>
            <a:off x="7166372" y="375838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</a:rPr>
              <a:t>3</a:t>
            </a:r>
            <a:endParaRPr lang="pt-BR" sz="2300" noProof="0" dirty="0"/>
          </a:p>
        </p:txBody>
      </p:sp>
      <p:sp>
        <p:nvSpPr>
          <p:cNvPr id="7" name="Text 4"/>
          <p:cNvSpPr/>
          <p:nvPr/>
        </p:nvSpPr>
        <p:spPr>
          <a:xfrm>
            <a:off x="793790" y="3758327"/>
            <a:ext cx="552914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Década de 1990 – Aprendizado estatístico</a:t>
            </a:r>
            <a:endParaRPr lang="pt-BR" sz="2300" noProof="0" dirty="0"/>
          </a:p>
        </p:txBody>
      </p:sp>
      <p:sp>
        <p:nvSpPr>
          <p:cNvPr id="8" name="Text 5"/>
          <p:cNvSpPr/>
          <p:nvPr/>
        </p:nvSpPr>
        <p:spPr>
          <a:xfrm>
            <a:off x="793790" y="4621530"/>
            <a:ext cx="552914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 o aumento da capacidade computacional e a disponibilidade de dados, métodos estatísticos passaram a dominar. Técnicas como redes bayesianas e máquinas de vetor de suporte (SVM) se tornaram populares.</a:t>
            </a:r>
            <a:endParaRPr lang="pt-BR" sz="1550" noProof="0" dirty="0"/>
          </a:p>
        </p:txBody>
      </p:sp>
      <p:sp>
        <p:nvSpPr>
          <p:cNvPr id="9" name="Shape 6"/>
          <p:cNvSpPr/>
          <p:nvPr/>
        </p:nvSpPr>
        <p:spPr>
          <a:xfrm>
            <a:off x="7515582" y="5123617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7091958" y="4911804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7166372" y="494901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</a:rPr>
              <a:t>4</a:t>
            </a:r>
            <a:endParaRPr lang="pt-BR" sz="2300" noProof="0" dirty="0"/>
          </a:p>
        </p:txBody>
      </p:sp>
      <p:sp>
        <p:nvSpPr>
          <p:cNvPr id="12" name="Text 9"/>
          <p:cNvSpPr/>
          <p:nvPr/>
        </p:nvSpPr>
        <p:spPr>
          <a:xfrm>
            <a:off x="8307467" y="4948952"/>
            <a:ext cx="462522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1997 – </a:t>
            </a:r>
            <a:r>
              <a:rPr lang="pt-BR" sz="230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Deep</a:t>
            </a: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Blue vence Kasparov</a:t>
            </a:r>
            <a:endParaRPr lang="pt-BR" sz="2300" noProof="0" dirty="0"/>
          </a:p>
        </p:txBody>
      </p:sp>
      <p:sp>
        <p:nvSpPr>
          <p:cNvPr id="13" name="Text 10"/>
          <p:cNvSpPr/>
          <p:nvPr/>
        </p:nvSpPr>
        <p:spPr>
          <a:xfrm>
            <a:off x="8307467" y="5440085"/>
            <a:ext cx="552914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supercomputador da IBM,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Blue, derrotou o campeão mundial de xadrez, Garry Kasparov. Foi um marco por mostrar que máquinas podiam superar humanos em tarefas cognitivas complexas, como o xadrez.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7166372" y="359955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endParaRPr lang="pt-BR" sz="2300" noProof="0" dirty="0"/>
          </a:p>
        </p:txBody>
      </p:sp>
      <p:sp>
        <p:nvSpPr>
          <p:cNvPr id="7" name="Text 4"/>
          <p:cNvSpPr/>
          <p:nvPr/>
        </p:nvSpPr>
        <p:spPr>
          <a:xfrm>
            <a:off x="7237213" y="2013010"/>
            <a:ext cx="552914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2012 – Revolução do </a:t>
            </a:r>
            <a:r>
              <a:rPr lang="pt-BR" sz="230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deep</a:t>
            </a: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learning com o </a:t>
            </a:r>
            <a:r>
              <a:rPr lang="pt-BR" sz="230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ImageNet</a:t>
            </a:r>
            <a:endParaRPr lang="pt-BR" sz="2300" noProof="0" dirty="0"/>
          </a:p>
        </p:txBody>
      </p:sp>
      <p:sp>
        <p:nvSpPr>
          <p:cNvPr id="8" name="Text 5"/>
          <p:cNvSpPr/>
          <p:nvPr/>
        </p:nvSpPr>
        <p:spPr>
          <a:xfrm>
            <a:off x="7464028" y="2876214"/>
            <a:ext cx="552914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rede neural profunda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AlexNet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venceu a competição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ImageNet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reduzindo significativamente a taxa de erro na classificação de imagens. Esse resultado provou que redes neurais profundas, treinadas com grandes volumes de dados e GPUs, eram extremamente eficazes.</a:t>
            </a:r>
            <a:endParaRPr lang="pt-BR" sz="1550" noProof="0" dirty="0"/>
          </a:p>
        </p:txBody>
      </p:sp>
      <p:sp>
        <p:nvSpPr>
          <p:cNvPr id="12" name="Text 9"/>
          <p:cNvSpPr/>
          <p:nvPr/>
        </p:nvSpPr>
        <p:spPr>
          <a:xfrm>
            <a:off x="7453360" y="4790123"/>
            <a:ext cx="450211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2016 – </a:t>
            </a:r>
            <a:r>
              <a:rPr lang="pt-BR" sz="230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AlphaGo</a:t>
            </a: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vence Lee </a:t>
            </a:r>
            <a:r>
              <a:rPr lang="pt-BR" sz="230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Sedol</a:t>
            </a:r>
            <a:endParaRPr lang="pt-BR" sz="2300" noProof="0" dirty="0"/>
          </a:p>
        </p:txBody>
      </p:sp>
      <p:sp>
        <p:nvSpPr>
          <p:cNvPr id="13" name="Text 10"/>
          <p:cNvSpPr/>
          <p:nvPr/>
        </p:nvSpPr>
        <p:spPr>
          <a:xfrm>
            <a:off x="7453360" y="5281255"/>
            <a:ext cx="552914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IA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AlphaGo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desenvolvida pela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DeepMind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(Google), derrotou o campeão mundial de Go, Lee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Sedol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O Go era considerado um dos jogos mais difíceis para computadores, e essa vitória surpreendeu o mundo.</a:t>
            </a:r>
            <a:endParaRPr lang="pt-BR" sz="1550" noProof="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8ECCA4A6-D867-6497-4AED-9097C6430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21DE41A4-3661-236A-D42B-D1C6C5DAE12D}"/>
              </a:ext>
            </a:extLst>
          </p:cNvPr>
          <p:cNvSpPr/>
          <p:nvPr/>
        </p:nvSpPr>
        <p:spPr>
          <a:xfrm>
            <a:off x="6503432" y="1968746"/>
            <a:ext cx="22860" cy="4365784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908DCA65-C5E3-95EB-EA33-9C094B3CC6DB}"/>
              </a:ext>
            </a:extLst>
          </p:cNvPr>
          <p:cNvSpPr/>
          <p:nvPr/>
        </p:nvSpPr>
        <p:spPr>
          <a:xfrm>
            <a:off x="6703814" y="2180558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823C148A-6636-B97D-2BD7-C81E17536443}"/>
              </a:ext>
            </a:extLst>
          </p:cNvPr>
          <p:cNvSpPr/>
          <p:nvPr/>
        </p:nvSpPr>
        <p:spPr>
          <a:xfrm>
            <a:off x="6280190" y="1968746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C1DF7F2F-4583-7ECF-3355-D0681ADB35ED}"/>
              </a:ext>
            </a:extLst>
          </p:cNvPr>
          <p:cNvSpPr/>
          <p:nvPr/>
        </p:nvSpPr>
        <p:spPr>
          <a:xfrm>
            <a:off x="6354604" y="200595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</a:rPr>
              <a:t>5</a:t>
            </a:r>
            <a:endParaRPr lang="pt-BR" sz="2300" noProof="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6B3D535B-370F-C433-7777-887E4973BA10}"/>
              </a:ext>
            </a:extLst>
          </p:cNvPr>
          <p:cNvSpPr/>
          <p:nvPr/>
        </p:nvSpPr>
        <p:spPr>
          <a:xfrm>
            <a:off x="6703814" y="4978732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B3988746-0CD5-B95A-DA21-AA86221452BE}"/>
              </a:ext>
            </a:extLst>
          </p:cNvPr>
          <p:cNvSpPr/>
          <p:nvPr/>
        </p:nvSpPr>
        <p:spPr>
          <a:xfrm>
            <a:off x="6280190" y="4766919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D752F37C-4C17-91D9-8938-3573052F1171}"/>
              </a:ext>
            </a:extLst>
          </p:cNvPr>
          <p:cNvSpPr/>
          <p:nvPr/>
        </p:nvSpPr>
        <p:spPr>
          <a:xfrm>
            <a:off x="6354604" y="480412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</a:rPr>
              <a:t>6</a:t>
            </a:r>
            <a:endParaRPr lang="pt-BR" sz="23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3189"/>
            <a:ext cx="6956227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pt-BR" sz="27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2022: A Era da IA Generativa com ChatGPT</a:t>
            </a:r>
            <a:endParaRPr lang="pt-BR" sz="27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831" y="1465064"/>
            <a:ext cx="7434620" cy="3978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32116" y="1841524"/>
            <a:ext cx="2054207" cy="25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ChatGPT Visível</a:t>
            </a:r>
            <a:endParaRPr lang="pt-BR" sz="1350" noProof="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802" y="1883179"/>
            <a:ext cx="182596" cy="1825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32116" y="2571909"/>
            <a:ext cx="2054207" cy="25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Aplicações Públicas</a:t>
            </a:r>
            <a:endParaRPr lang="pt-BR" sz="1350" noProof="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802" y="2613564"/>
            <a:ext cx="182596" cy="1825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32116" y="3302293"/>
            <a:ext cx="2250498" cy="25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Modelos de Linguagem</a:t>
            </a:r>
            <a:endParaRPr lang="pt-BR" sz="1350" noProof="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2802" y="3343948"/>
            <a:ext cx="182596" cy="1825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032116" y="4032678"/>
            <a:ext cx="2356204" cy="25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Arquitetura </a:t>
            </a:r>
            <a:r>
              <a:rPr lang="pt-BR" sz="13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Transformer</a:t>
            </a:r>
            <a:endParaRPr lang="pt-BR" sz="1350" noProof="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802" y="4074333"/>
            <a:ext cx="182596" cy="18259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032116" y="4772192"/>
            <a:ext cx="3006988" cy="25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Aprendizado Profundo e Dados</a:t>
            </a:r>
            <a:endParaRPr lang="pt-BR" sz="1350" noProof="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2802" y="4813847"/>
            <a:ext cx="182596" cy="18259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93790" y="5600224"/>
            <a:ext cx="13042821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 novembro de 2022, a OpenAI lançou o ChatGPT, um modelo de linguagem baseado na arquitetura GPT (</a:t>
            </a:r>
            <a:r>
              <a:rPr lang="pt-BR" sz="10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Generative</a:t>
            </a: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0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Pre-trained</a:t>
            </a: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0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Transformer</a:t>
            </a: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), que revolucionou a forma como interagimos com a inteligência artificial.</a:t>
            </a:r>
            <a:endParaRPr lang="pt-BR" sz="1050" noProof="0" dirty="0"/>
          </a:p>
        </p:txBody>
      </p:sp>
      <p:sp>
        <p:nvSpPr>
          <p:cNvPr id="15" name="Shape 7"/>
          <p:cNvSpPr/>
          <p:nvPr/>
        </p:nvSpPr>
        <p:spPr>
          <a:xfrm>
            <a:off x="793790" y="6201013"/>
            <a:ext cx="4255056" cy="1275398"/>
          </a:xfrm>
          <a:prstGeom prst="roundRect">
            <a:avLst>
              <a:gd name="adj" fmla="val 5736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8"/>
          <p:cNvSpPr/>
          <p:nvPr/>
        </p:nvSpPr>
        <p:spPr>
          <a:xfrm>
            <a:off x="778550" y="6201013"/>
            <a:ext cx="60960" cy="1275398"/>
          </a:xfrm>
          <a:prstGeom prst="roundRect">
            <a:avLst>
              <a:gd name="adj" fmla="val 205116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9"/>
          <p:cNvSpPr/>
          <p:nvPr/>
        </p:nvSpPr>
        <p:spPr>
          <a:xfrm>
            <a:off x="993577" y="6355080"/>
            <a:ext cx="2667953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Acessibilidade Sem Precedentes</a:t>
            </a:r>
            <a:endParaRPr lang="pt-BR" sz="1350" noProof="0" dirty="0"/>
          </a:p>
        </p:txBody>
      </p:sp>
      <p:sp>
        <p:nvSpPr>
          <p:cNvPr id="18" name="Text 10"/>
          <p:cNvSpPr/>
          <p:nvPr/>
        </p:nvSpPr>
        <p:spPr>
          <a:xfrm>
            <a:off x="993577" y="6655475"/>
            <a:ext cx="3901202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ChatGPT alcançou 100 milhões de usuários em apenas dois meses, tornando-se a aplicação de consumo com crescimento mais rápido da história.</a:t>
            </a:r>
            <a:endParaRPr lang="pt-BR" sz="1050" noProof="0" dirty="0"/>
          </a:p>
        </p:txBody>
      </p:sp>
      <p:sp>
        <p:nvSpPr>
          <p:cNvPr id="19" name="Shape 11"/>
          <p:cNvSpPr/>
          <p:nvPr/>
        </p:nvSpPr>
        <p:spPr>
          <a:xfrm>
            <a:off x="5187672" y="6201013"/>
            <a:ext cx="4255056" cy="1275398"/>
          </a:xfrm>
          <a:prstGeom prst="roundRect">
            <a:avLst>
              <a:gd name="adj" fmla="val 5736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2"/>
          <p:cNvSpPr/>
          <p:nvPr/>
        </p:nvSpPr>
        <p:spPr>
          <a:xfrm>
            <a:off x="5172432" y="6201013"/>
            <a:ext cx="60960" cy="1275398"/>
          </a:xfrm>
          <a:prstGeom prst="roundRect">
            <a:avLst>
              <a:gd name="adj" fmla="val 205116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3"/>
          <p:cNvSpPr/>
          <p:nvPr/>
        </p:nvSpPr>
        <p:spPr>
          <a:xfrm>
            <a:off x="5387459" y="6355080"/>
            <a:ext cx="245554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Capacidades Impressionantes</a:t>
            </a:r>
            <a:endParaRPr lang="pt-BR" sz="1350" noProof="0" dirty="0"/>
          </a:p>
        </p:txBody>
      </p:sp>
      <p:sp>
        <p:nvSpPr>
          <p:cNvPr id="22" name="Text 14"/>
          <p:cNvSpPr/>
          <p:nvPr/>
        </p:nvSpPr>
        <p:spPr>
          <a:xfrm>
            <a:off x="5387459" y="6655475"/>
            <a:ext cx="3901202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Geração de textos coerentes, respostas a perguntas complexas, tradução, resumo, e até criação de conteúdo criativo como poemas e histórias.</a:t>
            </a:r>
            <a:endParaRPr lang="pt-BR" sz="1050" noProof="0" dirty="0"/>
          </a:p>
        </p:txBody>
      </p:sp>
      <p:sp>
        <p:nvSpPr>
          <p:cNvPr id="23" name="Shape 15"/>
          <p:cNvSpPr/>
          <p:nvPr/>
        </p:nvSpPr>
        <p:spPr>
          <a:xfrm>
            <a:off x="9581555" y="6201013"/>
            <a:ext cx="4255056" cy="1275398"/>
          </a:xfrm>
          <a:prstGeom prst="roundRect">
            <a:avLst>
              <a:gd name="adj" fmla="val 5736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16"/>
          <p:cNvSpPr/>
          <p:nvPr/>
        </p:nvSpPr>
        <p:spPr>
          <a:xfrm>
            <a:off x="9566315" y="6201013"/>
            <a:ext cx="60960" cy="1275398"/>
          </a:xfrm>
          <a:prstGeom prst="roundRect">
            <a:avLst>
              <a:gd name="adj" fmla="val 205116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17"/>
          <p:cNvSpPr/>
          <p:nvPr/>
        </p:nvSpPr>
        <p:spPr>
          <a:xfrm>
            <a:off x="9781342" y="6355080"/>
            <a:ext cx="200715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Impacto Social Profundo</a:t>
            </a:r>
            <a:endParaRPr lang="pt-BR" sz="1350" noProof="0" dirty="0"/>
          </a:p>
        </p:txBody>
      </p:sp>
      <p:sp>
        <p:nvSpPr>
          <p:cNvPr id="26" name="Text 18"/>
          <p:cNvSpPr/>
          <p:nvPr/>
        </p:nvSpPr>
        <p:spPr>
          <a:xfrm>
            <a:off x="9781342" y="6655475"/>
            <a:ext cx="3901202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Democratizou o acesso a assistentes de IA, transformou setores como educação, atendimento ao cliente, e criação de conteúdo, além de levantar importantes questões éticas.</a:t>
            </a:r>
            <a:endParaRPr lang="pt-BR" sz="105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4590"/>
            <a:ext cx="61722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pt-BR" sz="44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Aplicações Atuais da IA</a:t>
            </a:r>
            <a:endParaRPr lang="pt-BR" sz="445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4699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781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pt-BR" sz="22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Saúde</a:t>
            </a:r>
            <a:endParaRPr lang="pt-B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644253" y="3272076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Diagnóstico por imagem e análise de dados médicos</a:t>
            </a:r>
            <a:endParaRPr lang="pt-BR" sz="1750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646998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2781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pt-BR" sz="22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Finanças</a:t>
            </a:r>
            <a:endParaRPr lang="pt-BR" sz="2200" noProof="0" dirty="0"/>
          </a:p>
        </p:txBody>
      </p:sp>
      <p:sp>
        <p:nvSpPr>
          <p:cNvPr id="8" name="Text 4"/>
          <p:cNvSpPr/>
          <p:nvPr/>
        </p:nvSpPr>
        <p:spPr>
          <a:xfrm>
            <a:off x="8307348" y="3272076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Análise de risco e detecção de fraudes</a:t>
            </a:r>
            <a:endParaRPr lang="pt-BR" sz="1750" noProof="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201954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336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pt-BR" sz="22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Varejo</a:t>
            </a:r>
            <a:endParaRPr lang="pt-BR" sz="2200" noProof="0" dirty="0"/>
          </a:p>
        </p:txBody>
      </p:sp>
      <p:sp>
        <p:nvSpPr>
          <p:cNvPr id="11" name="Text 6"/>
          <p:cNvSpPr/>
          <p:nvPr/>
        </p:nvSpPr>
        <p:spPr>
          <a:xfrm>
            <a:off x="1644253" y="4827032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Recomendações de produtos personalizadas</a:t>
            </a:r>
            <a:endParaRPr lang="pt-BR" sz="1750" noProof="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4201954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336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pt-BR" sz="22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Indústria</a:t>
            </a:r>
            <a:endParaRPr lang="pt-BR" sz="2200" noProof="0" dirty="0"/>
          </a:p>
        </p:txBody>
      </p:sp>
      <p:sp>
        <p:nvSpPr>
          <p:cNvPr id="14" name="Text 8"/>
          <p:cNvSpPr/>
          <p:nvPr/>
        </p:nvSpPr>
        <p:spPr>
          <a:xfrm>
            <a:off x="8307348" y="4827032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Automação de processos e manutenção preditiva</a:t>
            </a:r>
            <a:endParaRPr lang="pt-BR" sz="1750" noProof="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756910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44253" y="58915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pt-BR" sz="22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Educação</a:t>
            </a:r>
            <a:endParaRPr lang="pt-BR" sz="2200" noProof="0" dirty="0"/>
          </a:p>
        </p:txBody>
      </p:sp>
      <p:sp>
        <p:nvSpPr>
          <p:cNvPr id="17" name="Text 10"/>
          <p:cNvSpPr/>
          <p:nvPr/>
        </p:nvSpPr>
        <p:spPr>
          <a:xfrm>
            <a:off x="1644253" y="6381988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Tutoria inteligente e personalização do aprendizado</a:t>
            </a:r>
            <a:endParaRPr lang="pt-BR" sz="1750" noProof="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6884" y="5756910"/>
            <a:ext cx="566976" cy="5669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07348" y="58915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pt-BR" sz="22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Arte</a:t>
            </a:r>
            <a:endParaRPr lang="pt-BR" sz="2200" noProof="0" dirty="0"/>
          </a:p>
        </p:txBody>
      </p:sp>
      <p:sp>
        <p:nvSpPr>
          <p:cNvPr id="20" name="Text 12"/>
          <p:cNvSpPr/>
          <p:nvPr/>
        </p:nvSpPr>
        <p:spPr>
          <a:xfrm>
            <a:off x="8307348" y="6381988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Geração de música, imagens e textos</a:t>
            </a:r>
            <a:endParaRPr lang="pt-BR" sz="175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6437A-BE82-CD7A-24B3-8A2D7A7B2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A234E740-63D1-609C-2969-E41A84B1C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0"/>
            <a:ext cx="12344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01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8174"/>
            <a:ext cx="6314837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pt-BR" sz="33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Evolução das Capacidades da IA</a:t>
            </a:r>
            <a:endParaRPr lang="pt-BR" sz="33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161" y="1492567"/>
            <a:ext cx="10149959" cy="61087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0293" y="5987115"/>
            <a:ext cx="1674013" cy="748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pt-BR" sz="105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Sistemas baseados em regras</a:t>
            </a:r>
            <a:endParaRPr lang="pt-BR" sz="1050" noProof="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956" y="4398327"/>
            <a:ext cx="554309" cy="5543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93806" y="5574155"/>
            <a:ext cx="1674013" cy="49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pt-BR" sz="105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Aprendizado de máquina</a:t>
            </a:r>
            <a:endParaRPr lang="pt-BR" sz="1050" noProof="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296" y="3877277"/>
            <a:ext cx="554309" cy="55430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78232" y="5053105"/>
            <a:ext cx="1674013" cy="49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pt-BR" sz="105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Redes neurais profundas</a:t>
            </a:r>
            <a:endParaRPr lang="pt-BR" sz="1050" noProof="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0636" y="3356226"/>
            <a:ext cx="554309" cy="55430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440313" y="4532055"/>
            <a:ext cx="1674013" cy="49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pt-BR" sz="105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Modelos de linguagem</a:t>
            </a:r>
            <a:endParaRPr lang="pt-BR" sz="1050" noProof="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3975" y="2835176"/>
            <a:ext cx="554309" cy="55430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413653" y="4011004"/>
            <a:ext cx="1674013" cy="49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pt-BR" sz="105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ChatGPT e IA generativa</a:t>
            </a:r>
            <a:endParaRPr lang="pt-BR" sz="1050" noProof="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8402" y="2280867"/>
            <a:ext cx="554308" cy="5543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CBB6-69E1-CB71-4064-6D7FF6BF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D021F7D9-85BF-DE7D-1F7D-604C44E27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0"/>
            <a:ext cx="12344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49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1087</Words>
  <Application>Microsoft Office PowerPoint</Application>
  <PresentationFormat>Personalizar</PresentationFormat>
  <Paragraphs>128</Paragraphs>
  <Slides>16</Slides>
  <Notes>16</Notes>
  <HiddenSlides>2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Instrument Sans Semi Bold</vt:lpstr>
      <vt:lpstr>Arial</vt:lpstr>
      <vt:lpstr>Instrument Sans</vt:lpstr>
      <vt:lpstr>Instrument Sans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Everton Josue Meyer da Silva</cp:lastModifiedBy>
  <cp:revision>11</cp:revision>
  <dcterms:created xsi:type="dcterms:W3CDTF">2025-08-05T17:10:01Z</dcterms:created>
  <dcterms:modified xsi:type="dcterms:W3CDTF">2026-02-11T13:42:01Z</dcterms:modified>
</cp:coreProperties>
</file>