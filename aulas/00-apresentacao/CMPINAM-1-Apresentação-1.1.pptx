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  <p:sldMasterId id="2147485262" r:id="rId2"/>
  </p:sldMasterIdLst>
  <p:notesMasterIdLst>
    <p:notesMasterId r:id="rId11"/>
  </p:notesMasterIdLst>
  <p:handoutMasterIdLst>
    <p:handoutMasterId r:id="rId12"/>
  </p:handoutMasterIdLst>
  <p:sldIdLst>
    <p:sldId id="701" r:id="rId3"/>
    <p:sldId id="728" r:id="rId4"/>
    <p:sldId id="730" r:id="rId5"/>
    <p:sldId id="731" r:id="rId6"/>
    <p:sldId id="737" r:id="rId7"/>
    <p:sldId id="741" r:id="rId8"/>
    <p:sldId id="742" r:id="rId9"/>
    <p:sldId id="740" r:id="rId10"/>
  </p:sldIdLst>
  <p:sldSz cx="12192000" cy="6858000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erton" initials="E" lastIdx="1" clrIdx="0">
    <p:extLst>
      <p:ext uri="{19B8F6BF-5375-455C-9EA6-DF929625EA0E}">
        <p15:presenceInfo xmlns:p15="http://schemas.microsoft.com/office/powerpoint/2012/main" userId="Evert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E9EDF4"/>
    <a:srgbClr val="FEF2D2"/>
    <a:srgbClr val="D4D8FE"/>
    <a:srgbClr val="FDFCD4"/>
    <a:srgbClr val="FFFFCC"/>
    <a:srgbClr val="CC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8" autoAdjust="0"/>
    <p:restoredTop sz="94660"/>
  </p:normalViewPr>
  <p:slideViewPr>
    <p:cSldViewPr snapToGrid="0">
      <p:cViewPr varScale="1">
        <p:scale>
          <a:sx n="81" d="100"/>
          <a:sy n="81" d="100"/>
        </p:scale>
        <p:origin x="854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D2176B3-334D-4DEE-B2FC-7A30D28D331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822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DF602E4-E37F-4610-BEC0-846B6BB3B3A2}" type="datetimeFigureOut">
              <a:rPr lang="pt-BR"/>
              <a:pPr>
                <a:defRPr/>
              </a:pPr>
              <a:t>02/08/2025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1A18246-7051-43C0-A504-658C09DFA13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04846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85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A18246-7051-43C0-A504-658C09DFA13E}" type="slidenum">
              <a:rPr lang="pt-BR" smtClean="0"/>
              <a:pPr>
                <a:defRPr/>
              </a:pPr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0066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BDDCE-2245-0F4B-8355-CBB055ED9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D87588B-C64A-8EC5-1A2E-A0CEE64A4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835667-B573-0D54-D335-C707F678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D910F2-4AD3-CC35-D635-656D2FDA3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A18246-7051-43C0-A504-658C09DFA13E}" type="slidenum">
              <a:rPr lang="pt-BR" smtClean="0"/>
              <a:pPr>
                <a:defRPr/>
              </a:pPr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4074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BFB6-D250-3957-2F2A-985242287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9B76374-BCB6-1802-E1FF-8327D5AFB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61669A-4FF9-2F57-EF06-F6F5095D0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D31FB4-AFEA-BEB2-185A-F5A742CF9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A18246-7051-43C0-A504-658C09DFA13E}" type="slidenum">
              <a:rPr lang="pt-BR" smtClean="0"/>
              <a:pPr>
                <a:defRPr/>
              </a:pPr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5149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C7CE0-FBE1-A848-392D-0C9A6BE9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1D2F4-8738-E97E-76C6-9542F4136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21159-B674-1B65-B5FA-A55A64FD2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817D-0766-309C-DF8C-6A0C57AE0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76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3219A6-C913-457C-B04D-80C4870F00C7}" type="datetime1">
              <a:rPr lang="pt-BR" smtClean="0"/>
              <a:t>02/08/2025</a:t>
            </a:fld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9ECFEE-3201-41D9-9CEF-071DA06BCDB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939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1D7F9-E0F3-4231-B5A6-EE2787FD1531}" type="datetime1">
              <a:rPr lang="pt-BR" smtClean="0"/>
              <a:t>02/08/2025</a:t>
            </a:fld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F10BC2-D7CF-485F-9A90-84AC4332F1B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666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39786B-0AE8-4FDF-B861-B36AD6FA63FC}" type="datetime1">
              <a:rPr lang="pt-BR" smtClean="0"/>
              <a:t>02/08/2025</a:t>
            </a:fld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12C5C-6DBB-4301-BAA7-72D381D5630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54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BF095-BA9A-4098-A6E6-F0F7FD77EEC3}" type="datetime1">
              <a:rPr lang="pt-BR" smtClean="0"/>
              <a:t>02/08/2025</a:t>
            </a:fld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703DF-23AA-4B86-B6F2-3D532F0CA32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726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E8F8A4-8E9D-4692-AB0E-4918EF7ED095}" type="datetime1">
              <a:rPr lang="pt-BR" smtClean="0"/>
              <a:t>02/08/2025</a:t>
            </a:fld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82A59-EE8E-4084-8297-E58825ACD76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150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01B96-8997-4DE0-9403-87341B5BCA0A}" type="datetime1">
              <a:rPr lang="pt-BR" smtClean="0"/>
              <a:t>02/08/2025</a:t>
            </a:fld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E40E8-43A0-4175-A484-D362DC2865D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40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29F4FE-AC44-4A16-BC52-737CE012FE04}" type="datetime1">
              <a:rPr lang="pt-BR" smtClean="0"/>
              <a:t>02/08/2025</a:t>
            </a:fld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88CD89-567B-4D34-844F-F71919B7000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24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387AE2-3645-45A5-B2AA-A950437DEC22}" type="datetime1">
              <a:rPr lang="pt-BR" smtClean="0"/>
              <a:t>02/08/2025</a:t>
            </a:fld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CF5F0B-4AD8-45F2-BB4A-474C3C89B77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151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26A1EF-8C35-4403-977C-42815C6CFB99}" type="datetime1">
              <a:rPr lang="pt-BR" smtClean="0"/>
              <a:t>02/08/2025</a:t>
            </a:fld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BE927-6330-435E-9C4B-9896814595A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157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E9C4B-99C4-43E5-83A8-A897A5E7E254}" type="datetime1">
              <a:rPr lang="pt-BR" smtClean="0"/>
              <a:t>02/08/2025</a:t>
            </a:fld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2A230D-42A9-4C70-BC78-7253E67688C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992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30AAB-D8D3-42A0-B7EB-577C3ACC594D}" type="datetime1">
              <a:rPr lang="pt-BR" smtClean="0"/>
              <a:t>02/08/2025</a:t>
            </a:fld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FB8D9-6E84-4B05-B4B0-44D1EF6F2E5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590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F4097-DE32-46CD-8876-774742C38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BB7C32-E4BA-40E1-BFC9-DDCACB62F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536F5B-50DF-407B-8013-28EC1C68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1D1B46-1D54-41CD-BCA0-BE4C7B12BD05}" type="datetime1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2C6E93-CCDD-4675-85A8-AC843297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350763-79D8-40C9-8D85-6E6CC997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21DE0-0861-4ADF-A6D8-B62BAC5B79F0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426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6C0FD-C23B-4BB9-9EE1-84219B93D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E3256C-FDF4-4500-B82D-AB2ACC1FD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0CDBD2-7A12-4BF2-A7C4-0E3830276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1EC877-4F4B-4709-A4B3-B9DDDEEA055E}" type="datetime1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35A9B6-19AD-4C5A-95D0-99B09FB1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6E0B1F-2CB1-445A-8A49-88C132DE4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21DE0-0861-4ADF-A6D8-B62BAC5B79F0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0949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520DC-10BB-4B9F-A6E9-1F8ACA76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A53BAB-87E5-4FA4-8F67-1B30792B3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6DA4BA-8988-4727-A0D2-C0C027F3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A57A8F-431F-4FFB-BAA2-C4C23449F508}" type="datetime1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88B817-65D8-40BA-8366-E3C6D72DE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1A3D20-AF13-4027-8093-1C45BE8B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16EFF0-93B7-49A7-B49B-9187E6C3A370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149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9C0B5-3867-4805-A887-04D27646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94D62B-CBC5-48DA-92B7-DBC158F50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5E8D88-306E-43E5-9940-7EB9D34F8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CDCA47-7B1D-44DC-B953-53ED8199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D6CE24-2CCB-492E-A5AA-A6ED523FE70E}" type="datetime1">
              <a:rPr lang="pt-BR" smtClean="0"/>
              <a:t>02/08/2025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6F158B-18CA-47E2-A8D4-492E03F1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28A748-65F8-4541-B18D-B99B5CE5D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80246A-8E0E-4E51-A06A-795E1452F027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0185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A4F93-663B-4C7E-ADEA-04D4DB56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AEE0F8-BC49-49C8-8B9A-BD0DE44F6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28AEFD-FD73-4B48-8DF0-31DD342E7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902A1DB-88C6-46DF-AB7A-8EA182F22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59A1C8-5FAB-4C64-A419-2904BA294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0FBC65-5095-4C75-AD99-770A5AD4B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2991A8-2164-4EA9-A0FB-532C4051DC4A}" type="datetime1">
              <a:rPr lang="pt-BR" smtClean="0"/>
              <a:t>02/08/2025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89161FB-5FCF-477E-A4DA-BF64F316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C3932D2-D3FB-4677-9D22-193B18957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D156C4-7519-40A8-9C34-266DE7D9246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353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5666A-361F-4061-A721-2A18CD7E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750C668-82C3-4EF7-A113-CD8D1804C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551167-ECC5-4D2F-A264-91FBE9632BD3}" type="datetime1">
              <a:rPr lang="pt-BR" smtClean="0"/>
              <a:t>02/08/2025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8ECE180-4AA0-451C-A07A-4E1F512DD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C38316-86F5-4E38-9D25-A8A0AC28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21DE0-0861-4ADF-A6D8-B62BAC5B79F0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1660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A58223-0627-414A-B724-73064A86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3B6CB4-1417-4D6B-8AE3-4133C0CDD012}" type="datetime1">
              <a:rPr lang="pt-BR" smtClean="0"/>
              <a:t>02/08/2025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0CDACC5-A794-4ADB-9950-86AB7688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B3164F-DEE9-4E2A-9A27-6E0DDD3B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21DE0-0861-4ADF-A6D8-B62BAC5B79F0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00840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8C2BA-2335-4DBE-981B-AD9139D1F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18147F-0999-44F7-80D8-A3909D23D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D0CE7F-D178-4B38-A94E-03A356B3B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3492A2-17EA-4131-870E-7587367D9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8A88B2-AF1C-4CE3-920E-C971BCFBF692}" type="datetime1">
              <a:rPr lang="pt-BR" smtClean="0"/>
              <a:t>02/08/2025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BB2C6D-9062-4785-A1D7-FF9F9E82A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C658F9-0FCD-4AA5-92D3-82819D0F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207560-F07F-4B8D-8A47-ED516E6D8E76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6253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459B3-CAA1-414B-A3CC-0B3C0E44F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6FAC613-C2DB-4E7D-8733-666D98871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AD5EEC-4C18-4D77-BB02-738C9EC88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F1923A-B3FD-40A2-8D59-95A825C6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3A2A4E-044F-4FD2-8E25-50B38E049F52}" type="datetime1">
              <a:rPr lang="pt-BR" smtClean="0"/>
              <a:t>02/08/2025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716B15-95BB-4CC7-9FD3-15B84913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A03940-5B6B-42D2-9024-EDA90210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585D10-5B9C-42A8-B807-CB31C97DF157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5750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53380-003A-4CD0-9267-8E62F6F3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8EF0E7-D08D-458A-A256-192EC3D32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78CD0C-4B08-4482-A410-34C4D900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D19600-8586-42E9-97CC-9BF3DB4E0951}" type="datetime1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98710E-1B4F-4A6A-A8AE-D0EF8997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6DA07B-9168-4923-ADE9-3E2E5417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21DE0-0861-4ADF-A6D8-B62BAC5B79F0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77803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D9A8A9-D261-470F-BF9F-97B570C02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53D929-5C12-49B9-A03A-6DB6B8903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7B0CD4-72A5-4360-BE63-854BE72B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94A7E4-A620-4E90-9418-65577860A11B}" type="datetime1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A6DBBF-2081-4E34-8F5F-2FA7F41E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DBD469-6FD2-4BC4-953A-44FD8929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21DE0-0861-4ADF-A6D8-B62BAC5B79F0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08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F3B5555B-9042-4EDC-8D49-3B0356D7FB0F}" type="datetime1">
              <a:rPr lang="pt-BR" smtClean="0"/>
              <a:t>02/08/2025</a:t>
            </a:fld>
            <a:endParaRPr lang="pt-BR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>
              <a:defRPr/>
            </a:pPr>
            <a:fld id="{83D7569C-8676-4A4A-B186-36605E075B8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40" r:id="rId1"/>
    <p:sldLayoutId id="2147485241" r:id="rId2"/>
    <p:sldLayoutId id="2147485242" r:id="rId3"/>
    <p:sldLayoutId id="2147485243" r:id="rId4"/>
    <p:sldLayoutId id="2147485244" r:id="rId5"/>
    <p:sldLayoutId id="2147485245" r:id="rId6"/>
    <p:sldLayoutId id="2147485246" r:id="rId7"/>
    <p:sldLayoutId id="2147485247" r:id="rId8"/>
    <p:sldLayoutId id="2147485248" r:id="rId9"/>
    <p:sldLayoutId id="2147485249" r:id="rId10"/>
    <p:sldLayoutId id="214748525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C043B8C-3377-495C-A810-3AF1C7A3B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C999B5-A244-4692-9090-9414D785F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F512F5-AB2C-48EF-81CA-8A0B147B4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066843C-4CAE-425B-BE11-89B789AD587E}" type="datetime1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B72CFD-94A4-4D22-864E-D775C1AF3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3AA423-FF4B-40A5-BB93-63AB85233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3D7569C-8676-4A4A-B186-36605E075B8E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13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63" r:id="rId1"/>
    <p:sldLayoutId id="2147485264" r:id="rId2"/>
    <p:sldLayoutId id="2147485265" r:id="rId3"/>
    <p:sldLayoutId id="2147485266" r:id="rId4"/>
    <p:sldLayoutId id="2147485267" r:id="rId5"/>
    <p:sldLayoutId id="2147485268" r:id="rId6"/>
    <p:sldLayoutId id="2147485269" r:id="rId7"/>
    <p:sldLayoutId id="2147485270" r:id="rId8"/>
    <p:sldLayoutId id="2147485271" r:id="rId9"/>
    <p:sldLayoutId id="2147485272" r:id="rId10"/>
    <p:sldLayoutId id="21474852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everton.silva@ifsp.edu.b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4">
            <a:extLst>
              <a:ext uri="{FF2B5EF4-FFF2-40B4-BE49-F238E27FC236}">
                <a16:creationId xmlns:a16="http://schemas.microsoft.com/office/drawing/2014/main" id="{AEB1BD4D-42F2-324A-B400-D8E8371CF6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5" t="12712" r="7073" b="11593"/>
          <a:stretch>
            <a:fillRect/>
          </a:stretch>
        </p:blipFill>
        <p:spPr>
          <a:xfrm>
            <a:off x="9488904" y="5459509"/>
            <a:ext cx="2331622" cy="10155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7ABBE71-E84B-D045-BF0C-27C2692ED364}"/>
              </a:ext>
            </a:extLst>
          </p:cNvPr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4">
              <a:solidFill>
                <a:schemeClr val="accen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163970-C777-DA4D-8C35-1F084781983B}"/>
              </a:ext>
            </a:extLst>
          </p:cNvPr>
          <p:cNvSpPr/>
          <p:nvPr/>
        </p:nvSpPr>
        <p:spPr>
          <a:xfrm>
            <a:off x="11400386" y="6422269"/>
            <a:ext cx="306993" cy="222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4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FD9985-BE47-EF41-BF00-76061CE8CB66}"/>
              </a:ext>
            </a:extLst>
          </p:cNvPr>
          <p:cNvSpPr txBox="1"/>
          <p:nvPr/>
        </p:nvSpPr>
        <p:spPr>
          <a:xfrm>
            <a:off x="556132" y="798274"/>
            <a:ext cx="11079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903033" algn="l"/>
              </a:tabLst>
            </a:pPr>
            <a:r>
              <a:rPr lang="pt-BR" sz="3600" dirty="0">
                <a:solidFill>
                  <a:schemeClr val="accent1"/>
                </a:solidFill>
                <a:latin typeface="Arial (Títulos)"/>
                <a:ea typeface="Lato" panose="020F0502020204030203" pitchFamily="34" charset="0"/>
                <a:cs typeface="Times New Roman" panose="02020603050405020304" pitchFamily="18" charset="0"/>
              </a:rPr>
              <a:t>INTRODUÇÃO AO </a:t>
            </a:r>
          </a:p>
          <a:p>
            <a:pPr algn="ctr">
              <a:tabLst>
                <a:tab pos="3903033" algn="l"/>
              </a:tabLst>
            </a:pPr>
            <a:r>
              <a:rPr lang="pt-BR" sz="3600" dirty="0">
                <a:solidFill>
                  <a:schemeClr val="accent1"/>
                </a:solidFill>
                <a:latin typeface="Arial (Títulos)"/>
                <a:ea typeface="Lato" panose="020F0502020204030203" pitchFamily="34" charset="0"/>
                <a:cs typeface="Times New Roman" panose="02020603050405020304" pitchFamily="18" charset="0"/>
              </a:rPr>
              <a:t>APRENDIZADO DE MÁQUINA</a:t>
            </a:r>
            <a:endParaRPr lang="pt-BR" sz="2000" dirty="0">
              <a:solidFill>
                <a:schemeClr val="accent1"/>
              </a:solidFill>
              <a:latin typeface="Arial (Títulos)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489693-EB95-7747-AC0E-94E0159E9BDC}"/>
              </a:ext>
            </a:extLst>
          </p:cNvPr>
          <p:cNvSpPr txBox="1"/>
          <p:nvPr/>
        </p:nvSpPr>
        <p:spPr>
          <a:xfrm>
            <a:off x="556132" y="2808830"/>
            <a:ext cx="1107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903033" algn="l"/>
              </a:tabLst>
            </a:pPr>
            <a:r>
              <a:rPr lang="pt-BR" sz="3600" b="1" dirty="0">
                <a:solidFill>
                  <a:schemeClr val="bg2">
                    <a:lumMod val="25000"/>
                  </a:schemeClr>
                </a:solidFill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Apresentação da Disciplina</a:t>
            </a:r>
          </a:p>
        </p:txBody>
      </p:sp>
      <p:sp>
        <p:nvSpPr>
          <p:cNvPr id="21" name="Shape 120">
            <a:extLst>
              <a:ext uri="{FF2B5EF4-FFF2-40B4-BE49-F238E27FC236}">
                <a16:creationId xmlns:a16="http://schemas.microsoft.com/office/drawing/2014/main" id="{0E03B4D0-88EC-E14F-B8B1-0BFF7A28A622}"/>
              </a:ext>
            </a:extLst>
          </p:cNvPr>
          <p:cNvSpPr/>
          <p:nvPr/>
        </p:nvSpPr>
        <p:spPr>
          <a:xfrm>
            <a:off x="4257064" y="4171040"/>
            <a:ext cx="3674404" cy="70788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tIns="45720" bIns="45720">
            <a:spAutoFit/>
          </a:bodyPr>
          <a:lstStyle/>
          <a:p>
            <a:pPr algn="ctr">
              <a:defRPr sz="4800">
                <a:solidFill>
                  <a:srgbClr val="333333"/>
                </a:solidFill>
              </a:defRPr>
            </a:pPr>
            <a:r>
              <a:rPr lang="en-US" sz="2400" dirty="0"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Prof. </a:t>
            </a:r>
            <a:r>
              <a:rPr lang="pt-BR" sz="2400" dirty="0"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Everton Meyer Silva</a:t>
            </a:r>
            <a:endParaRPr sz="2400" dirty="0">
              <a:latin typeface="Arial (Corpo)"/>
              <a:ea typeface="Lato" panose="020F0502020204030203" pitchFamily="34" charset="0"/>
              <a:cs typeface="Times New Roman" panose="02020603050405020304" pitchFamily="18" charset="0"/>
            </a:endParaRPr>
          </a:p>
          <a:p>
            <a:pPr algn="ctr">
              <a:defRPr i="1">
                <a:solidFill>
                  <a:srgbClr val="333333"/>
                </a:solidFill>
              </a:defRPr>
            </a:pPr>
            <a:r>
              <a:rPr lang="pt-BR" sz="1600" dirty="0" err="1"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everton</a:t>
            </a:r>
            <a:r>
              <a:rPr sz="1600" dirty="0"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.</a:t>
            </a:r>
            <a:r>
              <a:rPr lang="pt-BR" sz="1600" dirty="0"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silva</a:t>
            </a:r>
            <a:r>
              <a:rPr sz="1600" dirty="0"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@ifsp.edu.br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D73688-3DF9-F44E-AD72-11384AD53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32" y="5775938"/>
            <a:ext cx="1855893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2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ACA73997-597C-48D3-95E9-982ADE2BB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113" y="1357460"/>
            <a:ext cx="11015002" cy="481950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spcBef>
                <a:spcPts val="930"/>
              </a:spcBef>
              <a:buNone/>
            </a:pPr>
            <a:r>
              <a:rPr lang="pt-BR" altLang="pt-BR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Entender</a:t>
            </a:r>
            <a:r>
              <a:rPr lang="pt-BR" altLang="pt-BR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 os principais fundamentos e aplicações da área de Aprendizado de Máquina. </a:t>
            </a:r>
          </a:p>
          <a:p>
            <a:pPr marL="0" indent="0" algn="just">
              <a:lnSpc>
                <a:spcPct val="120000"/>
              </a:lnSpc>
              <a:spcBef>
                <a:spcPts val="930"/>
              </a:spcBef>
              <a:buNone/>
            </a:pPr>
            <a:r>
              <a:rPr lang="pt-BR" altLang="pt-BR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Capacitar</a:t>
            </a:r>
            <a:r>
              <a:rPr lang="pt-BR" altLang="pt-BR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 o aluno para implementar soluções para a predição de padrões utilizando conjuntos de dados. </a:t>
            </a:r>
          </a:p>
          <a:p>
            <a:pPr marL="0" indent="0" algn="just">
              <a:lnSpc>
                <a:spcPct val="120000"/>
              </a:lnSpc>
              <a:spcBef>
                <a:spcPts val="930"/>
              </a:spcBef>
              <a:buNone/>
            </a:pPr>
            <a:r>
              <a:rPr lang="pt-BR" altLang="pt-BR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Estimular</a:t>
            </a:r>
            <a:r>
              <a:rPr lang="pt-BR" altLang="pt-BR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 o aluno a desenvolver o raciocínio lógico voltado para a aplicação de algoritmos de aprendizado de máquina à soluções de problemas de diversos domínios.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ED9F7294-3BA2-4EB3-A27F-1087962A1950}"/>
              </a:ext>
            </a:extLst>
          </p:cNvPr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4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B763687-4910-4797-A7EE-DCF981D9E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13" y="278478"/>
            <a:ext cx="11015003" cy="914400"/>
          </a:xfrm>
        </p:spPr>
        <p:txBody>
          <a:bodyPr>
            <a:normAutofit/>
          </a:bodyPr>
          <a:lstStyle/>
          <a:p>
            <a:r>
              <a:rPr lang="pt-BR" altLang="pt-BR" sz="3600" dirty="0">
                <a:solidFill>
                  <a:schemeClr val="accent1"/>
                </a:solidFill>
                <a:latin typeface="Arial (Títulos)"/>
                <a:cs typeface="Times New Roman" panose="02020603050405020304" pitchFamily="18" charset="0"/>
              </a:rPr>
              <a:t>Objetivos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A14AAAB-36D1-8CF8-E863-888A99AD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21DE0-0861-4ADF-A6D8-B62BAC5B79F0}" type="slidenum">
              <a:rPr lang="pt-BR" smtClean="0"/>
              <a:pPr>
                <a:defRPr/>
              </a:pPr>
              <a:t>2</a:t>
            </a:fld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D360885-DD23-CE2B-985E-668C6FD55699}"/>
              </a:ext>
            </a:extLst>
          </p:cNvPr>
          <p:cNvCxnSpPr>
            <a:cxnSpLocks/>
          </p:cNvCxnSpPr>
          <p:nvPr/>
        </p:nvCxnSpPr>
        <p:spPr>
          <a:xfrm>
            <a:off x="647113" y="1036947"/>
            <a:ext cx="1101500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90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ACA73997-597C-48D3-95E9-982ADE2BB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113" y="1357460"/>
            <a:ext cx="11015002" cy="481950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930"/>
              </a:spcBef>
              <a:buNone/>
            </a:pPr>
            <a:r>
              <a:rPr lang="pt-BR" altLang="pt-BR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Introdução ao Aprendizado de Máquina; </a:t>
            </a:r>
          </a:p>
          <a:p>
            <a:pPr marL="0" indent="0">
              <a:lnSpc>
                <a:spcPct val="120000"/>
              </a:lnSpc>
              <a:spcBef>
                <a:spcPts val="930"/>
              </a:spcBef>
              <a:buNone/>
            </a:pPr>
            <a:r>
              <a:rPr lang="pt-BR" altLang="pt-BR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Principais áreas do Aprendizado de Máquina; </a:t>
            </a:r>
          </a:p>
          <a:p>
            <a:pPr marL="0" indent="0">
              <a:lnSpc>
                <a:spcPct val="120000"/>
              </a:lnSpc>
              <a:spcBef>
                <a:spcPts val="930"/>
              </a:spcBef>
              <a:buNone/>
            </a:pPr>
            <a:r>
              <a:rPr lang="pt-BR" altLang="pt-BR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Paradigmas de Aprendizado de Máquina; </a:t>
            </a:r>
          </a:p>
          <a:p>
            <a:pPr marL="0" indent="0">
              <a:lnSpc>
                <a:spcPct val="120000"/>
              </a:lnSpc>
              <a:spcBef>
                <a:spcPts val="930"/>
              </a:spcBef>
              <a:buNone/>
            </a:pPr>
            <a:r>
              <a:rPr lang="pt-BR" altLang="pt-BR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Modelos de regressão; </a:t>
            </a:r>
          </a:p>
          <a:p>
            <a:pPr marL="0" indent="0">
              <a:lnSpc>
                <a:spcPct val="120000"/>
              </a:lnSpc>
              <a:spcBef>
                <a:spcPts val="930"/>
              </a:spcBef>
              <a:buNone/>
            </a:pPr>
            <a:r>
              <a:rPr lang="pt-BR" altLang="pt-BR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Algoritmos de classificação; </a:t>
            </a:r>
          </a:p>
          <a:p>
            <a:pPr marL="0" indent="0">
              <a:lnSpc>
                <a:spcPct val="120000"/>
              </a:lnSpc>
              <a:spcBef>
                <a:spcPts val="930"/>
              </a:spcBef>
              <a:buNone/>
            </a:pPr>
            <a:r>
              <a:rPr lang="pt-BR" altLang="pt-BR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Algoritmos de agrupamento; </a:t>
            </a:r>
          </a:p>
          <a:p>
            <a:pPr marL="0" indent="0">
              <a:lnSpc>
                <a:spcPct val="120000"/>
              </a:lnSpc>
              <a:spcBef>
                <a:spcPts val="930"/>
              </a:spcBef>
              <a:buNone/>
            </a:pPr>
            <a:r>
              <a:rPr lang="pt-BR" altLang="pt-BR" dirty="0">
                <a:solidFill>
                  <a:schemeClr val="bg2">
                    <a:lumMod val="25000"/>
                  </a:schemeClr>
                </a:solidFill>
                <a:latin typeface="Arial (Corpo)"/>
                <a:cs typeface="Arial" panose="020B0604020202020204" pitchFamily="34" charset="0"/>
              </a:rPr>
              <a:t>Validação de modelos; 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ED9F7294-3BA2-4EB3-A27F-1087962A1950}"/>
              </a:ext>
            </a:extLst>
          </p:cNvPr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4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B763687-4910-4797-A7EE-DCF981D9E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13" y="278478"/>
            <a:ext cx="11015003" cy="914400"/>
          </a:xfrm>
        </p:spPr>
        <p:txBody>
          <a:bodyPr>
            <a:normAutofit/>
          </a:bodyPr>
          <a:lstStyle/>
          <a:p>
            <a:r>
              <a:rPr lang="pt-BR" altLang="pt-BR" sz="3600" dirty="0">
                <a:solidFill>
                  <a:schemeClr val="accent1"/>
                </a:solidFill>
                <a:latin typeface="Arial (Títulos)"/>
                <a:cs typeface="Times New Roman" panose="02020603050405020304" pitchFamily="18" charset="0"/>
              </a:rPr>
              <a:t>Conteúdo Programático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8832498-8075-01BD-25B0-1D91FC61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21DE0-0861-4ADF-A6D8-B62BAC5B79F0}" type="slidenum">
              <a:rPr lang="pt-BR" smtClean="0"/>
              <a:pPr>
                <a:defRPr/>
              </a:pPr>
              <a:t>3</a:t>
            </a:fld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2E7081E-5550-6EC3-79CA-D37B77A574BF}"/>
              </a:ext>
            </a:extLst>
          </p:cNvPr>
          <p:cNvCxnSpPr>
            <a:cxnSpLocks/>
          </p:cNvCxnSpPr>
          <p:nvPr/>
        </p:nvCxnSpPr>
        <p:spPr>
          <a:xfrm>
            <a:off x="647113" y="1036947"/>
            <a:ext cx="1101500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96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ACA73997-597C-48D3-95E9-982ADE2BB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113" y="1357460"/>
            <a:ext cx="11015002" cy="481950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None/>
            </a:pP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Aulas</a:t>
            </a:r>
          </a:p>
          <a:p>
            <a:pPr lvl="1">
              <a:lnSpc>
                <a:spcPct val="130000"/>
              </a:lnSpc>
              <a:spcBef>
                <a:spcPts val="930"/>
              </a:spcBef>
            </a:pPr>
            <a:r>
              <a:rPr lang="pt-BR" altLang="pt-BR" sz="20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Encontros presenciais, material de leitura (livros ou apostilas), vídeos disponíveis na internet, etc.</a:t>
            </a:r>
          </a:p>
          <a:p>
            <a:pPr lvl="1">
              <a:lnSpc>
                <a:spcPct val="130000"/>
              </a:lnSpc>
              <a:spcBef>
                <a:spcPts val="930"/>
              </a:spcBef>
            </a:pPr>
            <a:r>
              <a:rPr lang="pt-BR" altLang="pt-BR" sz="20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Material disponibilizado no Moodle</a:t>
            </a:r>
          </a:p>
          <a:p>
            <a:pPr marL="0" indent="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None/>
            </a:pP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Comunicação</a:t>
            </a:r>
          </a:p>
          <a:p>
            <a:pPr lvl="1">
              <a:lnSpc>
                <a:spcPct val="130000"/>
              </a:lnSpc>
              <a:spcBef>
                <a:spcPts val="930"/>
              </a:spcBef>
            </a:pPr>
            <a:r>
              <a:rPr lang="pt-BR" altLang="pt-BR" sz="20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SUAP</a:t>
            </a:r>
          </a:p>
          <a:p>
            <a:pPr lvl="1">
              <a:lnSpc>
                <a:spcPct val="130000"/>
              </a:lnSpc>
              <a:spcBef>
                <a:spcPts val="930"/>
              </a:spcBef>
            </a:pPr>
            <a:r>
              <a:rPr lang="pt-BR" altLang="pt-BR" sz="20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Email: </a:t>
            </a:r>
            <a:r>
              <a:rPr lang="pt-BR" altLang="pt-BR" sz="20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everton.silva@ifsp.edu.br</a:t>
            </a:r>
            <a:endParaRPr lang="pt-BR" altLang="pt-BR" sz="2000" dirty="0">
              <a:solidFill>
                <a:schemeClr val="bg2">
                  <a:lumMod val="25000"/>
                </a:schemeClr>
              </a:solidFill>
              <a:latin typeface="Arial (Corpo)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None/>
            </a:pP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Atendimento</a:t>
            </a:r>
          </a:p>
          <a:p>
            <a:pPr lvl="1">
              <a:lnSpc>
                <a:spcPct val="130000"/>
              </a:lnSpc>
              <a:spcBef>
                <a:spcPts val="930"/>
              </a:spcBef>
            </a:pPr>
            <a:r>
              <a:rPr lang="pt-BR" altLang="pt-BR" sz="20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Presencial</a:t>
            </a:r>
          </a:p>
          <a:p>
            <a:pPr lvl="1">
              <a:lnSpc>
                <a:spcPct val="130000"/>
              </a:lnSpc>
              <a:spcBef>
                <a:spcPts val="930"/>
              </a:spcBef>
            </a:pPr>
            <a:r>
              <a:rPr lang="pt-BR" altLang="pt-BR" sz="2000" b="1" u="sng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Horário disponível no Moodle</a:t>
            </a:r>
            <a:endParaRPr lang="pt-BR" altLang="pt-BR" sz="2000" b="1" dirty="0">
              <a:solidFill>
                <a:schemeClr val="bg2">
                  <a:lumMod val="25000"/>
                </a:schemeClr>
              </a:solidFill>
              <a:latin typeface="Arial (Corpo)"/>
              <a:cs typeface="Times New Roman" panose="02020603050405020304" pitchFamily="18" charset="0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ED9F7294-3BA2-4EB3-A27F-1087962A1950}"/>
              </a:ext>
            </a:extLst>
          </p:cNvPr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4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B763687-4910-4797-A7EE-DCF981D9E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13" y="278478"/>
            <a:ext cx="11015003" cy="914400"/>
          </a:xfrm>
        </p:spPr>
        <p:txBody>
          <a:bodyPr>
            <a:normAutofit/>
          </a:bodyPr>
          <a:lstStyle/>
          <a:p>
            <a:r>
              <a:rPr lang="pt-BR" altLang="pt-BR" sz="3600" dirty="0">
                <a:solidFill>
                  <a:schemeClr val="accent1"/>
                </a:solidFill>
                <a:latin typeface="Arial (Títulos)"/>
                <a:cs typeface="Times New Roman" panose="02020603050405020304" pitchFamily="18" charset="0"/>
              </a:rPr>
              <a:t>Dinâmica do Curso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D017519-BC94-F6F0-077F-7321B68D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21DE0-0861-4ADF-A6D8-B62BAC5B79F0}" type="slidenum">
              <a:rPr lang="pt-BR" smtClean="0"/>
              <a:pPr>
                <a:defRPr/>
              </a:pPr>
              <a:t>4</a:t>
            </a:fld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6C25F0D-7F1B-F9A3-EBF6-82223A1423DE}"/>
              </a:ext>
            </a:extLst>
          </p:cNvPr>
          <p:cNvCxnSpPr>
            <a:cxnSpLocks/>
          </p:cNvCxnSpPr>
          <p:nvPr/>
        </p:nvCxnSpPr>
        <p:spPr>
          <a:xfrm>
            <a:off x="647113" y="1036947"/>
            <a:ext cx="1101500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68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>
            <a:extLst>
              <a:ext uri="{FF2B5EF4-FFF2-40B4-BE49-F238E27FC236}">
                <a16:creationId xmlns:a16="http://schemas.microsoft.com/office/drawing/2014/main" id="{ED9F7294-3BA2-4EB3-A27F-1087962A1950}"/>
              </a:ext>
            </a:extLst>
          </p:cNvPr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4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B763687-4910-4797-A7EE-DCF981D9E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13" y="278478"/>
            <a:ext cx="11015003" cy="914400"/>
          </a:xfrm>
        </p:spPr>
        <p:txBody>
          <a:bodyPr>
            <a:normAutofit/>
          </a:bodyPr>
          <a:lstStyle/>
          <a:p>
            <a:r>
              <a:rPr lang="pt-BR" altLang="pt-BR" sz="3600" dirty="0">
                <a:solidFill>
                  <a:schemeClr val="accent1"/>
                </a:solidFill>
                <a:latin typeface="Arial (Títulos)"/>
                <a:cs typeface="Times New Roman" panose="02020603050405020304" pitchFamily="18" charset="0"/>
              </a:rPr>
              <a:t>Instrumentos de Avaliação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910EDD2-2370-295B-347B-7E5B9363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21DE0-0861-4ADF-A6D8-B62BAC5B79F0}" type="slidenum">
              <a:rPr lang="pt-BR" smtClean="0"/>
              <a:pPr>
                <a:defRPr/>
              </a:pPr>
              <a:t>5</a:t>
            </a:fld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A82D20F-B005-77E0-CDD5-3678EE2BBC6B}"/>
              </a:ext>
            </a:extLst>
          </p:cNvPr>
          <p:cNvCxnSpPr>
            <a:cxnSpLocks/>
          </p:cNvCxnSpPr>
          <p:nvPr/>
        </p:nvCxnSpPr>
        <p:spPr>
          <a:xfrm>
            <a:off x="647113" y="1036947"/>
            <a:ext cx="1101500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11" name="Espaço Reservado para Conteúdo 10">
            <a:extLst>
              <a:ext uri="{FF2B5EF4-FFF2-40B4-BE49-F238E27FC236}">
                <a16:creationId xmlns:a16="http://schemas.microsoft.com/office/drawing/2014/main" id="{EDB81BBF-22C4-62CD-FC4D-1C9D6601A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522824"/>
              </p:ext>
            </p:extLst>
          </p:nvPr>
        </p:nvGraphicFramePr>
        <p:xfrm>
          <a:off x="838200" y="1825625"/>
          <a:ext cx="10515597" cy="359999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130485">
                  <a:extLst>
                    <a:ext uri="{9D8B030D-6E8A-4147-A177-3AD203B41FA5}">
                      <a16:colId xmlns:a16="http://schemas.microsoft.com/office/drawing/2014/main" val="192707610"/>
                    </a:ext>
                  </a:extLst>
                </a:gridCol>
                <a:gridCol w="5335571">
                  <a:extLst>
                    <a:ext uri="{9D8B030D-6E8A-4147-A177-3AD203B41FA5}">
                      <a16:colId xmlns:a16="http://schemas.microsoft.com/office/drawing/2014/main" val="409373352"/>
                    </a:ext>
                  </a:extLst>
                </a:gridCol>
                <a:gridCol w="2049541">
                  <a:extLst>
                    <a:ext uri="{9D8B030D-6E8A-4147-A177-3AD203B41FA5}">
                      <a16:colId xmlns:a16="http://schemas.microsoft.com/office/drawing/2014/main" val="3977345205"/>
                    </a:ext>
                  </a:extLst>
                </a:gridCol>
              </a:tblGrid>
              <a:tr h="535230">
                <a:tc>
                  <a:txBody>
                    <a:bodyPr/>
                    <a:lstStyle/>
                    <a:p>
                      <a:r>
                        <a:rPr lang="pt-BR" sz="2000" dirty="0"/>
                        <a:t>Instrumentos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Peso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665989"/>
                  </a:ext>
                </a:extLst>
              </a:tr>
              <a:tr h="535230">
                <a:tc>
                  <a:txBody>
                    <a:bodyPr/>
                    <a:lstStyle/>
                    <a:p>
                      <a:r>
                        <a:rPr lang="pt-BR" dirty="0"/>
                        <a:t>Atividades Práticas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Semanais ou quinzenais, em dupla ou 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91301"/>
                  </a:ext>
                </a:extLst>
              </a:tr>
              <a:tr h="535230">
                <a:tc>
                  <a:txBody>
                    <a:bodyPr/>
                    <a:lstStyle/>
                    <a:p>
                      <a:r>
                        <a:rPr lang="pt-BR" dirty="0"/>
                        <a:t>Projeto – Parte 1 (PR1)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Entrega parcial no final do 1º bimestre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49959"/>
                  </a:ext>
                </a:extLst>
              </a:tr>
              <a:tr h="5352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Projeto – Parte 2 (PR2)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Entrega final e apresentação no final do 2º bimestre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631974"/>
                  </a:ext>
                </a:extLst>
              </a:tr>
              <a:tr h="535230">
                <a:tc>
                  <a:txBody>
                    <a:bodyPr/>
                    <a:lstStyle/>
                    <a:p>
                      <a:r>
                        <a:rPr lang="pt-BR" dirty="0"/>
                        <a:t>Simulado ENADE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Nota do simulado ENADE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763626"/>
                  </a:ext>
                </a:extLst>
              </a:tr>
              <a:tr h="923848">
                <a:tc>
                  <a:txBody>
                    <a:bodyPr/>
                    <a:lstStyle/>
                    <a:p>
                      <a:r>
                        <a:rPr lang="pt-BR" dirty="0"/>
                        <a:t>Participação e engajamento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Critérios subjetivos: entrega no prazo, participação em aula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446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40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55C5-5076-6B35-39A5-44236EBF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1A439337-27E5-1F62-01E6-112BCEF37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113" y="1357460"/>
            <a:ext cx="11015002" cy="481950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930"/>
              </a:spcBef>
              <a:buNone/>
            </a:pPr>
            <a:r>
              <a:rPr lang="pt-BR" altLang="pt-BR" sz="22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Etapa 1 (PR1 – Bimestre 1): </a:t>
            </a:r>
          </a:p>
          <a:p>
            <a:pPr lvl="1">
              <a:lnSpc>
                <a:spcPct val="130000"/>
              </a:lnSpc>
              <a:spcBef>
                <a:spcPts val="930"/>
              </a:spcBef>
            </a:pPr>
            <a:r>
              <a:rPr lang="pt-BR" altLang="pt-BR" sz="18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Escolha do tema + definição do problema + coleta e análise inicial dos dados</a:t>
            </a:r>
          </a:p>
          <a:p>
            <a:pPr lvl="1">
              <a:lnSpc>
                <a:spcPct val="130000"/>
              </a:lnSpc>
              <a:spcBef>
                <a:spcPts val="930"/>
              </a:spcBef>
            </a:pPr>
            <a:r>
              <a:rPr lang="pt-BR" altLang="pt-BR" sz="18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Modelagem inicial com algoritmo simples (regressão ou classificação)</a:t>
            </a:r>
          </a:p>
          <a:p>
            <a:pPr lvl="1">
              <a:lnSpc>
                <a:spcPct val="130000"/>
              </a:lnSpc>
              <a:spcBef>
                <a:spcPts val="930"/>
              </a:spcBef>
            </a:pPr>
            <a:r>
              <a:rPr lang="pt-BR" altLang="pt-BR" sz="18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Entrega de relatório parcial e notebook</a:t>
            </a:r>
          </a:p>
          <a:p>
            <a:pPr marL="457200" lvl="1" indent="0">
              <a:lnSpc>
                <a:spcPct val="130000"/>
              </a:lnSpc>
              <a:spcBef>
                <a:spcPts val="930"/>
              </a:spcBef>
              <a:buNone/>
            </a:pPr>
            <a:endParaRPr lang="pt-BR" altLang="pt-BR" sz="1800" dirty="0">
              <a:solidFill>
                <a:schemeClr val="bg2">
                  <a:lumMod val="25000"/>
                </a:schemeClr>
              </a:solidFill>
              <a:latin typeface="Arial (Corpo)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930"/>
              </a:spcBef>
              <a:buNone/>
            </a:pPr>
            <a:r>
              <a:rPr lang="pt-BR" altLang="pt-BR" sz="22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Etapa 2 (PR2 – Bimestre 2):</a:t>
            </a:r>
          </a:p>
          <a:p>
            <a:pPr lvl="1">
              <a:lnSpc>
                <a:spcPct val="130000"/>
              </a:lnSpc>
              <a:spcBef>
                <a:spcPts val="930"/>
              </a:spcBef>
            </a:pPr>
            <a:r>
              <a:rPr lang="pt-BR" altLang="pt-BR" sz="18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Aprimoramento do modelo (</a:t>
            </a:r>
            <a:r>
              <a:rPr lang="pt-BR" altLang="pt-BR" sz="1800" dirty="0" err="1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ex</a:t>
            </a:r>
            <a:r>
              <a:rPr lang="pt-BR" altLang="pt-BR" sz="18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: </a:t>
            </a:r>
            <a:r>
              <a:rPr lang="pt-BR" altLang="pt-BR" sz="1800" dirty="0" err="1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tuning</a:t>
            </a:r>
            <a:r>
              <a:rPr lang="pt-BR" altLang="pt-BR" sz="18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, validação cruzada, testes com mais algoritmos)</a:t>
            </a:r>
          </a:p>
          <a:p>
            <a:pPr lvl="1">
              <a:lnSpc>
                <a:spcPct val="130000"/>
              </a:lnSpc>
              <a:spcBef>
                <a:spcPts val="930"/>
              </a:spcBef>
            </a:pPr>
            <a:r>
              <a:rPr lang="pt-BR" altLang="pt-BR" sz="18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Discussão crítica dos resultados</a:t>
            </a:r>
          </a:p>
          <a:p>
            <a:pPr lvl="1">
              <a:lnSpc>
                <a:spcPct val="130000"/>
              </a:lnSpc>
              <a:spcBef>
                <a:spcPts val="930"/>
              </a:spcBef>
            </a:pPr>
            <a:r>
              <a:rPr lang="pt-BR" altLang="pt-BR" sz="18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Apresentação final com slides + demonstração do notebook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72B552AC-3D98-7241-BBA9-EA73051C36DB}"/>
              </a:ext>
            </a:extLst>
          </p:cNvPr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4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A179032-4D54-3E67-6F30-5B5D64B6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13" y="278478"/>
            <a:ext cx="11015003" cy="914400"/>
          </a:xfrm>
        </p:spPr>
        <p:txBody>
          <a:bodyPr>
            <a:normAutofit/>
          </a:bodyPr>
          <a:lstStyle/>
          <a:p>
            <a:r>
              <a:rPr lang="pt-BR" altLang="pt-BR" sz="3600" dirty="0">
                <a:solidFill>
                  <a:schemeClr val="accent1"/>
                </a:solidFill>
                <a:latin typeface="Arial (Títulos)"/>
                <a:cs typeface="Times New Roman" panose="02020603050405020304" pitchFamily="18" charset="0"/>
              </a:rPr>
              <a:t>Projeto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B72650A-86DE-F2E7-B8BE-6667AF2D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21DE0-0861-4ADF-A6D8-B62BAC5B79F0}" type="slidenum">
              <a:rPr lang="pt-BR" smtClean="0"/>
              <a:pPr>
                <a:defRPr/>
              </a:pPr>
              <a:t>6</a:t>
            </a:fld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7BC3672E-7080-9F01-1944-D7C8A3BE7DCA}"/>
              </a:ext>
            </a:extLst>
          </p:cNvPr>
          <p:cNvCxnSpPr>
            <a:cxnSpLocks/>
          </p:cNvCxnSpPr>
          <p:nvPr/>
        </p:nvCxnSpPr>
        <p:spPr>
          <a:xfrm>
            <a:off x="647113" y="1036947"/>
            <a:ext cx="1101500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693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A0E7D-2E02-1BB4-6D10-DBEF3FD71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0652DCD7-F140-4494-2B96-A7BD85FDA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113" y="1357460"/>
            <a:ext cx="11015002" cy="481950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30000"/>
              </a:lnSpc>
              <a:spcBef>
                <a:spcPts val="930"/>
              </a:spcBef>
              <a:buNone/>
            </a:pPr>
            <a:r>
              <a:rPr lang="pt-BR" altLang="pt-BR" sz="24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GÉRON, A. </a:t>
            </a: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Mãos à obra: aprendizado de máquina com </a:t>
            </a:r>
            <a:r>
              <a:rPr lang="pt-BR" altLang="pt-BR" sz="2400" b="1" dirty="0" err="1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Scikit-Learn</a:t>
            </a: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, </a:t>
            </a:r>
            <a:r>
              <a:rPr lang="pt-BR" altLang="pt-BR" sz="2400" b="1" dirty="0" err="1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Keras&amp;TensorFlow</a:t>
            </a: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: Conceitos, ferramentas e técnicas para a construção de sistemas inteligentes</a:t>
            </a:r>
            <a:r>
              <a:rPr lang="pt-BR" altLang="pt-BR" sz="24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. 2. ed. Alta Books, 2021. 640 p. </a:t>
            </a:r>
          </a:p>
          <a:p>
            <a:pPr marL="0" indent="0">
              <a:lnSpc>
                <a:spcPct val="130000"/>
              </a:lnSpc>
              <a:spcBef>
                <a:spcPts val="930"/>
              </a:spcBef>
              <a:buNone/>
            </a:pPr>
            <a:r>
              <a:rPr lang="pt-BR" altLang="pt-BR" sz="24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RUSSEL, S.; NORVIG, P. </a:t>
            </a: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Inteligência Artificial</a:t>
            </a:r>
            <a:r>
              <a:rPr lang="pt-BR" altLang="pt-BR" sz="24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. 3. ed. Rio de Janeiro: Campus, 2013.  1016p. </a:t>
            </a:r>
          </a:p>
          <a:p>
            <a:pPr marL="0" indent="0">
              <a:lnSpc>
                <a:spcPct val="130000"/>
              </a:lnSpc>
              <a:spcBef>
                <a:spcPts val="930"/>
              </a:spcBef>
              <a:buNone/>
            </a:pPr>
            <a:r>
              <a:rPr lang="pt-BR" altLang="pt-BR" sz="24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FACELI, K. et al. </a:t>
            </a: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Inteligência Artificial: Uma Abordagem de Aprendizado de Máquina</a:t>
            </a:r>
            <a:r>
              <a:rPr lang="pt-BR" altLang="pt-BR" sz="24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. 2. ed. LTC, 2021. 304 p. </a:t>
            </a:r>
          </a:p>
          <a:p>
            <a:pPr marL="0" indent="0">
              <a:lnSpc>
                <a:spcPct val="130000"/>
              </a:lnSpc>
              <a:spcBef>
                <a:spcPts val="930"/>
              </a:spcBef>
              <a:buNone/>
            </a:pPr>
            <a:r>
              <a:rPr lang="pt-BR" altLang="pt-BR" sz="24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Periódico: </a:t>
            </a:r>
            <a:r>
              <a:rPr lang="pt-BR" altLang="pt-BR" sz="2400" b="1" dirty="0" err="1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Transaction</a:t>
            </a: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 </a:t>
            </a:r>
            <a:r>
              <a:rPr lang="pt-BR" altLang="pt-BR" sz="2400" b="1" dirty="0" err="1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on</a:t>
            </a: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 </a:t>
            </a:r>
            <a:r>
              <a:rPr lang="pt-BR" altLang="pt-BR" sz="2400" b="1" dirty="0" err="1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Pattern</a:t>
            </a: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 </a:t>
            </a:r>
            <a:r>
              <a:rPr lang="pt-BR" altLang="pt-BR" sz="2400" b="1" dirty="0" err="1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Analysis</a:t>
            </a: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 </a:t>
            </a:r>
            <a:r>
              <a:rPr lang="pt-BR" altLang="pt-BR" sz="2400" b="1" dirty="0" err="1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and</a:t>
            </a:r>
            <a:r>
              <a:rPr lang="pt-BR" altLang="pt-BR" sz="2400" b="1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 Machine </a:t>
            </a:r>
            <a:r>
              <a:rPr lang="pt-BR" altLang="pt-BR" sz="2400" b="1" dirty="0" err="1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Intelligence</a:t>
            </a:r>
            <a:r>
              <a:rPr lang="pt-BR" altLang="pt-BR" sz="24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. Editora IEEE. ISSN: 1939-3539. Disponível em &lt;https://ieeexplore.ieee.org/</a:t>
            </a:r>
            <a:r>
              <a:rPr lang="pt-BR" altLang="pt-BR" sz="2400" dirty="0" err="1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xpl</a:t>
            </a:r>
            <a:r>
              <a:rPr lang="pt-BR" altLang="pt-BR" sz="24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/</a:t>
            </a:r>
            <a:r>
              <a:rPr lang="pt-BR" altLang="pt-BR" sz="2400" dirty="0" err="1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RecentIssue.jsp?punumber</a:t>
            </a:r>
            <a:r>
              <a:rPr lang="pt-BR" altLang="pt-BR" sz="2400" dirty="0">
                <a:solidFill>
                  <a:schemeClr val="bg2">
                    <a:lumMod val="25000"/>
                  </a:schemeClr>
                </a:solidFill>
                <a:latin typeface="Arial (Corpo)"/>
                <a:cs typeface="Times New Roman" panose="02020603050405020304" pitchFamily="18" charset="0"/>
              </a:rPr>
              <a:t>=34&gt;.</a:t>
            </a:r>
            <a:endParaRPr lang="pt-BR" altLang="pt-BR" sz="2000" dirty="0">
              <a:solidFill>
                <a:schemeClr val="bg2">
                  <a:lumMod val="25000"/>
                </a:schemeClr>
              </a:solidFill>
              <a:latin typeface="Arial (Corpo)"/>
              <a:cs typeface="Times New Roman" panose="02020603050405020304" pitchFamily="18" charset="0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7077FCFB-02F9-8599-E5A9-7DD9A1DB49D3}"/>
              </a:ext>
            </a:extLst>
          </p:cNvPr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4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B753CCE-452C-B52E-7F3E-F9C5E0D2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13" y="278478"/>
            <a:ext cx="11015003" cy="914400"/>
          </a:xfrm>
        </p:spPr>
        <p:txBody>
          <a:bodyPr>
            <a:normAutofit/>
          </a:bodyPr>
          <a:lstStyle/>
          <a:p>
            <a:r>
              <a:rPr lang="pt-BR" altLang="pt-BR" sz="3600" dirty="0">
                <a:solidFill>
                  <a:schemeClr val="accent1"/>
                </a:solidFill>
                <a:latin typeface="Arial (Títulos)"/>
                <a:cs typeface="Times New Roman" panose="02020603050405020304" pitchFamily="18" charset="0"/>
              </a:rPr>
              <a:t>Bibliografia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CB857D9-28B4-1681-9D7C-47378BE4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21DE0-0861-4ADF-A6D8-B62BAC5B79F0}" type="slidenum">
              <a:rPr lang="pt-BR" smtClean="0"/>
              <a:pPr>
                <a:defRPr/>
              </a:pPr>
              <a:t>7</a:t>
            </a:fld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B92D635-1ADC-3B6C-AD88-E6FAD10E6F48}"/>
              </a:ext>
            </a:extLst>
          </p:cNvPr>
          <p:cNvCxnSpPr>
            <a:cxnSpLocks/>
          </p:cNvCxnSpPr>
          <p:nvPr/>
        </p:nvCxnSpPr>
        <p:spPr>
          <a:xfrm>
            <a:off x="647113" y="1036947"/>
            <a:ext cx="1101500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819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69085-9300-1364-2E4C-F03A0AA9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4">
            <a:extLst>
              <a:ext uri="{FF2B5EF4-FFF2-40B4-BE49-F238E27FC236}">
                <a16:creationId xmlns:a16="http://schemas.microsoft.com/office/drawing/2014/main" id="{85F70A5E-AEEC-FA5B-B807-6CC7909AF25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5" t="12712" r="7073" b="11593"/>
          <a:stretch>
            <a:fillRect/>
          </a:stretch>
        </p:blipFill>
        <p:spPr>
          <a:xfrm>
            <a:off x="9488904" y="5459509"/>
            <a:ext cx="2331622" cy="10155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B94F229-4592-8C5F-324F-3DD0033919DF}"/>
              </a:ext>
            </a:extLst>
          </p:cNvPr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4">
              <a:solidFill>
                <a:schemeClr val="accen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67748B-4894-BF99-AA5C-92C3C45C3384}"/>
              </a:ext>
            </a:extLst>
          </p:cNvPr>
          <p:cNvSpPr/>
          <p:nvPr/>
        </p:nvSpPr>
        <p:spPr>
          <a:xfrm>
            <a:off x="11400386" y="6422269"/>
            <a:ext cx="306993" cy="222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4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05C564-92AA-2CC1-F3D9-BCAD8C360FDD}"/>
              </a:ext>
            </a:extLst>
          </p:cNvPr>
          <p:cNvSpPr txBox="1"/>
          <p:nvPr/>
        </p:nvSpPr>
        <p:spPr>
          <a:xfrm>
            <a:off x="556132" y="798274"/>
            <a:ext cx="11079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903033" algn="l"/>
              </a:tabLst>
            </a:pPr>
            <a:r>
              <a:rPr lang="pt-BR" sz="3600" dirty="0">
                <a:solidFill>
                  <a:schemeClr val="accent1"/>
                </a:solidFill>
                <a:latin typeface="Arial (Títulos)"/>
                <a:ea typeface="Lato" panose="020F0502020204030203" pitchFamily="34" charset="0"/>
                <a:cs typeface="Times New Roman" panose="02020603050405020304" pitchFamily="18" charset="0"/>
              </a:rPr>
              <a:t>INTRODUÇÃO AO </a:t>
            </a:r>
          </a:p>
          <a:p>
            <a:pPr algn="ctr">
              <a:tabLst>
                <a:tab pos="3903033" algn="l"/>
              </a:tabLst>
            </a:pPr>
            <a:r>
              <a:rPr lang="pt-BR" sz="3600" dirty="0">
                <a:solidFill>
                  <a:schemeClr val="accent1"/>
                </a:solidFill>
                <a:latin typeface="Arial (Títulos)"/>
                <a:ea typeface="Lato" panose="020F0502020204030203" pitchFamily="34" charset="0"/>
                <a:cs typeface="Times New Roman" panose="02020603050405020304" pitchFamily="18" charset="0"/>
              </a:rPr>
              <a:t>APRENDIZADO DE MÁQUINA</a:t>
            </a:r>
            <a:endParaRPr lang="pt-BR" sz="2000" dirty="0">
              <a:solidFill>
                <a:schemeClr val="accent1"/>
              </a:solidFill>
              <a:latin typeface="Arial (Títulos)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5E36BE-0193-40FC-4046-8EAC9C655288}"/>
              </a:ext>
            </a:extLst>
          </p:cNvPr>
          <p:cNvSpPr txBox="1"/>
          <p:nvPr/>
        </p:nvSpPr>
        <p:spPr>
          <a:xfrm>
            <a:off x="556132" y="2808830"/>
            <a:ext cx="1107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903033" algn="l"/>
              </a:tabLst>
            </a:pPr>
            <a:r>
              <a:rPr lang="pt-BR" sz="3600" b="1" dirty="0">
                <a:solidFill>
                  <a:schemeClr val="bg2">
                    <a:lumMod val="25000"/>
                  </a:schemeClr>
                </a:solidFill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Apresentação da Disciplina</a:t>
            </a:r>
          </a:p>
        </p:txBody>
      </p:sp>
      <p:sp>
        <p:nvSpPr>
          <p:cNvPr id="21" name="Shape 120">
            <a:extLst>
              <a:ext uri="{FF2B5EF4-FFF2-40B4-BE49-F238E27FC236}">
                <a16:creationId xmlns:a16="http://schemas.microsoft.com/office/drawing/2014/main" id="{DFED10AF-21D8-2461-8163-8E4D5C5B90FB}"/>
              </a:ext>
            </a:extLst>
          </p:cNvPr>
          <p:cNvSpPr/>
          <p:nvPr/>
        </p:nvSpPr>
        <p:spPr>
          <a:xfrm>
            <a:off x="4257064" y="4171040"/>
            <a:ext cx="3674404" cy="70788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tIns="45720" bIns="45720">
            <a:spAutoFit/>
          </a:bodyPr>
          <a:lstStyle/>
          <a:p>
            <a:pPr algn="ctr">
              <a:defRPr sz="4800">
                <a:solidFill>
                  <a:srgbClr val="333333"/>
                </a:solidFill>
              </a:defRPr>
            </a:pPr>
            <a:r>
              <a:rPr lang="en-US" sz="2400" dirty="0"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Prof. </a:t>
            </a:r>
            <a:r>
              <a:rPr lang="pt-BR" sz="2400" dirty="0"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Everton Meyer Silva</a:t>
            </a:r>
            <a:endParaRPr sz="2400" dirty="0">
              <a:latin typeface="Arial (Corpo)"/>
              <a:ea typeface="Lato" panose="020F0502020204030203" pitchFamily="34" charset="0"/>
              <a:cs typeface="Times New Roman" panose="02020603050405020304" pitchFamily="18" charset="0"/>
            </a:endParaRPr>
          </a:p>
          <a:p>
            <a:pPr algn="ctr">
              <a:defRPr i="1">
                <a:solidFill>
                  <a:srgbClr val="333333"/>
                </a:solidFill>
              </a:defRPr>
            </a:pPr>
            <a:r>
              <a:rPr lang="pt-BR" sz="1600" dirty="0" err="1"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everton</a:t>
            </a:r>
            <a:r>
              <a:rPr sz="1600" dirty="0"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.</a:t>
            </a:r>
            <a:r>
              <a:rPr lang="pt-BR" sz="1600" dirty="0"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silva</a:t>
            </a:r>
            <a:r>
              <a:rPr sz="1600" dirty="0">
                <a:latin typeface="Arial (Corpo)"/>
                <a:ea typeface="Lato" panose="020F0502020204030203" pitchFamily="34" charset="0"/>
                <a:cs typeface="Times New Roman" panose="02020603050405020304" pitchFamily="18" charset="0"/>
              </a:rPr>
              <a:t>@ifsp.edu.br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831858-6A2A-C879-E8F2-38CF8B0CD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32" y="5775938"/>
            <a:ext cx="1855893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82943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4999</TotalTime>
  <Words>480</Words>
  <Application>Microsoft Office PowerPoint</Application>
  <PresentationFormat>Widescreen</PresentationFormat>
  <Paragraphs>77</Paragraphs>
  <Slides>8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8</vt:i4>
      </vt:variant>
    </vt:vector>
  </HeadingPairs>
  <TitlesOfParts>
    <vt:vector size="16" baseType="lpstr">
      <vt:lpstr>Arial</vt:lpstr>
      <vt:lpstr>Arial (Corpo)</vt:lpstr>
      <vt:lpstr>Arial (Títulos)</vt:lpstr>
      <vt:lpstr>Calibri</vt:lpstr>
      <vt:lpstr>Calibri Light</vt:lpstr>
      <vt:lpstr>Times New Roman</vt:lpstr>
      <vt:lpstr>Personalizar design</vt:lpstr>
      <vt:lpstr>Tema do Office</vt:lpstr>
      <vt:lpstr>Apresentação do PowerPoint</vt:lpstr>
      <vt:lpstr>Objetivos</vt:lpstr>
      <vt:lpstr>Conteúdo Programático</vt:lpstr>
      <vt:lpstr>Dinâmica do Curso</vt:lpstr>
      <vt:lpstr>Instrumentos de Avaliação</vt:lpstr>
      <vt:lpstr>Projeto</vt:lpstr>
      <vt:lpstr>Bibliografia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Federal de São Paulo  LP3I3 – Linguagem de Programação III</dc:title>
  <dc:creator>Everton</dc:creator>
  <cp:lastModifiedBy>Everton</cp:lastModifiedBy>
  <cp:revision>139</cp:revision>
  <dcterms:modified xsi:type="dcterms:W3CDTF">2025-08-02T18:40:43Z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