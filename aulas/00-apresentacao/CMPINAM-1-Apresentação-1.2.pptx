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4630400" cy="8229600"/>
  <p:notesSz cx="8229600" cy="14630400"/>
  <p:embeddedFontLst>
    <p:embeddedFont>
      <p:font typeface="Instrument Sans" pitchFamily="2" charset="0"/>
      <p:regular r:id="rId10"/>
      <p:bold r:id="rId11"/>
      <p:italic r:id="rId12"/>
      <p:boldItalic r:id="rId13"/>
    </p:embeddedFont>
    <p:embeddedFont>
      <p:font typeface="Instrument Sans Medium" pitchFamily="2" charset="0"/>
      <p:regular r:id="rId14"/>
      <p:italic r:id="rId15"/>
    </p:embeddedFont>
    <p:embeddedFont>
      <p:font typeface="Instrument Sans Semi Bold" panose="020B0604020202020204" charset="0"/>
      <p:regular r:id="rId16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8" d="100"/>
          <a:sy n="68" d="100"/>
        </p:scale>
        <p:origin x="643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7804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everton.silva@ifsp.edu.br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hyperlink" Target="https://ieeexplore.ieee.org/xpl/RecentIssue.jsp?punumber=34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35330"/>
            <a:ext cx="7825502" cy="978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700"/>
              </a:lnSpc>
              <a:buNone/>
            </a:pPr>
            <a:r>
              <a:rPr lang="en-US" sz="61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INTRODUÇÃO AO</a:t>
            </a:r>
            <a:endParaRPr lang="en-US" sz="6150" dirty="0"/>
          </a:p>
        </p:txBody>
      </p:sp>
      <p:sp>
        <p:nvSpPr>
          <p:cNvPr id="3" name="Text 1"/>
          <p:cNvSpPr/>
          <p:nvPr/>
        </p:nvSpPr>
        <p:spPr>
          <a:xfrm>
            <a:off x="793790" y="2053709"/>
            <a:ext cx="10884337" cy="978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700"/>
              </a:lnSpc>
              <a:buNone/>
            </a:pPr>
            <a:r>
              <a:rPr lang="en-US" sz="61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APRENDIZADO DE MÁQUINA</a:t>
            </a:r>
            <a:endParaRPr lang="en-US" sz="6150" dirty="0"/>
          </a:p>
        </p:txBody>
      </p:sp>
      <p:sp>
        <p:nvSpPr>
          <p:cNvPr id="4" name="Text 2"/>
          <p:cNvSpPr/>
          <p:nvPr/>
        </p:nvSpPr>
        <p:spPr>
          <a:xfrm>
            <a:off x="793790" y="3372088"/>
            <a:ext cx="5892522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Apresentação da Disciplina</a:t>
            </a:r>
            <a:endParaRPr lang="en-US" sz="3550" dirty="0"/>
          </a:p>
        </p:txBody>
      </p:sp>
      <p:sp>
        <p:nvSpPr>
          <p:cNvPr id="5" name="Text 3"/>
          <p:cNvSpPr/>
          <p:nvPr/>
        </p:nvSpPr>
        <p:spPr>
          <a:xfrm>
            <a:off x="793790" y="4279225"/>
            <a:ext cx="449897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Prof. Everton Meyer da Silva</a:t>
            </a:r>
            <a:endParaRPr lang="en-US" sz="2650" dirty="0"/>
          </a:p>
        </p:txBody>
      </p:sp>
      <p:sp>
        <p:nvSpPr>
          <p:cNvPr id="6" name="Text 4"/>
          <p:cNvSpPr/>
          <p:nvPr/>
        </p:nvSpPr>
        <p:spPr>
          <a:xfrm>
            <a:off x="793791" y="5044678"/>
            <a:ext cx="273471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i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  <a:hlinkClick r:id="rId3"/>
              </a:rPr>
              <a:t>everton.silva@ifsp.edu.br</a:t>
            </a:r>
            <a:r>
              <a:rPr lang="en-US" sz="1750" i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</a:t>
            </a:r>
            <a:endParaRPr lang="en-US" sz="17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5917883"/>
            <a:ext cx="2409944" cy="8430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254E118C-B172-C23C-8CF1-8A86E21991AF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55" t="12712" r="7073" b="11593"/>
          <a:stretch>
            <a:fillRect/>
          </a:stretch>
        </p:blipFill>
        <p:spPr>
          <a:xfrm>
            <a:off x="7416640" y="5668114"/>
            <a:ext cx="2997185" cy="130544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66498" y="612934"/>
            <a:ext cx="5572601" cy="696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50"/>
              </a:lnSpc>
              <a:buNone/>
            </a:pPr>
            <a:r>
              <a:rPr lang="en-US" sz="43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Objetivos</a:t>
            </a:r>
            <a:endParaRPr lang="en-US" sz="4350" dirty="0"/>
          </a:p>
        </p:txBody>
      </p:sp>
      <p:sp>
        <p:nvSpPr>
          <p:cNvPr id="4" name="Shape 1"/>
          <p:cNvSpPr/>
          <p:nvPr/>
        </p:nvSpPr>
        <p:spPr>
          <a:xfrm>
            <a:off x="6266498" y="1978104"/>
            <a:ext cx="3680460" cy="2718911"/>
          </a:xfrm>
          <a:prstGeom prst="roundRect">
            <a:avLst>
              <a:gd name="adj" fmla="val 5381"/>
            </a:avLst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6266498" y="1947624"/>
            <a:ext cx="3680460" cy="121920"/>
          </a:xfrm>
          <a:prstGeom prst="roundRect">
            <a:avLst>
              <a:gd name="adj" fmla="val 164547"/>
            </a:avLst>
          </a:prstGeom>
          <a:solidFill>
            <a:srgbClr val="84C1FA"/>
          </a:solidFill>
          <a:ln/>
        </p:spPr>
      </p:sp>
      <p:sp>
        <p:nvSpPr>
          <p:cNvPr id="6" name="Shape 3"/>
          <p:cNvSpPr/>
          <p:nvPr/>
        </p:nvSpPr>
        <p:spPr>
          <a:xfrm>
            <a:off x="7772400" y="1643777"/>
            <a:ext cx="668655" cy="668655"/>
          </a:xfrm>
          <a:prstGeom prst="roundRect">
            <a:avLst>
              <a:gd name="adj" fmla="val 136752"/>
            </a:avLst>
          </a:prstGeom>
          <a:solidFill>
            <a:srgbClr val="84C1FA"/>
          </a:solidFill>
          <a:ln/>
        </p:spPr>
      </p:sp>
      <p:sp>
        <p:nvSpPr>
          <p:cNvPr id="7" name="Text 4"/>
          <p:cNvSpPr/>
          <p:nvPr/>
        </p:nvSpPr>
        <p:spPr>
          <a:xfrm>
            <a:off x="7973020" y="1810941"/>
            <a:ext cx="267414" cy="334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1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6519863" y="2535317"/>
            <a:ext cx="2786301" cy="3482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Entender</a:t>
            </a:r>
            <a:endParaRPr lang="en-US" sz="2150" dirty="0"/>
          </a:p>
        </p:txBody>
      </p:sp>
      <p:sp>
        <p:nvSpPr>
          <p:cNvPr id="9" name="Text 6"/>
          <p:cNvSpPr/>
          <p:nvPr/>
        </p:nvSpPr>
        <p:spPr>
          <a:xfrm>
            <a:off x="6519863" y="3017282"/>
            <a:ext cx="3173730" cy="10697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Os principais fundamentos e aplicações da área de Aprendizado de Máquina.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10169843" y="1978104"/>
            <a:ext cx="3680460" cy="2718911"/>
          </a:xfrm>
          <a:prstGeom prst="roundRect">
            <a:avLst>
              <a:gd name="adj" fmla="val 5381"/>
            </a:avLst>
          </a:prstGeom>
          <a:solidFill>
            <a:srgbClr val="FFFFFF"/>
          </a:solidFill>
          <a:ln/>
        </p:spPr>
      </p:sp>
      <p:sp>
        <p:nvSpPr>
          <p:cNvPr id="11" name="Shape 8"/>
          <p:cNvSpPr/>
          <p:nvPr/>
        </p:nvSpPr>
        <p:spPr>
          <a:xfrm>
            <a:off x="10169843" y="1947624"/>
            <a:ext cx="3680460" cy="121920"/>
          </a:xfrm>
          <a:prstGeom prst="roundRect">
            <a:avLst>
              <a:gd name="adj" fmla="val 164547"/>
            </a:avLst>
          </a:prstGeom>
          <a:solidFill>
            <a:srgbClr val="84C1FA"/>
          </a:solidFill>
          <a:ln/>
        </p:spPr>
      </p:sp>
      <p:sp>
        <p:nvSpPr>
          <p:cNvPr id="12" name="Shape 9"/>
          <p:cNvSpPr/>
          <p:nvPr/>
        </p:nvSpPr>
        <p:spPr>
          <a:xfrm>
            <a:off x="11675745" y="1643777"/>
            <a:ext cx="668655" cy="668655"/>
          </a:xfrm>
          <a:prstGeom prst="roundRect">
            <a:avLst>
              <a:gd name="adj" fmla="val 136752"/>
            </a:avLst>
          </a:prstGeom>
          <a:solidFill>
            <a:srgbClr val="84C1FA"/>
          </a:solidFill>
          <a:ln/>
        </p:spPr>
      </p:sp>
      <p:sp>
        <p:nvSpPr>
          <p:cNvPr id="13" name="Text 10"/>
          <p:cNvSpPr/>
          <p:nvPr/>
        </p:nvSpPr>
        <p:spPr>
          <a:xfrm>
            <a:off x="11876365" y="1810941"/>
            <a:ext cx="267414" cy="334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2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10423208" y="2535317"/>
            <a:ext cx="2786301" cy="3482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Capacitar</a:t>
            </a:r>
            <a:endParaRPr lang="en-US" sz="2150" dirty="0"/>
          </a:p>
        </p:txBody>
      </p:sp>
      <p:sp>
        <p:nvSpPr>
          <p:cNvPr id="15" name="Text 12"/>
          <p:cNvSpPr/>
          <p:nvPr/>
        </p:nvSpPr>
        <p:spPr>
          <a:xfrm>
            <a:off x="10423208" y="3017282"/>
            <a:ext cx="3173730" cy="14263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 aluno para implementar soluções para a predição de padrões utilizando conjuntos de dados.</a:t>
            </a:r>
            <a:endParaRPr lang="en-US" sz="1750" dirty="0"/>
          </a:p>
        </p:txBody>
      </p:sp>
      <p:sp>
        <p:nvSpPr>
          <p:cNvPr id="16" name="Shape 13"/>
          <p:cNvSpPr/>
          <p:nvPr/>
        </p:nvSpPr>
        <p:spPr>
          <a:xfrm>
            <a:off x="6266498" y="5254228"/>
            <a:ext cx="7583805" cy="2362319"/>
          </a:xfrm>
          <a:prstGeom prst="roundRect">
            <a:avLst>
              <a:gd name="adj" fmla="val 6193"/>
            </a:avLst>
          </a:prstGeom>
          <a:solidFill>
            <a:srgbClr val="FFFFFF"/>
          </a:solidFill>
          <a:ln/>
        </p:spPr>
      </p:sp>
      <p:sp>
        <p:nvSpPr>
          <p:cNvPr id="17" name="Shape 14"/>
          <p:cNvSpPr/>
          <p:nvPr/>
        </p:nvSpPr>
        <p:spPr>
          <a:xfrm>
            <a:off x="6266498" y="5223748"/>
            <a:ext cx="7583805" cy="121920"/>
          </a:xfrm>
          <a:prstGeom prst="roundRect">
            <a:avLst>
              <a:gd name="adj" fmla="val 164547"/>
            </a:avLst>
          </a:prstGeom>
          <a:solidFill>
            <a:srgbClr val="84C1FA"/>
          </a:solidFill>
          <a:ln/>
        </p:spPr>
      </p:sp>
      <p:sp>
        <p:nvSpPr>
          <p:cNvPr id="18" name="Shape 15"/>
          <p:cNvSpPr/>
          <p:nvPr/>
        </p:nvSpPr>
        <p:spPr>
          <a:xfrm>
            <a:off x="9724073" y="4919901"/>
            <a:ext cx="668655" cy="668655"/>
          </a:xfrm>
          <a:prstGeom prst="roundRect">
            <a:avLst>
              <a:gd name="adj" fmla="val 136752"/>
            </a:avLst>
          </a:prstGeom>
          <a:solidFill>
            <a:srgbClr val="84C1FA"/>
          </a:solidFill>
          <a:ln/>
        </p:spPr>
      </p:sp>
      <p:sp>
        <p:nvSpPr>
          <p:cNvPr id="19" name="Text 16"/>
          <p:cNvSpPr/>
          <p:nvPr/>
        </p:nvSpPr>
        <p:spPr>
          <a:xfrm>
            <a:off x="9924693" y="5087064"/>
            <a:ext cx="267414" cy="334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3</a:t>
            </a:r>
            <a:endParaRPr lang="en-US" sz="2100" dirty="0"/>
          </a:p>
        </p:txBody>
      </p:sp>
      <p:sp>
        <p:nvSpPr>
          <p:cNvPr id="20" name="Text 17"/>
          <p:cNvSpPr/>
          <p:nvPr/>
        </p:nvSpPr>
        <p:spPr>
          <a:xfrm>
            <a:off x="6519863" y="5811441"/>
            <a:ext cx="2786301" cy="3482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Estimular</a:t>
            </a:r>
            <a:endParaRPr lang="en-US" sz="2150" dirty="0"/>
          </a:p>
        </p:txBody>
      </p:sp>
      <p:sp>
        <p:nvSpPr>
          <p:cNvPr id="21" name="Text 18"/>
          <p:cNvSpPr/>
          <p:nvPr/>
        </p:nvSpPr>
        <p:spPr>
          <a:xfrm>
            <a:off x="6519863" y="6293406"/>
            <a:ext cx="7077075" cy="10697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 aluno a desenvolver o raciocínio lógico voltado para a aplicação de algoritmos de aprendizado de máquina à soluções de problemas de diversos domínios.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40456"/>
            <a:ext cx="645056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Conteúdo Programático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902863"/>
            <a:ext cx="4196358" cy="1162288"/>
          </a:xfrm>
          <a:prstGeom prst="roundRect">
            <a:avLst>
              <a:gd name="adj" fmla="val 46838"/>
            </a:avLst>
          </a:prstGeom>
          <a:solidFill>
            <a:srgbClr val="CEE6FD"/>
          </a:solidFill>
          <a:ln/>
        </p:spPr>
      </p:sp>
      <p:sp>
        <p:nvSpPr>
          <p:cNvPr id="4" name="Text 2"/>
          <p:cNvSpPr/>
          <p:nvPr/>
        </p:nvSpPr>
        <p:spPr>
          <a:xfrm>
            <a:off x="1020604" y="3129677"/>
            <a:ext cx="374273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Introdução ao Aprendizado de Máquina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216962" y="2902863"/>
            <a:ext cx="4196358" cy="1162288"/>
          </a:xfrm>
          <a:prstGeom prst="roundRect">
            <a:avLst>
              <a:gd name="adj" fmla="val 46838"/>
            </a:avLst>
          </a:prstGeom>
          <a:solidFill>
            <a:srgbClr val="CEE6FD"/>
          </a:solidFill>
          <a:ln/>
        </p:spPr>
      </p:sp>
      <p:sp>
        <p:nvSpPr>
          <p:cNvPr id="6" name="Text 4"/>
          <p:cNvSpPr/>
          <p:nvPr/>
        </p:nvSpPr>
        <p:spPr>
          <a:xfrm>
            <a:off x="5443776" y="3129677"/>
            <a:ext cx="374273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Principais áreas do Aprendizado de Máquina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9640133" y="2902863"/>
            <a:ext cx="4196358" cy="1162288"/>
          </a:xfrm>
          <a:prstGeom prst="roundRect">
            <a:avLst>
              <a:gd name="adj" fmla="val 46838"/>
            </a:avLst>
          </a:prstGeom>
          <a:solidFill>
            <a:srgbClr val="CEE6FD"/>
          </a:solidFill>
          <a:ln/>
        </p:spPr>
      </p:sp>
      <p:sp>
        <p:nvSpPr>
          <p:cNvPr id="8" name="Text 6"/>
          <p:cNvSpPr/>
          <p:nvPr/>
        </p:nvSpPr>
        <p:spPr>
          <a:xfrm>
            <a:off x="9866948" y="3129677"/>
            <a:ext cx="374273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Paradigmas de Aprendizado de Máquina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793790" y="4291965"/>
            <a:ext cx="4196358" cy="1162288"/>
          </a:xfrm>
          <a:prstGeom prst="roundRect">
            <a:avLst>
              <a:gd name="adj" fmla="val 46838"/>
            </a:avLst>
          </a:prstGeom>
          <a:solidFill>
            <a:srgbClr val="CEE6FD"/>
          </a:solidFill>
          <a:ln/>
        </p:spPr>
      </p:sp>
      <p:sp>
        <p:nvSpPr>
          <p:cNvPr id="10" name="Text 8"/>
          <p:cNvSpPr/>
          <p:nvPr/>
        </p:nvSpPr>
        <p:spPr>
          <a:xfrm>
            <a:off x="1020604" y="4518779"/>
            <a:ext cx="292072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Modelos de regressão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5216962" y="4291965"/>
            <a:ext cx="4196358" cy="1162288"/>
          </a:xfrm>
          <a:prstGeom prst="roundRect">
            <a:avLst>
              <a:gd name="adj" fmla="val 46838"/>
            </a:avLst>
          </a:prstGeom>
          <a:solidFill>
            <a:srgbClr val="CEE6FD"/>
          </a:solidFill>
          <a:ln/>
        </p:spPr>
      </p:sp>
      <p:sp>
        <p:nvSpPr>
          <p:cNvPr id="12" name="Text 10"/>
          <p:cNvSpPr/>
          <p:nvPr/>
        </p:nvSpPr>
        <p:spPr>
          <a:xfrm>
            <a:off x="5443776" y="4518779"/>
            <a:ext cx="365236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Algoritmos de classificação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9640133" y="4291965"/>
            <a:ext cx="4196358" cy="1162288"/>
          </a:xfrm>
          <a:prstGeom prst="roundRect">
            <a:avLst>
              <a:gd name="adj" fmla="val 46838"/>
            </a:avLst>
          </a:prstGeom>
          <a:solidFill>
            <a:srgbClr val="CEE6FD"/>
          </a:solidFill>
          <a:ln/>
        </p:spPr>
      </p:sp>
      <p:sp>
        <p:nvSpPr>
          <p:cNvPr id="14" name="Text 12"/>
          <p:cNvSpPr/>
          <p:nvPr/>
        </p:nvSpPr>
        <p:spPr>
          <a:xfrm>
            <a:off x="9866948" y="4518779"/>
            <a:ext cx="374273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Algoritmos de agrupamento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793790" y="5681067"/>
            <a:ext cx="13042702" cy="807958"/>
          </a:xfrm>
          <a:prstGeom prst="roundRect">
            <a:avLst>
              <a:gd name="adj" fmla="val 67378"/>
            </a:avLst>
          </a:prstGeom>
          <a:solidFill>
            <a:srgbClr val="CEE6FD"/>
          </a:solidFill>
          <a:ln/>
        </p:spPr>
      </p:sp>
      <p:sp>
        <p:nvSpPr>
          <p:cNvPr id="16" name="Text 14"/>
          <p:cNvSpPr/>
          <p:nvPr/>
        </p:nvSpPr>
        <p:spPr>
          <a:xfrm>
            <a:off x="1020604" y="5907881"/>
            <a:ext cx="290691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Validação de modelos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9764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Dinâmica do Curso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260050"/>
            <a:ext cx="566976" cy="5669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411051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Aulas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4600932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Encontros presenciais, material de leitura (livros ou apostilas), vídeos disponíveis na internet, etc.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5768935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Material disponibilizado no Moodle</a:t>
            </a:r>
            <a:endParaRPr lang="en-US" sz="17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5893" y="3260050"/>
            <a:ext cx="566976" cy="56697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35893" y="411051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Comunicação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5235893" y="4600932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SUAP</a:t>
            </a:r>
            <a:endParaRPr lang="en-US" sz="1750" dirty="0"/>
          </a:p>
        </p:txBody>
      </p:sp>
      <p:sp>
        <p:nvSpPr>
          <p:cNvPr id="10" name="Text 6"/>
          <p:cNvSpPr/>
          <p:nvPr/>
        </p:nvSpPr>
        <p:spPr>
          <a:xfrm>
            <a:off x="5235893" y="5043130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Email: everton.silva@ifsp.edu.br</a:t>
            </a:r>
            <a:endParaRPr lang="en-US" sz="17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77995" y="3260050"/>
            <a:ext cx="566976" cy="56697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677995" y="411051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Atendimento</a:t>
            </a:r>
            <a:endParaRPr lang="en-US" sz="2200" dirty="0"/>
          </a:p>
        </p:txBody>
      </p:sp>
      <p:sp>
        <p:nvSpPr>
          <p:cNvPr id="13" name="Text 8"/>
          <p:cNvSpPr/>
          <p:nvPr/>
        </p:nvSpPr>
        <p:spPr>
          <a:xfrm>
            <a:off x="9677995" y="4600932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Presencial</a:t>
            </a:r>
            <a:endParaRPr lang="en-US" sz="1750" dirty="0"/>
          </a:p>
        </p:txBody>
      </p:sp>
      <p:sp>
        <p:nvSpPr>
          <p:cNvPr id="14" name="Text 9"/>
          <p:cNvSpPr/>
          <p:nvPr/>
        </p:nvSpPr>
        <p:spPr>
          <a:xfrm>
            <a:off x="9677995" y="5043130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Horário disponível no Moodle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49154"/>
            <a:ext cx="702945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Instrumentos de Avaliação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011561"/>
            <a:ext cx="13042821" cy="5368766"/>
          </a:xfrm>
          <a:prstGeom prst="roundRect">
            <a:avLst>
              <a:gd name="adj" fmla="val 3802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1410" y="2019181"/>
            <a:ext cx="1302627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29653" y="2162889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Instrumentos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5375077" y="2162889"/>
            <a:ext cx="388036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Descrição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9716691" y="2162889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Peso (%)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801410" y="2669500"/>
            <a:ext cx="13026271" cy="101322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029653" y="2813209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Atividades Práticas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5375077" y="2813209"/>
            <a:ext cx="388036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Semanais ou quinzenais, em dupla ou individual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716691" y="2813209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20%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801410" y="3682722"/>
            <a:ext cx="13026271" cy="101322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029653" y="3826431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Projeto – Parte 1 (PR1)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5375077" y="3826431"/>
            <a:ext cx="388036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Entrega parcial no final do 1º bimestre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9716691" y="3826431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30%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801410" y="4695944"/>
            <a:ext cx="13026271" cy="101322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029653" y="4839653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Projeto – Parte 2 (PR2)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5375077" y="4839653"/>
            <a:ext cx="388036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Entrega final e apresentação no final do 2º bimestre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9716691" y="4839653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30%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801410" y="5709166"/>
            <a:ext cx="1302627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029653" y="5852874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Simulado ENADE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5375077" y="5852874"/>
            <a:ext cx="388036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Nota do simulado ENADE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9716691" y="5852874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10%</a:t>
            </a:r>
            <a:endParaRPr lang="en-US" sz="1750" dirty="0"/>
          </a:p>
        </p:txBody>
      </p:sp>
      <p:sp>
        <p:nvSpPr>
          <p:cNvPr id="24" name="Shape 22"/>
          <p:cNvSpPr/>
          <p:nvPr/>
        </p:nvSpPr>
        <p:spPr>
          <a:xfrm>
            <a:off x="801410" y="6359485"/>
            <a:ext cx="13026271" cy="101322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1029653" y="6503194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Participação e engajamento</a:t>
            </a:r>
            <a:endParaRPr lang="en-US" sz="1750" dirty="0"/>
          </a:p>
        </p:txBody>
      </p:sp>
      <p:sp>
        <p:nvSpPr>
          <p:cNvPr id="26" name="Text 24"/>
          <p:cNvSpPr/>
          <p:nvPr/>
        </p:nvSpPr>
        <p:spPr>
          <a:xfrm>
            <a:off x="5375077" y="6503194"/>
            <a:ext cx="388036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Critérios subjetivos: entrega no prazo, participação em aula etc.</a:t>
            </a:r>
            <a:endParaRPr lang="en-US" sz="1750" dirty="0"/>
          </a:p>
        </p:txBody>
      </p:sp>
      <p:sp>
        <p:nvSpPr>
          <p:cNvPr id="27" name="Text 25"/>
          <p:cNvSpPr/>
          <p:nvPr/>
        </p:nvSpPr>
        <p:spPr>
          <a:xfrm>
            <a:off x="9716691" y="6503194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10%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774859"/>
            <a:ext cx="5387102" cy="673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Projeto</a:t>
            </a:r>
            <a:endParaRPr lang="en-US" sz="4200" dirty="0"/>
          </a:p>
        </p:txBody>
      </p:sp>
      <p:sp>
        <p:nvSpPr>
          <p:cNvPr id="4" name="Text 1"/>
          <p:cNvSpPr/>
          <p:nvPr/>
        </p:nvSpPr>
        <p:spPr>
          <a:xfrm>
            <a:off x="6280190" y="1986796"/>
            <a:ext cx="3515320" cy="8079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5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Etapa 1 (PR1)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6280190" y="3037165"/>
            <a:ext cx="484823" cy="484823"/>
          </a:xfrm>
          <a:prstGeom prst="roundRect">
            <a:avLst>
              <a:gd name="adj" fmla="val 40002"/>
            </a:avLst>
          </a:prstGeom>
          <a:solidFill>
            <a:srgbClr val="CEE6FD"/>
          </a:solidFill>
          <a:ln/>
        </p:spPr>
      </p:sp>
      <p:sp>
        <p:nvSpPr>
          <p:cNvPr id="6" name="Text 3"/>
          <p:cNvSpPr/>
          <p:nvPr/>
        </p:nvSpPr>
        <p:spPr>
          <a:xfrm>
            <a:off x="6980396" y="3107174"/>
            <a:ext cx="2815114" cy="1034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 err="1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Escolha</a:t>
            </a:r>
            <a:r>
              <a:rPr lang="en-US" sz="16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do tema + definição do problema + coleta e análise inicial dos dados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6280190" y="4572476"/>
            <a:ext cx="484823" cy="484823"/>
          </a:xfrm>
          <a:prstGeom prst="roundRect">
            <a:avLst>
              <a:gd name="adj" fmla="val 40002"/>
            </a:avLst>
          </a:prstGeom>
          <a:solidFill>
            <a:srgbClr val="CEE6FD"/>
          </a:solidFill>
          <a:ln/>
        </p:spPr>
      </p:sp>
      <p:sp>
        <p:nvSpPr>
          <p:cNvPr id="8" name="Text 5"/>
          <p:cNvSpPr/>
          <p:nvPr/>
        </p:nvSpPr>
        <p:spPr>
          <a:xfrm>
            <a:off x="6980396" y="4642485"/>
            <a:ext cx="2815114" cy="1034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Modelagem inicial com algoritmo simples (regressão ou classificação)</a:t>
            </a:r>
            <a:endParaRPr lang="en-US" sz="1650" dirty="0"/>
          </a:p>
        </p:txBody>
      </p:sp>
      <p:sp>
        <p:nvSpPr>
          <p:cNvPr id="9" name="Shape 6"/>
          <p:cNvSpPr/>
          <p:nvPr/>
        </p:nvSpPr>
        <p:spPr>
          <a:xfrm>
            <a:off x="6280190" y="6107787"/>
            <a:ext cx="484823" cy="484823"/>
          </a:xfrm>
          <a:prstGeom prst="roundRect">
            <a:avLst>
              <a:gd name="adj" fmla="val 40002"/>
            </a:avLst>
          </a:prstGeom>
          <a:solidFill>
            <a:srgbClr val="CEE6FD"/>
          </a:solidFill>
          <a:ln/>
        </p:spPr>
      </p:sp>
      <p:sp>
        <p:nvSpPr>
          <p:cNvPr id="10" name="Text 7"/>
          <p:cNvSpPr/>
          <p:nvPr/>
        </p:nvSpPr>
        <p:spPr>
          <a:xfrm>
            <a:off x="6980396" y="6177796"/>
            <a:ext cx="2815114" cy="689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Entrega de relatório parcial e notebook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10328910" y="1986796"/>
            <a:ext cx="3515320" cy="8079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5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Etapa 2 (PR2)</a:t>
            </a:r>
            <a:endParaRPr lang="en-US" sz="2500" dirty="0"/>
          </a:p>
        </p:txBody>
      </p:sp>
      <p:sp>
        <p:nvSpPr>
          <p:cNvPr id="12" name="Shape 9"/>
          <p:cNvSpPr/>
          <p:nvPr/>
        </p:nvSpPr>
        <p:spPr>
          <a:xfrm>
            <a:off x="10328910" y="3037165"/>
            <a:ext cx="484823" cy="484823"/>
          </a:xfrm>
          <a:prstGeom prst="roundRect">
            <a:avLst>
              <a:gd name="adj" fmla="val 40002"/>
            </a:avLst>
          </a:prstGeom>
          <a:solidFill>
            <a:srgbClr val="CEE6FD"/>
          </a:solidFill>
          <a:ln/>
        </p:spPr>
      </p:sp>
      <p:sp>
        <p:nvSpPr>
          <p:cNvPr id="13" name="Text 10"/>
          <p:cNvSpPr/>
          <p:nvPr/>
        </p:nvSpPr>
        <p:spPr>
          <a:xfrm>
            <a:off x="11029117" y="3107174"/>
            <a:ext cx="2815114" cy="1379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Aprimoramento do modelo (ex: tuning, validação cruzada, testes com mais algoritmos)</a:t>
            </a:r>
            <a:endParaRPr lang="en-US" sz="1650" dirty="0"/>
          </a:p>
        </p:txBody>
      </p:sp>
      <p:sp>
        <p:nvSpPr>
          <p:cNvPr id="14" name="Shape 11"/>
          <p:cNvSpPr/>
          <p:nvPr/>
        </p:nvSpPr>
        <p:spPr>
          <a:xfrm>
            <a:off x="10328910" y="4917281"/>
            <a:ext cx="484823" cy="484823"/>
          </a:xfrm>
          <a:prstGeom prst="roundRect">
            <a:avLst>
              <a:gd name="adj" fmla="val 40002"/>
            </a:avLst>
          </a:prstGeom>
          <a:solidFill>
            <a:srgbClr val="CEE6FD"/>
          </a:solidFill>
          <a:ln/>
        </p:spPr>
      </p:sp>
      <p:sp>
        <p:nvSpPr>
          <p:cNvPr id="15" name="Text 12"/>
          <p:cNvSpPr/>
          <p:nvPr/>
        </p:nvSpPr>
        <p:spPr>
          <a:xfrm>
            <a:off x="11029117" y="4987290"/>
            <a:ext cx="2815114" cy="689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Discussão crítica dos resultados</a:t>
            </a:r>
            <a:endParaRPr lang="en-US" sz="1650" dirty="0"/>
          </a:p>
        </p:txBody>
      </p:sp>
      <p:sp>
        <p:nvSpPr>
          <p:cNvPr id="16" name="Shape 13"/>
          <p:cNvSpPr/>
          <p:nvPr/>
        </p:nvSpPr>
        <p:spPr>
          <a:xfrm>
            <a:off x="10328910" y="6107787"/>
            <a:ext cx="484823" cy="484823"/>
          </a:xfrm>
          <a:prstGeom prst="roundRect">
            <a:avLst>
              <a:gd name="adj" fmla="val 40002"/>
            </a:avLst>
          </a:prstGeom>
          <a:solidFill>
            <a:srgbClr val="CEE6FD"/>
          </a:solidFill>
          <a:ln/>
        </p:spPr>
      </p:sp>
      <p:sp>
        <p:nvSpPr>
          <p:cNvPr id="17" name="Text 14"/>
          <p:cNvSpPr/>
          <p:nvPr/>
        </p:nvSpPr>
        <p:spPr>
          <a:xfrm>
            <a:off x="11029117" y="6177796"/>
            <a:ext cx="2815114" cy="1034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Apresentação final com slides + demonstração do notebook</a:t>
            </a: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5304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266956"/>
            <a:ext cx="4820007" cy="602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solidFill>
                  <a:srgbClr val="091C53"/>
                </a:solidFill>
                <a:latin typeface="Instrument Sans" pitchFamily="2" charset="0"/>
                <a:ea typeface="Instrument Sans Semi Bold" pitchFamily="34" charset="-122"/>
                <a:cs typeface="Instrument Sans Semi Bold" pitchFamily="34" charset="-120"/>
              </a:rPr>
              <a:t>Bibliografia</a:t>
            </a:r>
            <a:endParaRPr lang="en-US" sz="3750" dirty="0">
              <a:latin typeface="Instrument Sans" pitchFamily="2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793790" y="4158615"/>
            <a:ext cx="6424970" cy="1664732"/>
          </a:xfrm>
          <a:prstGeom prst="roundRect">
            <a:avLst>
              <a:gd name="adj" fmla="val 10423"/>
            </a:avLst>
          </a:prstGeom>
          <a:solidFill>
            <a:srgbClr val="FFFFFF"/>
          </a:solidFill>
          <a:ln w="22860">
            <a:solidFill>
              <a:srgbClr val="B4CCE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09412" y="4374237"/>
            <a:ext cx="5993725" cy="12334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1E3063"/>
                </a:solidFill>
                <a:latin typeface="Instrument Sans" pitchFamily="2" charset="0"/>
                <a:ea typeface="Instrument Sans Medium" pitchFamily="34" charset="-122"/>
                <a:cs typeface="Instrument Sans Medium" pitchFamily="34" charset="-120"/>
              </a:rPr>
              <a:t>GÉRON, A. </a:t>
            </a:r>
            <a:r>
              <a:rPr lang="en-US" sz="1500" b="1" dirty="0">
                <a:solidFill>
                  <a:srgbClr val="1E3063"/>
                </a:solidFill>
                <a:latin typeface="Instrument Sans" pitchFamily="2" charset="0"/>
                <a:ea typeface="Instrument Sans Medium" pitchFamily="34" charset="-122"/>
                <a:cs typeface="Instrument Sans Medium" pitchFamily="34" charset="-120"/>
              </a:rPr>
              <a:t>Mãos à obra: aprendizado de máquina com Scikit-Learn, Keras&amp;TensorFlow: Conceitos, ferramentas e técnicas para a construção de sistemas inteligentes</a:t>
            </a:r>
            <a:r>
              <a:rPr lang="en-US" sz="1500" dirty="0">
                <a:solidFill>
                  <a:srgbClr val="1E3063"/>
                </a:solidFill>
                <a:latin typeface="Instrument Sans" pitchFamily="2" charset="0"/>
                <a:ea typeface="Instrument Sans Medium" pitchFamily="34" charset="-122"/>
                <a:cs typeface="Instrument Sans Medium" pitchFamily="34" charset="-120"/>
              </a:rPr>
              <a:t>. 2. ed. Alta Books, 2021. 640 p.</a:t>
            </a:r>
            <a:endParaRPr lang="en-US" sz="1500" dirty="0">
              <a:latin typeface="Instrument Sans" pitchFamily="2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7411522" y="4158615"/>
            <a:ext cx="6425089" cy="1664732"/>
          </a:xfrm>
          <a:prstGeom prst="roundRect">
            <a:avLst>
              <a:gd name="adj" fmla="val 10423"/>
            </a:avLst>
          </a:prstGeom>
          <a:solidFill>
            <a:srgbClr val="FFFFFF"/>
          </a:solidFill>
          <a:ln w="22860">
            <a:solidFill>
              <a:srgbClr val="B4CCE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627144" y="4374237"/>
            <a:ext cx="5993844" cy="61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1E3063"/>
                </a:solidFill>
                <a:latin typeface="Instrument Sans" pitchFamily="2" charset="0"/>
                <a:ea typeface="Instrument Sans Medium" pitchFamily="34" charset="-122"/>
                <a:cs typeface="Instrument Sans Medium" pitchFamily="34" charset="-120"/>
              </a:rPr>
              <a:t>RUSSEL, S.; NORVIG, P. </a:t>
            </a:r>
            <a:r>
              <a:rPr lang="en-US" sz="1500" b="1" dirty="0">
                <a:solidFill>
                  <a:srgbClr val="1E3063"/>
                </a:solidFill>
                <a:latin typeface="Instrument Sans" pitchFamily="2" charset="0"/>
                <a:ea typeface="Instrument Sans Medium" pitchFamily="34" charset="-122"/>
                <a:cs typeface="Instrument Sans Medium" pitchFamily="34" charset="-120"/>
              </a:rPr>
              <a:t>Inteligência Artificial</a:t>
            </a:r>
            <a:r>
              <a:rPr lang="en-US" sz="1500" dirty="0">
                <a:solidFill>
                  <a:srgbClr val="1E3063"/>
                </a:solidFill>
                <a:latin typeface="Instrument Sans" pitchFamily="2" charset="0"/>
                <a:ea typeface="Instrument Sans Medium" pitchFamily="34" charset="-122"/>
                <a:cs typeface="Instrument Sans Medium" pitchFamily="34" charset="-120"/>
              </a:rPr>
              <a:t>. 3. ed. Rio de Janeiro: Campus, 2013. 1016p.</a:t>
            </a:r>
            <a:endParaRPr lang="en-US" sz="1500" dirty="0">
              <a:latin typeface="Instrument Sans" pitchFamily="2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793790" y="6016109"/>
            <a:ext cx="6424970" cy="1356360"/>
          </a:xfrm>
          <a:prstGeom prst="roundRect">
            <a:avLst>
              <a:gd name="adj" fmla="val 12793"/>
            </a:avLst>
          </a:prstGeom>
          <a:solidFill>
            <a:srgbClr val="FFFFFF"/>
          </a:solidFill>
          <a:ln w="22860">
            <a:solidFill>
              <a:srgbClr val="B4CCE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09412" y="6231731"/>
            <a:ext cx="5993725" cy="61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1E3063"/>
                </a:solidFill>
                <a:latin typeface="Instrument Sans" pitchFamily="2" charset="0"/>
                <a:ea typeface="Instrument Sans Medium" pitchFamily="34" charset="-122"/>
                <a:cs typeface="Instrument Sans Medium" pitchFamily="34" charset="-120"/>
              </a:rPr>
              <a:t>FACELI, K. et al. </a:t>
            </a:r>
            <a:r>
              <a:rPr lang="en-US" sz="1500" b="1" dirty="0">
                <a:solidFill>
                  <a:srgbClr val="1E3063"/>
                </a:solidFill>
                <a:latin typeface="Instrument Sans" pitchFamily="2" charset="0"/>
                <a:ea typeface="Instrument Sans Medium" pitchFamily="34" charset="-122"/>
                <a:cs typeface="Instrument Sans Medium" pitchFamily="34" charset="-120"/>
              </a:rPr>
              <a:t>Inteligência Artificial: Uma Abordagem de Aprendizado de Máquina</a:t>
            </a:r>
            <a:r>
              <a:rPr lang="en-US" sz="1500" dirty="0">
                <a:solidFill>
                  <a:srgbClr val="1E3063"/>
                </a:solidFill>
                <a:latin typeface="Instrument Sans" pitchFamily="2" charset="0"/>
                <a:ea typeface="Instrument Sans Medium" pitchFamily="34" charset="-122"/>
                <a:cs typeface="Instrument Sans Medium" pitchFamily="34" charset="-120"/>
              </a:rPr>
              <a:t>. 2. ed. LTC, 2021. 304 p.</a:t>
            </a:r>
            <a:endParaRPr lang="en-US" sz="1500" dirty="0">
              <a:latin typeface="Instrument Sans" pitchFamily="2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7411522" y="6016109"/>
            <a:ext cx="6425089" cy="1356360"/>
          </a:xfrm>
          <a:prstGeom prst="roundRect">
            <a:avLst>
              <a:gd name="adj" fmla="val 12793"/>
            </a:avLst>
          </a:prstGeom>
          <a:solidFill>
            <a:srgbClr val="FFFFFF"/>
          </a:solidFill>
          <a:ln w="22860">
            <a:solidFill>
              <a:srgbClr val="B4CCE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627144" y="6231731"/>
            <a:ext cx="5993844" cy="925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1E3063"/>
                </a:solidFill>
                <a:latin typeface="Instrument Sans" pitchFamily="2" charset="0"/>
                <a:ea typeface="Instrument Sans Medium" pitchFamily="34" charset="-122"/>
                <a:cs typeface="Instrument Sans Medium" pitchFamily="34" charset="-120"/>
              </a:rPr>
              <a:t>Periódico: </a:t>
            </a:r>
            <a:r>
              <a:rPr lang="en-US" sz="1500" b="1" dirty="0">
                <a:solidFill>
                  <a:srgbClr val="1E3063"/>
                </a:solidFill>
                <a:latin typeface="Instrument Sans" pitchFamily="2" charset="0"/>
                <a:ea typeface="Instrument Sans Medium" pitchFamily="34" charset="-122"/>
                <a:cs typeface="Instrument Sans Medium" pitchFamily="34" charset="-120"/>
              </a:rPr>
              <a:t>Transaction on Pattern Analysis and Machine Intelligence</a:t>
            </a:r>
            <a:r>
              <a:rPr lang="en-US" sz="1500" dirty="0">
                <a:solidFill>
                  <a:srgbClr val="1E3063"/>
                </a:solidFill>
                <a:latin typeface="Instrument Sans" pitchFamily="2" charset="0"/>
                <a:ea typeface="Instrument Sans Medium" pitchFamily="34" charset="-122"/>
                <a:cs typeface="Instrument Sans Medium" pitchFamily="34" charset="-120"/>
              </a:rPr>
              <a:t>. Editora IEEE. ISSN: 1939-3539. Disponível em </a:t>
            </a:r>
            <a:r>
              <a:rPr lang="en-US" sz="1500" u="sng" dirty="0">
                <a:solidFill>
                  <a:srgbClr val="0540AD"/>
                </a:solidFill>
                <a:latin typeface="Instrument Sans" pitchFamily="2" charset="0"/>
                <a:ea typeface="Instrument Sans Medium" pitchFamily="34" charset="-122"/>
                <a:cs typeface="Instrument Sans Medium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https://ieeexplore.ieee.org/xpl/RecentIssue.jsp?punumber=34</a:t>
            </a:r>
            <a:r>
              <a:rPr lang="en-US" sz="1500" dirty="0">
                <a:solidFill>
                  <a:srgbClr val="1E3063"/>
                </a:solidFill>
                <a:latin typeface="Instrument Sans" pitchFamily="2" charset="0"/>
                <a:ea typeface="Instrument Sans Medium" pitchFamily="34" charset="-122"/>
                <a:cs typeface="Instrument Sans Medium" pitchFamily="34" charset="-120"/>
              </a:rPr>
              <a:t>.</a:t>
            </a:r>
            <a:endParaRPr lang="en-US" sz="1500" dirty="0">
              <a:latin typeface="Instrument Sans" pitchFamily="2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444</Words>
  <Application>Microsoft Office PowerPoint</Application>
  <PresentationFormat>Personalizar</PresentationFormat>
  <Paragraphs>73</Paragraphs>
  <Slides>7</Slides>
  <Notes>7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2" baseType="lpstr">
      <vt:lpstr>Instrument Sans Medium</vt:lpstr>
      <vt:lpstr>Arial</vt:lpstr>
      <vt:lpstr>Instrument Sans Semi Bold</vt:lpstr>
      <vt:lpstr>Instrument Sans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Everton Josue Meyer da Silva</cp:lastModifiedBy>
  <cp:revision>6</cp:revision>
  <dcterms:created xsi:type="dcterms:W3CDTF">2025-08-02T19:42:27Z</dcterms:created>
  <dcterms:modified xsi:type="dcterms:W3CDTF">2026-02-11T12:01:44Z</dcterms:modified>
</cp:coreProperties>
</file>