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4630400" cy="8229600"/>
  <p:notesSz cx="82296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03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verton.silva@ifsp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virtualenv.pypa.io/en/latest/installation.html" TargetMode="External"/><Relationship Id="rId5" Type="http://schemas.openxmlformats.org/officeDocument/2006/relationships/hyperlink" Target="https://pip.pypa.io/en/stable/installing/" TargetMode="External"/><Relationship Id="rId4" Type="http://schemas.openxmlformats.org/officeDocument/2006/relationships/hyperlink" Target="https://www.youtube.com/watch?v=VuKvR1J2LQ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hyperlink" Target="https://colab.research.google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3.png"/><Relationship Id="rId7" Type="http://schemas.openxmlformats.org/officeDocument/2006/relationships/hyperlink" Target="https://www.kaggle.com/learn/pytho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5.png"/><Relationship Id="rId5" Type="http://schemas.openxmlformats.org/officeDocument/2006/relationships/hyperlink" Target="https://www.youtube.com/playlist?list=PLHz_AreHm4dlKP6QQCekuIPky1CiwmdI6" TargetMode="Externa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5330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pt-BR" sz="61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INTRODUÇÃO AO</a:t>
            </a:r>
            <a:endParaRPr lang="pt-BR" sz="6150" noProof="0" dirty="0"/>
          </a:p>
        </p:txBody>
      </p:sp>
      <p:sp>
        <p:nvSpPr>
          <p:cNvPr id="3" name="Text 1"/>
          <p:cNvSpPr/>
          <p:nvPr/>
        </p:nvSpPr>
        <p:spPr>
          <a:xfrm>
            <a:off x="793790" y="2053709"/>
            <a:ext cx="1088433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pt-BR" sz="61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APRENDIZADO DE MÁQUINA</a:t>
            </a:r>
            <a:endParaRPr lang="pt-BR" sz="6150" noProof="0" dirty="0"/>
          </a:p>
        </p:txBody>
      </p:sp>
      <p:sp>
        <p:nvSpPr>
          <p:cNvPr id="4" name="Text 2"/>
          <p:cNvSpPr/>
          <p:nvPr/>
        </p:nvSpPr>
        <p:spPr>
          <a:xfrm>
            <a:off x="793790" y="3372088"/>
            <a:ext cx="90924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pt-BR" sz="3600" noProof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Ambiente de Desenvolvimento em Python</a:t>
            </a:r>
            <a:endParaRPr lang="pt-BR" sz="3600" noProof="0"/>
          </a:p>
        </p:txBody>
      </p:sp>
      <p:sp>
        <p:nvSpPr>
          <p:cNvPr id="5" name="Text 3"/>
          <p:cNvSpPr/>
          <p:nvPr/>
        </p:nvSpPr>
        <p:spPr>
          <a:xfrm>
            <a:off x="793790" y="4279225"/>
            <a:ext cx="449897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pt-BR" sz="26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Prof. Everton Meyer da Silva</a:t>
            </a:r>
            <a:endParaRPr lang="pt-BR" sz="2650" noProof="0" dirty="0"/>
          </a:p>
        </p:txBody>
      </p:sp>
      <p:sp>
        <p:nvSpPr>
          <p:cNvPr id="6" name="Text 4"/>
          <p:cNvSpPr/>
          <p:nvPr/>
        </p:nvSpPr>
        <p:spPr>
          <a:xfrm>
            <a:off x="793791" y="5044678"/>
            <a:ext cx="27347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t-BR" sz="1750" i="1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3"/>
              </a:rPr>
              <a:t>everton.silva@ifsp.edu.br</a:t>
            </a:r>
            <a:r>
              <a:rPr lang="pt-BR" sz="1750" i="1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endParaRPr lang="pt-BR" sz="175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917883"/>
            <a:ext cx="2409944" cy="8430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54E118C-B172-C23C-8CF1-8A86E21991A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12712" r="7073" b="11593"/>
          <a:stretch>
            <a:fillRect/>
          </a:stretch>
        </p:blipFill>
        <p:spPr>
          <a:xfrm>
            <a:off x="7416640" y="5668114"/>
            <a:ext cx="2997185" cy="1305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103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Ambiente de Desenvolvimento em Python</a:t>
            </a:r>
            <a:endParaRPr lang="pt-BR" sz="3900" noProof="0" dirty="0"/>
          </a:p>
        </p:txBody>
      </p:sp>
      <p:sp>
        <p:nvSpPr>
          <p:cNvPr id="4" name="Shape 1"/>
          <p:cNvSpPr/>
          <p:nvPr/>
        </p:nvSpPr>
        <p:spPr>
          <a:xfrm>
            <a:off x="6280190" y="2526506"/>
            <a:ext cx="3679031" cy="273427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2"/>
          <p:cNvSpPr/>
          <p:nvPr/>
        </p:nvSpPr>
        <p:spPr>
          <a:xfrm>
            <a:off x="6280190" y="2503646"/>
            <a:ext cx="36790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3"/>
          <p:cNvSpPr/>
          <p:nvPr/>
        </p:nvSpPr>
        <p:spPr>
          <a:xfrm>
            <a:off x="7822049" y="222885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643" y="2377678"/>
            <a:ext cx="238125" cy="297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1408" y="3022640"/>
            <a:ext cx="31434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Configuração do Ambiente</a:t>
            </a:r>
            <a:endParaRPr lang="pt-BR" sz="1950" noProof="0" dirty="0"/>
          </a:p>
        </p:txBody>
      </p:sp>
      <p:sp>
        <p:nvSpPr>
          <p:cNvPr id="9" name="Text 5"/>
          <p:cNvSpPr/>
          <p:nvPr/>
        </p:nvSpPr>
        <p:spPr>
          <a:xfrm>
            <a:off x="6501408" y="3451860"/>
            <a:ext cx="32365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Nesta semana, o foco será garantir que todos tenham um ambiente de desenvolvimento Python configurado corretamente para a prática.</a:t>
            </a:r>
            <a:endParaRPr lang="pt-BR" sz="1550" noProof="0" dirty="0"/>
          </a:p>
        </p:txBody>
      </p:sp>
      <p:sp>
        <p:nvSpPr>
          <p:cNvPr id="10" name="Shape 6"/>
          <p:cNvSpPr/>
          <p:nvPr/>
        </p:nvSpPr>
        <p:spPr>
          <a:xfrm>
            <a:off x="10157579" y="2526506"/>
            <a:ext cx="3679031" cy="273427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7"/>
          <p:cNvSpPr/>
          <p:nvPr/>
        </p:nvSpPr>
        <p:spPr>
          <a:xfrm>
            <a:off x="10157579" y="2503646"/>
            <a:ext cx="36790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8"/>
          <p:cNvSpPr/>
          <p:nvPr/>
        </p:nvSpPr>
        <p:spPr>
          <a:xfrm>
            <a:off x="11699438" y="222885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8032" y="2377678"/>
            <a:ext cx="238125" cy="297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78797" y="3022640"/>
            <a:ext cx="27527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Ferramentas Essenciais</a:t>
            </a:r>
            <a:endParaRPr lang="pt-BR" sz="1950" noProof="0" dirty="0"/>
          </a:p>
        </p:txBody>
      </p:sp>
      <p:sp>
        <p:nvSpPr>
          <p:cNvPr id="15" name="Text 10"/>
          <p:cNvSpPr/>
          <p:nvPr/>
        </p:nvSpPr>
        <p:spPr>
          <a:xfrm>
            <a:off x="10378797" y="3451860"/>
            <a:ext cx="32365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Exploraremos o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Jupyter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Lab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Google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Colab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Visual Studio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ferramentas cruciais para a prática de programação.</a:t>
            </a:r>
            <a:endParaRPr lang="pt-BR" sz="1550" noProof="0" dirty="0"/>
          </a:p>
        </p:txBody>
      </p:sp>
      <p:sp>
        <p:nvSpPr>
          <p:cNvPr id="16" name="Shape 11"/>
          <p:cNvSpPr/>
          <p:nvPr/>
        </p:nvSpPr>
        <p:spPr>
          <a:xfrm>
            <a:off x="6280190" y="5756791"/>
            <a:ext cx="7556421" cy="1781651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2"/>
          <p:cNvSpPr/>
          <p:nvPr/>
        </p:nvSpPr>
        <p:spPr>
          <a:xfrm>
            <a:off x="6280190" y="5733931"/>
            <a:ext cx="755642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3"/>
          <p:cNvSpPr/>
          <p:nvPr/>
        </p:nvSpPr>
        <p:spPr>
          <a:xfrm>
            <a:off x="9760744" y="545913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9338" y="5607963"/>
            <a:ext cx="238125" cy="2976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01408" y="6252924"/>
            <a:ext cx="28650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Fundamentos de Python</a:t>
            </a:r>
            <a:endParaRPr lang="pt-BR" sz="1950" noProof="0" dirty="0"/>
          </a:p>
        </p:txBody>
      </p:sp>
      <p:sp>
        <p:nvSpPr>
          <p:cNvPr id="21" name="Text 15"/>
          <p:cNvSpPr/>
          <p:nvPr/>
        </p:nvSpPr>
        <p:spPr>
          <a:xfrm>
            <a:off x="6501408" y="6682145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Também revisaremos alguns comandos básicos de Python, reforçando a base para os próximos conteúdos.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1478"/>
            <a:ext cx="671572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Ecossistema de Ferramentas</a:t>
            </a:r>
            <a:endParaRPr lang="pt-BR" sz="39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68391"/>
            <a:ext cx="6521410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360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 (&gt;= 3.6)</a:t>
            </a:r>
            <a:endParaRPr lang="pt-BR" sz="1950" noProof="0" dirty="0"/>
          </a:p>
        </p:txBody>
      </p:sp>
      <p:sp>
        <p:nvSpPr>
          <p:cNvPr id="5" name="Text 2"/>
          <p:cNvSpPr/>
          <p:nvPr/>
        </p:nvSpPr>
        <p:spPr>
          <a:xfrm>
            <a:off x="992148" y="3789759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linguagem de programação fundamental que utilizaremos em nosso desenvolvimento.</a:t>
            </a:r>
            <a:endParaRPr lang="pt-BR" sz="155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368391"/>
            <a:ext cx="6521410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3558" y="3360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Pip</a:t>
            </a:r>
            <a:endParaRPr lang="pt-BR" sz="1950" noProof="0" dirty="0"/>
          </a:p>
        </p:txBody>
      </p:sp>
      <p:sp>
        <p:nvSpPr>
          <p:cNvPr id="8" name="Text 4"/>
          <p:cNvSpPr/>
          <p:nvPr/>
        </p:nvSpPr>
        <p:spPr>
          <a:xfrm>
            <a:off x="7513558" y="3789759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gerenciador de pacotes essencial para instalar e atualizar bibliotecas Python em seus projetos.</a:t>
            </a:r>
            <a:endParaRPr lang="pt-BR" sz="155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23197"/>
            <a:ext cx="6521410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2148" y="56153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Virtualenv</a:t>
            </a:r>
            <a:endParaRPr lang="pt-BR" sz="1950" noProof="0" dirty="0"/>
          </a:p>
        </p:txBody>
      </p:sp>
      <p:sp>
        <p:nvSpPr>
          <p:cNvPr id="11" name="Text 6"/>
          <p:cNvSpPr/>
          <p:nvPr/>
        </p:nvSpPr>
        <p:spPr>
          <a:xfrm>
            <a:off x="992148" y="6044565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Ferramenta para criar ambientes virtuais, isolando as dependências de cada projeto e evitando conflitos.</a:t>
            </a:r>
            <a:endParaRPr lang="pt-BR" sz="1550" noProof="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23197"/>
            <a:ext cx="6521410" cy="7937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3558" y="56153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IPython</a:t>
            </a:r>
            <a:endParaRPr lang="pt-BR" sz="1950" noProof="0" dirty="0"/>
          </a:p>
        </p:txBody>
      </p:sp>
      <p:sp>
        <p:nvSpPr>
          <p:cNvPr id="14" name="Text 8"/>
          <p:cNvSpPr/>
          <p:nvPr/>
        </p:nvSpPr>
        <p:spPr>
          <a:xfrm>
            <a:off x="7513558" y="6044565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 terminal interativo mais avançado que o console padrão do Python, oferecendo recursos aprimorados.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8646"/>
            <a:ext cx="4701183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pt-BR" sz="27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Ecossistema de Ferramentas</a:t>
            </a:r>
            <a:endParaRPr lang="pt-BR" sz="2700" noProof="0" dirty="0"/>
          </a:p>
        </p:txBody>
      </p:sp>
      <p:sp>
        <p:nvSpPr>
          <p:cNvPr id="3" name="Text 1"/>
          <p:cNvSpPr/>
          <p:nvPr/>
        </p:nvSpPr>
        <p:spPr>
          <a:xfrm>
            <a:off x="793790" y="1310521"/>
            <a:ext cx="1304282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seguir, uma visão detalhada das ferramentas e bibliotecas essenciais para o seu ambiente de desenvolvimento Python.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93790" y="1827848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Ambientes e </a:t>
            </a:r>
            <a:r>
              <a:rPr lang="pt-BR" sz="1350" noProof="0" dirty="0" err="1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IDEs</a:t>
            </a:r>
            <a:endParaRPr lang="pt-BR" sz="135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01108"/>
            <a:ext cx="2162413" cy="13363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67629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Jupyter</a:t>
            </a: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Lab</a:t>
            </a:r>
            <a:endParaRPr lang="pt-BR" sz="1350" noProof="0" dirty="0"/>
          </a:p>
        </p:txBody>
      </p:sp>
      <p:sp>
        <p:nvSpPr>
          <p:cNvPr id="7" name="Text 4"/>
          <p:cNvSpPr/>
          <p:nvPr/>
        </p:nvSpPr>
        <p:spPr>
          <a:xfrm>
            <a:off x="793790" y="4032171"/>
            <a:ext cx="3089196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Ambiente web interativo para criar e executar notebooks, ideal para análise de dados e prototipagem.</a:t>
            </a:r>
            <a:endParaRPr lang="pt-BR" sz="1050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578" y="2201108"/>
            <a:ext cx="2162413" cy="13363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56578" y="367629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</a:t>
            </a: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Colab</a:t>
            </a:r>
            <a:endParaRPr lang="pt-BR" sz="1350" noProof="0" dirty="0"/>
          </a:p>
        </p:txBody>
      </p:sp>
      <p:sp>
        <p:nvSpPr>
          <p:cNvPr id="10" name="Text 6"/>
          <p:cNvSpPr/>
          <p:nvPr/>
        </p:nvSpPr>
        <p:spPr>
          <a:xfrm>
            <a:off x="4056578" y="4032171"/>
            <a:ext cx="3089196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Uma versão online do 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Jupyter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que oferece um ambiente pronto e gratuito com acesso a GPUs e 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TPUs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pt-BR" sz="105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76813"/>
            <a:ext cx="2162413" cy="13363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6451997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VS </a:t>
            </a: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Code</a:t>
            </a:r>
            <a:endParaRPr lang="pt-BR" sz="1350" noProof="0" dirty="0"/>
          </a:p>
        </p:txBody>
      </p:sp>
      <p:sp>
        <p:nvSpPr>
          <p:cNvPr id="13" name="Text 8"/>
          <p:cNvSpPr/>
          <p:nvPr/>
        </p:nvSpPr>
        <p:spPr>
          <a:xfrm>
            <a:off x="793790" y="6807875"/>
            <a:ext cx="3089196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 editor de código leve e poderoso, amplamente personalizável para desenvolvimento Python.</a:t>
            </a:r>
            <a:endParaRPr lang="pt-BR" sz="1050" noProof="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578" y="4976813"/>
            <a:ext cx="2162413" cy="13363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56578" y="6451997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PyCharm</a:t>
            </a:r>
            <a:endParaRPr lang="pt-BR" sz="1350" noProof="0" dirty="0"/>
          </a:p>
        </p:txBody>
      </p:sp>
      <p:sp>
        <p:nvSpPr>
          <p:cNvPr id="16" name="Text 10"/>
          <p:cNvSpPr/>
          <p:nvPr/>
        </p:nvSpPr>
        <p:spPr>
          <a:xfrm>
            <a:off x="4056578" y="6807875"/>
            <a:ext cx="3089196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Uma IDE completa e inteligente, projetada especificamente para o desenvolvimento profissional em Python.</a:t>
            </a:r>
            <a:endParaRPr lang="pt-BR" sz="1050" noProof="0" dirty="0"/>
          </a:p>
        </p:txBody>
      </p:sp>
      <p:sp>
        <p:nvSpPr>
          <p:cNvPr id="17" name="Text 11"/>
          <p:cNvSpPr/>
          <p:nvPr/>
        </p:nvSpPr>
        <p:spPr>
          <a:xfrm>
            <a:off x="7492246" y="1827848"/>
            <a:ext cx="178296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Bibliotecas Essenciais</a:t>
            </a:r>
            <a:endParaRPr lang="pt-BR" sz="1350" noProof="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2246" y="2201108"/>
            <a:ext cx="2162413" cy="133635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92246" y="367629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NumPy</a:t>
            </a:r>
            <a:endParaRPr lang="pt-BR" sz="1350" noProof="0" dirty="0"/>
          </a:p>
        </p:txBody>
      </p:sp>
      <p:sp>
        <p:nvSpPr>
          <p:cNvPr id="20" name="Text 13"/>
          <p:cNvSpPr/>
          <p:nvPr/>
        </p:nvSpPr>
        <p:spPr>
          <a:xfrm>
            <a:off x="7492246" y="4032171"/>
            <a:ext cx="3089196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Fundamental para computação numérica, oferece suporte a 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arrays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matrizes de alta performance.</a:t>
            </a:r>
            <a:endParaRPr lang="pt-BR" sz="1050" noProof="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5035" y="2201108"/>
            <a:ext cx="2162413" cy="133635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755035" y="367629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Pandas</a:t>
            </a:r>
            <a:endParaRPr lang="pt-BR" sz="1350" noProof="0" dirty="0"/>
          </a:p>
        </p:txBody>
      </p:sp>
      <p:sp>
        <p:nvSpPr>
          <p:cNvPr id="23" name="Text 15"/>
          <p:cNvSpPr/>
          <p:nvPr/>
        </p:nvSpPr>
        <p:spPr>
          <a:xfrm>
            <a:off x="10755035" y="4032171"/>
            <a:ext cx="3089196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Usado para manipulação e análise de dados, com estruturas como 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DataFrames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facilitar o trabalho.</a:t>
            </a:r>
            <a:endParaRPr lang="pt-BR" sz="1050" noProof="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2246" y="4976813"/>
            <a:ext cx="2162413" cy="133635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92246" y="6451997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Matplotlib</a:t>
            </a: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&amp; </a:t>
            </a: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Seaborn</a:t>
            </a:r>
            <a:endParaRPr lang="pt-BR" sz="1350" noProof="0" dirty="0"/>
          </a:p>
        </p:txBody>
      </p:sp>
      <p:sp>
        <p:nvSpPr>
          <p:cNvPr id="26" name="Text 17"/>
          <p:cNvSpPr/>
          <p:nvPr/>
        </p:nvSpPr>
        <p:spPr>
          <a:xfrm>
            <a:off x="7492246" y="6807875"/>
            <a:ext cx="3089196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Bibliotecas poderosas para criação de visualizações de dados estáticas e estatísticas.</a:t>
            </a:r>
            <a:endParaRPr lang="pt-BR" sz="1050" noProof="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55035" y="4976813"/>
            <a:ext cx="2162413" cy="133635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0755035" y="6451997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Scikit-learn</a:t>
            </a:r>
            <a:r>
              <a:rPr lang="pt-BR" sz="13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&amp; </a:t>
            </a:r>
            <a:r>
              <a:rPr lang="pt-BR" sz="13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Plotly</a:t>
            </a:r>
            <a:endParaRPr lang="pt-BR" sz="1350" noProof="0" dirty="0"/>
          </a:p>
        </p:txBody>
      </p:sp>
      <p:sp>
        <p:nvSpPr>
          <p:cNvPr id="29" name="Text 19"/>
          <p:cNvSpPr/>
          <p:nvPr/>
        </p:nvSpPr>
        <p:spPr>
          <a:xfrm>
            <a:off x="10755035" y="6807875"/>
            <a:ext cx="3089196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Scikit-learn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aprendizado de máquina e </a:t>
            </a:r>
            <a:r>
              <a:rPr lang="pt-BR" sz="10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Plotly</a:t>
            </a:r>
            <a:r>
              <a:rPr lang="pt-BR" sz="10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gráficos interativos e dashboards.</a:t>
            </a:r>
            <a:endParaRPr lang="pt-BR" sz="10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1094"/>
            <a:ext cx="60375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Instalação e Configuração</a:t>
            </a:r>
            <a:endParaRPr lang="pt-BR" sz="3900" noProof="0" dirty="0"/>
          </a:p>
        </p:txBody>
      </p:sp>
      <p:sp>
        <p:nvSpPr>
          <p:cNvPr id="4" name="Text 1"/>
          <p:cNvSpPr/>
          <p:nvPr/>
        </p:nvSpPr>
        <p:spPr>
          <a:xfrm>
            <a:off x="6280190" y="20488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Antes de começar a programar, você precisa configurar seu ambiente de desenvolvimento:</a:t>
            </a:r>
            <a:endParaRPr lang="pt-BR" sz="1550" noProof="0" dirty="0"/>
          </a:p>
        </p:txBody>
      </p:sp>
      <p:sp>
        <p:nvSpPr>
          <p:cNvPr id="5" name="Shape 2"/>
          <p:cNvSpPr/>
          <p:nvPr/>
        </p:nvSpPr>
        <p:spPr>
          <a:xfrm>
            <a:off x="6280190" y="2907149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6354604" y="294435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pt-BR" sz="2300" noProof="0" dirty="0"/>
          </a:p>
        </p:txBody>
      </p:sp>
      <p:sp>
        <p:nvSpPr>
          <p:cNvPr id="7" name="Text 4"/>
          <p:cNvSpPr/>
          <p:nvPr/>
        </p:nvSpPr>
        <p:spPr>
          <a:xfrm>
            <a:off x="6925032" y="29753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pt-BR" sz="1950" noProof="0" dirty="0"/>
          </a:p>
        </p:txBody>
      </p:sp>
      <p:sp>
        <p:nvSpPr>
          <p:cNvPr id="8" name="Text 5"/>
          <p:cNvSpPr/>
          <p:nvPr/>
        </p:nvSpPr>
        <p:spPr>
          <a:xfrm>
            <a:off x="6925032" y="3404592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Faça o download e instale a versão mais recente do Python através do site oficial ou assista ao tutorial: </a:t>
            </a:r>
            <a:r>
              <a:rPr lang="pt-BR" sz="1550" u="sng" noProof="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 de Instalação do Python</a:t>
            </a:r>
            <a:endParaRPr lang="pt-BR" sz="1550" noProof="0" dirty="0"/>
          </a:p>
        </p:txBody>
      </p:sp>
      <p:sp>
        <p:nvSpPr>
          <p:cNvPr id="9" name="Shape 6"/>
          <p:cNvSpPr/>
          <p:nvPr/>
        </p:nvSpPr>
        <p:spPr>
          <a:xfrm>
            <a:off x="6280190" y="4436507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6354604" y="447371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pt-BR" sz="2300" noProof="0" dirty="0"/>
          </a:p>
        </p:txBody>
      </p:sp>
      <p:sp>
        <p:nvSpPr>
          <p:cNvPr id="11" name="Text 8"/>
          <p:cNvSpPr/>
          <p:nvPr/>
        </p:nvSpPr>
        <p:spPr>
          <a:xfrm>
            <a:off x="6925032" y="45047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Pip</a:t>
            </a:r>
            <a:endParaRPr lang="pt-BR" sz="1950" noProof="0" dirty="0"/>
          </a:p>
        </p:txBody>
      </p:sp>
      <p:sp>
        <p:nvSpPr>
          <p:cNvPr id="12" name="Text 9"/>
          <p:cNvSpPr/>
          <p:nvPr/>
        </p:nvSpPr>
        <p:spPr>
          <a:xfrm>
            <a:off x="6925032" y="4933950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gerenciador de pacotes já vem com as versões recentes do Python. Caso necessite instalá-lo separadamente, consulte: </a:t>
            </a:r>
            <a:r>
              <a:rPr lang="pt-BR" sz="1550" u="sng" noProof="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 de Instalação do </a:t>
            </a:r>
            <a:r>
              <a:rPr lang="pt-BR" sz="1550" u="sng" noProof="0" dirty="0" err="1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Pip</a:t>
            </a:r>
            <a:endParaRPr lang="pt-BR" sz="1550" noProof="0" dirty="0"/>
          </a:p>
        </p:txBody>
      </p:sp>
      <p:sp>
        <p:nvSpPr>
          <p:cNvPr id="13" name="Shape 10"/>
          <p:cNvSpPr/>
          <p:nvPr/>
        </p:nvSpPr>
        <p:spPr>
          <a:xfrm>
            <a:off x="6280190" y="596586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6354604" y="600307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pt-BR" sz="2300" noProof="0" dirty="0"/>
          </a:p>
        </p:txBody>
      </p:sp>
      <p:sp>
        <p:nvSpPr>
          <p:cNvPr id="15" name="Text 12"/>
          <p:cNvSpPr/>
          <p:nvPr/>
        </p:nvSpPr>
        <p:spPr>
          <a:xfrm>
            <a:off x="6925032" y="60340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Virtualenv</a:t>
            </a:r>
            <a:endParaRPr lang="pt-BR" sz="1950" noProof="0" dirty="0"/>
          </a:p>
        </p:txBody>
      </p:sp>
      <p:sp>
        <p:nvSpPr>
          <p:cNvPr id="16" name="Text 13"/>
          <p:cNvSpPr/>
          <p:nvPr/>
        </p:nvSpPr>
        <p:spPr>
          <a:xfrm>
            <a:off x="6925032" y="6463308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isolar seus projetos e evitar conflitos entre dependências, instale o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virtualenv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seguindo: </a:t>
            </a:r>
            <a:r>
              <a:rPr lang="pt-BR" sz="1550" u="sng" noProof="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Instruções de Instalação do </a:t>
            </a:r>
            <a:r>
              <a:rPr lang="pt-BR" sz="1550" u="sng" noProof="0" dirty="0" err="1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Virtualenv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1297"/>
            <a:ext cx="104432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Preparando o Ambiente de Desenvolvimento</a:t>
            </a:r>
            <a:endParaRPr lang="pt-BR" sz="3900" noProof="0" dirty="0"/>
          </a:p>
        </p:txBody>
      </p:sp>
      <p:sp>
        <p:nvSpPr>
          <p:cNvPr id="3" name="Text 1"/>
          <p:cNvSpPr/>
          <p:nvPr/>
        </p:nvSpPr>
        <p:spPr>
          <a:xfrm>
            <a:off x="793790" y="2719030"/>
            <a:ext cx="27735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Verificando a Instalação</a:t>
            </a:r>
            <a:endParaRPr lang="pt-BR" sz="1950" noProof="0" dirty="0"/>
          </a:p>
        </p:txBody>
      </p:sp>
      <p:sp>
        <p:nvSpPr>
          <p:cNvPr id="4" name="Text 2"/>
          <p:cNvSpPr/>
          <p:nvPr/>
        </p:nvSpPr>
        <p:spPr>
          <a:xfrm>
            <a:off x="793790" y="3505438"/>
            <a:ext cx="6279356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Teste</a:t>
            </a:r>
            <a:r>
              <a:rPr lang="pt-BR" sz="1550" b="1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o</a:t>
            </a:r>
            <a:r>
              <a:rPr lang="pt-BR" sz="1550" b="1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Python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No terminal, digite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abrir o console interativo</a:t>
            </a:r>
            <a:endParaRPr lang="pt-BR" sz="155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79000"/>
            <a:ext cx="6279356" cy="5419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144214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sair, digite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 pressione 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CTRL+D</a:t>
            </a:r>
            <a:endParaRPr lang="pt-BR" sz="1550" noProof="0" dirty="0"/>
          </a:p>
        </p:txBody>
      </p:sp>
      <p:sp>
        <p:nvSpPr>
          <p:cNvPr id="7" name="Text 4"/>
          <p:cNvSpPr/>
          <p:nvPr/>
        </p:nvSpPr>
        <p:spPr>
          <a:xfrm>
            <a:off x="7564874" y="3505438"/>
            <a:ext cx="62793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Verifique</a:t>
            </a:r>
            <a:r>
              <a:rPr lang="pt-BR" sz="1550" b="1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o</a:t>
            </a:r>
            <a:r>
              <a:rPr lang="pt-BR" sz="1550" b="1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b="1" noProof="0" dirty="0" err="1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No terminal, digite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--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pt-BR" sz="1550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874" y="4061460"/>
            <a:ext cx="6057900" cy="441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64874" y="4726662"/>
            <a:ext cx="6279356" cy="1478280"/>
          </a:xfrm>
          <a:prstGeom prst="roundRect">
            <a:avLst>
              <a:gd name="adj" fmla="val 1208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32" y="5021937"/>
            <a:ext cx="248007" cy="1983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09598" y="4974550"/>
            <a:ext cx="5436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</a:t>
            </a:r>
            <a:r>
              <a:rPr lang="pt-BR" sz="1550" b="1" noProof="0" dirty="0" err="1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pip</a:t>
            </a:r>
            <a:r>
              <a:rPr lang="pt-BR" sz="15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é uma ferramenta de linha de comando que significa "</a:t>
            </a:r>
            <a:r>
              <a:rPr lang="pt-BR" sz="1550" noProof="0" dirty="0" err="1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Pip</a:t>
            </a:r>
            <a:r>
              <a:rPr lang="pt-BR" sz="15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noProof="0" dirty="0" err="1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Installs</a:t>
            </a:r>
            <a:r>
              <a:rPr lang="pt-BR" sz="15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noProof="0" dirty="0" err="1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Packages</a:t>
            </a:r>
            <a:r>
              <a:rPr lang="pt-BR" sz="15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". É usado para instalar e gerenciar bibliotecas Python disponíveis no repositório </a:t>
            </a:r>
            <a:r>
              <a:rPr lang="pt-BR" sz="1550" noProof="0" dirty="0" err="1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PyPI</a:t>
            </a:r>
            <a:r>
              <a:rPr lang="pt-BR" sz="155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677"/>
            <a:ext cx="68233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Criando um Ambiente Virtual</a:t>
            </a:r>
            <a:endParaRPr lang="pt-BR" sz="39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84653"/>
            <a:ext cx="992267" cy="16628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84415" y="2183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Criar</a:t>
            </a:r>
            <a:endParaRPr lang="pt-BR" sz="1950" noProof="0" dirty="0"/>
          </a:p>
        </p:txBody>
      </p:sp>
      <p:sp>
        <p:nvSpPr>
          <p:cNvPr id="5" name="Text 2"/>
          <p:cNvSpPr/>
          <p:nvPr/>
        </p:nvSpPr>
        <p:spPr>
          <a:xfrm>
            <a:off x="1984415" y="2691528"/>
            <a:ext cx="5088731" cy="31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terminal, digite: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virtualenv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endParaRPr lang="pt-BR" sz="1550" noProof="0" dirty="0"/>
          </a:p>
        </p:txBody>
      </p:sp>
      <p:sp>
        <p:nvSpPr>
          <p:cNvPr id="6" name="Text 3"/>
          <p:cNvSpPr/>
          <p:nvPr/>
        </p:nvSpPr>
        <p:spPr>
          <a:xfrm>
            <a:off x="1984415" y="3080861"/>
            <a:ext cx="50887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Isso cria uma pasta com todos os arquivos necessários</a:t>
            </a:r>
            <a:endParaRPr lang="pt-BR" sz="155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16548"/>
            <a:ext cx="992267" cy="1570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84415" y="40149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Ativar</a:t>
            </a:r>
            <a:endParaRPr lang="pt-BR" sz="1950" noProof="0" dirty="0"/>
          </a:p>
        </p:txBody>
      </p:sp>
      <p:sp>
        <p:nvSpPr>
          <p:cNvPr id="9" name="Text 5"/>
          <p:cNvSpPr/>
          <p:nvPr/>
        </p:nvSpPr>
        <p:spPr>
          <a:xfrm>
            <a:off x="1984415" y="4523422"/>
            <a:ext cx="5088731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Windows: 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.\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\Scripts\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endParaRPr lang="pt-BR" sz="1550" noProof="0" dirty="0">
              <a:solidFill>
                <a:srgbClr val="1E3063"/>
              </a:solidFill>
              <a:highlight>
                <a:srgbClr val="F2F2F2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Linux: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/bin/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endParaRPr lang="pt-BR" sz="1550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07129"/>
            <a:ext cx="992267" cy="15555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84415" y="58054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Desativar</a:t>
            </a:r>
            <a:endParaRPr lang="pt-BR" sz="1950" noProof="0" dirty="0"/>
          </a:p>
        </p:txBody>
      </p:sp>
      <p:sp>
        <p:nvSpPr>
          <p:cNvPr id="12" name="Text 7"/>
          <p:cNvSpPr/>
          <p:nvPr/>
        </p:nvSpPr>
        <p:spPr>
          <a:xfrm>
            <a:off x="1984415" y="6314003"/>
            <a:ext cx="508873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sair do ambiente virtual, digite: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pt-BR" sz="155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4874" y="3137059"/>
            <a:ext cx="6279356" cy="754142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4874" y="4114443"/>
            <a:ext cx="6279356" cy="17502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564874" y="451270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Uma vez ativado o ambiente virtual, todos os pacotes instalados ficarão </a:t>
            </a:r>
            <a:r>
              <a:rPr lang="pt-BR" sz="1550" b="1" noProof="0" dirty="0">
                <a:solidFill>
                  <a:srgbClr val="1E3063"/>
                </a:solidFill>
                <a:latin typeface="Instrument Sans" pitchFamily="2" charset="0"/>
                <a:ea typeface="Instrument Sans Medium" pitchFamily="34" charset="-122"/>
                <a:cs typeface="Instrument Sans Medium" pitchFamily="34" charset="-120"/>
              </a:rPr>
              <a:t>contidos apenas neste ambiente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sem afetar a instalação global do Python.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7529"/>
            <a:ext cx="67871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Gerenciando Pacotes Python</a:t>
            </a:r>
            <a:endParaRPr lang="pt-BR" sz="3900" noProof="0" dirty="0"/>
          </a:p>
        </p:txBody>
      </p:sp>
      <p:sp>
        <p:nvSpPr>
          <p:cNvPr id="3" name="Shape 1"/>
          <p:cNvSpPr/>
          <p:nvPr/>
        </p:nvSpPr>
        <p:spPr>
          <a:xfrm>
            <a:off x="793790" y="2105263"/>
            <a:ext cx="4215289" cy="1476256"/>
          </a:xfrm>
          <a:prstGeom prst="roundRect">
            <a:avLst>
              <a:gd name="adj" fmla="val 1210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992148" y="23036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Listar Pacotes</a:t>
            </a:r>
            <a:endParaRPr lang="pt-BR" sz="1950" noProof="0" dirty="0"/>
          </a:p>
        </p:txBody>
      </p:sp>
      <p:sp>
        <p:nvSpPr>
          <p:cNvPr id="5" name="Text 3"/>
          <p:cNvSpPr/>
          <p:nvPr/>
        </p:nvSpPr>
        <p:spPr>
          <a:xfrm>
            <a:off x="992148" y="2732842"/>
            <a:ext cx="381857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 ambiente virtual ativado: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pt-BR" sz="1550" noProof="0" dirty="0"/>
          </a:p>
        </p:txBody>
      </p:sp>
      <p:sp>
        <p:nvSpPr>
          <p:cNvPr id="6" name="Shape 4"/>
          <p:cNvSpPr/>
          <p:nvPr/>
        </p:nvSpPr>
        <p:spPr>
          <a:xfrm>
            <a:off x="5207437" y="2105263"/>
            <a:ext cx="4215408" cy="1476256"/>
          </a:xfrm>
          <a:prstGeom prst="roundRect">
            <a:avLst>
              <a:gd name="adj" fmla="val 1210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405795" y="23036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Instalar Pacotes</a:t>
            </a:r>
            <a:endParaRPr lang="pt-BR" sz="1950" noProof="0" dirty="0"/>
          </a:p>
        </p:txBody>
      </p:sp>
      <p:sp>
        <p:nvSpPr>
          <p:cNvPr id="8" name="Text 6"/>
          <p:cNvSpPr/>
          <p:nvPr/>
        </p:nvSpPr>
        <p:spPr>
          <a:xfrm>
            <a:off x="5405795" y="2732842"/>
            <a:ext cx="3818692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 ambiente virtual ativado: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nome_do_pacote</a:t>
            </a:r>
            <a:endParaRPr lang="pt-BR" sz="1550" noProof="0" dirty="0"/>
          </a:p>
        </p:txBody>
      </p:sp>
      <p:sp>
        <p:nvSpPr>
          <p:cNvPr id="9" name="Shape 7"/>
          <p:cNvSpPr/>
          <p:nvPr/>
        </p:nvSpPr>
        <p:spPr>
          <a:xfrm>
            <a:off x="9621203" y="2105263"/>
            <a:ext cx="4215289" cy="1476256"/>
          </a:xfrm>
          <a:prstGeom prst="roundRect">
            <a:avLst>
              <a:gd name="adj" fmla="val 1210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9819561" y="23036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Desinstalar Pacotes</a:t>
            </a:r>
            <a:endParaRPr lang="pt-BR" sz="1950" noProof="0" dirty="0"/>
          </a:p>
        </p:txBody>
      </p:sp>
      <p:sp>
        <p:nvSpPr>
          <p:cNvPr id="11" name="Text 9"/>
          <p:cNvSpPr/>
          <p:nvPr/>
        </p:nvSpPr>
        <p:spPr>
          <a:xfrm>
            <a:off x="9819561" y="2732842"/>
            <a:ext cx="381857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 ambiente virtual ativado: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nome_do_pacote</a:t>
            </a:r>
            <a:endParaRPr lang="pt-BR" sz="1550" noProof="0" dirty="0"/>
          </a:p>
        </p:txBody>
      </p:sp>
      <p:sp>
        <p:nvSpPr>
          <p:cNvPr id="12" name="Text 10"/>
          <p:cNvSpPr/>
          <p:nvPr/>
        </p:nvSpPr>
        <p:spPr>
          <a:xfrm>
            <a:off x="793790" y="38791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Pacotes Essenciais</a:t>
            </a:r>
            <a:endParaRPr lang="pt-BR" sz="1950" noProof="0" dirty="0"/>
          </a:p>
        </p:txBody>
      </p:sp>
      <p:sp>
        <p:nvSpPr>
          <p:cNvPr id="13" name="Shape 11"/>
          <p:cNvSpPr/>
          <p:nvPr/>
        </p:nvSpPr>
        <p:spPr>
          <a:xfrm>
            <a:off x="793790" y="4288205"/>
            <a:ext cx="6279356" cy="1567815"/>
          </a:xfrm>
          <a:prstGeom prst="roundRect">
            <a:avLst>
              <a:gd name="adj" fmla="val 1139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783908" y="4288205"/>
            <a:ext cx="6299121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982266" y="4437033"/>
            <a:ext cx="59024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ipython</a:t>
            </a:r>
            <a:endParaRPr lang="pt-BR" sz="1550" noProof="0" dirty="0">
              <a:solidFill>
                <a:srgbClr val="1E3063"/>
              </a:solidFill>
              <a:highlight>
                <a:srgbClr val="F2F2F2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numpy</a:t>
            </a:r>
            <a:endParaRPr lang="pt-BR" sz="1550" noProof="0" dirty="0">
              <a:solidFill>
                <a:srgbClr val="1E3063"/>
              </a:solidFill>
              <a:highlight>
                <a:srgbClr val="F2F2F2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pandas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sklearn</a:t>
            </a:r>
            <a:endParaRPr lang="pt-BR" sz="1550" noProof="0" dirty="0"/>
          </a:p>
        </p:txBody>
      </p:sp>
      <p:sp>
        <p:nvSpPr>
          <p:cNvPr id="16" name="Shape 14"/>
          <p:cNvSpPr/>
          <p:nvPr/>
        </p:nvSpPr>
        <p:spPr>
          <a:xfrm>
            <a:off x="7564874" y="4288205"/>
            <a:ext cx="6279356" cy="1567815"/>
          </a:xfrm>
          <a:prstGeom prst="roundRect">
            <a:avLst>
              <a:gd name="adj" fmla="val 1139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7554992" y="4288205"/>
            <a:ext cx="6299121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753350" y="4437033"/>
            <a:ext cx="59024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jupyterlab</a:t>
            </a:r>
            <a:endParaRPr lang="pt-BR" sz="1550" noProof="0" dirty="0">
              <a:solidFill>
                <a:srgbClr val="1E3063"/>
              </a:solidFill>
              <a:highlight>
                <a:srgbClr val="F2F2F2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matplotlib</a:t>
            </a:r>
            <a:endParaRPr lang="pt-BR" sz="1550" noProof="0" dirty="0">
              <a:solidFill>
                <a:srgbClr val="1E3063"/>
              </a:solidFill>
              <a:highlight>
                <a:srgbClr val="F2F2F2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seaborn</a:t>
            </a:r>
            <a:endParaRPr lang="pt-BR" sz="1550" noProof="0" dirty="0">
              <a:solidFill>
                <a:srgbClr val="1E3063"/>
              </a:solidFill>
              <a:highlight>
                <a:srgbClr val="F2F2F2"/>
              </a:highlight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pip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install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plotly</a:t>
            </a:r>
            <a:endParaRPr lang="pt-BR" sz="1550" noProof="0" dirty="0"/>
          </a:p>
        </p:txBody>
      </p:sp>
      <p:sp>
        <p:nvSpPr>
          <p:cNvPr id="19" name="Text 17"/>
          <p:cNvSpPr/>
          <p:nvPr/>
        </p:nvSpPr>
        <p:spPr>
          <a:xfrm>
            <a:off x="831171" y="616182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Os pacotes serão instalados no diretório: &lt;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diretorio_do_ambiente_virtual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&gt;/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lib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/python3.x/site-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packages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6669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 err="1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Jupyter</a:t>
            </a: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pt-BR" sz="3900" noProof="0" dirty="0" err="1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Lab</a:t>
            </a:r>
            <a:endParaRPr lang="pt-BR" sz="3900" noProof="0" dirty="0"/>
          </a:p>
        </p:txBody>
      </p:sp>
      <p:sp>
        <p:nvSpPr>
          <p:cNvPr id="4" name="Text 1"/>
          <p:cNvSpPr/>
          <p:nvPr/>
        </p:nvSpPr>
        <p:spPr>
          <a:xfrm>
            <a:off x="793790" y="208442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Jupyter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Lab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é um ambiente web interativo para desenvolver, executar e compartilhar código Python e dados. É a ferramenta ideal para a criação de "notebooks", que combinam código executável, visualizações e texto explicativo.</a:t>
            </a:r>
            <a:endParaRPr lang="pt-BR" sz="1550" noProof="0" dirty="0"/>
          </a:p>
        </p:txBody>
      </p:sp>
      <p:sp>
        <p:nvSpPr>
          <p:cNvPr id="5" name="Text 2"/>
          <p:cNvSpPr/>
          <p:nvPr/>
        </p:nvSpPr>
        <p:spPr>
          <a:xfrm>
            <a:off x="793790" y="3334703"/>
            <a:ext cx="25180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Principais Vantagens:</a:t>
            </a:r>
            <a:endParaRPr lang="pt-BR" sz="1950" noProof="0" dirty="0"/>
          </a:p>
        </p:txBody>
      </p:sp>
      <p:sp>
        <p:nvSpPr>
          <p:cNvPr id="6" name="Shape 3"/>
          <p:cNvSpPr/>
          <p:nvPr/>
        </p:nvSpPr>
        <p:spPr>
          <a:xfrm>
            <a:off x="793790" y="3942517"/>
            <a:ext cx="793790" cy="1461016"/>
          </a:xfrm>
          <a:prstGeom prst="roundRect">
            <a:avLst>
              <a:gd name="adj" fmla="val 36004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1041797" y="448698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pt-BR" sz="2300" noProof="0" dirty="0"/>
          </a:p>
        </p:txBody>
      </p:sp>
      <p:sp>
        <p:nvSpPr>
          <p:cNvPr id="8" name="Text 5"/>
          <p:cNvSpPr/>
          <p:nvPr/>
        </p:nvSpPr>
        <p:spPr>
          <a:xfrm>
            <a:off x="1785938" y="4140875"/>
            <a:ext cx="33923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Integração de Código e Texto</a:t>
            </a:r>
            <a:endParaRPr lang="pt-BR" sz="1950" noProof="0" dirty="0"/>
          </a:p>
        </p:txBody>
      </p:sp>
      <p:sp>
        <p:nvSpPr>
          <p:cNvPr id="9" name="Text 6"/>
          <p:cNvSpPr/>
          <p:nvPr/>
        </p:nvSpPr>
        <p:spPr>
          <a:xfrm>
            <a:off x="1785938" y="4570095"/>
            <a:ext cx="656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alternar fluidamente entre código Python e texto explicativo formatado em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Markdown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criando documentos dinâmicos.</a:t>
            </a:r>
            <a:endParaRPr lang="pt-BR" sz="1550" noProof="0" dirty="0"/>
          </a:p>
        </p:txBody>
      </p:sp>
      <p:sp>
        <p:nvSpPr>
          <p:cNvPr id="10" name="Shape 7"/>
          <p:cNvSpPr/>
          <p:nvPr/>
        </p:nvSpPr>
        <p:spPr>
          <a:xfrm>
            <a:off x="793790" y="5601891"/>
            <a:ext cx="793790" cy="1461016"/>
          </a:xfrm>
          <a:prstGeom prst="roundRect">
            <a:avLst>
              <a:gd name="adj" fmla="val 36004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1041797" y="614636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pt-BR" sz="230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pt-BR" sz="2300" noProof="0" dirty="0"/>
          </a:p>
        </p:txBody>
      </p:sp>
      <p:sp>
        <p:nvSpPr>
          <p:cNvPr id="12" name="Text 9"/>
          <p:cNvSpPr/>
          <p:nvPr/>
        </p:nvSpPr>
        <p:spPr>
          <a:xfrm>
            <a:off x="1785938" y="5800249"/>
            <a:ext cx="31817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Ideal para Análise de Dados</a:t>
            </a:r>
            <a:endParaRPr lang="pt-BR" sz="1950" noProof="0" dirty="0"/>
          </a:p>
        </p:txBody>
      </p:sp>
      <p:sp>
        <p:nvSpPr>
          <p:cNvPr id="13" name="Text 10"/>
          <p:cNvSpPr/>
          <p:nvPr/>
        </p:nvSpPr>
        <p:spPr>
          <a:xfrm>
            <a:off x="1785938" y="6229469"/>
            <a:ext cx="656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Perfeito para análise de dados, experimentos científicos, prototipagem rápida e documentação de projetos de forma colaborativa.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4578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 err="1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Jupyter</a:t>
            </a: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pt-BR" sz="3900" noProof="0" dirty="0" err="1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Lab</a:t>
            </a:r>
            <a:endParaRPr lang="pt-BR" sz="3900" noProof="0" dirty="0"/>
          </a:p>
        </p:txBody>
      </p:sp>
      <p:sp>
        <p:nvSpPr>
          <p:cNvPr id="3" name="Text 1"/>
          <p:cNvSpPr/>
          <p:nvPr/>
        </p:nvSpPr>
        <p:spPr>
          <a:xfrm>
            <a:off x="793790" y="146351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Jupyter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Lab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é um ambiente web interativo para desenvolver, executar e compartilhar código Python e dados. Veja como iniciar e seus principais componentes:</a:t>
            </a:r>
            <a:endParaRPr lang="pt-BR" sz="1550" noProof="0" dirty="0"/>
          </a:p>
        </p:txBody>
      </p:sp>
      <p:sp>
        <p:nvSpPr>
          <p:cNvPr id="4" name="Text 2"/>
          <p:cNvSpPr/>
          <p:nvPr/>
        </p:nvSpPr>
        <p:spPr>
          <a:xfrm>
            <a:off x="793790" y="2396252"/>
            <a:ext cx="45462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Como iniciar seu ambiente de trabalho:</a:t>
            </a:r>
            <a:endParaRPr lang="pt-BR" sz="195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04066"/>
            <a:ext cx="6521410" cy="793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9962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Iniciar o Servidor</a:t>
            </a:r>
            <a:endParaRPr lang="pt-BR" sz="1950" noProof="0" dirty="0"/>
          </a:p>
        </p:txBody>
      </p:sp>
      <p:sp>
        <p:nvSpPr>
          <p:cNvPr id="7" name="Text 4"/>
          <p:cNvSpPr/>
          <p:nvPr/>
        </p:nvSpPr>
        <p:spPr>
          <a:xfrm>
            <a:off x="992148" y="4425434"/>
            <a:ext cx="6124694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terminal, digite: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jupyter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abrir a interface no seu navegador.</a:t>
            </a:r>
            <a:endParaRPr lang="pt-BR" sz="1550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004066"/>
            <a:ext cx="6521410" cy="7937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3558" y="3996214"/>
            <a:ext cx="28585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Criar um Novo Notebook</a:t>
            </a:r>
            <a:endParaRPr lang="pt-BR" sz="1950" noProof="0" dirty="0"/>
          </a:p>
        </p:txBody>
      </p:sp>
      <p:sp>
        <p:nvSpPr>
          <p:cNvPr id="10" name="Text 6"/>
          <p:cNvSpPr/>
          <p:nvPr/>
        </p:nvSpPr>
        <p:spPr>
          <a:xfrm>
            <a:off x="7513558" y="4425434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Navegue até a pasta do projeto e crie um novo notebook (.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ipynb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para começar a codificar.</a:t>
            </a:r>
            <a:endParaRPr lang="pt-BR" sz="1550" noProof="0" dirty="0"/>
          </a:p>
        </p:txBody>
      </p:sp>
      <p:sp>
        <p:nvSpPr>
          <p:cNvPr id="11" name="Text 7"/>
          <p:cNvSpPr/>
          <p:nvPr/>
        </p:nvSpPr>
        <p:spPr>
          <a:xfrm>
            <a:off x="793790" y="5571768"/>
            <a:ext cx="31743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Principais Tipos de Células:</a:t>
            </a:r>
            <a:endParaRPr lang="pt-BR" sz="1950" noProof="0" dirty="0"/>
          </a:p>
        </p:txBody>
      </p:sp>
      <p:sp>
        <p:nvSpPr>
          <p:cNvPr id="12" name="Shape 8"/>
          <p:cNvSpPr/>
          <p:nvPr/>
        </p:nvSpPr>
        <p:spPr>
          <a:xfrm>
            <a:off x="793790" y="61795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9"/>
          <p:cNvSpPr/>
          <p:nvPr/>
        </p:nvSpPr>
        <p:spPr>
          <a:xfrm>
            <a:off x="770930" y="6179582"/>
            <a:ext cx="91440" cy="1506736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0"/>
          <p:cNvSpPr/>
          <p:nvPr/>
        </p:nvSpPr>
        <p:spPr>
          <a:xfrm>
            <a:off x="1083588" y="64008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Célula de Código</a:t>
            </a:r>
            <a:endParaRPr lang="pt-BR" sz="1950" noProof="0" dirty="0"/>
          </a:p>
        </p:txBody>
      </p:sp>
      <p:sp>
        <p:nvSpPr>
          <p:cNvPr id="15" name="Text 11"/>
          <p:cNvSpPr/>
          <p:nvPr/>
        </p:nvSpPr>
        <p:spPr>
          <a:xfrm>
            <a:off x="1083588" y="68300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escrever e executar comandos Python e ver os resultados imediatamente.</a:t>
            </a:r>
            <a:endParaRPr lang="pt-BR" sz="1550" noProof="0" dirty="0"/>
          </a:p>
        </p:txBody>
      </p:sp>
      <p:sp>
        <p:nvSpPr>
          <p:cNvPr id="16" name="Shape 12"/>
          <p:cNvSpPr/>
          <p:nvPr/>
        </p:nvSpPr>
        <p:spPr>
          <a:xfrm>
            <a:off x="7414379" y="61795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3"/>
          <p:cNvSpPr/>
          <p:nvPr/>
        </p:nvSpPr>
        <p:spPr>
          <a:xfrm>
            <a:off x="7391519" y="6179582"/>
            <a:ext cx="91440" cy="1506736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4"/>
          <p:cNvSpPr/>
          <p:nvPr/>
        </p:nvSpPr>
        <p:spPr>
          <a:xfrm>
            <a:off x="7704177" y="64008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Célula de </a:t>
            </a: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Markdown</a:t>
            </a:r>
            <a:endParaRPr lang="pt-BR" sz="1950" noProof="0" dirty="0"/>
          </a:p>
        </p:txBody>
      </p:sp>
      <p:sp>
        <p:nvSpPr>
          <p:cNvPr id="19" name="Text 15"/>
          <p:cNvSpPr/>
          <p:nvPr/>
        </p:nvSpPr>
        <p:spPr>
          <a:xfrm>
            <a:off x="7704177" y="68300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adicionar anotações, descrições, fórmulas e explicações formatadas ao seu notebook.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0076"/>
            <a:ext cx="1039213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Ambientes Alternativos de Desenvolvimento</a:t>
            </a:r>
            <a:endParaRPr lang="pt-BR" sz="3900" noProof="0" dirty="0"/>
          </a:p>
        </p:txBody>
      </p:sp>
      <p:sp>
        <p:nvSpPr>
          <p:cNvPr id="3" name="Shape 1"/>
          <p:cNvSpPr/>
          <p:nvPr/>
        </p:nvSpPr>
        <p:spPr>
          <a:xfrm>
            <a:off x="793790" y="1527810"/>
            <a:ext cx="13042821" cy="3034903"/>
          </a:xfrm>
          <a:prstGeom prst="roundRect">
            <a:avLst>
              <a:gd name="adj" fmla="val 588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7" y="1431608"/>
            <a:ext cx="238125" cy="2381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688" y="4420791"/>
            <a:ext cx="238125" cy="238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4306" y="18483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</a:t>
            </a: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Colab</a:t>
            </a:r>
            <a:endParaRPr lang="pt-BR" sz="1950" noProof="0" dirty="0"/>
          </a:p>
        </p:txBody>
      </p:sp>
      <p:sp>
        <p:nvSpPr>
          <p:cNvPr id="7" name="Text 3"/>
          <p:cNvSpPr/>
          <p:nvPr/>
        </p:nvSpPr>
        <p:spPr>
          <a:xfrm>
            <a:off x="1114306" y="2277547"/>
            <a:ext cx="124017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Uma versão do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Jupyter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na nuvem do Google, com recursos gratuitos de GPU/TPU.</a:t>
            </a:r>
            <a:endParaRPr lang="pt-BR" sz="1550" noProof="0" dirty="0"/>
          </a:p>
        </p:txBody>
      </p:sp>
      <p:sp>
        <p:nvSpPr>
          <p:cNvPr id="8" name="Text 4"/>
          <p:cNvSpPr/>
          <p:nvPr/>
        </p:nvSpPr>
        <p:spPr>
          <a:xfrm>
            <a:off x="1114306" y="2714149"/>
            <a:ext cx="124017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Ambiente pronto com principais bibliotecas</a:t>
            </a:r>
            <a:endParaRPr lang="pt-BR" sz="1550" noProof="0" dirty="0"/>
          </a:p>
        </p:txBody>
      </p:sp>
      <p:sp>
        <p:nvSpPr>
          <p:cNvPr id="9" name="Text 5"/>
          <p:cNvSpPr/>
          <p:nvPr/>
        </p:nvSpPr>
        <p:spPr>
          <a:xfrm>
            <a:off x="1114306" y="3101102"/>
            <a:ext cx="124017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Notebooks salvos no Google Drive</a:t>
            </a:r>
            <a:endParaRPr lang="pt-BR" sz="1550" noProof="0" dirty="0"/>
          </a:p>
        </p:txBody>
      </p:sp>
      <p:sp>
        <p:nvSpPr>
          <p:cNvPr id="10" name="Text 6"/>
          <p:cNvSpPr/>
          <p:nvPr/>
        </p:nvSpPr>
        <p:spPr>
          <a:xfrm>
            <a:off x="1114306" y="3488055"/>
            <a:ext cx="124017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Compartilhamento facilitado</a:t>
            </a:r>
            <a:endParaRPr lang="pt-BR" sz="1550" noProof="0" dirty="0"/>
          </a:p>
        </p:txBody>
      </p:sp>
      <p:sp>
        <p:nvSpPr>
          <p:cNvPr id="11" name="Text 7"/>
          <p:cNvSpPr/>
          <p:nvPr/>
        </p:nvSpPr>
        <p:spPr>
          <a:xfrm>
            <a:off x="1114306" y="3924657"/>
            <a:ext cx="124017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u="sng" noProof="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Acesse o Google </a:t>
            </a:r>
            <a:r>
              <a:rPr lang="pt-BR" sz="1550" u="sng" noProof="0" dirty="0" err="1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</a:t>
            </a:r>
            <a:endParaRPr lang="pt-BR" sz="1550" noProof="0" dirty="0"/>
          </a:p>
        </p:txBody>
      </p:sp>
      <p:sp>
        <p:nvSpPr>
          <p:cNvPr id="12" name="Shape 8"/>
          <p:cNvSpPr/>
          <p:nvPr/>
        </p:nvSpPr>
        <p:spPr>
          <a:xfrm>
            <a:off x="793790" y="5083612"/>
            <a:ext cx="6422231" cy="2535793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9"/>
          <p:cNvSpPr/>
          <p:nvPr/>
        </p:nvSpPr>
        <p:spPr>
          <a:xfrm>
            <a:off x="793790" y="5060752"/>
            <a:ext cx="64222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0"/>
          <p:cNvSpPr/>
          <p:nvPr/>
        </p:nvSpPr>
        <p:spPr>
          <a:xfrm>
            <a:off x="3707249" y="47859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843" y="4934783"/>
            <a:ext cx="238125" cy="297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5008" y="55797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PyCharm</a:t>
            </a:r>
            <a:endParaRPr lang="pt-BR" sz="1950" noProof="0" dirty="0"/>
          </a:p>
        </p:txBody>
      </p:sp>
      <p:sp>
        <p:nvSpPr>
          <p:cNvPr id="17" name="Text 12"/>
          <p:cNvSpPr/>
          <p:nvPr/>
        </p:nvSpPr>
        <p:spPr>
          <a:xfrm>
            <a:off x="1015008" y="600896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 completa e robusta da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JetBrains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com recursos avançados para desenvolvimento Python profissional.</a:t>
            </a:r>
            <a:endParaRPr lang="pt-BR" sz="1550" noProof="0" dirty="0"/>
          </a:p>
        </p:txBody>
      </p:sp>
      <p:sp>
        <p:nvSpPr>
          <p:cNvPr id="18" name="Shape 13"/>
          <p:cNvSpPr/>
          <p:nvPr/>
        </p:nvSpPr>
        <p:spPr>
          <a:xfrm>
            <a:off x="7414379" y="5083612"/>
            <a:ext cx="6422231" cy="2535793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4"/>
          <p:cNvSpPr/>
          <p:nvPr/>
        </p:nvSpPr>
        <p:spPr>
          <a:xfrm>
            <a:off x="7414379" y="5060752"/>
            <a:ext cx="64222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5"/>
          <p:cNvSpPr/>
          <p:nvPr/>
        </p:nvSpPr>
        <p:spPr>
          <a:xfrm>
            <a:off x="10327838" y="47859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32" y="4934783"/>
            <a:ext cx="238125" cy="297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597" y="55797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 Studio </a:t>
            </a: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Code</a:t>
            </a:r>
            <a:endParaRPr lang="pt-BR" sz="1950" noProof="0" dirty="0"/>
          </a:p>
        </p:txBody>
      </p:sp>
      <p:sp>
        <p:nvSpPr>
          <p:cNvPr id="23" name="Text 17"/>
          <p:cNvSpPr/>
          <p:nvPr/>
        </p:nvSpPr>
        <p:spPr>
          <a:xfrm>
            <a:off x="7635597" y="600896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Editor de código leve e altamente personalizável com excelentes extensões para Python.</a:t>
            </a:r>
            <a:endParaRPr lang="pt-BR" sz="1550" noProof="0" dirty="0"/>
          </a:p>
        </p:txBody>
      </p:sp>
      <p:sp>
        <p:nvSpPr>
          <p:cNvPr id="24" name="Text 18"/>
          <p:cNvSpPr/>
          <p:nvPr/>
        </p:nvSpPr>
        <p:spPr>
          <a:xfrm>
            <a:off x="7635597" y="6763107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Importante: Configure o VS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usar o interpretador Python do seu ambiente virtual!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7006"/>
            <a:ext cx="84651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Fundamentos da Linguagem Python</a:t>
            </a:r>
            <a:endParaRPr lang="pt-BR" sz="3900" noProof="0" dirty="0"/>
          </a:p>
        </p:txBody>
      </p:sp>
      <p:sp>
        <p:nvSpPr>
          <p:cNvPr id="3" name="Shape 1"/>
          <p:cNvSpPr/>
          <p:nvPr/>
        </p:nvSpPr>
        <p:spPr>
          <a:xfrm>
            <a:off x="793790" y="2053411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1091327" y="19479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Variáveis e Tipos</a:t>
            </a:r>
            <a:endParaRPr lang="pt-BR" sz="1950" noProof="0" dirty="0"/>
          </a:p>
        </p:txBody>
      </p:sp>
      <p:sp>
        <p:nvSpPr>
          <p:cNvPr id="5" name="Text 3"/>
          <p:cNvSpPr/>
          <p:nvPr/>
        </p:nvSpPr>
        <p:spPr>
          <a:xfrm>
            <a:off x="1091327" y="2456498"/>
            <a:ext cx="59818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Case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sensitive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≠ 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pt-BR" sz="1550" noProof="0" dirty="0"/>
          </a:p>
        </p:txBody>
      </p:sp>
      <p:sp>
        <p:nvSpPr>
          <p:cNvPr id="6" name="Text 4"/>
          <p:cNvSpPr/>
          <p:nvPr/>
        </p:nvSpPr>
        <p:spPr>
          <a:xfrm>
            <a:off x="1091327" y="2858691"/>
            <a:ext cx="59818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Atribuição simples: 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pt-BR" sz="1550" noProof="0" dirty="0"/>
          </a:p>
        </p:txBody>
      </p:sp>
      <p:sp>
        <p:nvSpPr>
          <p:cNvPr id="7" name="Text 5"/>
          <p:cNvSpPr/>
          <p:nvPr/>
        </p:nvSpPr>
        <p:spPr>
          <a:xfrm>
            <a:off x="1091327" y="3260884"/>
            <a:ext cx="59818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Atribuição múltipla: 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x, y = 10, 20</a:t>
            </a:r>
            <a:endParaRPr lang="pt-BR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1091327" y="3663077"/>
            <a:ext cx="59818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Linguagem fortemente e dinamicamente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tipada</a:t>
            </a:r>
            <a:endParaRPr lang="pt-BR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1091327" y="4050030"/>
            <a:ext cx="59818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Conversão de tipos: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pt-BR" sz="1550" noProof="0" dirty="0"/>
          </a:p>
        </p:txBody>
      </p:sp>
      <p:sp>
        <p:nvSpPr>
          <p:cNvPr id="10" name="Shape 8"/>
          <p:cNvSpPr/>
          <p:nvPr/>
        </p:nvSpPr>
        <p:spPr>
          <a:xfrm>
            <a:off x="793790" y="4885075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1091327" y="47796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Funções</a:t>
            </a:r>
            <a:endParaRPr lang="pt-BR" sz="1950" noProof="0" dirty="0"/>
          </a:p>
        </p:txBody>
      </p:sp>
      <p:sp>
        <p:nvSpPr>
          <p:cNvPr id="12" name="Text 10"/>
          <p:cNvSpPr/>
          <p:nvPr/>
        </p:nvSpPr>
        <p:spPr>
          <a:xfrm>
            <a:off x="1091327" y="5288161"/>
            <a:ext cx="59818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Print: 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print("Olá")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 formatado 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f"Soma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x+y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}")</a:t>
            </a:r>
            <a:endParaRPr lang="pt-BR" sz="1550" noProof="0" dirty="0"/>
          </a:p>
        </p:txBody>
      </p:sp>
      <p:sp>
        <p:nvSpPr>
          <p:cNvPr id="13" name="Text 11"/>
          <p:cNvSpPr/>
          <p:nvPr/>
        </p:nvSpPr>
        <p:spPr>
          <a:xfrm>
            <a:off x="1091327" y="5690354"/>
            <a:ext cx="59818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Definição com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nome_funcao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parametros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pt-BR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1091327" y="6092547"/>
            <a:ext cx="59818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Identação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define o escopo da função</a:t>
            </a:r>
            <a:endParaRPr lang="pt-BR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1091327" y="6479500"/>
            <a:ext cx="59818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Parâmetros default: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soma(a=0, b=0):</a:t>
            </a:r>
            <a:endParaRPr lang="pt-BR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1091327" y="6881693"/>
            <a:ext cx="59818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Annotations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tipagem</a:t>
            </a:r>
            <a:endParaRPr lang="pt-BR" sz="1550" noProof="0" dirty="0"/>
          </a:p>
        </p:txBody>
      </p:sp>
      <p:sp>
        <p:nvSpPr>
          <p:cNvPr id="17" name="Shape 15"/>
          <p:cNvSpPr/>
          <p:nvPr/>
        </p:nvSpPr>
        <p:spPr>
          <a:xfrm>
            <a:off x="7564874" y="1947982"/>
            <a:ext cx="6279356" cy="4448889"/>
          </a:xfrm>
          <a:prstGeom prst="roundRect">
            <a:avLst>
              <a:gd name="adj" fmla="val 4015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786092" y="21692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Condicionais</a:t>
            </a:r>
            <a:endParaRPr lang="pt-BR" sz="1950" noProof="0" dirty="0"/>
          </a:p>
        </p:txBody>
      </p:sp>
      <p:sp>
        <p:nvSpPr>
          <p:cNvPr id="19" name="Shape 17"/>
          <p:cNvSpPr/>
          <p:nvPr/>
        </p:nvSpPr>
        <p:spPr>
          <a:xfrm>
            <a:off x="7786092" y="2702600"/>
            <a:ext cx="5836920" cy="3473053"/>
          </a:xfrm>
          <a:prstGeom prst="roundRect">
            <a:avLst>
              <a:gd name="adj" fmla="val 51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7776210" y="2702600"/>
            <a:ext cx="5856684" cy="3473053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974568" y="2851428"/>
            <a:ext cx="5459968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if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condição:    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códigoelif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outra_condição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:    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códigoelse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:    # código# Condicional em uma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linharesultado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"par"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if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numero % 2 == 0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else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"ímpar"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1144"/>
            <a:ext cx="72425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Estruturas de Dados e Controle</a:t>
            </a:r>
            <a:endParaRPr lang="pt-BR" sz="3900" noProof="0" dirty="0"/>
          </a:p>
        </p:txBody>
      </p:sp>
      <p:sp>
        <p:nvSpPr>
          <p:cNvPr id="3" name="Shape 1"/>
          <p:cNvSpPr/>
          <p:nvPr/>
        </p:nvSpPr>
        <p:spPr>
          <a:xfrm>
            <a:off x="793790" y="1498878"/>
            <a:ext cx="6422231" cy="6149459"/>
          </a:xfrm>
          <a:prstGeom prst="roundRect">
            <a:avLst>
              <a:gd name="adj" fmla="val 29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92148" y="169723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59" y="1827371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24909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Loops</a:t>
            </a:r>
            <a:endParaRPr lang="pt-BR" sz="1950" noProof="0" dirty="0"/>
          </a:p>
        </p:txBody>
      </p:sp>
      <p:sp>
        <p:nvSpPr>
          <p:cNvPr id="7" name="Shape 4"/>
          <p:cNvSpPr/>
          <p:nvPr/>
        </p:nvSpPr>
        <p:spPr>
          <a:xfrm>
            <a:off x="992148" y="3024307"/>
            <a:ext cx="6025515" cy="3473053"/>
          </a:xfrm>
          <a:prstGeom prst="roundRect">
            <a:avLst>
              <a:gd name="adj" fmla="val 51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5"/>
          <p:cNvSpPr/>
          <p:nvPr/>
        </p:nvSpPr>
        <p:spPr>
          <a:xfrm>
            <a:off x="982266" y="3024307"/>
            <a:ext cx="6045279" cy="3473053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1180624" y="3173135"/>
            <a:ext cx="5648563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Loop com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rangefor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 in range(5):    print(i)  # 0, 1, 2, 3, 4# Loop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whilecontador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0while contador &lt; 5:    print(contador)    contador += 1</a:t>
            </a:r>
            <a:endParaRPr lang="pt-BR" sz="1550" noProof="0" dirty="0"/>
          </a:p>
        </p:txBody>
      </p:sp>
      <p:sp>
        <p:nvSpPr>
          <p:cNvPr id="10" name="Shape 7"/>
          <p:cNvSpPr/>
          <p:nvPr/>
        </p:nvSpPr>
        <p:spPr>
          <a:xfrm>
            <a:off x="7414379" y="1498878"/>
            <a:ext cx="6422231" cy="6149459"/>
          </a:xfrm>
          <a:prstGeom prst="roundRect">
            <a:avLst>
              <a:gd name="adj" fmla="val 29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7612737" y="169723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448" y="1827371"/>
            <a:ext cx="267891" cy="3349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2737" y="24909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Listas</a:t>
            </a:r>
            <a:endParaRPr lang="pt-BR" sz="1950" noProof="0" dirty="0"/>
          </a:p>
        </p:txBody>
      </p:sp>
      <p:sp>
        <p:nvSpPr>
          <p:cNvPr id="14" name="Shape 10"/>
          <p:cNvSpPr/>
          <p:nvPr/>
        </p:nvSpPr>
        <p:spPr>
          <a:xfrm>
            <a:off x="7612737" y="3024307"/>
            <a:ext cx="6025515" cy="4425672"/>
          </a:xfrm>
          <a:prstGeom prst="roundRect">
            <a:avLst>
              <a:gd name="adj" fmla="val 40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7602855" y="3024307"/>
            <a:ext cx="6045279" cy="4425672"/>
          </a:xfrm>
          <a:prstGeom prst="roundRect">
            <a:avLst>
              <a:gd name="adj" fmla="val 67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2"/>
          <p:cNvSpPr/>
          <p:nvPr/>
        </p:nvSpPr>
        <p:spPr>
          <a:xfrm>
            <a:off x="7801213" y="3173135"/>
            <a:ext cx="5648563" cy="4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Criaçãonumeros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[1, 2, 3, 4]mista = [1, "texto",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True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]#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Métodosnumeros.append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(5)  # Adiciona ao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finalnumeros.insert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(0, 0)  # Insere no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índicenumeros.pop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  # Remove o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últimonumeros.sort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  # Ordena#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comprehensionquadrados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[x**2 for x in range(10)]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143"/>
            <a:ext cx="72425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Estruturas de Dados e Controle</a:t>
            </a:r>
            <a:endParaRPr lang="pt-BR" sz="3900" noProof="0" dirty="0"/>
          </a:p>
        </p:txBody>
      </p:sp>
      <p:sp>
        <p:nvSpPr>
          <p:cNvPr id="3" name="Shape 1"/>
          <p:cNvSpPr/>
          <p:nvPr/>
        </p:nvSpPr>
        <p:spPr>
          <a:xfrm>
            <a:off x="793790" y="2360533"/>
            <a:ext cx="6422231" cy="4723805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793790" y="2337673"/>
            <a:ext cx="64222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3707249" y="2062877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843" y="2211705"/>
            <a:ext cx="238125" cy="297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2856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Strings</a:t>
            </a:r>
            <a:endParaRPr lang="pt-BR" sz="1950" noProof="0" dirty="0"/>
          </a:p>
        </p:txBody>
      </p:sp>
      <p:sp>
        <p:nvSpPr>
          <p:cNvPr id="8" name="Shape 5"/>
          <p:cNvSpPr/>
          <p:nvPr/>
        </p:nvSpPr>
        <p:spPr>
          <a:xfrm>
            <a:off x="1015008" y="3390067"/>
            <a:ext cx="5979795" cy="3473053"/>
          </a:xfrm>
          <a:prstGeom prst="roundRect">
            <a:avLst>
              <a:gd name="adj" fmla="val 51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1005126" y="3390067"/>
            <a:ext cx="5999559" cy="3473053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1203484" y="3538895"/>
            <a:ext cx="5602843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texto = "Python é incrível"#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Métodosmaiusculas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texto.upper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()palavras =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texto.split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()substituir =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texto.replace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("incrível", "fantástico")#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Slicesprimeiras_letras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texto[:6]  # "Python"</a:t>
            </a:r>
            <a:endParaRPr lang="pt-BR" sz="1550" noProof="0" dirty="0"/>
          </a:p>
        </p:txBody>
      </p:sp>
      <p:sp>
        <p:nvSpPr>
          <p:cNvPr id="11" name="Shape 8"/>
          <p:cNvSpPr/>
          <p:nvPr/>
        </p:nvSpPr>
        <p:spPr>
          <a:xfrm>
            <a:off x="7414379" y="2360533"/>
            <a:ext cx="6422231" cy="4723805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7414379" y="2337673"/>
            <a:ext cx="64222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10327838" y="2062877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32" y="2211705"/>
            <a:ext cx="238125" cy="2976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597" y="2856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Slices</a:t>
            </a:r>
            <a:endParaRPr lang="pt-BR" sz="1950" noProof="0" dirty="0"/>
          </a:p>
        </p:txBody>
      </p:sp>
      <p:sp>
        <p:nvSpPr>
          <p:cNvPr id="16" name="Text 12"/>
          <p:cNvSpPr/>
          <p:nvPr/>
        </p:nvSpPr>
        <p:spPr>
          <a:xfrm>
            <a:off x="7635597" y="328588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Funcionam com listas e </a:t>
            </a:r>
            <a:r>
              <a:rPr lang="pt-BR" sz="1550" noProof="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strings</a:t>
            </a:r>
            <a:r>
              <a:rPr lang="pt-BR" sz="155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pt-BR" sz="1550" noProof="0" dirty="0"/>
          </a:p>
        </p:txBody>
      </p:sp>
      <p:sp>
        <p:nvSpPr>
          <p:cNvPr id="17" name="Shape 13"/>
          <p:cNvSpPr/>
          <p:nvPr/>
        </p:nvSpPr>
        <p:spPr>
          <a:xfrm>
            <a:off x="7635597" y="3826669"/>
            <a:ext cx="5979795" cy="1885355"/>
          </a:xfrm>
          <a:prstGeom prst="roundRect">
            <a:avLst>
              <a:gd name="adj" fmla="val 947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4"/>
          <p:cNvSpPr/>
          <p:nvPr/>
        </p:nvSpPr>
        <p:spPr>
          <a:xfrm>
            <a:off x="7625715" y="3826669"/>
            <a:ext cx="5999559" cy="18853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/>
          <p:cNvSpPr/>
          <p:nvPr/>
        </p:nvSpPr>
        <p:spPr>
          <a:xfrm>
            <a:off x="7824073" y="3975497"/>
            <a:ext cx="560284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lista = [0, 1, 2, 3, 4, 5]print(lista[1:4]) # [1, 2, 3]print(lista[::2]) # [0, 2, 4]print(lista[::-1]) # [5, 4, 3, 2, 1, 0]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440"/>
            <a:ext cx="73329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pt-BR" sz="39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Estruturas de Dados Avançadas</a:t>
            </a:r>
            <a:endParaRPr lang="pt-BR" sz="3900" noProof="0" dirty="0"/>
          </a:p>
        </p:txBody>
      </p:sp>
      <p:sp>
        <p:nvSpPr>
          <p:cNvPr id="3" name="Shape 1"/>
          <p:cNvSpPr/>
          <p:nvPr/>
        </p:nvSpPr>
        <p:spPr>
          <a:xfrm>
            <a:off x="793790" y="1578173"/>
            <a:ext cx="13042821" cy="5990868"/>
          </a:xfrm>
          <a:prstGeom prst="roundRect">
            <a:avLst>
              <a:gd name="adj" fmla="val 298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793790" y="1578173"/>
            <a:ext cx="6521410" cy="5990868"/>
          </a:xfrm>
          <a:prstGeom prst="roundRect">
            <a:avLst>
              <a:gd name="adj" fmla="val 298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92148" y="17765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Tuplas</a:t>
            </a:r>
            <a:endParaRPr lang="pt-BR" sz="1950" noProof="0" dirty="0"/>
          </a:p>
        </p:txBody>
      </p:sp>
      <p:sp>
        <p:nvSpPr>
          <p:cNvPr id="6" name="Shape 4"/>
          <p:cNvSpPr/>
          <p:nvPr/>
        </p:nvSpPr>
        <p:spPr>
          <a:xfrm>
            <a:off x="992148" y="2309932"/>
            <a:ext cx="5826919" cy="5060752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982266" y="2309932"/>
            <a:ext cx="5846683" cy="5060752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180624" y="2458760"/>
            <a:ext cx="5449967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Criaçãovazia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()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numeros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(1, 2, 3)mista = (1, "texto",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True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)# Imutabilidade#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numeros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[0] = 5  # Erro!#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Conversãolista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list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numeros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)tupla =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tuple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(lista)#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Acessoprimeiro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numeros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[0]</a:t>
            </a:r>
            <a:endParaRPr lang="pt-BR" sz="1550" noProof="0" dirty="0"/>
          </a:p>
        </p:txBody>
      </p:sp>
      <p:sp>
        <p:nvSpPr>
          <p:cNvPr id="9" name="Shape 7"/>
          <p:cNvSpPr/>
          <p:nvPr/>
        </p:nvSpPr>
        <p:spPr>
          <a:xfrm>
            <a:off x="7315200" y="1578173"/>
            <a:ext cx="6521410" cy="5990868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0" y="1578173"/>
            <a:ext cx="22860" cy="5990868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7811333" y="17765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19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Dicionários</a:t>
            </a:r>
            <a:endParaRPr lang="pt-BR" sz="1950" noProof="0" dirty="0"/>
          </a:p>
        </p:txBody>
      </p:sp>
      <p:sp>
        <p:nvSpPr>
          <p:cNvPr id="12" name="Shape 10"/>
          <p:cNvSpPr/>
          <p:nvPr/>
        </p:nvSpPr>
        <p:spPr>
          <a:xfrm>
            <a:off x="7811333" y="2309932"/>
            <a:ext cx="5826919" cy="5060752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7801451" y="2309932"/>
            <a:ext cx="5846683" cy="5060752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7999809" y="2458760"/>
            <a:ext cx="5449967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Criaçãousuario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{    "nome": "Ana",    "idade": 25,    "admin": False}# Acesso e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modificaçãoprint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usuario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["nome"])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usuario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["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email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"] = "ana@email.com"#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Iteraçãofor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chave, valor in </a:t>
            </a:r>
            <a:r>
              <a:rPr lang="pt-BR" sz="155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usuario.items</a:t>
            </a:r>
            <a:r>
              <a:rPr lang="pt-BR" sz="155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():    print(f"{chave}: {valor}")</a:t>
            </a:r>
            <a:endParaRPr lang="pt-BR" sz="1550" noProof="0" dirty="0"/>
          </a:p>
        </p:txBody>
      </p:sp>
      <p:sp>
        <p:nvSpPr>
          <p:cNvPr id="15" name="Shape 13"/>
          <p:cNvSpPr/>
          <p:nvPr/>
        </p:nvSpPr>
        <p:spPr>
          <a:xfrm>
            <a:off x="7067193" y="4325481"/>
            <a:ext cx="496133" cy="496133"/>
          </a:xfrm>
          <a:prstGeom prst="roundRect">
            <a:avLst>
              <a:gd name="adj" fmla="val 36004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256" y="4418469"/>
            <a:ext cx="248007" cy="3100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0913"/>
            <a:ext cx="6231255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pt-BR" sz="33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Estruturas de Dados Avançadas</a:t>
            </a:r>
            <a:endParaRPr lang="pt-BR" sz="3300" noProof="0" dirty="0"/>
          </a:p>
        </p:txBody>
      </p:sp>
      <p:sp>
        <p:nvSpPr>
          <p:cNvPr id="4" name="Text 1"/>
          <p:cNvSpPr/>
          <p:nvPr/>
        </p:nvSpPr>
        <p:spPr>
          <a:xfrm>
            <a:off x="6280190" y="1421011"/>
            <a:ext cx="235493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pt-BR" sz="165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Módulos e Comentários</a:t>
            </a:r>
            <a:endParaRPr lang="pt-BR" sz="1650" noProof="0" dirty="0"/>
          </a:p>
        </p:txBody>
      </p:sp>
      <p:sp>
        <p:nvSpPr>
          <p:cNvPr id="5" name="Shape 2"/>
          <p:cNvSpPr/>
          <p:nvPr/>
        </p:nvSpPr>
        <p:spPr>
          <a:xfrm>
            <a:off x="6280190" y="1937504"/>
            <a:ext cx="7556421" cy="5651183"/>
          </a:xfrm>
          <a:prstGeom prst="roundRect">
            <a:avLst>
              <a:gd name="adj" fmla="val 268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3"/>
          <p:cNvSpPr/>
          <p:nvPr/>
        </p:nvSpPr>
        <p:spPr>
          <a:xfrm>
            <a:off x="6271855" y="1937504"/>
            <a:ext cx="7573089" cy="5651183"/>
          </a:xfrm>
          <a:prstGeom prst="roundRect">
            <a:avLst>
              <a:gd name="adj" fmla="val 4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6440448" y="2063948"/>
            <a:ext cx="7235904" cy="5398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Importação de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módulosimport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mathfrom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random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randint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Comentário de linha única"""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Docstring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: Documentação de múltiplas linhas para funções, classes e módulos"""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def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calcular_area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(raio):    """Calcula a área de um círculo."""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return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math.pi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* raio ** 2# Código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principalif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__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name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__ == "__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main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__":    print("Este arquivo está sendo executado diretamente")    print(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f"Área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do círculo: {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calcular_area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(5)}")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8817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pt-BR" sz="33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Tópicos Avançados</a:t>
            </a:r>
            <a:endParaRPr lang="pt-BR" sz="3300" noProof="0" dirty="0"/>
          </a:p>
        </p:txBody>
      </p:sp>
      <p:sp>
        <p:nvSpPr>
          <p:cNvPr id="3" name="Shape 1"/>
          <p:cNvSpPr/>
          <p:nvPr/>
        </p:nvSpPr>
        <p:spPr>
          <a:xfrm>
            <a:off x="1046798" y="2547938"/>
            <a:ext cx="3982045" cy="168593"/>
          </a:xfrm>
          <a:prstGeom prst="roundRect">
            <a:avLst>
              <a:gd name="adj" fmla="val 9005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793790" y="2379226"/>
            <a:ext cx="506016" cy="506016"/>
          </a:xfrm>
          <a:prstGeom prst="roundRect">
            <a:avLst>
              <a:gd name="adj" fmla="val 9035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34" y="2474119"/>
            <a:ext cx="253008" cy="316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2382" y="3053834"/>
            <a:ext cx="2489954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pt-BR" sz="16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Manipulação de Arquivos</a:t>
            </a:r>
            <a:endParaRPr lang="pt-BR" sz="1650" noProof="0" dirty="0"/>
          </a:p>
        </p:txBody>
      </p:sp>
      <p:sp>
        <p:nvSpPr>
          <p:cNvPr id="7" name="Shape 4"/>
          <p:cNvSpPr/>
          <p:nvPr/>
        </p:nvSpPr>
        <p:spPr>
          <a:xfrm>
            <a:off x="962382" y="3507105"/>
            <a:ext cx="3897987" cy="2412206"/>
          </a:xfrm>
          <a:prstGeom prst="roundRect">
            <a:avLst>
              <a:gd name="adj" fmla="val 629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5"/>
          <p:cNvSpPr/>
          <p:nvPr/>
        </p:nvSpPr>
        <p:spPr>
          <a:xfrm>
            <a:off x="954048" y="3507105"/>
            <a:ext cx="3914656" cy="2412206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1122640" y="3633549"/>
            <a:ext cx="3577471" cy="215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Leitura de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arquivowith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open('arquivo.txt', 'r') as f: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conteudo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f.read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()# Escrita em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arquivowith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open('saida.txt', 'w') as f: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f.write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('Olá, Python!')</a:t>
            </a:r>
            <a:endParaRPr lang="pt-BR" sz="1300" noProof="0" dirty="0"/>
          </a:p>
        </p:txBody>
      </p:sp>
      <p:sp>
        <p:nvSpPr>
          <p:cNvPr id="10" name="Shape 7"/>
          <p:cNvSpPr/>
          <p:nvPr/>
        </p:nvSpPr>
        <p:spPr>
          <a:xfrm>
            <a:off x="5450562" y="2294930"/>
            <a:ext cx="3982045" cy="168593"/>
          </a:xfrm>
          <a:prstGeom prst="roundRect">
            <a:avLst>
              <a:gd name="adj" fmla="val 9005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5197554" y="2126218"/>
            <a:ext cx="506016" cy="506016"/>
          </a:xfrm>
          <a:prstGeom prst="roundRect">
            <a:avLst>
              <a:gd name="adj" fmla="val 9035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999" y="2221111"/>
            <a:ext cx="253008" cy="3162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6147" y="280082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pt-BR" sz="16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Pacotes</a:t>
            </a:r>
            <a:endParaRPr lang="pt-BR" sz="1650" noProof="0" dirty="0"/>
          </a:p>
        </p:txBody>
      </p:sp>
      <p:sp>
        <p:nvSpPr>
          <p:cNvPr id="14" name="Text 10"/>
          <p:cNvSpPr/>
          <p:nvPr/>
        </p:nvSpPr>
        <p:spPr>
          <a:xfrm>
            <a:off x="5366147" y="3165515"/>
            <a:ext cx="3897987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30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Organização de módulos em diretórios com 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__init__.py</a:t>
            </a:r>
            <a:endParaRPr lang="pt-B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5366147" y="3910370"/>
            <a:ext cx="3897987" cy="2682121"/>
          </a:xfrm>
          <a:prstGeom prst="roundRect">
            <a:avLst>
              <a:gd name="adj" fmla="val 56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5357813" y="3910370"/>
            <a:ext cx="3914656" cy="2682121"/>
          </a:xfrm>
          <a:prstGeom prst="roundRect">
            <a:avLst>
              <a:gd name="adj" fmla="val 9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3"/>
          <p:cNvSpPr/>
          <p:nvPr/>
        </p:nvSpPr>
        <p:spPr>
          <a:xfrm>
            <a:off x="5526405" y="4036814"/>
            <a:ext cx="3577471" cy="242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Estrutura de um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pacotemeu_pacote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  __init__.py  modulo1.py  modulo2.py#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Importaçãofrom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meu_pacote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modulo1</a:t>
            </a:r>
            <a:endParaRPr lang="pt-BR" sz="1300" noProof="0" dirty="0"/>
          </a:p>
        </p:txBody>
      </p:sp>
      <p:sp>
        <p:nvSpPr>
          <p:cNvPr id="18" name="Shape 14"/>
          <p:cNvSpPr/>
          <p:nvPr/>
        </p:nvSpPr>
        <p:spPr>
          <a:xfrm>
            <a:off x="9854327" y="2041922"/>
            <a:ext cx="3982164" cy="168593"/>
          </a:xfrm>
          <a:prstGeom prst="roundRect">
            <a:avLst>
              <a:gd name="adj" fmla="val 9005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5"/>
          <p:cNvSpPr/>
          <p:nvPr/>
        </p:nvSpPr>
        <p:spPr>
          <a:xfrm>
            <a:off x="9601319" y="1873210"/>
            <a:ext cx="506016" cy="506016"/>
          </a:xfrm>
          <a:prstGeom prst="roundRect">
            <a:avLst>
              <a:gd name="adj" fmla="val 9035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763" y="1968103"/>
            <a:ext cx="253008" cy="3162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769912" y="254781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pt-BR" sz="16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Classes e Objetos</a:t>
            </a:r>
            <a:endParaRPr lang="pt-BR" sz="1650" noProof="0" dirty="0"/>
          </a:p>
        </p:txBody>
      </p:sp>
      <p:sp>
        <p:nvSpPr>
          <p:cNvPr id="22" name="Shape 17"/>
          <p:cNvSpPr/>
          <p:nvPr/>
        </p:nvSpPr>
        <p:spPr>
          <a:xfrm>
            <a:off x="9769912" y="3001089"/>
            <a:ext cx="3898106" cy="3491865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18"/>
          <p:cNvSpPr/>
          <p:nvPr/>
        </p:nvSpPr>
        <p:spPr>
          <a:xfrm>
            <a:off x="9761577" y="3001089"/>
            <a:ext cx="3914775" cy="3491865"/>
          </a:xfrm>
          <a:prstGeom prst="roundRect">
            <a:avLst>
              <a:gd name="adj" fmla="val 7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19"/>
          <p:cNvSpPr/>
          <p:nvPr/>
        </p:nvSpPr>
        <p:spPr>
          <a:xfrm>
            <a:off x="9930170" y="3127534"/>
            <a:ext cx="3577590" cy="32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class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Pessoa: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def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__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init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__(self, nome, idade):    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self.nome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nome    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self.idade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idade        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def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saudacao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(self):       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return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f"Olá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, meu nome é {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self.nome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}"        # Criação de 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objetopessoa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Pessoa("Maria", 30)print(</a:t>
            </a:r>
            <a:r>
              <a:rPr lang="pt-BR" sz="1300" noProof="0" dirty="0" err="1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pessoa.saudacao</a:t>
            </a:r>
            <a:r>
              <a:rPr lang="pt-BR" sz="1300" noProof="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())</a:t>
            </a:r>
            <a:endParaRPr lang="pt-BR" sz="1300" noProof="0" dirty="0"/>
          </a:p>
        </p:txBody>
      </p:sp>
      <p:sp>
        <p:nvSpPr>
          <p:cNvPr id="25" name="Text 20"/>
          <p:cNvSpPr/>
          <p:nvPr/>
        </p:nvSpPr>
        <p:spPr>
          <a:xfrm>
            <a:off x="793790" y="6950869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30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Estes tópicos formam a base para o desenvolvimento de aplicações mais complexas em Python, incluindo sistemas web, análise de dados e inteligência artificial.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1"/>
          <p:cNvSpPr/>
          <p:nvPr/>
        </p:nvSpPr>
        <p:spPr>
          <a:xfrm>
            <a:off x="793790" y="674608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pt-BR" sz="3500" noProof="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Recursos Adicionais</a:t>
            </a:r>
            <a:endParaRPr lang="pt-BR" sz="3500" noProof="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500664"/>
            <a:ext cx="5768697" cy="3565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5244465"/>
            <a:ext cx="281201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pt-BR" sz="17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Curso em Vídeo - Python 3</a:t>
            </a:r>
            <a:endParaRPr lang="pt-BR" sz="1750" noProof="0" dirty="0"/>
          </a:p>
        </p:txBody>
      </p:sp>
      <p:sp>
        <p:nvSpPr>
          <p:cNvPr id="7" name="Text 3"/>
          <p:cNvSpPr/>
          <p:nvPr/>
        </p:nvSpPr>
        <p:spPr>
          <a:xfrm>
            <a:off x="793790" y="5630585"/>
            <a:ext cx="64097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pt-BR" sz="140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Curso completo e gratuito em português ministrado pelo professor Gustavo Guanabara.</a:t>
            </a:r>
            <a:endParaRPr lang="pt-BR" sz="1400" noProof="0" dirty="0"/>
          </a:p>
        </p:txBody>
      </p:sp>
      <p:sp>
        <p:nvSpPr>
          <p:cNvPr id="8" name="Text 4"/>
          <p:cNvSpPr/>
          <p:nvPr/>
        </p:nvSpPr>
        <p:spPr>
          <a:xfrm>
            <a:off x="793790" y="6309241"/>
            <a:ext cx="64097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pt-BR" sz="1400" u="sng" noProof="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Acessar o curso</a:t>
            </a:r>
            <a:endParaRPr lang="pt-BR" sz="140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762" y="1500664"/>
            <a:ext cx="5768816" cy="35653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6762" y="524458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pt-BR" sz="1750" noProof="0" dirty="0" err="1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Kaggle</a:t>
            </a:r>
            <a:r>
              <a:rPr lang="pt-BR" sz="1750" noProof="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- Python</a:t>
            </a:r>
            <a:endParaRPr lang="pt-BR" sz="1750" noProof="0" dirty="0"/>
          </a:p>
        </p:txBody>
      </p:sp>
      <p:sp>
        <p:nvSpPr>
          <p:cNvPr id="11" name="Text 6"/>
          <p:cNvSpPr/>
          <p:nvPr/>
        </p:nvSpPr>
        <p:spPr>
          <a:xfrm>
            <a:off x="7426762" y="5630704"/>
            <a:ext cx="640984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pt-BR" sz="1400" noProof="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Aprenda Python enquanto resolve problemas reais de análise de dados e participe de competições.</a:t>
            </a:r>
            <a:endParaRPr lang="pt-BR" sz="1400" noProof="0" dirty="0"/>
          </a:p>
        </p:txBody>
      </p:sp>
      <p:sp>
        <p:nvSpPr>
          <p:cNvPr id="12" name="Text 7"/>
          <p:cNvSpPr/>
          <p:nvPr/>
        </p:nvSpPr>
        <p:spPr>
          <a:xfrm>
            <a:off x="7426762" y="6309360"/>
            <a:ext cx="640984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pt-BR" sz="1400" u="sng" noProof="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Acessar o curso no </a:t>
            </a:r>
            <a:r>
              <a:rPr lang="pt-BR" sz="1400" u="sng" noProof="0" dirty="0" err="1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endParaRPr lang="pt-BR" sz="1400" noProof="0" dirty="0"/>
          </a:p>
        </p:txBody>
      </p:sp>
      <p:sp>
        <p:nvSpPr>
          <p:cNvPr id="13" name="Shape 8"/>
          <p:cNvSpPr/>
          <p:nvPr/>
        </p:nvSpPr>
        <p:spPr>
          <a:xfrm>
            <a:off x="793790" y="6795968"/>
            <a:ext cx="13042821" cy="759023"/>
          </a:xfrm>
          <a:prstGeom prst="roundRect">
            <a:avLst>
              <a:gd name="adj" fmla="val 2118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383" y="7068622"/>
            <a:ext cx="223242" cy="1785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4219" y="7019211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pt-BR" sz="1400" noProof="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Mantenha-se praticando constantemente e participando da comunidade Python para aprimorar suas habilidades!</a:t>
            </a:r>
            <a:endParaRPr lang="pt-BR" sz="14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1773</Words>
  <Application>Microsoft Office PowerPoint</Application>
  <PresentationFormat>Personalizar</PresentationFormat>
  <Paragraphs>190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Consolas Medium</vt:lpstr>
      <vt:lpstr>Consolas</vt:lpstr>
      <vt:lpstr>Arial</vt:lpstr>
      <vt:lpstr>Instrument Sans Semi Bold</vt:lpstr>
      <vt:lpstr>Instrument Sans Medium</vt:lpstr>
      <vt:lpstr>Instrument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Everton</cp:lastModifiedBy>
  <cp:revision>3</cp:revision>
  <dcterms:created xsi:type="dcterms:W3CDTF">2025-08-13T19:44:30Z</dcterms:created>
  <dcterms:modified xsi:type="dcterms:W3CDTF">2025-08-13T20:14:28Z</dcterms:modified>
</cp:coreProperties>
</file>