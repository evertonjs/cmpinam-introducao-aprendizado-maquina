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18"/>
  </p:notesMasterIdLst>
  <p:sldIdLst>
    <p:sldId id="675" r:id="rId2"/>
    <p:sldId id="694" r:id="rId3"/>
    <p:sldId id="714" r:id="rId4"/>
    <p:sldId id="715" r:id="rId5"/>
    <p:sldId id="716" r:id="rId6"/>
    <p:sldId id="717" r:id="rId7"/>
    <p:sldId id="718" r:id="rId8"/>
    <p:sldId id="719" r:id="rId9"/>
    <p:sldId id="720" r:id="rId10"/>
    <p:sldId id="721" r:id="rId11"/>
    <p:sldId id="722" r:id="rId12"/>
    <p:sldId id="723" r:id="rId13"/>
    <p:sldId id="724" r:id="rId14"/>
    <p:sldId id="725" r:id="rId15"/>
    <p:sldId id="713" r:id="rId16"/>
    <p:sldId id="726" r:id="rId17"/>
  </p:sldIdLst>
  <p:sldSz cx="12192000" cy="6858000"/>
  <p:notesSz cx="6858000" cy="9144000"/>
  <p:defaultTextStyle>
    <a:defPPr>
      <a:defRPr lang="en-US"/>
    </a:defPPr>
    <a:lvl1pPr marL="0" algn="l" defTabSz="121793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1pPr>
    <a:lvl2pPr marL="608965" algn="l" defTabSz="121793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2pPr>
    <a:lvl3pPr marL="1217930" algn="l" defTabSz="121793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3pPr>
    <a:lvl4pPr marL="1826895" algn="l" defTabSz="121793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4pPr>
    <a:lvl5pPr marL="2435860" algn="l" defTabSz="121793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5pPr>
    <a:lvl6pPr marL="3045460" algn="l" defTabSz="121793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6pPr>
    <a:lvl7pPr marL="3654425" algn="l" defTabSz="121793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7pPr>
    <a:lvl8pPr marL="4263390" algn="l" defTabSz="121793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8pPr>
    <a:lvl9pPr marL="4872355" algn="l" defTabSz="121793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ção" id="{5D011812-245F-A247-9246-AECA2EE47946}">
          <p14:sldIdLst>
            <p14:sldId id="675"/>
            <p14:sldId id="694"/>
          </p14:sldIdLst>
        </p14:section>
        <p14:section name="Instalação" id="{77C100B1-5AB8-7B48-8099-87755C244145}">
          <p14:sldIdLst>
            <p14:sldId id="714"/>
            <p14:sldId id="715"/>
            <p14:sldId id="716"/>
            <p14:sldId id="717"/>
            <p14:sldId id="718"/>
            <p14:sldId id="719"/>
            <p14:sldId id="720"/>
          </p14:sldIdLst>
        </p14:section>
        <p14:section name="Codificação" id="{4AE513C3-61C6-7742-915D-507776CD9B65}">
          <p14:sldIdLst>
            <p14:sldId id="721"/>
            <p14:sldId id="722"/>
            <p14:sldId id="723"/>
            <p14:sldId id="724"/>
            <p14:sldId id="725"/>
          </p14:sldIdLst>
        </p14:section>
        <p14:section name="Referências" id="{53CDB483-6361-F345-ABDE-ACE495ED1ECC}">
          <p14:sldIdLst>
            <p14:sldId id="713"/>
            <p14:sldId id="726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1">
          <p15:clr>
            <a:srgbClr val="A4A3A4"/>
          </p15:clr>
        </p15:guide>
        <p15:guide id="2" pos="234">
          <p15:clr>
            <a:srgbClr val="A4A3A4"/>
          </p15:clr>
        </p15:guide>
        <p15:guide id="3" pos="7446">
          <p15:clr>
            <a:srgbClr val="A4A3A4"/>
          </p15:clr>
        </p15:guide>
        <p15:guide id="4" orient="horz" pos="232">
          <p15:clr>
            <a:srgbClr val="A4A3A4"/>
          </p15:clr>
        </p15:guide>
        <p15:guide id="5" orient="horz" pos="4088">
          <p15:clr>
            <a:srgbClr val="A4A3A4"/>
          </p15:clr>
        </p15:guide>
        <p15:guide id="6" pos="384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D7D31"/>
    <a:srgbClr val="696969"/>
    <a:srgbClr val="EA4239"/>
    <a:srgbClr val="0C509E"/>
    <a:srgbClr val="0FC391"/>
    <a:srgbClr val="FFC9C9"/>
    <a:srgbClr val="0FC3C3"/>
    <a:srgbClr val="FFD700"/>
    <a:srgbClr val="FBC829"/>
    <a:srgbClr val="E5C1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111"/>
    <p:restoredTop sz="94505"/>
  </p:normalViewPr>
  <p:slideViewPr>
    <p:cSldViewPr snapToGrid="0" snapToObjects="1">
      <p:cViewPr varScale="1">
        <p:scale>
          <a:sx n="80" d="100"/>
          <a:sy n="80" d="100"/>
        </p:scale>
        <p:origin x="826" y="48"/>
      </p:cViewPr>
      <p:guideLst>
        <p:guide orient="horz" pos="2161"/>
        <p:guide pos="234"/>
        <p:guide pos="7446"/>
        <p:guide orient="horz" pos="232"/>
        <p:guide orient="horz" pos="4088"/>
        <p:guide pos="3841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56A1013-C2E4-944B-8BB6-DA4F49F7AB2B}" type="datetimeFigureOut">
              <a:rPr lang="en-US" smtClean="0"/>
              <a:t>8/13/2025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3F53CDB-704C-C449-BB6D-492BC646F14B}" type="slidenum">
              <a:rPr lang="en-US" smtClean="0"/>
              <a:t>‹nº›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121793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1pPr>
    <a:lvl2pPr marL="608965" algn="l" defTabSz="121793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2pPr>
    <a:lvl3pPr marL="1217930" algn="l" defTabSz="121793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3pPr>
    <a:lvl4pPr marL="1826895" algn="l" defTabSz="121793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4pPr>
    <a:lvl5pPr marL="2435860" algn="l" defTabSz="121793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5pPr>
    <a:lvl6pPr marL="3045460" algn="l" defTabSz="121793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6pPr>
    <a:lvl7pPr marL="3654425" algn="l" defTabSz="121793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7pPr>
    <a:lvl8pPr marL="4263390" algn="l" defTabSz="121793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8pPr>
    <a:lvl9pPr marL="4872355" algn="l" defTabSz="121793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3F53CDB-704C-C449-BB6D-492BC646F14B}" type="slidenum">
              <a:rPr lang="en-US" smtClean="0"/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3F53CDB-704C-C449-BB6D-492BC646F14B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709558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EBE443-A809-0641-A759-0EB11E0A6813}" type="datetime1">
              <a:rPr lang="en-US" smtClean="0"/>
              <a:t>8/13/2025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47A1EB-5142-CB48-AB43-FD63342FB24F}" type="slidenum">
              <a:rPr lang="en-US" smtClean="0"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PT Sans" panose="020B0503020203020204" pitchFamily="34" charset="77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>
            <a:lvl1pPr>
              <a:defRPr sz="2000">
                <a:latin typeface="Candara" panose="020E0502030303020204" pitchFamily="34" charset="0"/>
              </a:defRPr>
            </a:lvl1pPr>
            <a:lvl2pPr>
              <a:defRPr sz="1800">
                <a:latin typeface="Candara" panose="020E0502030303020204" pitchFamily="34" charset="0"/>
              </a:defRPr>
            </a:lvl2pPr>
            <a:lvl3pPr>
              <a:defRPr sz="1600">
                <a:latin typeface="Candara" panose="020E0502030303020204" pitchFamily="34" charset="0"/>
              </a:defRPr>
            </a:lvl3pPr>
            <a:lvl4pPr>
              <a:defRPr sz="1400">
                <a:latin typeface="Candara" panose="020E0502030303020204" pitchFamily="34" charset="0"/>
              </a:defRPr>
            </a:lvl4pPr>
            <a:lvl5pPr>
              <a:defRPr sz="1400">
                <a:latin typeface="Candara" panose="020E0502030303020204" pitchFamily="34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PT Sans" panose="020B0503020203020204" pitchFamily="34" charset="77"/>
              </a:defRPr>
            </a:lvl1pPr>
          </a:lstStyle>
          <a:p>
            <a:fld id="{07E468B8-64E1-FC4B-AEF3-5B2B6E654BF3}" type="datetime1">
              <a:rPr lang="en-US" smtClean="0"/>
              <a:t>8/13/2025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PT Sans" panose="020B0503020203020204" pitchFamily="34" charset="77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PT Sans" panose="020B0503020203020204" pitchFamily="34" charset="77"/>
              </a:defRPr>
            </a:lvl1pPr>
          </a:lstStyle>
          <a:p>
            <a:fld id="{F547A1EB-5142-CB48-AB43-FD63342FB24F}" type="slidenum">
              <a:rPr lang="en-US" smtClean="0"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FBC37C-948C-254A-8BDB-87C6C2810A1A}" type="datetime1">
              <a:rPr lang="en-US" smtClean="0"/>
              <a:t>8/13/2025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47A1EB-5142-CB48-AB43-FD63342FB24F}" type="slidenum">
              <a:rPr lang="en-US" smtClean="0"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799004-6EFE-BB4C-A1A6-F6EF0A0089B7}" type="datetime1">
              <a:rPr lang="en-US" smtClean="0"/>
              <a:t>8/13/2025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47A1EB-5142-CB48-AB43-FD63342FB24F}" type="slidenum">
              <a:rPr lang="en-US" smtClean="0"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7D806F-5EFF-0F43-B32F-D8E9CDA51F32}" type="datetime1">
              <a:rPr lang="en-US" smtClean="0"/>
              <a:t>8/13/2025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47A1EB-5142-CB48-AB43-FD63342FB24F}" type="slidenum">
              <a:rPr lang="en-US" smtClean="0"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C3D9EA-08DC-6B40-BE3A-03FE8BCC64D8}" type="datetime1">
              <a:rPr lang="en-US" smtClean="0"/>
              <a:t>8/13/2025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47A1EB-5142-CB48-AB43-FD63342FB24F}" type="slidenum">
              <a:rPr lang="en-US" smtClean="0"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F721D3-6D26-AF49-9771-A50414644A9F}" type="datetime1">
              <a:rPr lang="en-US" smtClean="0"/>
              <a:t>8/13/2025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47A1EB-5142-CB48-AB43-FD63342FB24F}" type="slidenum">
              <a:rPr lang="en-US" smtClean="0"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EA2C5B-1E82-AA4A-A840-6A126809F543}" type="datetime1">
              <a:rPr lang="en-US" smtClean="0"/>
              <a:t>8/13/2025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47A1EB-5142-CB48-AB43-FD63342FB24F}" type="slidenum">
              <a:rPr lang="en-US" smtClean="0"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6961B6-9F3E-524B-9046-97D19C9808F8}" type="datetime1">
              <a:rPr lang="en-US" smtClean="0"/>
              <a:t>8/13/2025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47A1EB-5142-CB48-AB43-FD63342FB24F}" type="slidenum">
              <a:rPr lang="en-US" smtClean="0"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C688D5-41CE-1644-AC59-E835FC614502}" type="datetime1">
              <a:rPr lang="en-US" smtClean="0"/>
              <a:t>8/13/2025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47A1EB-5142-CB48-AB43-FD63342FB24F}" type="slidenum">
              <a:rPr lang="en-US" smtClean="0"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6B0005-AE24-1E48-A126-EFE4843706BC}" type="datetime1">
              <a:rPr lang="en-US" smtClean="0"/>
              <a:t>8/13/2025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47A1EB-5142-CB48-AB43-FD63342FB24F}" type="slidenum">
              <a:rPr lang="en-US" smtClean="0"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PT Sans" panose="020B0503020203020204" pitchFamily="34" charset="77"/>
              </a:defRPr>
            </a:lvl1pPr>
          </a:lstStyle>
          <a:p>
            <a:fld id="{F1745ED5-B5E2-7A4E-9C88-104873B26853}" type="datetime1">
              <a:rPr lang="en-US" smtClean="0"/>
              <a:t>8/13/2025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PT Sans" panose="020B0503020203020204" pitchFamily="34" charset="77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967061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PT Sans" panose="020B0503020203020204" pitchFamily="34" charset="77"/>
              </a:defRPr>
            </a:lvl1pPr>
          </a:lstStyle>
          <a:p>
            <a:fld id="{F547A1EB-5142-CB48-AB43-FD63342FB24F}" type="slidenum">
              <a:rPr lang="en-US" smtClean="0"/>
              <a:t>‹nº›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PT Sans" panose="020B0503020203020204" pitchFamily="34" charset="77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80604020202020204" pitchFamily="34" charset="0"/>
        <a:buChar char="•"/>
        <a:defRPr sz="2400" kern="1200">
          <a:solidFill>
            <a:schemeClr val="tx1"/>
          </a:solidFill>
          <a:latin typeface="Candara" panose="020E0502030303020204" pitchFamily="34" charset="0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2000" kern="1200">
          <a:solidFill>
            <a:schemeClr val="tx1"/>
          </a:solidFill>
          <a:latin typeface="Candara" panose="020E0502030303020204" pitchFamily="34" charset="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Candara" panose="020E0502030303020204" pitchFamily="34" charset="0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600" kern="1200">
          <a:solidFill>
            <a:schemeClr val="tx1"/>
          </a:solidFill>
          <a:latin typeface="Candara" panose="020E0502030303020204" pitchFamily="34" charset="0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600" kern="1200">
          <a:solidFill>
            <a:schemeClr val="tx1"/>
          </a:solidFill>
          <a:latin typeface="Candara" panose="020E0502030303020204" pitchFamily="34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tiff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pip.pypa.io/en/stable/installing/" TargetMode="External"/><Relationship Id="rId2" Type="http://schemas.openxmlformats.org/officeDocument/2006/relationships/hyperlink" Target="https://www.youtube.com/watch?v=VuKvR1J2LQE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virtualenv.pypa.io/en/latest/installation.html" TargetMode="Externa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hyperlink" Target="https://colab.research.google.com/" TargetMode="Externa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hyperlink" Target="https://www.youtube.com/playlist?list=PLHz_AreHm4dlKP6QQCekuIPky1CiwmdI6" TargetMode="Externa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www.kaggle.com/learn/python" TargetMode="External"/><Relationship Id="rId4" Type="http://schemas.openxmlformats.org/officeDocument/2006/relationships/image" Target="../media/image11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tif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47A1EB-5142-CB48-AB43-FD63342FB24F}" type="slidenum">
              <a:rPr lang="en-US"/>
              <a:t>1</a:t>
            </a:fld>
            <a:endParaRPr lang="en-US"/>
          </a:p>
        </p:txBody>
      </p:sp>
      <p:pic>
        <p:nvPicPr>
          <p:cNvPr id="17" name="Imagem 4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555" t="12712" r="7073" b="11593"/>
          <a:stretch>
            <a:fillRect/>
          </a:stretch>
        </p:blipFill>
        <p:spPr>
          <a:xfrm>
            <a:off x="10016480" y="5689298"/>
            <a:ext cx="1804045" cy="785762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-3115" y="6782724"/>
            <a:ext cx="12194763" cy="75278"/>
          </a:xfrm>
          <a:prstGeom prst="rect">
            <a:avLst/>
          </a:prstGeom>
          <a:solidFill>
            <a:srgbClr val="0C509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195"/>
          </a:p>
        </p:txBody>
      </p:sp>
      <p:sp>
        <p:nvSpPr>
          <p:cNvPr id="3" name="Rectangle 2"/>
          <p:cNvSpPr/>
          <p:nvPr/>
        </p:nvSpPr>
        <p:spPr>
          <a:xfrm>
            <a:off x="11400386" y="6422269"/>
            <a:ext cx="306993" cy="22266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195"/>
          </a:p>
        </p:txBody>
      </p:sp>
      <p:sp>
        <p:nvSpPr>
          <p:cNvPr id="19" name="TextBox 18"/>
          <p:cNvSpPr txBox="1"/>
          <p:nvPr/>
        </p:nvSpPr>
        <p:spPr>
          <a:xfrm>
            <a:off x="556132" y="798274"/>
            <a:ext cx="1107973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tabLst>
                <a:tab pos="3902710" algn="l"/>
              </a:tabLst>
            </a:pPr>
            <a:r>
              <a:rPr lang="pt-BR" sz="3600" b="1" dirty="0">
                <a:solidFill>
                  <a:srgbClr val="0C509E"/>
                </a:solidFill>
                <a:latin typeface="PT Sans" panose="020B0503020203020204" pitchFamily="34" charset="77"/>
                <a:ea typeface="Lato" panose="020F0502020204030203" pitchFamily="34" charset="0"/>
                <a:cs typeface="Lato" panose="020F0502020204030203" pitchFamily="34" charset="0"/>
              </a:rPr>
              <a:t>INTI6 – Inteligência Artificial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56132" y="2808830"/>
            <a:ext cx="1107973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tabLst>
                <a:tab pos="3902710" algn="l"/>
              </a:tabLst>
            </a:pPr>
            <a:r>
              <a:rPr lang="pt-BR" sz="3600" b="1" dirty="0">
                <a:solidFill>
                  <a:srgbClr val="303030"/>
                </a:solidFill>
                <a:latin typeface="PT Sans" panose="020B0503020203020204" pitchFamily="34" charset="77"/>
                <a:ea typeface="Lato" panose="020F0502020204030203" pitchFamily="34" charset="0"/>
                <a:cs typeface="Lato" panose="020F0502020204030203" pitchFamily="34" charset="0"/>
              </a:rPr>
              <a:t>Introdução ao Python</a:t>
            </a:r>
          </a:p>
        </p:txBody>
      </p:sp>
      <p:sp>
        <p:nvSpPr>
          <p:cNvPr id="21" name="Shape 120"/>
          <p:cNvSpPr/>
          <p:nvPr/>
        </p:nvSpPr>
        <p:spPr>
          <a:xfrm>
            <a:off x="4166498" y="4842245"/>
            <a:ext cx="3855544" cy="707886"/>
          </a:xfrm>
          <a:prstGeom prst="rect">
            <a:avLst/>
          </a:prstGeom>
          <a:ln w="25400">
            <a:miter lim="400000"/>
          </a:ln>
        </p:spPr>
        <p:txBody>
          <a:bodyPr wrap="none" tIns="45720" bIns="45720">
            <a:spAutoFit/>
          </a:bodyPr>
          <a:lstStyle/>
          <a:p>
            <a:pPr algn="ctr">
              <a:defRPr sz="4800">
                <a:solidFill>
                  <a:srgbClr val="333333"/>
                </a:solidFill>
              </a:defRPr>
            </a:pPr>
            <a:r>
              <a:rPr lang="en-US" sz="2400" dirty="0">
                <a:latin typeface="Candara" panose="020E0502030303020204" pitchFamily="34" charset="0"/>
                <a:ea typeface="Lato" panose="020F0502020204030203" pitchFamily="34" charset="0"/>
                <a:cs typeface="Lato" panose="020F0502020204030203" pitchFamily="34" charset="0"/>
              </a:rPr>
              <a:t>Prof. </a:t>
            </a:r>
            <a:r>
              <a:rPr lang="pt-BR" sz="2400" dirty="0">
                <a:latin typeface="Candara" panose="020E0502030303020204" pitchFamily="34" charset="0"/>
                <a:ea typeface="Lato" panose="020F0502020204030203" pitchFamily="34" charset="0"/>
                <a:cs typeface="Lato" panose="020F0502020204030203" pitchFamily="34" charset="0"/>
              </a:rPr>
              <a:t>Everton </a:t>
            </a:r>
            <a:r>
              <a:rPr lang="pt-BR" sz="2400">
                <a:latin typeface="Candara" panose="020E0502030303020204" pitchFamily="34" charset="0"/>
                <a:ea typeface="Lato" panose="020F0502020204030203" pitchFamily="34" charset="0"/>
                <a:cs typeface="Lato" panose="020F0502020204030203" pitchFamily="34" charset="0"/>
              </a:rPr>
              <a:t>Meyer da Silva</a:t>
            </a:r>
            <a:endParaRPr sz="2400" dirty="0">
              <a:latin typeface="Candara" panose="020E0502030303020204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  <a:p>
            <a:pPr algn="ctr">
              <a:defRPr i="1">
                <a:solidFill>
                  <a:srgbClr val="333333"/>
                </a:solidFill>
              </a:defRPr>
            </a:pPr>
            <a:r>
              <a:rPr lang="pt-BR" sz="1600" dirty="0" err="1">
                <a:latin typeface="Candara" panose="020E0502030303020204" pitchFamily="34" charset="0"/>
                <a:ea typeface="Lato" panose="020F0502020204030203" pitchFamily="34" charset="0"/>
                <a:cs typeface="Lato" panose="020F0502020204030203" pitchFamily="34" charset="0"/>
              </a:rPr>
              <a:t>everton.silva</a:t>
            </a:r>
            <a:r>
              <a:rPr sz="1600" dirty="0">
                <a:latin typeface="Candara" panose="020E0502030303020204" pitchFamily="34" charset="0"/>
                <a:ea typeface="Lato" panose="020F0502020204030203" pitchFamily="34" charset="0"/>
                <a:cs typeface="Lato" panose="020F0502020204030203" pitchFamily="34" charset="0"/>
              </a:rPr>
              <a:t>@ifsp.edu.br</a:t>
            </a:r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1475" y="6034751"/>
            <a:ext cx="1306353" cy="454949"/>
          </a:xfrm>
          <a:prstGeom prst="rect">
            <a:avLst/>
          </a:prstGeom>
        </p:spPr>
      </p:pic>
      <p:pic>
        <p:nvPicPr>
          <p:cNvPr id="14" name="Picture 13"/>
          <p:cNvPicPr>
            <a:picLocks noChangeAspect="1"/>
          </p:cNvPicPr>
          <p:nvPr/>
        </p:nvPicPr>
        <p:blipFill rotWithShape="1">
          <a:blip r:embed="rId5"/>
          <a:srcRect l="22116" t="5968" r="20863" b="4429"/>
          <a:stretch>
            <a:fillRect/>
          </a:stretch>
        </p:blipFill>
        <p:spPr>
          <a:xfrm>
            <a:off x="10293206" y="523611"/>
            <a:ext cx="1250592" cy="1215661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2154621" y="7169306"/>
            <a:ext cx="6096000" cy="1199367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dirty="0"/>
              <a:t>https://</a:t>
            </a:r>
            <a:r>
              <a:rPr lang="en-US" dirty="0" err="1"/>
              <a:t>www.kindpng.com</a:t>
            </a:r>
            <a:r>
              <a:rPr lang="en-US" dirty="0"/>
              <a:t>/</a:t>
            </a:r>
            <a:r>
              <a:rPr lang="en-US" dirty="0" err="1"/>
              <a:t>imgv</a:t>
            </a:r>
            <a:r>
              <a:rPr lang="en-US" dirty="0"/>
              <a:t>/ohoRxJ_psychology-icon-brain-artificial-intelligence-icon-hd-png/</a:t>
            </a:r>
          </a:p>
        </p:txBody>
      </p:sp>
      <p:sp>
        <p:nvSpPr>
          <p:cNvPr id="2" name="Shape 120">
            <a:extLst>
              <a:ext uri="{FF2B5EF4-FFF2-40B4-BE49-F238E27FC236}">
                <a16:creationId xmlns:a16="http://schemas.microsoft.com/office/drawing/2014/main" id="{02F0BD67-35E3-1C6C-C5ED-D8FD47DD2E48}"/>
              </a:ext>
            </a:extLst>
          </p:cNvPr>
          <p:cNvSpPr/>
          <p:nvPr/>
        </p:nvSpPr>
        <p:spPr>
          <a:xfrm>
            <a:off x="3397059" y="5705783"/>
            <a:ext cx="5394426" cy="584775"/>
          </a:xfrm>
          <a:prstGeom prst="rect">
            <a:avLst/>
          </a:prstGeom>
          <a:ln w="25400">
            <a:miter lim="400000"/>
          </a:ln>
        </p:spPr>
        <p:txBody>
          <a:bodyPr wrap="none" tIns="45720" bIns="45720">
            <a:spAutoFit/>
          </a:bodyPr>
          <a:lstStyle/>
          <a:p>
            <a:pPr algn="ctr">
              <a:defRPr sz="4800">
                <a:solidFill>
                  <a:srgbClr val="333333"/>
                </a:solidFill>
              </a:defRPr>
            </a:pPr>
            <a:r>
              <a:rPr lang="en-US" sz="1600" dirty="0">
                <a:latin typeface="Candara" panose="020E0502030303020204" pitchFamily="34" charset="0"/>
                <a:ea typeface="Lato" panose="020F0502020204030203" pitchFamily="34" charset="0"/>
                <a:cs typeface="Lato" panose="020F0502020204030203" pitchFamily="34" charset="0"/>
              </a:rPr>
              <a:t>*</a:t>
            </a:r>
            <a:r>
              <a:rPr lang="pt-BR" sz="1600" dirty="0">
                <a:latin typeface="Candara" panose="020E0502030303020204" pitchFamily="34" charset="0"/>
                <a:ea typeface="Lato" panose="020F0502020204030203" pitchFamily="34" charset="0"/>
                <a:cs typeface="Lato" panose="020F0502020204030203" pitchFamily="34" charset="0"/>
              </a:rPr>
              <a:t>Adaptação do material produzido por Prof. Samuel Martins</a:t>
            </a:r>
          </a:p>
          <a:p>
            <a:pPr algn="ctr">
              <a:defRPr i="1">
                <a:solidFill>
                  <a:srgbClr val="333333"/>
                </a:solidFill>
              </a:defRPr>
            </a:pPr>
            <a:r>
              <a:rPr lang="pt-BR" sz="1600" dirty="0">
                <a:latin typeface="Candara" panose="020E0502030303020204" pitchFamily="34" charset="0"/>
                <a:ea typeface="Lato" panose="020F0502020204030203" pitchFamily="34" charset="0"/>
                <a:cs typeface="Lato" panose="020F0502020204030203" pitchFamily="34" charset="0"/>
              </a:rPr>
              <a:t>samuel.martins@ifsp.edu.br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47A1EB-5142-CB48-AB43-FD63342FB24F}" type="slidenum">
              <a:rPr lang="en-US">
                <a:ea typeface="Lato" panose="020F0502020204030203" pitchFamily="34" charset="0"/>
                <a:cs typeface="Lato" panose="020F0502020204030203" pitchFamily="34" charset="0"/>
              </a:rPr>
              <a:t>2</a:t>
            </a:fld>
            <a:endParaRPr lang="en-US" dirty="0"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371475" y="272038"/>
            <a:ext cx="11449050" cy="58477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pt-BR" sz="3200" b="1" dirty="0">
                <a:solidFill>
                  <a:srgbClr val="0C509E"/>
                </a:solidFill>
                <a:latin typeface="PT Sans" panose="020B0503020203020204" pitchFamily="34" charset="77"/>
                <a:cs typeface="Helvetica LT Std" panose="020B0504020202020204" charset="0"/>
              </a:rPr>
              <a:t>Python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-3115" y="6782724"/>
            <a:ext cx="12194763" cy="75278"/>
          </a:xfrm>
          <a:prstGeom prst="rect">
            <a:avLst/>
          </a:prstGeom>
          <a:solidFill>
            <a:srgbClr val="0C509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195"/>
          </a:p>
        </p:txBody>
      </p:sp>
      <p:sp>
        <p:nvSpPr>
          <p:cNvPr id="7" name="Rectangle 6"/>
          <p:cNvSpPr/>
          <p:nvPr/>
        </p:nvSpPr>
        <p:spPr>
          <a:xfrm>
            <a:off x="371474" y="7101815"/>
            <a:ext cx="5726113" cy="48610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1" name="Rectangle 10"/>
          <p:cNvSpPr/>
          <p:nvPr/>
        </p:nvSpPr>
        <p:spPr>
          <a:xfrm>
            <a:off x="6104004" y="7101814"/>
            <a:ext cx="5726113" cy="486102"/>
          </a:xfrm>
          <a:prstGeom prst="rect">
            <a:avLst/>
          </a:prstGeom>
          <a:solidFill>
            <a:srgbClr val="FFD7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9" name="TextBox 8"/>
          <p:cNvSpPr txBox="1"/>
          <p:nvPr/>
        </p:nvSpPr>
        <p:spPr>
          <a:xfrm>
            <a:off x="371475" y="1042909"/>
            <a:ext cx="10152455" cy="1997919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80604020202020204" pitchFamily="34" charset="0"/>
              <a:buChar char="•"/>
            </a:pPr>
            <a:r>
              <a:rPr lang="pt-BR" sz="1400" dirty="0">
                <a:solidFill>
                  <a:srgbClr val="696969"/>
                </a:solidFill>
                <a:latin typeface="Candara" panose="020E0502030303020204" pitchFamily="34" charset="0"/>
                <a:ea typeface="Lato" panose="020F0502020204030203" pitchFamily="34" charset="0"/>
                <a:cs typeface="Lato" panose="020F0502020204030203" pitchFamily="34" charset="0"/>
              </a:rPr>
              <a:t>Linguagem de Programação criada pelo holandês Guido van </a:t>
            </a:r>
            <a:r>
              <a:rPr lang="pt-BR" sz="1400" dirty="0" err="1">
                <a:solidFill>
                  <a:srgbClr val="696969"/>
                </a:solidFill>
                <a:latin typeface="Candara" panose="020E0502030303020204" pitchFamily="34" charset="0"/>
                <a:ea typeface="Lato" panose="020F0502020204030203" pitchFamily="34" charset="0"/>
                <a:cs typeface="Lato" panose="020F0502020204030203" pitchFamily="34" charset="0"/>
              </a:rPr>
              <a:t>Rossum</a:t>
            </a:r>
            <a:r>
              <a:rPr lang="pt-BR" sz="1400" dirty="0">
                <a:solidFill>
                  <a:srgbClr val="696969"/>
                </a:solidFill>
                <a:latin typeface="Candara" panose="020E0502030303020204" pitchFamily="34" charset="0"/>
                <a:ea typeface="Lato" panose="020F0502020204030203" pitchFamily="34" charset="0"/>
                <a:cs typeface="Lato" panose="020F0502020204030203" pitchFamily="34" charset="0"/>
              </a:rPr>
              <a:t> (1991)</a:t>
            </a:r>
          </a:p>
          <a:p>
            <a:pPr marL="342900" indent="-342900">
              <a:lnSpc>
                <a:spcPct val="150000"/>
              </a:lnSpc>
              <a:buFont typeface="Arial" panose="02080604020202020204" pitchFamily="34" charset="0"/>
              <a:buChar char="•"/>
            </a:pPr>
            <a:r>
              <a:rPr lang="pt-BR" sz="1400" dirty="0">
                <a:solidFill>
                  <a:srgbClr val="696969"/>
                </a:solidFill>
                <a:latin typeface="Candara" panose="020E0502030303020204" pitchFamily="34" charset="0"/>
                <a:ea typeface="Lato" panose="020F0502020204030203" pitchFamily="34" charset="0"/>
                <a:cs typeface="Lato" panose="020F0502020204030203" pitchFamily="34" charset="0"/>
              </a:rPr>
              <a:t>Linguagem </a:t>
            </a:r>
            <a:r>
              <a:rPr lang="pt-BR" sz="1400" b="1" dirty="0">
                <a:latin typeface="Candara" panose="020E0502030303020204" pitchFamily="34" charset="0"/>
                <a:ea typeface="Lato" panose="020F0502020204030203" pitchFamily="34" charset="0"/>
                <a:cs typeface="Lato" panose="020F0502020204030203" pitchFamily="34" charset="0"/>
              </a:rPr>
              <a:t>interpretada</a:t>
            </a:r>
          </a:p>
          <a:p>
            <a:pPr marL="342900" indent="-342900">
              <a:lnSpc>
                <a:spcPct val="150000"/>
              </a:lnSpc>
              <a:buFont typeface="Arial" panose="02080604020202020204" pitchFamily="34" charset="0"/>
              <a:buChar char="•"/>
            </a:pPr>
            <a:r>
              <a:rPr lang="pt-BR" sz="1400" dirty="0">
                <a:solidFill>
                  <a:srgbClr val="696969"/>
                </a:solidFill>
                <a:latin typeface="Candara" panose="020E0502030303020204" pitchFamily="34" charset="0"/>
                <a:ea typeface="Lato" panose="020F0502020204030203" pitchFamily="34" charset="0"/>
                <a:cs typeface="Lato" panose="020F0502020204030203" pitchFamily="34" charset="0"/>
              </a:rPr>
              <a:t>Linguagem simples e interativa (foco no problema e não na sintaxe)</a:t>
            </a:r>
          </a:p>
          <a:p>
            <a:pPr marL="342900" indent="-342900">
              <a:lnSpc>
                <a:spcPct val="150000"/>
              </a:lnSpc>
              <a:buFont typeface="Arial" panose="02080604020202020204" pitchFamily="34" charset="0"/>
              <a:buChar char="•"/>
            </a:pPr>
            <a:r>
              <a:rPr lang="pt-BR" sz="1400" dirty="0">
                <a:solidFill>
                  <a:srgbClr val="696969"/>
                </a:solidFill>
                <a:latin typeface="Candara" panose="020E0502030303020204" pitchFamily="34" charset="0"/>
                <a:ea typeface="Lato" panose="020F0502020204030203" pitchFamily="34" charset="0"/>
                <a:cs typeface="Lato" panose="020F0502020204030203" pitchFamily="34" charset="0"/>
              </a:rPr>
              <a:t>Altamente produtiva (menos linhas de código)</a:t>
            </a:r>
          </a:p>
          <a:p>
            <a:pPr marL="342900" indent="-342900">
              <a:lnSpc>
                <a:spcPct val="150000"/>
              </a:lnSpc>
              <a:buFont typeface="Arial" panose="02080604020202020204" pitchFamily="34" charset="0"/>
              <a:buChar char="•"/>
            </a:pPr>
            <a:r>
              <a:rPr lang="pt-BR" sz="1400" dirty="0">
                <a:solidFill>
                  <a:srgbClr val="696969"/>
                </a:solidFill>
                <a:latin typeface="Candara" panose="020E0502030303020204" pitchFamily="34" charset="0"/>
                <a:ea typeface="Lato" panose="020F0502020204030203" pitchFamily="34" charset="0"/>
                <a:cs typeface="Lato" panose="020F0502020204030203" pitchFamily="34" charset="0"/>
              </a:rPr>
              <a:t>Linguagem de propósito geral (não apenas para aplicações científicas)</a:t>
            </a:r>
          </a:p>
          <a:p>
            <a:pPr marL="342900" indent="-342900">
              <a:lnSpc>
                <a:spcPct val="150000"/>
              </a:lnSpc>
              <a:buFont typeface="Arial" panose="02080604020202020204" pitchFamily="34" charset="0"/>
              <a:buChar char="•"/>
            </a:pPr>
            <a:r>
              <a:rPr lang="pt-BR" sz="1400" dirty="0">
                <a:solidFill>
                  <a:srgbClr val="696969"/>
                </a:solidFill>
                <a:latin typeface="Candara" panose="020E0502030303020204" pitchFamily="34" charset="0"/>
                <a:ea typeface="Lato" panose="020F0502020204030203" pitchFamily="34" charset="0"/>
                <a:cs typeface="Lato" panose="020F0502020204030203" pitchFamily="34" charset="0"/>
              </a:rPr>
              <a:t>Estruturada, funcional e orientada a objetos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70849" y="3625878"/>
            <a:ext cx="4392422" cy="2571795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371475" y="6505878"/>
            <a:ext cx="6096000" cy="24622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pt-BR" sz="1000" dirty="0" err="1">
                <a:solidFill>
                  <a:srgbClr val="696969"/>
                </a:solidFill>
                <a:latin typeface="Candara" panose="020E0502030303020204" pitchFamily="34" charset="0"/>
              </a:rPr>
              <a:t>https</a:t>
            </a:r>
            <a:r>
              <a:rPr lang="pt-BR" sz="1000" dirty="0">
                <a:solidFill>
                  <a:srgbClr val="696969"/>
                </a:solidFill>
                <a:latin typeface="Candara" panose="020E0502030303020204" pitchFamily="34" charset="0"/>
              </a:rPr>
              <a:t>://</a:t>
            </a:r>
            <a:r>
              <a:rPr lang="pt-BR" sz="1000" dirty="0" err="1">
                <a:solidFill>
                  <a:srgbClr val="696969"/>
                </a:solidFill>
                <a:latin typeface="Candara" panose="020E0502030303020204" pitchFamily="34" charset="0"/>
              </a:rPr>
              <a:t>www.youtube.com</a:t>
            </a:r>
            <a:r>
              <a:rPr lang="pt-BR" sz="1000" dirty="0">
                <a:solidFill>
                  <a:srgbClr val="696969"/>
                </a:solidFill>
                <a:latin typeface="Candara" panose="020E0502030303020204" pitchFamily="34" charset="0"/>
              </a:rPr>
              <a:t>/</a:t>
            </a:r>
            <a:r>
              <a:rPr lang="pt-BR" sz="1000" dirty="0" err="1">
                <a:solidFill>
                  <a:srgbClr val="696969"/>
                </a:solidFill>
                <a:latin typeface="Candara" panose="020E0502030303020204" pitchFamily="34" charset="0"/>
              </a:rPr>
              <a:t>watch?v</a:t>
            </a:r>
            <a:r>
              <a:rPr lang="pt-BR" sz="1000" dirty="0">
                <a:solidFill>
                  <a:srgbClr val="696969"/>
                </a:solidFill>
                <a:latin typeface="Candara" panose="020E0502030303020204" pitchFamily="34" charset="0"/>
              </a:rPr>
              <a:t>=VuKvR1J2LQE&amp;list=PLHz_AreHm4dlKP6QQCekuIPky1CiwmdI6&amp;index=3</a:t>
            </a:r>
          </a:p>
        </p:txBody>
      </p:sp>
      <p:sp>
        <p:nvSpPr>
          <p:cNvPr id="13" name="Rectangle 12"/>
          <p:cNvSpPr/>
          <p:nvPr/>
        </p:nvSpPr>
        <p:spPr>
          <a:xfrm rot="16200000">
            <a:off x="-2021984" y="4717094"/>
            <a:ext cx="3059113" cy="48610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6" name="Rectangle 15"/>
          <p:cNvSpPr/>
          <p:nvPr/>
        </p:nvSpPr>
        <p:spPr>
          <a:xfrm rot="16200000">
            <a:off x="-2021984" y="1654805"/>
            <a:ext cx="3059113" cy="486102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47A1EB-5142-CB48-AB43-FD63342FB24F}" type="slidenum">
              <a:rPr lang="en-US">
                <a:ea typeface="Lato" panose="020F0502020204030203" pitchFamily="34" charset="0"/>
                <a:cs typeface="Lato" panose="020F0502020204030203" pitchFamily="34" charset="0"/>
              </a:rPr>
              <a:t>3</a:t>
            </a:fld>
            <a:endParaRPr lang="en-US" dirty="0"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371475" y="272038"/>
            <a:ext cx="11449050" cy="58477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pt-BR" sz="3200" b="1" dirty="0">
                <a:solidFill>
                  <a:srgbClr val="0C509E"/>
                </a:solidFill>
                <a:latin typeface="PT Sans" panose="020B0503020203020204" pitchFamily="34" charset="77"/>
                <a:cs typeface="Helvetica LT Std" panose="020B0504020202020204" charset="0"/>
              </a:rPr>
              <a:t>Ferramentas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-3115" y="6782724"/>
            <a:ext cx="12194763" cy="75278"/>
          </a:xfrm>
          <a:prstGeom prst="rect">
            <a:avLst/>
          </a:prstGeom>
          <a:solidFill>
            <a:srgbClr val="0C509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195"/>
          </a:p>
        </p:txBody>
      </p:sp>
      <p:sp>
        <p:nvSpPr>
          <p:cNvPr id="7" name="Rectangle 6"/>
          <p:cNvSpPr/>
          <p:nvPr/>
        </p:nvSpPr>
        <p:spPr>
          <a:xfrm>
            <a:off x="371474" y="7101815"/>
            <a:ext cx="5726113" cy="48610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1" name="Rectangle 10"/>
          <p:cNvSpPr/>
          <p:nvPr/>
        </p:nvSpPr>
        <p:spPr>
          <a:xfrm>
            <a:off x="6104004" y="7101814"/>
            <a:ext cx="5726113" cy="486102"/>
          </a:xfrm>
          <a:prstGeom prst="rect">
            <a:avLst/>
          </a:prstGeom>
          <a:solidFill>
            <a:srgbClr val="FFD7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9" name="TextBox 8"/>
          <p:cNvSpPr txBox="1"/>
          <p:nvPr/>
        </p:nvSpPr>
        <p:spPr>
          <a:xfrm>
            <a:off x="371475" y="1042909"/>
            <a:ext cx="10152455" cy="4199611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80604020202020204" pitchFamily="34" charset="0"/>
              <a:buChar char="•"/>
            </a:pPr>
            <a:r>
              <a:rPr lang="pt-BR" sz="2000" dirty="0">
                <a:solidFill>
                  <a:srgbClr val="696969"/>
                </a:solidFill>
                <a:latin typeface="Candara" panose="020E0502030303020204" pitchFamily="34" charset="0"/>
                <a:ea typeface="Lato" panose="020F0502020204030203" pitchFamily="34" charset="0"/>
                <a:cs typeface="Lato" panose="020F0502020204030203" pitchFamily="34" charset="0"/>
              </a:rPr>
              <a:t>Python (&gt;= 3.6)</a:t>
            </a:r>
          </a:p>
          <a:p>
            <a:pPr marL="342900" indent="-342900">
              <a:lnSpc>
                <a:spcPct val="150000"/>
              </a:lnSpc>
              <a:buFont typeface="Arial" panose="02080604020202020204" pitchFamily="34" charset="0"/>
              <a:buChar char="•"/>
            </a:pPr>
            <a:r>
              <a:rPr lang="pt-BR" sz="2000" dirty="0" err="1">
                <a:solidFill>
                  <a:srgbClr val="696969"/>
                </a:solidFill>
                <a:latin typeface="Candara" panose="020E0502030303020204" pitchFamily="34" charset="0"/>
                <a:ea typeface="Lato" panose="020F0502020204030203" pitchFamily="34" charset="0"/>
                <a:cs typeface="Lato" panose="020F0502020204030203" pitchFamily="34" charset="0"/>
              </a:rPr>
              <a:t>Pip</a:t>
            </a:r>
            <a:r>
              <a:rPr lang="pt-BR" sz="2000" dirty="0">
                <a:solidFill>
                  <a:srgbClr val="696969"/>
                </a:solidFill>
                <a:latin typeface="Candara" panose="020E0502030303020204" pitchFamily="34" charset="0"/>
                <a:ea typeface="Lato" panose="020F0502020204030203" pitchFamily="34" charset="0"/>
                <a:cs typeface="Lato" panose="020F0502020204030203" pitchFamily="34" charset="0"/>
              </a:rPr>
              <a:t> (usado para a instalação de pacotes </a:t>
            </a:r>
            <a:r>
              <a:rPr lang="pt-BR" sz="2000" dirty="0" err="1">
                <a:solidFill>
                  <a:srgbClr val="696969"/>
                </a:solidFill>
                <a:latin typeface="Candara" panose="020E0502030303020204" pitchFamily="34" charset="0"/>
                <a:ea typeface="Lato" panose="020F0502020204030203" pitchFamily="34" charset="0"/>
                <a:cs typeface="Lato" panose="020F0502020204030203" pitchFamily="34" charset="0"/>
              </a:rPr>
              <a:t>python</a:t>
            </a:r>
            <a:r>
              <a:rPr lang="pt-BR" sz="2000" dirty="0">
                <a:solidFill>
                  <a:srgbClr val="696969"/>
                </a:solidFill>
                <a:latin typeface="Candara" panose="020E0502030303020204" pitchFamily="34" charset="0"/>
                <a:ea typeface="Lato" panose="020F0502020204030203" pitchFamily="34" charset="0"/>
                <a:cs typeface="Lato" panose="020F0502020204030203" pitchFamily="34" charset="0"/>
              </a:rPr>
              <a:t>)</a:t>
            </a:r>
          </a:p>
          <a:p>
            <a:pPr marL="342900" indent="-342900">
              <a:lnSpc>
                <a:spcPct val="150000"/>
              </a:lnSpc>
              <a:buFont typeface="Arial" panose="02080604020202020204" pitchFamily="34" charset="0"/>
              <a:buChar char="•"/>
            </a:pPr>
            <a:r>
              <a:rPr lang="pt-BR" sz="2000" dirty="0" err="1">
                <a:solidFill>
                  <a:srgbClr val="696969"/>
                </a:solidFill>
                <a:latin typeface="Candara" panose="020E0502030303020204" pitchFamily="34" charset="0"/>
                <a:ea typeface="Lato" panose="020F0502020204030203" pitchFamily="34" charset="0"/>
                <a:cs typeface="Lato" panose="020F0502020204030203" pitchFamily="34" charset="0"/>
              </a:rPr>
              <a:t>virtualenv</a:t>
            </a:r>
            <a:r>
              <a:rPr lang="pt-BR" sz="2000" dirty="0">
                <a:solidFill>
                  <a:srgbClr val="696969"/>
                </a:solidFill>
                <a:latin typeface="Candara" panose="020E0502030303020204" pitchFamily="34" charset="0"/>
                <a:ea typeface="Lato" panose="020F0502020204030203" pitchFamily="34" charset="0"/>
                <a:cs typeface="Lato" panose="020F0502020204030203" pitchFamily="34" charset="0"/>
              </a:rPr>
              <a:t> (usado para a criação de ambientes virtuais)</a:t>
            </a:r>
          </a:p>
          <a:p>
            <a:pPr marL="342900" indent="-342900">
              <a:lnSpc>
                <a:spcPct val="150000"/>
              </a:lnSpc>
              <a:buFont typeface="Arial" panose="02080604020202020204" pitchFamily="34" charset="0"/>
              <a:buChar char="•"/>
            </a:pPr>
            <a:r>
              <a:rPr lang="pt-BR" sz="2000" dirty="0" err="1">
                <a:solidFill>
                  <a:srgbClr val="696969"/>
                </a:solidFill>
                <a:latin typeface="Candara" panose="020E0502030303020204" pitchFamily="34" charset="0"/>
                <a:ea typeface="Lato" panose="020F0502020204030203" pitchFamily="34" charset="0"/>
                <a:cs typeface="Lato" panose="020F0502020204030203" pitchFamily="34" charset="0"/>
              </a:rPr>
              <a:t>ipython</a:t>
            </a:r>
            <a:r>
              <a:rPr lang="pt-BR" sz="2000" dirty="0">
                <a:solidFill>
                  <a:srgbClr val="696969"/>
                </a:solidFill>
                <a:latin typeface="Candara" panose="020E0502030303020204" pitchFamily="34" charset="0"/>
                <a:ea typeface="Lato" panose="020F0502020204030203" pitchFamily="34" charset="0"/>
                <a:cs typeface="Lato" panose="020F0502020204030203" pitchFamily="34" charset="0"/>
              </a:rPr>
              <a:t> (terminal interativo Python aprimorado)</a:t>
            </a:r>
          </a:p>
          <a:p>
            <a:pPr marL="342900" indent="-342900">
              <a:lnSpc>
                <a:spcPct val="150000"/>
              </a:lnSpc>
              <a:buFont typeface="Arial" panose="02080604020202020204" pitchFamily="34" charset="0"/>
              <a:buChar char="•"/>
            </a:pPr>
            <a:r>
              <a:rPr lang="pt-BR" sz="2000" dirty="0" err="1">
                <a:solidFill>
                  <a:srgbClr val="696969"/>
                </a:solidFill>
                <a:latin typeface="Candara" panose="020E0502030303020204" pitchFamily="34" charset="0"/>
                <a:ea typeface="Lato" panose="020F0502020204030203" pitchFamily="34" charset="0"/>
                <a:cs typeface="Lato" panose="020F0502020204030203" pitchFamily="34" charset="0"/>
              </a:rPr>
              <a:t>Jupyter</a:t>
            </a:r>
            <a:r>
              <a:rPr lang="pt-BR" sz="2000" dirty="0">
                <a:solidFill>
                  <a:srgbClr val="696969"/>
                </a:solidFill>
                <a:latin typeface="Candara" panose="020E0502030303020204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pt-BR" sz="2000" dirty="0" err="1">
                <a:solidFill>
                  <a:srgbClr val="696969"/>
                </a:solidFill>
                <a:latin typeface="Candara" panose="020E0502030303020204" pitchFamily="34" charset="0"/>
                <a:ea typeface="Lato" panose="020F0502020204030203" pitchFamily="34" charset="0"/>
                <a:cs typeface="Lato" panose="020F0502020204030203" pitchFamily="34" charset="0"/>
              </a:rPr>
              <a:t>lab</a:t>
            </a:r>
            <a:r>
              <a:rPr lang="pt-BR" sz="2000" dirty="0">
                <a:solidFill>
                  <a:srgbClr val="696969"/>
                </a:solidFill>
                <a:latin typeface="Candara" panose="020E0502030303020204" pitchFamily="34" charset="0"/>
                <a:ea typeface="Lato" panose="020F0502020204030203" pitchFamily="34" charset="0"/>
                <a:cs typeface="Lato" panose="020F0502020204030203" pitchFamily="34" charset="0"/>
              </a:rPr>
              <a:t> (antigo </a:t>
            </a:r>
            <a:r>
              <a:rPr lang="pt-BR" sz="2000" dirty="0" err="1">
                <a:solidFill>
                  <a:srgbClr val="696969"/>
                </a:solidFill>
                <a:latin typeface="Candara" panose="020E0502030303020204" pitchFamily="34" charset="0"/>
                <a:ea typeface="Lato" panose="020F0502020204030203" pitchFamily="34" charset="0"/>
                <a:cs typeface="Lato" panose="020F0502020204030203" pitchFamily="34" charset="0"/>
              </a:rPr>
              <a:t>Jupyter</a:t>
            </a:r>
            <a:r>
              <a:rPr lang="pt-BR" sz="2000" dirty="0">
                <a:solidFill>
                  <a:srgbClr val="696969"/>
                </a:solidFill>
                <a:latin typeface="Candara" panose="020E0502030303020204" pitchFamily="34" charset="0"/>
                <a:ea typeface="Lato" panose="020F0502020204030203" pitchFamily="34" charset="0"/>
                <a:cs typeface="Lato" panose="020F0502020204030203" pitchFamily="34" charset="0"/>
              </a:rPr>
              <a:t> notebook)</a:t>
            </a:r>
          </a:p>
          <a:p>
            <a:pPr marL="342900" indent="-342900">
              <a:lnSpc>
                <a:spcPct val="150000"/>
              </a:lnSpc>
              <a:buFont typeface="Arial" panose="02080604020202020204" pitchFamily="34" charset="0"/>
              <a:buChar char="•"/>
            </a:pPr>
            <a:r>
              <a:rPr lang="pt-BR" sz="2000" dirty="0">
                <a:solidFill>
                  <a:srgbClr val="696969"/>
                </a:solidFill>
                <a:latin typeface="Candara" panose="020E0502030303020204" pitchFamily="34" charset="0"/>
                <a:ea typeface="Lato" panose="020F0502020204030203" pitchFamily="34" charset="0"/>
                <a:cs typeface="Lato" panose="020F0502020204030203" pitchFamily="34" charset="0"/>
              </a:rPr>
              <a:t>Google </a:t>
            </a:r>
            <a:r>
              <a:rPr lang="pt-BR" sz="2000" dirty="0" err="1">
                <a:solidFill>
                  <a:srgbClr val="696969"/>
                </a:solidFill>
                <a:latin typeface="Candara" panose="020E0502030303020204" pitchFamily="34" charset="0"/>
                <a:ea typeface="Lato" panose="020F0502020204030203" pitchFamily="34" charset="0"/>
                <a:cs typeface="Lato" panose="020F0502020204030203" pitchFamily="34" charset="0"/>
              </a:rPr>
              <a:t>colab</a:t>
            </a:r>
            <a:endParaRPr lang="pt-BR" sz="2000" dirty="0">
              <a:solidFill>
                <a:srgbClr val="696969"/>
              </a:solidFill>
              <a:latin typeface="Candara" panose="020E0502030303020204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  <a:p>
            <a:pPr marL="342900" indent="-342900">
              <a:lnSpc>
                <a:spcPct val="150000"/>
              </a:lnSpc>
              <a:buFont typeface="Arial" panose="02080604020202020204" pitchFamily="34" charset="0"/>
              <a:buChar char="•"/>
            </a:pPr>
            <a:r>
              <a:rPr lang="pt-BR" sz="2000" dirty="0">
                <a:solidFill>
                  <a:srgbClr val="696969"/>
                </a:solidFill>
                <a:latin typeface="Candara" panose="020E0502030303020204" pitchFamily="34" charset="0"/>
                <a:ea typeface="Lato" panose="020F0502020204030203" pitchFamily="34" charset="0"/>
                <a:cs typeface="Lato" panose="020F0502020204030203" pitchFamily="34" charset="0"/>
              </a:rPr>
              <a:t>Bibliotecas </a:t>
            </a:r>
            <a:r>
              <a:rPr lang="pt-BR" sz="2000" dirty="0" err="1">
                <a:solidFill>
                  <a:srgbClr val="696969"/>
                </a:solidFill>
                <a:latin typeface="Candara" panose="020E0502030303020204" pitchFamily="34" charset="0"/>
                <a:ea typeface="Lato" panose="020F0502020204030203" pitchFamily="34" charset="0"/>
                <a:cs typeface="Lato" panose="020F0502020204030203" pitchFamily="34" charset="0"/>
              </a:rPr>
              <a:t>python</a:t>
            </a:r>
            <a:endParaRPr lang="pt-BR" sz="2000" dirty="0">
              <a:solidFill>
                <a:srgbClr val="696969"/>
              </a:solidFill>
              <a:latin typeface="Candara" panose="020E0502030303020204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  <a:p>
            <a:pPr marL="951865" lvl="1" indent="-342900">
              <a:lnSpc>
                <a:spcPct val="150000"/>
              </a:lnSpc>
              <a:buFont typeface="Arial" panose="02080604020202020204" pitchFamily="34" charset="0"/>
              <a:buChar char="•"/>
            </a:pPr>
            <a:r>
              <a:rPr lang="pt-BR" sz="2000" dirty="0" err="1">
                <a:solidFill>
                  <a:srgbClr val="696969"/>
                </a:solidFill>
                <a:latin typeface="Candara" panose="020E0502030303020204" pitchFamily="34" charset="0"/>
                <a:ea typeface="Lato" panose="020F0502020204030203" pitchFamily="34" charset="0"/>
                <a:cs typeface="Lato" panose="020F0502020204030203" pitchFamily="34" charset="0"/>
              </a:rPr>
              <a:t>numpy</a:t>
            </a:r>
            <a:r>
              <a:rPr lang="pt-BR" sz="2000" dirty="0">
                <a:solidFill>
                  <a:srgbClr val="696969"/>
                </a:solidFill>
                <a:latin typeface="Candara" panose="020E0502030303020204" pitchFamily="34" charset="0"/>
                <a:ea typeface="Lato" panose="020F0502020204030203" pitchFamily="34" charset="0"/>
                <a:cs typeface="Lato" panose="020F0502020204030203" pitchFamily="34" charset="0"/>
              </a:rPr>
              <a:t>, pandas, </a:t>
            </a:r>
            <a:r>
              <a:rPr lang="pt-BR" sz="2000" dirty="0" err="1">
                <a:solidFill>
                  <a:srgbClr val="696969"/>
                </a:solidFill>
                <a:latin typeface="Candara" panose="020E0502030303020204" pitchFamily="34" charset="0"/>
                <a:ea typeface="Lato" panose="020F0502020204030203" pitchFamily="34" charset="0"/>
                <a:cs typeface="Lato" panose="020F0502020204030203" pitchFamily="34" charset="0"/>
              </a:rPr>
              <a:t>scikit-learn</a:t>
            </a:r>
            <a:endParaRPr lang="pt-BR" sz="2000" dirty="0">
              <a:solidFill>
                <a:srgbClr val="696969"/>
              </a:solidFill>
              <a:latin typeface="Candara" panose="020E0502030303020204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  <a:p>
            <a:pPr marL="951865" lvl="1" indent="-342900">
              <a:lnSpc>
                <a:spcPct val="150000"/>
              </a:lnSpc>
              <a:buFont typeface="Arial" panose="02080604020202020204" pitchFamily="34" charset="0"/>
              <a:buChar char="•"/>
            </a:pPr>
            <a:r>
              <a:rPr lang="pt-BR" sz="2000" dirty="0" err="1">
                <a:solidFill>
                  <a:srgbClr val="696969"/>
                </a:solidFill>
                <a:latin typeface="Candara" panose="020E0502030303020204" pitchFamily="34" charset="0"/>
                <a:ea typeface="Lato" panose="020F0502020204030203" pitchFamily="34" charset="0"/>
                <a:cs typeface="Lato" panose="020F0502020204030203" pitchFamily="34" charset="0"/>
              </a:rPr>
              <a:t>matplotlib</a:t>
            </a:r>
            <a:r>
              <a:rPr lang="pt-BR" sz="2000" dirty="0">
                <a:solidFill>
                  <a:srgbClr val="696969"/>
                </a:solidFill>
                <a:latin typeface="Candara" panose="020E0502030303020204" pitchFamily="34" charset="0"/>
                <a:ea typeface="Lato" panose="020F0502020204030203" pitchFamily="34" charset="0"/>
                <a:cs typeface="Lato" panose="020F0502020204030203" pitchFamily="34" charset="0"/>
              </a:rPr>
              <a:t>, </a:t>
            </a:r>
            <a:r>
              <a:rPr lang="pt-BR" sz="2000" dirty="0" err="1">
                <a:solidFill>
                  <a:srgbClr val="696969"/>
                </a:solidFill>
                <a:latin typeface="Candara" panose="020E0502030303020204" pitchFamily="34" charset="0"/>
                <a:ea typeface="Lato" panose="020F0502020204030203" pitchFamily="34" charset="0"/>
                <a:cs typeface="Lato" panose="020F0502020204030203" pitchFamily="34" charset="0"/>
              </a:rPr>
              <a:t>seaborn</a:t>
            </a:r>
            <a:r>
              <a:rPr lang="pt-BR" sz="2000" dirty="0">
                <a:solidFill>
                  <a:srgbClr val="696969"/>
                </a:solidFill>
                <a:latin typeface="Candara" panose="020E0502030303020204" pitchFamily="34" charset="0"/>
                <a:ea typeface="Lato" panose="020F0502020204030203" pitchFamily="34" charset="0"/>
                <a:cs typeface="Lato" panose="020F0502020204030203" pitchFamily="34" charset="0"/>
              </a:rPr>
              <a:t>, </a:t>
            </a:r>
            <a:r>
              <a:rPr lang="pt-BR" sz="2000" dirty="0" err="1">
                <a:solidFill>
                  <a:srgbClr val="696969"/>
                </a:solidFill>
                <a:latin typeface="Candara" panose="020E0502030303020204" pitchFamily="34" charset="0"/>
                <a:ea typeface="Lato" panose="020F0502020204030203" pitchFamily="34" charset="0"/>
                <a:cs typeface="Lato" panose="020F0502020204030203" pitchFamily="34" charset="0"/>
              </a:rPr>
              <a:t>plotly</a:t>
            </a:r>
            <a:endParaRPr lang="pt-BR" sz="2000" dirty="0">
              <a:solidFill>
                <a:srgbClr val="696969"/>
              </a:solidFill>
              <a:latin typeface="Candara" panose="020E0502030303020204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13" name="Rectangle 12"/>
          <p:cNvSpPr/>
          <p:nvPr/>
        </p:nvSpPr>
        <p:spPr>
          <a:xfrm rot="16200000">
            <a:off x="-2021984" y="4717094"/>
            <a:ext cx="3059113" cy="48610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6" name="Rectangle 15"/>
          <p:cNvSpPr/>
          <p:nvPr/>
        </p:nvSpPr>
        <p:spPr>
          <a:xfrm rot="16200000">
            <a:off x="-2021984" y="1654805"/>
            <a:ext cx="3059113" cy="486102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47A1EB-5142-CB48-AB43-FD63342FB24F}" type="slidenum">
              <a:rPr lang="en-US">
                <a:ea typeface="Lato" panose="020F0502020204030203" pitchFamily="34" charset="0"/>
                <a:cs typeface="Lato" panose="020F0502020204030203" pitchFamily="34" charset="0"/>
              </a:rPr>
              <a:t>4</a:t>
            </a:fld>
            <a:endParaRPr lang="en-US" dirty="0"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371475" y="272038"/>
            <a:ext cx="11449050" cy="58477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pt-BR" sz="3200" b="1" dirty="0">
                <a:solidFill>
                  <a:srgbClr val="0C509E"/>
                </a:solidFill>
                <a:latin typeface="PT Sans" panose="020B0503020203020204" pitchFamily="34" charset="77"/>
                <a:cs typeface="Helvetica LT Std" panose="020B0504020202020204" charset="0"/>
              </a:rPr>
              <a:t>Instalação</a:t>
            </a:r>
          </a:p>
        </p:txBody>
      </p:sp>
      <p:sp>
        <p:nvSpPr>
          <p:cNvPr id="15" name="Rectangle 14"/>
          <p:cNvSpPr/>
          <p:nvPr/>
        </p:nvSpPr>
        <p:spPr>
          <a:xfrm>
            <a:off x="-3115" y="6782724"/>
            <a:ext cx="12194763" cy="75278"/>
          </a:xfrm>
          <a:prstGeom prst="rect">
            <a:avLst/>
          </a:prstGeom>
          <a:solidFill>
            <a:srgbClr val="0C509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195"/>
          </a:p>
        </p:txBody>
      </p:sp>
      <p:sp>
        <p:nvSpPr>
          <p:cNvPr id="7" name="Rectangle 6"/>
          <p:cNvSpPr/>
          <p:nvPr/>
        </p:nvSpPr>
        <p:spPr>
          <a:xfrm>
            <a:off x="371474" y="7101815"/>
            <a:ext cx="5726113" cy="48610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1" name="Rectangle 10"/>
          <p:cNvSpPr/>
          <p:nvPr/>
        </p:nvSpPr>
        <p:spPr>
          <a:xfrm>
            <a:off x="6104004" y="7101814"/>
            <a:ext cx="5726113" cy="486102"/>
          </a:xfrm>
          <a:prstGeom prst="rect">
            <a:avLst/>
          </a:prstGeom>
          <a:solidFill>
            <a:srgbClr val="FFD7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9" name="TextBox 8"/>
          <p:cNvSpPr txBox="1"/>
          <p:nvPr/>
        </p:nvSpPr>
        <p:spPr>
          <a:xfrm>
            <a:off x="371475" y="1042909"/>
            <a:ext cx="10152455" cy="1028358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80604020202020204" pitchFamily="34" charset="0"/>
              <a:buChar char="•"/>
            </a:pPr>
            <a:r>
              <a:rPr lang="pt-BR" sz="1400" dirty="0">
                <a:solidFill>
                  <a:srgbClr val="696969"/>
                </a:solidFill>
                <a:latin typeface="Candara" panose="020E0502030303020204" pitchFamily="34" charset="0"/>
                <a:ea typeface="Lato" panose="020F0502020204030203" pitchFamily="34" charset="0"/>
                <a:cs typeface="Lato" panose="020F0502020204030203" pitchFamily="34" charset="0"/>
              </a:rPr>
              <a:t>Python: </a:t>
            </a:r>
            <a:r>
              <a:rPr lang="pt-BR" sz="1400" dirty="0">
                <a:solidFill>
                  <a:srgbClr val="696969"/>
                </a:solidFill>
                <a:latin typeface="Candara" panose="020E0502030303020204" pitchFamily="34" charset="0"/>
                <a:ea typeface="Lato" panose="020F0502020204030203" pitchFamily="34" charset="0"/>
                <a:cs typeface="Lato" panose="020F0502020204030203" pitchFamily="34" charset="0"/>
                <a:hlinkClick r:id="rId2"/>
              </a:rPr>
              <a:t>https://www.youtube.com/watch?v=VuKvR1J2LQE</a:t>
            </a:r>
            <a:endParaRPr lang="pt-BR" sz="1400" dirty="0">
              <a:solidFill>
                <a:srgbClr val="696969"/>
              </a:solidFill>
              <a:latin typeface="Candara" panose="020E0502030303020204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  <a:p>
            <a:pPr marL="342900" indent="-342900">
              <a:lnSpc>
                <a:spcPct val="150000"/>
              </a:lnSpc>
              <a:buFont typeface="Arial" panose="02080604020202020204" pitchFamily="34" charset="0"/>
              <a:buChar char="•"/>
            </a:pPr>
            <a:r>
              <a:rPr lang="pt-BR" sz="1400" dirty="0" err="1">
                <a:solidFill>
                  <a:srgbClr val="696969"/>
                </a:solidFill>
                <a:latin typeface="Candara" panose="020E0502030303020204" pitchFamily="34" charset="0"/>
                <a:ea typeface="Lato" panose="020F0502020204030203" pitchFamily="34" charset="0"/>
                <a:cs typeface="Lato" panose="020F0502020204030203" pitchFamily="34" charset="0"/>
              </a:rPr>
              <a:t>Pip</a:t>
            </a:r>
            <a:r>
              <a:rPr lang="pt-BR" sz="1400" dirty="0">
                <a:solidFill>
                  <a:srgbClr val="696969"/>
                </a:solidFill>
                <a:latin typeface="Candara" panose="020E0502030303020204" pitchFamily="34" charset="0"/>
                <a:ea typeface="Lato" panose="020F0502020204030203" pitchFamily="34" charset="0"/>
                <a:cs typeface="Lato" panose="020F0502020204030203" pitchFamily="34" charset="0"/>
              </a:rPr>
              <a:t>: </a:t>
            </a:r>
            <a:r>
              <a:rPr lang="pt-BR" sz="1400" dirty="0">
                <a:solidFill>
                  <a:srgbClr val="696969"/>
                </a:solidFill>
                <a:latin typeface="Candara" panose="020E0502030303020204" pitchFamily="34" charset="0"/>
                <a:ea typeface="Lato" panose="020F0502020204030203" pitchFamily="34" charset="0"/>
                <a:cs typeface="Lato" panose="020F0502020204030203" pitchFamily="34" charset="0"/>
                <a:hlinkClick r:id="rId3"/>
              </a:rPr>
              <a:t>https://pip.pypa.io/en/stable/installing/</a:t>
            </a:r>
            <a:endParaRPr lang="pt-BR" sz="1400" dirty="0">
              <a:solidFill>
                <a:srgbClr val="696969"/>
              </a:solidFill>
              <a:latin typeface="Candara" panose="020E0502030303020204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  <a:p>
            <a:pPr marL="342900" indent="-342900">
              <a:lnSpc>
                <a:spcPct val="150000"/>
              </a:lnSpc>
              <a:buFont typeface="Arial" panose="02080604020202020204" pitchFamily="34" charset="0"/>
              <a:buChar char="•"/>
            </a:pPr>
            <a:r>
              <a:rPr lang="pt-BR" sz="1400" dirty="0" err="1">
                <a:solidFill>
                  <a:srgbClr val="696969"/>
                </a:solidFill>
                <a:latin typeface="Candara" panose="020E0502030303020204" pitchFamily="34" charset="0"/>
                <a:ea typeface="Lato" panose="020F0502020204030203" pitchFamily="34" charset="0"/>
                <a:cs typeface="Lato" panose="020F0502020204030203" pitchFamily="34" charset="0"/>
              </a:rPr>
              <a:t>Virtualenv</a:t>
            </a:r>
            <a:r>
              <a:rPr lang="pt-BR" sz="1400" dirty="0">
                <a:solidFill>
                  <a:srgbClr val="696969"/>
                </a:solidFill>
                <a:latin typeface="Candara" panose="020E0502030303020204" pitchFamily="34" charset="0"/>
                <a:ea typeface="Lato" panose="020F0502020204030203" pitchFamily="34" charset="0"/>
                <a:cs typeface="Lato" panose="020F0502020204030203" pitchFamily="34" charset="0"/>
              </a:rPr>
              <a:t>: </a:t>
            </a:r>
            <a:r>
              <a:rPr lang="pt-BR" sz="1400" dirty="0">
                <a:solidFill>
                  <a:srgbClr val="696969"/>
                </a:solidFill>
                <a:latin typeface="Candara" panose="020E0502030303020204" pitchFamily="34" charset="0"/>
                <a:ea typeface="Lato" panose="020F0502020204030203" pitchFamily="34" charset="0"/>
                <a:cs typeface="Lato" panose="020F0502020204030203" pitchFamily="34" charset="0"/>
                <a:hlinkClick r:id="rId4"/>
              </a:rPr>
              <a:t>https://virtualenv.pypa.io/en/latest/installation.html</a:t>
            </a:r>
            <a:endParaRPr lang="pt-BR" sz="1400" dirty="0">
              <a:solidFill>
                <a:srgbClr val="696969"/>
              </a:solidFill>
              <a:latin typeface="Candara" panose="020E0502030303020204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13" name="Rectangle 12"/>
          <p:cNvSpPr/>
          <p:nvPr/>
        </p:nvSpPr>
        <p:spPr>
          <a:xfrm rot="16200000">
            <a:off x="-2021984" y="4717094"/>
            <a:ext cx="3059113" cy="48610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6" name="Rectangle 15"/>
          <p:cNvSpPr/>
          <p:nvPr/>
        </p:nvSpPr>
        <p:spPr>
          <a:xfrm rot="16200000">
            <a:off x="-2021984" y="1654805"/>
            <a:ext cx="3059113" cy="486102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47A1EB-5142-CB48-AB43-FD63342FB24F}" type="slidenum">
              <a:rPr lang="en-US">
                <a:ea typeface="Lato" panose="020F0502020204030203" pitchFamily="34" charset="0"/>
                <a:cs typeface="Lato" panose="020F0502020204030203" pitchFamily="34" charset="0"/>
              </a:rPr>
              <a:t>5</a:t>
            </a:fld>
            <a:endParaRPr lang="en-US" dirty="0"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371475" y="272038"/>
            <a:ext cx="11449050" cy="58477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pt-BR" sz="3200" b="1" dirty="0">
                <a:solidFill>
                  <a:srgbClr val="0C509E"/>
                </a:solidFill>
                <a:latin typeface="PT Sans" panose="020B0503020203020204" pitchFamily="34" charset="77"/>
                <a:cs typeface="Helvetica LT Std" panose="020B0504020202020204" charset="0"/>
              </a:rPr>
              <a:t>Preparando o ambiente de desenvolvimento</a:t>
            </a:r>
          </a:p>
        </p:txBody>
      </p:sp>
      <p:sp>
        <p:nvSpPr>
          <p:cNvPr id="15" name="Rectangle 14"/>
          <p:cNvSpPr/>
          <p:nvPr/>
        </p:nvSpPr>
        <p:spPr>
          <a:xfrm>
            <a:off x="-3115" y="6782724"/>
            <a:ext cx="12194763" cy="75278"/>
          </a:xfrm>
          <a:prstGeom prst="rect">
            <a:avLst/>
          </a:prstGeom>
          <a:solidFill>
            <a:srgbClr val="0C509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195"/>
          </a:p>
        </p:txBody>
      </p:sp>
      <p:sp>
        <p:nvSpPr>
          <p:cNvPr id="7" name="Rectangle 6"/>
          <p:cNvSpPr/>
          <p:nvPr/>
        </p:nvSpPr>
        <p:spPr>
          <a:xfrm>
            <a:off x="371474" y="7101815"/>
            <a:ext cx="5726113" cy="48610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1" name="Rectangle 10"/>
          <p:cNvSpPr/>
          <p:nvPr/>
        </p:nvSpPr>
        <p:spPr>
          <a:xfrm>
            <a:off x="6104004" y="7101814"/>
            <a:ext cx="5726113" cy="486102"/>
          </a:xfrm>
          <a:prstGeom prst="rect">
            <a:avLst/>
          </a:prstGeom>
          <a:solidFill>
            <a:srgbClr val="FFD7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9" name="TextBox 8"/>
          <p:cNvSpPr txBox="1"/>
          <p:nvPr/>
        </p:nvSpPr>
        <p:spPr>
          <a:xfrm>
            <a:off x="371475" y="1042909"/>
            <a:ext cx="10152455" cy="382028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pt-BR" sz="1400" dirty="0">
                <a:solidFill>
                  <a:srgbClr val="696969"/>
                </a:solidFill>
                <a:latin typeface="Candara" panose="020E0502030303020204" pitchFamily="34" charset="0"/>
                <a:ea typeface="Lato" panose="020F0502020204030203" pitchFamily="34" charset="0"/>
                <a:cs typeface="Lato" panose="020F0502020204030203" pitchFamily="34" charset="0"/>
              </a:rPr>
              <a:t>No terminal, abre o console interativo do </a:t>
            </a:r>
            <a:r>
              <a:rPr lang="pt-BR" sz="1400" dirty="0" err="1">
                <a:solidFill>
                  <a:srgbClr val="696969"/>
                </a:solidFill>
                <a:latin typeface="Candara" panose="020E0502030303020204" pitchFamily="34" charset="0"/>
                <a:ea typeface="Lato" panose="020F0502020204030203" pitchFamily="34" charset="0"/>
                <a:cs typeface="Lato" panose="020F0502020204030203" pitchFamily="34" charset="0"/>
              </a:rPr>
              <a:t>python</a:t>
            </a:r>
            <a:r>
              <a:rPr lang="pt-BR" sz="1400" dirty="0">
                <a:solidFill>
                  <a:srgbClr val="696969"/>
                </a:solidFill>
                <a:latin typeface="Candara" panose="020E0502030303020204" pitchFamily="34" charset="0"/>
                <a:ea typeface="Lato" panose="020F0502020204030203" pitchFamily="34" charset="0"/>
                <a:cs typeface="Lato" panose="020F0502020204030203" pitchFamily="34" charset="0"/>
              </a:rPr>
              <a:t> digitando: </a:t>
            </a:r>
            <a:r>
              <a:rPr lang="pt-BR" sz="1400" b="1" i="1" dirty="0" err="1">
                <a:latin typeface="Candara" panose="020E0502030303020204" pitchFamily="34" charset="0"/>
                <a:ea typeface="Lato" panose="020F0502020204030203" pitchFamily="34" charset="0"/>
                <a:cs typeface="Lato" panose="020F0502020204030203" pitchFamily="34" charset="0"/>
              </a:rPr>
              <a:t>python</a:t>
            </a:r>
            <a:endParaRPr lang="pt-BR" sz="1400" i="1" dirty="0">
              <a:latin typeface="Candara" panose="020E0502030303020204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13" name="Rectangle 12"/>
          <p:cNvSpPr/>
          <p:nvPr/>
        </p:nvSpPr>
        <p:spPr>
          <a:xfrm rot="16200000">
            <a:off x="-2021984" y="4717094"/>
            <a:ext cx="3059113" cy="48610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6" name="Rectangle 15"/>
          <p:cNvSpPr/>
          <p:nvPr/>
        </p:nvSpPr>
        <p:spPr>
          <a:xfrm rot="16200000">
            <a:off x="-2021984" y="1654805"/>
            <a:ext cx="3059113" cy="486102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2" name="TextBox 11"/>
          <p:cNvSpPr txBox="1"/>
          <p:nvPr/>
        </p:nvSpPr>
        <p:spPr>
          <a:xfrm>
            <a:off x="371475" y="2868680"/>
            <a:ext cx="10152455" cy="382028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pt-BR" sz="1400" dirty="0">
                <a:solidFill>
                  <a:srgbClr val="696969"/>
                </a:solidFill>
                <a:latin typeface="Candara" panose="020E0502030303020204" pitchFamily="34" charset="0"/>
                <a:ea typeface="Lato" panose="020F0502020204030203" pitchFamily="34" charset="0"/>
                <a:cs typeface="Lato" panose="020F0502020204030203" pitchFamily="34" charset="0"/>
              </a:rPr>
              <a:t>Pra sair, digite </a:t>
            </a:r>
            <a:r>
              <a:rPr lang="pt-BR" sz="1400" b="1" i="1" dirty="0" err="1">
                <a:latin typeface="Candara" panose="020E0502030303020204" pitchFamily="34" charset="0"/>
                <a:ea typeface="Lato" panose="020F0502020204030203" pitchFamily="34" charset="0"/>
                <a:cs typeface="Lato" panose="020F0502020204030203" pitchFamily="34" charset="0"/>
              </a:rPr>
              <a:t>quit</a:t>
            </a:r>
            <a:r>
              <a:rPr lang="pt-BR" sz="1400" b="1" i="1" dirty="0">
                <a:latin typeface="Candara" panose="020E0502030303020204" pitchFamily="34" charset="0"/>
                <a:ea typeface="Lato" panose="020F0502020204030203" pitchFamily="34" charset="0"/>
                <a:cs typeface="Lato" panose="020F0502020204030203" pitchFamily="34" charset="0"/>
              </a:rPr>
              <a:t>()</a:t>
            </a:r>
            <a:r>
              <a:rPr lang="pt-BR" sz="1400" dirty="0">
                <a:solidFill>
                  <a:srgbClr val="696969"/>
                </a:solidFill>
                <a:latin typeface="Candara" panose="020E0502030303020204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pt-BR" sz="1400" dirty="0" err="1">
                <a:solidFill>
                  <a:srgbClr val="696969"/>
                </a:solidFill>
                <a:latin typeface="Candara" panose="020E0502030303020204" pitchFamily="34" charset="0"/>
                <a:ea typeface="Lato" panose="020F0502020204030203" pitchFamily="34" charset="0"/>
                <a:cs typeface="Lato" panose="020F0502020204030203" pitchFamily="34" charset="0"/>
              </a:rPr>
              <a:t>or</a:t>
            </a:r>
            <a:r>
              <a:rPr lang="pt-BR" sz="1400" dirty="0">
                <a:solidFill>
                  <a:srgbClr val="696969"/>
                </a:solidFill>
                <a:latin typeface="Candara" panose="020E0502030303020204" pitchFamily="34" charset="0"/>
                <a:ea typeface="Lato" panose="020F0502020204030203" pitchFamily="34" charset="0"/>
                <a:cs typeface="Lato" panose="020F0502020204030203" pitchFamily="34" charset="0"/>
              </a:rPr>
              <a:t> tecle</a:t>
            </a:r>
            <a:r>
              <a:rPr lang="pt-BR" sz="1400" b="1" dirty="0">
                <a:solidFill>
                  <a:srgbClr val="696969"/>
                </a:solidFill>
                <a:latin typeface="Candara" panose="020E0502030303020204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pt-BR" sz="1400" b="1" i="1" dirty="0" err="1">
                <a:latin typeface="Candara" panose="020E0502030303020204" pitchFamily="34" charset="0"/>
                <a:ea typeface="Lato" panose="020F0502020204030203" pitchFamily="34" charset="0"/>
                <a:cs typeface="Lato" panose="020F0502020204030203" pitchFamily="34" charset="0"/>
              </a:rPr>
              <a:t>ctrl+D</a:t>
            </a:r>
            <a:endParaRPr lang="pt-BR" sz="1400" i="1" dirty="0">
              <a:latin typeface="Candara" panose="020E0502030303020204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371474" y="3628754"/>
            <a:ext cx="10152455" cy="382028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pt-BR" sz="1400" dirty="0">
                <a:solidFill>
                  <a:srgbClr val="696969"/>
                </a:solidFill>
                <a:latin typeface="Candara" panose="020E0502030303020204" pitchFamily="34" charset="0"/>
                <a:ea typeface="Lato" panose="020F0502020204030203" pitchFamily="34" charset="0"/>
                <a:cs typeface="Lato" panose="020F0502020204030203" pitchFamily="34" charset="0"/>
              </a:rPr>
              <a:t>No terminal, digite: </a:t>
            </a:r>
            <a:r>
              <a:rPr lang="pt-BR" sz="1400" b="1" i="1" dirty="0" err="1">
                <a:latin typeface="Candara" panose="020E0502030303020204" pitchFamily="34" charset="0"/>
                <a:ea typeface="Lato" panose="020F0502020204030203" pitchFamily="34" charset="0"/>
                <a:cs typeface="Lato" panose="020F0502020204030203" pitchFamily="34" charset="0"/>
              </a:rPr>
              <a:t>pip</a:t>
            </a:r>
            <a:r>
              <a:rPr lang="pt-BR" sz="1400" b="1" i="1" dirty="0">
                <a:latin typeface="Candara" panose="020E0502030303020204" pitchFamily="34" charset="0"/>
                <a:ea typeface="Lato" panose="020F0502020204030203" pitchFamily="34" charset="0"/>
                <a:cs typeface="Lato" panose="020F0502020204030203" pitchFamily="34" charset="0"/>
              </a:rPr>
              <a:t> --</a:t>
            </a:r>
            <a:r>
              <a:rPr lang="pt-BR" sz="1400" b="1" i="1" dirty="0" err="1">
                <a:latin typeface="Candara" panose="020E0502030303020204" pitchFamily="34" charset="0"/>
                <a:ea typeface="Lato" panose="020F0502020204030203" pitchFamily="34" charset="0"/>
                <a:cs typeface="Lato" panose="020F0502020204030203" pitchFamily="34" charset="0"/>
              </a:rPr>
              <a:t>version</a:t>
            </a:r>
            <a:endParaRPr lang="pt-BR" sz="1400" i="1" dirty="0">
              <a:latin typeface="Candara" panose="020E0502030303020204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56E73B08-AB51-7115-50CE-DB7418FB6F4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863" y="1625879"/>
            <a:ext cx="10720973" cy="925486"/>
          </a:xfrm>
          <a:prstGeom prst="rect">
            <a:avLst/>
          </a:prstGeom>
        </p:spPr>
      </p:pic>
      <p:pic>
        <p:nvPicPr>
          <p:cNvPr id="10" name="Imagem 9">
            <a:extLst>
              <a:ext uri="{FF2B5EF4-FFF2-40B4-BE49-F238E27FC236}">
                <a16:creationId xmlns:a16="http://schemas.microsoft.com/office/drawing/2014/main" id="{6966DA2A-D59C-3664-C654-BCDC3BDE4B5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863" y="4096236"/>
            <a:ext cx="6058425" cy="441998"/>
          </a:xfrm>
          <a:prstGeom prst="rect">
            <a:avLst/>
          </a:prstGeom>
        </p:spPr>
      </p:pic>
      <p:sp>
        <p:nvSpPr>
          <p:cNvPr id="18" name="CaixaDeTexto 17">
            <a:extLst>
              <a:ext uri="{FF2B5EF4-FFF2-40B4-BE49-F238E27FC236}">
                <a16:creationId xmlns:a16="http://schemas.microsoft.com/office/drawing/2014/main" id="{36F32DCC-8029-3674-1E0B-FBFE8310492B}"/>
              </a:ext>
            </a:extLst>
          </p:cNvPr>
          <p:cNvSpPr txBox="1"/>
          <p:nvPr/>
        </p:nvSpPr>
        <p:spPr>
          <a:xfrm>
            <a:off x="2817479" y="4977471"/>
            <a:ext cx="6553574" cy="954107"/>
          </a:xfrm>
          <a:prstGeom prst="rect">
            <a:avLst/>
          </a:prstGeom>
          <a:noFill/>
          <a:ln>
            <a:solidFill>
              <a:srgbClr val="ED7D31"/>
            </a:solidFill>
          </a:ln>
        </p:spPr>
        <p:txBody>
          <a:bodyPr wrap="square" rtlCol="0">
            <a:spAutoFit/>
          </a:bodyPr>
          <a:lstStyle/>
          <a:p>
            <a:r>
              <a:rPr lang="pt-BR" sz="1400" dirty="0">
                <a:latin typeface="Candara" panose="020E0502030303020204" pitchFamily="34" charset="0"/>
              </a:rPr>
              <a:t>O </a:t>
            </a:r>
            <a:r>
              <a:rPr lang="pt-BR" sz="1400" b="1" dirty="0" err="1">
                <a:latin typeface="Candara" panose="020E0502030303020204" pitchFamily="34" charset="0"/>
              </a:rPr>
              <a:t>pip</a:t>
            </a:r>
            <a:r>
              <a:rPr lang="pt-BR" sz="1400" dirty="0">
                <a:latin typeface="Candara" panose="020E0502030303020204" pitchFamily="34" charset="0"/>
              </a:rPr>
              <a:t> é uma ferramenta de linha de comando utilizada para gerenciar pacotes em Python.  O termo "</a:t>
            </a:r>
            <a:r>
              <a:rPr lang="pt-BR" sz="1400" b="1" dirty="0" err="1">
                <a:latin typeface="Candara" panose="020E0502030303020204" pitchFamily="34" charset="0"/>
              </a:rPr>
              <a:t>pip</a:t>
            </a:r>
            <a:r>
              <a:rPr lang="pt-BR" sz="1400" dirty="0">
                <a:latin typeface="Candara" panose="020E0502030303020204" pitchFamily="34" charset="0"/>
              </a:rPr>
              <a:t>" é uma sigla que significa "</a:t>
            </a:r>
            <a:r>
              <a:rPr lang="pt-BR" sz="1400" dirty="0" err="1">
                <a:latin typeface="Candara" panose="020E0502030303020204" pitchFamily="34" charset="0"/>
              </a:rPr>
              <a:t>Pip</a:t>
            </a:r>
            <a:r>
              <a:rPr lang="pt-BR" sz="1400" dirty="0">
                <a:latin typeface="Candara" panose="020E0502030303020204" pitchFamily="34" charset="0"/>
              </a:rPr>
              <a:t> </a:t>
            </a:r>
            <a:r>
              <a:rPr lang="pt-BR" sz="1400" dirty="0" err="1">
                <a:latin typeface="Candara" panose="020E0502030303020204" pitchFamily="34" charset="0"/>
              </a:rPr>
              <a:t>Installs</a:t>
            </a:r>
            <a:r>
              <a:rPr lang="pt-BR" sz="1400" dirty="0">
                <a:latin typeface="Candara" panose="020E0502030303020204" pitchFamily="34" charset="0"/>
              </a:rPr>
              <a:t> </a:t>
            </a:r>
            <a:r>
              <a:rPr lang="pt-BR" sz="1400" dirty="0" err="1">
                <a:latin typeface="Candara" panose="020E0502030303020204" pitchFamily="34" charset="0"/>
              </a:rPr>
              <a:t>Packages</a:t>
            </a:r>
            <a:r>
              <a:rPr lang="pt-BR" sz="1400" dirty="0">
                <a:latin typeface="Candara" panose="020E0502030303020204" pitchFamily="34" charset="0"/>
              </a:rPr>
              <a:t>“ e é amplamente  usado para instalar pacotes de código e bibliotecas Python disponíveis no Python </a:t>
            </a:r>
            <a:r>
              <a:rPr lang="pt-BR" sz="1400" dirty="0" err="1">
                <a:latin typeface="Candara" panose="020E0502030303020204" pitchFamily="34" charset="0"/>
              </a:rPr>
              <a:t>Package</a:t>
            </a:r>
            <a:r>
              <a:rPr lang="pt-BR" sz="1400" dirty="0">
                <a:latin typeface="Candara" panose="020E0502030303020204" pitchFamily="34" charset="0"/>
              </a:rPr>
              <a:t> Index (</a:t>
            </a:r>
            <a:r>
              <a:rPr lang="pt-BR" sz="1400" dirty="0" err="1">
                <a:latin typeface="Candara" panose="020E0502030303020204" pitchFamily="34" charset="0"/>
              </a:rPr>
              <a:t>PyPI</a:t>
            </a:r>
            <a:r>
              <a:rPr lang="pt-BR" sz="1400" dirty="0">
                <a:latin typeface="Candara" panose="020E0502030303020204" pitchFamily="34" charset="0"/>
              </a:rPr>
              <a:t>) e  em outros repositórios.</a:t>
            </a:r>
          </a:p>
        </p:txBody>
      </p:sp>
    </p:spTree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47A1EB-5142-CB48-AB43-FD63342FB24F}" type="slidenum">
              <a:rPr lang="en-US">
                <a:ea typeface="Lato" panose="020F0502020204030203" pitchFamily="34" charset="0"/>
                <a:cs typeface="Lato" panose="020F0502020204030203" pitchFamily="34" charset="0"/>
              </a:rPr>
              <a:t>6</a:t>
            </a:fld>
            <a:endParaRPr lang="en-US" dirty="0"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371475" y="272038"/>
            <a:ext cx="11449050" cy="58477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pt-BR" sz="3200" b="1" dirty="0">
                <a:solidFill>
                  <a:srgbClr val="0C509E"/>
                </a:solidFill>
                <a:latin typeface="PT Sans" panose="020B0503020203020204" pitchFamily="34" charset="77"/>
                <a:cs typeface="Helvetica LT Std" panose="020B0504020202020204" charset="0"/>
              </a:rPr>
              <a:t>Preparando o ambiente de desenvolvimento</a:t>
            </a:r>
          </a:p>
        </p:txBody>
      </p:sp>
      <p:sp>
        <p:nvSpPr>
          <p:cNvPr id="15" name="Rectangle 14"/>
          <p:cNvSpPr/>
          <p:nvPr/>
        </p:nvSpPr>
        <p:spPr>
          <a:xfrm>
            <a:off x="-3115" y="6782724"/>
            <a:ext cx="12194763" cy="75278"/>
          </a:xfrm>
          <a:prstGeom prst="rect">
            <a:avLst/>
          </a:prstGeom>
          <a:solidFill>
            <a:srgbClr val="0C509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195"/>
          </a:p>
        </p:txBody>
      </p:sp>
      <p:sp>
        <p:nvSpPr>
          <p:cNvPr id="7" name="Rectangle 6"/>
          <p:cNvSpPr/>
          <p:nvPr/>
        </p:nvSpPr>
        <p:spPr>
          <a:xfrm>
            <a:off x="371474" y="7101815"/>
            <a:ext cx="5726113" cy="48610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1" name="Rectangle 10"/>
          <p:cNvSpPr/>
          <p:nvPr/>
        </p:nvSpPr>
        <p:spPr>
          <a:xfrm>
            <a:off x="6104004" y="7101814"/>
            <a:ext cx="5726113" cy="486102"/>
          </a:xfrm>
          <a:prstGeom prst="rect">
            <a:avLst/>
          </a:prstGeom>
          <a:solidFill>
            <a:srgbClr val="FFD7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9" name="TextBox 8"/>
          <p:cNvSpPr txBox="1"/>
          <p:nvPr/>
        </p:nvSpPr>
        <p:spPr>
          <a:xfrm>
            <a:off x="371475" y="1042909"/>
            <a:ext cx="11449050" cy="1674689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pt-BR" sz="1400" b="1" dirty="0">
                <a:latin typeface="Candara" panose="020E0502030303020204" pitchFamily="34" charset="0"/>
                <a:ea typeface="Lato" panose="020F0502020204030203" pitchFamily="34" charset="0"/>
                <a:cs typeface="Lato" panose="020F0502020204030203" pitchFamily="34" charset="0"/>
              </a:rPr>
              <a:t>Criando um ambiente virtual:</a:t>
            </a:r>
          </a:p>
          <a:p>
            <a:pPr>
              <a:lnSpc>
                <a:spcPct val="150000"/>
              </a:lnSpc>
            </a:pPr>
            <a:r>
              <a:rPr lang="pt-BR" sz="1400" dirty="0">
                <a:solidFill>
                  <a:srgbClr val="696969"/>
                </a:solidFill>
                <a:latin typeface="Candara" panose="020E0502030303020204" pitchFamily="34" charset="0"/>
                <a:ea typeface="Lato" panose="020F0502020204030203" pitchFamily="34" charset="0"/>
                <a:cs typeface="Lato" panose="020F0502020204030203" pitchFamily="34" charset="0"/>
              </a:rPr>
              <a:t>No terminal, dentro do diretório onde deseja </a:t>
            </a:r>
            <a:r>
              <a:rPr lang="pt-BR" sz="1400" b="1" dirty="0">
                <a:solidFill>
                  <a:srgbClr val="0C509E"/>
                </a:solidFill>
                <a:latin typeface="Candara" panose="020E0502030303020204" pitchFamily="34" charset="0"/>
                <a:ea typeface="Lato" panose="020F0502020204030203" pitchFamily="34" charset="0"/>
                <a:cs typeface="Lato" panose="020F0502020204030203" pitchFamily="34" charset="0"/>
              </a:rPr>
              <a:t>criar</a:t>
            </a:r>
            <a:r>
              <a:rPr lang="pt-BR" sz="1400" dirty="0">
                <a:solidFill>
                  <a:srgbClr val="696969"/>
                </a:solidFill>
                <a:latin typeface="Candara" panose="020E0502030303020204" pitchFamily="34" charset="0"/>
                <a:ea typeface="Lato" panose="020F0502020204030203" pitchFamily="34" charset="0"/>
                <a:cs typeface="Lato" panose="020F0502020204030203" pitchFamily="34" charset="0"/>
              </a:rPr>
              <a:t> seu ambiente virtual (p. ex., sua pasta </a:t>
            </a:r>
            <a:r>
              <a:rPr lang="pt-BR" sz="1400" b="1" dirty="0">
                <a:latin typeface="Candara" panose="020E0502030303020204" pitchFamily="34" charset="0"/>
                <a:ea typeface="Lato" panose="020F0502020204030203" pitchFamily="34" charset="0"/>
                <a:cs typeface="Lato" panose="020F0502020204030203" pitchFamily="34" charset="0"/>
              </a:rPr>
              <a:t>home</a:t>
            </a:r>
            <a:r>
              <a:rPr lang="pt-BR" sz="1400" dirty="0">
                <a:solidFill>
                  <a:srgbClr val="696969"/>
                </a:solidFill>
                <a:latin typeface="Candara" panose="020E0502030303020204" pitchFamily="34" charset="0"/>
                <a:ea typeface="Lato" panose="020F0502020204030203" pitchFamily="34" charset="0"/>
                <a:cs typeface="Lato" panose="020F0502020204030203" pitchFamily="34" charset="0"/>
              </a:rPr>
              <a:t>), digite: </a:t>
            </a:r>
            <a:r>
              <a:rPr lang="pt-BR" sz="1400" b="1" i="1" dirty="0" err="1">
                <a:latin typeface="Candara" panose="020E0502030303020204" pitchFamily="34" charset="0"/>
                <a:ea typeface="Lato" panose="020F0502020204030203" pitchFamily="34" charset="0"/>
                <a:cs typeface="Lato" panose="020F0502020204030203" pitchFamily="34" charset="0"/>
              </a:rPr>
              <a:t>virtualenv</a:t>
            </a:r>
            <a:r>
              <a:rPr lang="pt-BR" sz="1400" b="1" i="1" dirty="0">
                <a:latin typeface="Candara" panose="020E0502030303020204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pt-BR" sz="1400" b="1" i="1" dirty="0" err="1">
                <a:latin typeface="Candara" panose="020E0502030303020204" pitchFamily="34" charset="0"/>
                <a:ea typeface="Lato" panose="020F0502020204030203" pitchFamily="34" charset="0"/>
                <a:cs typeface="Lato" panose="020F0502020204030203" pitchFamily="34" charset="0"/>
              </a:rPr>
              <a:t>myenv</a:t>
            </a:r>
            <a:endParaRPr lang="pt-BR" sz="1400" b="1" i="1" dirty="0">
              <a:latin typeface="Candara" panose="020E0502030303020204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  <a:p>
            <a:pPr marL="894715" lvl="1" indent="-285750">
              <a:lnSpc>
                <a:spcPct val="150000"/>
              </a:lnSpc>
              <a:buFont typeface="Arial" panose="02080604020202020204" pitchFamily="34" charset="0"/>
              <a:buChar char="•"/>
            </a:pPr>
            <a:r>
              <a:rPr lang="pt-BR" sz="1400" dirty="0" err="1">
                <a:solidFill>
                  <a:srgbClr val="696969"/>
                </a:solidFill>
                <a:latin typeface="Candara" panose="020E0502030303020204" pitchFamily="34" charset="0"/>
                <a:ea typeface="Lato" panose="020F0502020204030203" pitchFamily="34" charset="0"/>
                <a:cs typeface="Lato" panose="020F0502020204030203" pitchFamily="34" charset="0"/>
              </a:rPr>
              <a:t>myenv</a:t>
            </a:r>
            <a:r>
              <a:rPr lang="pt-BR" sz="1400" dirty="0">
                <a:solidFill>
                  <a:srgbClr val="696969"/>
                </a:solidFill>
                <a:latin typeface="Candara" panose="020E0502030303020204" pitchFamily="34" charset="0"/>
                <a:ea typeface="Lato" panose="020F0502020204030203" pitchFamily="34" charset="0"/>
                <a:cs typeface="Lato" panose="020F0502020204030203" pitchFamily="34" charset="0"/>
              </a:rPr>
              <a:t> é o nome dado ao seu ambiente virtual. Você pode escolher qualquer outro</a:t>
            </a:r>
          </a:p>
          <a:p>
            <a:pPr>
              <a:lnSpc>
                <a:spcPct val="150000"/>
              </a:lnSpc>
            </a:pPr>
            <a:r>
              <a:rPr lang="pt-BR" sz="1400" dirty="0">
                <a:solidFill>
                  <a:srgbClr val="696969"/>
                </a:solidFill>
                <a:latin typeface="Candara" panose="020E0502030303020204" pitchFamily="34" charset="0"/>
                <a:ea typeface="Lato" panose="020F0502020204030203" pitchFamily="34" charset="0"/>
                <a:cs typeface="Lato" panose="020F0502020204030203" pitchFamily="34" charset="0"/>
              </a:rPr>
              <a:t>Como resultado, foi criado uma pasta chamada </a:t>
            </a:r>
            <a:r>
              <a:rPr lang="pt-BR" sz="1400" b="1" dirty="0" err="1">
                <a:latin typeface="Candara" panose="020E0502030303020204" pitchFamily="34" charset="0"/>
                <a:ea typeface="Lato" panose="020F0502020204030203" pitchFamily="34" charset="0"/>
                <a:cs typeface="Lato" panose="020F0502020204030203" pitchFamily="34" charset="0"/>
              </a:rPr>
              <a:t>myenv</a:t>
            </a:r>
            <a:r>
              <a:rPr lang="pt-BR" sz="1400" dirty="0">
                <a:solidFill>
                  <a:srgbClr val="696969"/>
                </a:solidFill>
                <a:latin typeface="Candara" panose="020E0502030303020204" pitchFamily="34" charset="0"/>
                <a:ea typeface="Lato" panose="020F0502020204030203" pitchFamily="34" charset="0"/>
                <a:cs typeface="Lato" panose="020F0502020204030203" pitchFamily="34" charset="0"/>
              </a:rPr>
              <a:t>, que contém todos os arquivos de seu ambiente virtual (</a:t>
            </a:r>
            <a:r>
              <a:rPr lang="pt-BR" sz="1400" dirty="0" err="1">
                <a:solidFill>
                  <a:srgbClr val="696969"/>
                </a:solidFill>
                <a:latin typeface="Candara" panose="020E0502030303020204" pitchFamily="34" charset="0"/>
                <a:ea typeface="Lato" panose="020F0502020204030203" pitchFamily="34" charset="0"/>
                <a:cs typeface="Lato" panose="020F0502020204030203" pitchFamily="34" charset="0"/>
              </a:rPr>
              <a:t>python</a:t>
            </a:r>
            <a:r>
              <a:rPr lang="pt-BR" sz="1400" dirty="0">
                <a:solidFill>
                  <a:srgbClr val="696969"/>
                </a:solidFill>
                <a:latin typeface="Candara" panose="020E0502030303020204" pitchFamily="34" charset="0"/>
                <a:ea typeface="Lato" panose="020F0502020204030203" pitchFamily="34" charset="0"/>
                <a:cs typeface="Lato" panose="020F0502020204030203" pitchFamily="34" charset="0"/>
              </a:rPr>
              <a:t>, </a:t>
            </a:r>
            <a:r>
              <a:rPr lang="pt-BR" sz="1400" dirty="0" err="1">
                <a:solidFill>
                  <a:srgbClr val="696969"/>
                </a:solidFill>
                <a:latin typeface="Candara" panose="020E0502030303020204" pitchFamily="34" charset="0"/>
                <a:ea typeface="Lato" panose="020F0502020204030203" pitchFamily="34" charset="0"/>
                <a:cs typeface="Lato" panose="020F0502020204030203" pitchFamily="34" charset="0"/>
              </a:rPr>
              <a:t>pip</a:t>
            </a:r>
            <a:r>
              <a:rPr lang="pt-BR" sz="1400" dirty="0">
                <a:solidFill>
                  <a:srgbClr val="696969"/>
                </a:solidFill>
                <a:latin typeface="Candara" panose="020E0502030303020204" pitchFamily="34" charset="0"/>
                <a:ea typeface="Lato" panose="020F0502020204030203" pitchFamily="34" charset="0"/>
                <a:cs typeface="Lato" panose="020F0502020204030203" pitchFamily="34" charset="0"/>
              </a:rPr>
              <a:t>, bibliotecas, ...)</a:t>
            </a:r>
          </a:p>
          <a:p>
            <a:pPr>
              <a:lnSpc>
                <a:spcPct val="150000"/>
              </a:lnSpc>
            </a:pPr>
            <a:endParaRPr lang="pt-BR" sz="1400" dirty="0">
              <a:solidFill>
                <a:srgbClr val="696969"/>
              </a:solidFill>
              <a:latin typeface="Candara" panose="020E0502030303020204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13" name="Rectangle 12"/>
          <p:cNvSpPr/>
          <p:nvPr/>
        </p:nvSpPr>
        <p:spPr>
          <a:xfrm rot="16200000">
            <a:off x="-2021984" y="4717094"/>
            <a:ext cx="3059113" cy="48610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6" name="Rectangle 15"/>
          <p:cNvSpPr/>
          <p:nvPr/>
        </p:nvSpPr>
        <p:spPr>
          <a:xfrm rot="16200000">
            <a:off x="-2021984" y="1654805"/>
            <a:ext cx="3059113" cy="486102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7" name="TextBox 16"/>
          <p:cNvSpPr txBox="1"/>
          <p:nvPr/>
        </p:nvSpPr>
        <p:spPr>
          <a:xfrm>
            <a:off x="371474" y="4168397"/>
            <a:ext cx="10152455" cy="382028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pt-BR" sz="1400" dirty="0">
                <a:solidFill>
                  <a:srgbClr val="696969"/>
                </a:solidFill>
                <a:latin typeface="Candara" panose="020E0502030303020204" pitchFamily="34" charset="0"/>
                <a:ea typeface="Lato" panose="020F0502020204030203" pitchFamily="34" charset="0"/>
                <a:cs typeface="Lato" panose="020F0502020204030203" pitchFamily="34" charset="0"/>
              </a:rPr>
              <a:t>Para </a:t>
            </a:r>
            <a:r>
              <a:rPr lang="pt-BR" sz="1400" b="1" dirty="0">
                <a:solidFill>
                  <a:srgbClr val="0C509E"/>
                </a:solidFill>
                <a:latin typeface="Candara" panose="020E0502030303020204" pitchFamily="34" charset="0"/>
                <a:ea typeface="Lato" panose="020F0502020204030203" pitchFamily="34" charset="0"/>
                <a:cs typeface="Lato" panose="020F0502020204030203" pitchFamily="34" charset="0"/>
              </a:rPr>
              <a:t>ativar</a:t>
            </a:r>
            <a:r>
              <a:rPr lang="pt-BR" sz="1400" dirty="0">
                <a:solidFill>
                  <a:srgbClr val="696969"/>
                </a:solidFill>
                <a:latin typeface="Candara" panose="020E0502030303020204" pitchFamily="34" charset="0"/>
                <a:ea typeface="Lato" panose="020F0502020204030203" pitchFamily="34" charset="0"/>
                <a:cs typeface="Lato" panose="020F0502020204030203" pitchFamily="34" charset="0"/>
              </a:rPr>
              <a:t> o ambiente, digite: </a:t>
            </a:r>
            <a:r>
              <a:rPr lang="pt-BR" sz="1400" b="1" dirty="0">
                <a:latin typeface="Candara" panose="020E0502030303020204" pitchFamily="34" charset="0"/>
                <a:ea typeface="Lato" panose="020F0502020204030203" pitchFamily="34" charset="0"/>
                <a:cs typeface="Lato" panose="020F0502020204030203" pitchFamily="34" charset="0"/>
              </a:rPr>
              <a:t>.\</a:t>
            </a:r>
            <a:r>
              <a:rPr lang="pt-BR" sz="1400" b="1" dirty="0" err="1">
                <a:latin typeface="Candara" panose="020E0502030303020204" pitchFamily="34" charset="0"/>
                <a:ea typeface="Lato" panose="020F0502020204030203" pitchFamily="34" charset="0"/>
                <a:cs typeface="Lato" panose="020F0502020204030203" pitchFamily="34" charset="0"/>
              </a:rPr>
              <a:t>myenv</a:t>
            </a:r>
            <a:r>
              <a:rPr lang="pt-BR" sz="1400" b="1" dirty="0">
                <a:latin typeface="Candara" panose="020E0502030303020204" pitchFamily="34" charset="0"/>
                <a:ea typeface="Lato" panose="020F0502020204030203" pitchFamily="34" charset="0"/>
                <a:cs typeface="Lato" panose="020F0502020204030203" pitchFamily="34" charset="0"/>
              </a:rPr>
              <a:t>\Scripts\activate.bat (</a:t>
            </a:r>
            <a:r>
              <a:rPr lang="pt-BR" sz="1400" b="1" dirty="0" err="1">
                <a:latin typeface="Candara" panose="020E0502030303020204" pitchFamily="34" charset="0"/>
                <a:ea typeface="Lato" panose="020F0502020204030203" pitchFamily="34" charset="0"/>
                <a:cs typeface="Lato" panose="020F0502020204030203" pitchFamily="34" charset="0"/>
              </a:rPr>
              <a:t>windows</a:t>
            </a:r>
            <a:r>
              <a:rPr lang="pt-BR" sz="1400" b="1" dirty="0">
                <a:latin typeface="Candara" panose="020E0502030303020204" pitchFamily="34" charset="0"/>
                <a:ea typeface="Lato" panose="020F0502020204030203" pitchFamily="34" charset="0"/>
                <a:cs typeface="Lato" panose="020F0502020204030203" pitchFamily="34" charset="0"/>
              </a:rPr>
              <a:t>)  ou </a:t>
            </a:r>
            <a:r>
              <a:rPr lang="pt-BR" sz="1400" b="1" i="1" dirty="0" err="1">
                <a:latin typeface="Candara" panose="020E0502030303020204" pitchFamily="34" charset="0"/>
                <a:ea typeface="Lato" panose="020F0502020204030203" pitchFamily="34" charset="0"/>
                <a:cs typeface="Lato" panose="020F0502020204030203" pitchFamily="34" charset="0"/>
              </a:rPr>
              <a:t>source</a:t>
            </a:r>
            <a:r>
              <a:rPr lang="pt-BR" sz="1400" b="1" i="1" dirty="0">
                <a:latin typeface="Candara" panose="020E0502030303020204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pt-BR" sz="1400" b="1" i="1" dirty="0" err="1">
                <a:latin typeface="Candara" panose="020E0502030303020204" pitchFamily="34" charset="0"/>
                <a:ea typeface="Lato" panose="020F0502020204030203" pitchFamily="34" charset="0"/>
                <a:cs typeface="Lato" panose="020F0502020204030203" pitchFamily="34" charset="0"/>
              </a:rPr>
              <a:t>myenv</a:t>
            </a:r>
            <a:r>
              <a:rPr lang="pt-BR" sz="1400" b="1" i="1" dirty="0">
                <a:latin typeface="Candara" panose="020E0502030303020204" pitchFamily="34" charset="0"/>
                <a:ea typeface="Lato" panose="020F0502020204030203" pitchFamily="34" charset="0"/>
                <a:cs typeface="Lato" panose="020F0502020204030203" pitchFamily="34" charset="0"/>
              </a:rPr>
              <a:t>/bin/</a:t>
            </a:r>
            <a:r>
              <a:rPr lang="pt-BR" sz="1400" b="1" i="1" dirty="0" err="1">
                <a:latin typeface="Candara" panose="020E0502030303020204" pitchFamily="34" charset="0"/>
                <a:ea typeface="Lato" panose="020F0502020204030203" pitchFamily="34" charset="0"/>
                <a:cs typeface="Lato" panose="020F0502020204030203" pitchFamily="34" charset="0"/>
              </a:rPr>
              <a:t>activate</a:t>
            </a:r>
            <a:r>
              <a:rPr lang="pt-BR" sz="1400" b="1" i="1" dirty="0">
                <a:latin typeface="Candara" panose="020E0502030303020204" pitchFamily="34" charset="0"/>
                <a:ea typeface="Lato" panose="020F0502020204030203" pitchFamily="34" charset="0"/>
                <a:cs typeface="Lato" panose="020F0502020204030203" pitchFamily="34" charset="0"/>
              </a:rPr>
              <a:t> (Linux)</a:t>
            </a:r>
            <a:endParaRPr lang="pt-BR" sz="1400" i="1" dirty="0">
              <a:latin typeface="Candara" panose="020E0502030303020204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371475" y="5218686"/>
            <a:ext cx="10152455" cy="1028423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pt-BR" sz="1400" dirty="0">
                <a:solidFill>
                  <a:srgbClr val="696969"/>
                </a:solidFill>
                <a:latin typeface="Candara" panose="020E0502030303020204" pitchFamily="34" charset="0"/>
                <a:ea typeface="Lato" panose="020F0502020204030203" pitchFamily="34" charset="0"/>
                <a:cs typeface="Lato" panose="020F0502020204030203" pitchFamily="34" charset="0"/>
              </a:rPr>
              <a:t>A partir de agora, o </a:t>
            </a:r>
            <a:r>
              <a:rPr lang="pt-BR" sz="1400" dirty="0" err="1">
                <a:solidFill>
                  <a:srgbClr val="696969"/>
                </a:solidFill>
                <a:latin typeface="Candara" panose="020E0502030303020204" pitchFamily="34" charset="0"/>
                <a:ea typeface="Lato" panose="020F0502020204030203" pitchFamily="34" charset="0"/>
                <a:cs typeface="Lato" panose="020F0502020204030203" pitchFamily="34" charset="0"/>
              </a:rPr>
              <a:t>python</a:t>
            </a:r>
            <a:r>
              <a:rPr lang="pt-BR" sz="1400" dirty="0">
                <a:solidFill>
                  <a:srgbClr val="696969"/>
                </a:solidFill>
                <a:latin typeface="Candara" panose="020E0502030303020204" pitchFamily="34" charset="0"/>
                <a:ea typeface="Lato" panose="020F0502020204030203" pitchFamily="34" charset="0"/>
                <a:cs typeface="Lato" panose="020F0502020204030203" pitchFamily="34" charset="0"/>
              </a:rPr>
              <a:t> ativo no seu sistema é o que vem junto com seu ambiente virtual.</a:t>
            </a:r>
          </a:p>
          <a:p>
            <a:pPr>
              <a:lnSpc>
                <a:spcPct val="150000"/>
              </a:lnSpc>
            </a:pPr>
            <a:r>
              <a:rPr lang="pt-BR" sz="1400" dirty="0">
                <a:solidFill>
                  <a:srgbClr val="696969"/>
                </a:solidFill>
                <a:latin typeface="Candara" panose="020E0502030303020204" pitchFamily="34" charset="0"/>
                <a:ea typeface="Lato" panose="020F0502020204030203" pitchFamily="34" charset="0"/>
                <a:cs typeface="Lato" panose="020F0502020204030203" pitchFamily="34" charset="0"/>
              </a:rPr>
              <a:t>Pacotes instalados com seu ambiente ativo serão instalados dentro de seu ambiente.</a:t>
            </a:r>
          </a:p>
          <a:p>
            <a:pPr>
              <a:lnSpc>
                <a:spcPct val="150000"/>
              </a:lnSpc>
            </a:pPr>
            <a:r>
              <a:rPr lang="pt-BR" sz="1400" dirty="0">
                <a:solidFill>
                  <a:srgbClr val="696969"/>
                </a:solidFill>
                <a:latin typeface="Candara" panose="020E0502030303020204" pitchFamily="34" charset="0"/>
                <a:ea typeface="Lato" panose="020F0502020204030203" pitchFamily="34" charset="0"/>
                <a:cs typeface="Lato" panose="020F0502020204030203" pitchFamily="34" charset="0"/>
              </a:rPr>
              <a:t>Para </a:t>
            </a:r>
            <a:r>
              <a:rPr lang="pt-BR" sz="1400" b="1" dirty="0">
                <a:solidFill>
                  <a:srgbClr val="0C509E"/>
                </a:solidFill>
                <a:latin typeface="Candara" panose="020E0502030303020204" pitchFamily="34" charset="0"/>
                <a:ea typeface="Lato" panose="020F0502020204030203" pitchFamily="34" charset="0"/>
                <a:cs typeface="Lato" panose="020F0502020204030203" pitchFamily="34" charset="0"/>
              </a:rPr>
              <a:t>desativar</a:t>
            </a:r>
            <a:r>
              <a:rPr lang="pt-BR" sz="1400" dirty="0">
                <a:solidFill>
                  <a:srgbClr val="696969"/>
                </a:solidFill>
                <a:latin typeface="Candara" panose="020E0502030303020204" pitchFamily="34" charset="0"/>
                <a:ea typeface="Lato" panose="020F0502020204030203" pitchFamily="34" charset="0"/>
                <a:cs typeface="Lato" panose="020F0502020204030203" pitchFamily="34" charset="0"/>
              </a:rPr>
              <a:t> seu ambiente, apenas digite: </a:t>
            </a:r>
            <a:r>
              <a:rPr lang="pt-BR" sz="1400" b="1" i="1" dirty="0" err="1">
                <a:latin typeface="Candara" panose="020E0502030303020204" pitchFamily="34" charset="0"/>
                <a:ea typeface="Lato" panose="020F0502020204030203" pitchFamily="34" charset="0"/>
                <a:cs typeface="Lato" panose="020F0502020204030203" pitchFamily="34" charset="0"/>
              </a:rPr>
              <a:t>deactivate</a:t>
            </a:r>
            <a:endParaRPr lang="pt-BR" sz="1400" i="1" dirty="0">
              <a:latin typeface="Candara" panose="020E0502030303020204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500D508D-B10C-926F-1939-A792CEC529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2615" y="2598153"/>
            <a:ext cx="11103302" cy="1333616"/>
          </a:xfrm>
          <a:prstGeom prst="rect">
            <a:avLst/>
          </a:prstGeom>
        </p:spPr>
      </p:pic>
      <p:pic>
        <p:nvPicPr>
          <p:cNvPr id="10" name="Imagem 9">
            <a:extLst>
              <a:ext uri="{FF2B5EF4-FFF2-40B4-BE49-F238E27FC236}">
                <a16:creationId xmlns:a16="http://schemas.microsoft.com/office/drawing/2014/main" id="{636CE6E8-737D-05D0-4EA5-118387A91FF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2615" y="4762939"/>
            <a:ext cx="10112616" cy="281964"/>
          </a:xfrm>
          <a:prstGeom prst="rect">
            <a:avLst/>
          </a:prstGeom>
        </p:spPr>
      </p:pic>
    </p:spTree>
  </p:cSld>
  <p:clrMapOvr>
    <a:masterClrMapping/>
  </p:clrMapOvr>
  <p:transition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47A1EB-5142-CB48-AB43-FD63342FB24F}" type="slidenum">
              <a:rPr lang="en-US">
                <a:ea typeface="Lato" panose="020F0502020204030203" pitchFamily="34" charset="0"/>
                <a:cs typeface="Lato" panose="020F0502020204030203" pitchFamily="34" charset="0"/>
              </a:rPr>
              <a:t>7</a:t>
            </a:fld>
            <a:endParaRPr lang="en-US" dirty="0"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371475" y="272038"/>
            <a:ext cx="11449050" cy="58477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pt-BR" sz="3200" b="1" dirty="0">
                <a:solidFill>
                  <a:srgbClr val="0C509E"/>
                </a:solidFill>
                <a:latin typeface="PT Sans" panose="020B0503020203020204" pitchFamily="34" charset="77"/>
                <a:cs typeface="Helvetica LT Std" panose="020B0504020202020204" charset="0"/>
              </a:rPr>
              <a:t>Preparando o ambiente de desenvolvimento</a:t>
            </a:r>
          </a:p>
        </p:txBody>
      </p:sp>
      <p:sp>
        <p:nvSpPr>
          <p:cNvPr id="15" name="Rectangle 14"/>
          <p:cNvSpPr/>
          <p:nvPr/>
        </p:nvSpPr>
        <p:spPr>
          <a:xfrm>
            <a:off x="-3115" y="6782724"/>
            <a:ext cx="12194763" cy="75278"/>
          </a:xfrm>
          <a:prstGeom prst="rect">
            <a:avLst/>
          </a:prstGeom>
          <a:solidFill>
            <a:srgbClr val="0C509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195"/>
          </a:p>
        </p:txBody>
      </p:sp>
      <p:sp>
        <p:nvSpPr>
          <p:cNvPr id="7" name="Rectangle 6"/>
          <p:cNvSpPr/>
          <p:nvPr/>
        </p:nvSpPr>
        <p:spPr>
          <a:xfrm>
            <a:off x="371474" y="7101815"/>
            <a:ext cx="5726113" cy="48610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1" name="Rectangle 10"/>
          <p:cNvSpPr/>
          <p:nvPr/>
        </p:nvSpPr>
        <p:spPr>
          <a:xfrm>
            <a:off x="6104004" y="7101814"/>
            <a:ext cx="5726113" cy="486102"/>
          </a:xfrm>
          <a:prstGeom prst="rect">
            <a:avLst/>
          </a:prstGeom>
          <a:solidFill>
            <a:srgbClr val="FFD7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9" name="TextBox 8"/>
          <p:cNvSpPr txBox="1"/>
          <p:nvPr/>
        </p:nvSpPr>
        <p:spPr>
          <a:xfrm>
            <a:off x="369741" y="1922848"/>
            <a:ext cx="11449050" cy="1028423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pt-BR" sz="1400" b="1" dirty="0">
                <a:latin typeface="Candara" panose="020E0502030303020204" pitchFamily="34" charset="0"/>
                <a:ea typeface="Lato" panose="020F0502020204030203" pitchFamily="34" charset="0"/>
                <a:cs typeface="Lato" panose="020F0502020204030203" pitchFamily="34" charset="0"/>
              </a:rPr>
              <a:t>Instalando pacotes </a:t>
            </a:r>
            <a:r>
              <a:rPr lang="pt-BR" sz="1400" b="1" dirty="0" err="1">
                <a:latin typeface="Candara" panose="020E0502030303020204" pitchFamily="34" charset="0"/>
                <a:ea typeface="Lato" panose="020F0502020204030203" pitchFamily="34" charset="0"/>
                <a:cs typeface="Lato" panose="020F0502020204030203" pitchFamily="34" charset="0"/>
              </a:rPr>
              <a:t>python</a:t>
            </a:r>
            <a:r>
              <a:rPr lang="pt-BR" sz="1400" b="1" dirty="0">
                <a:latin typeface="Candara" panose="020E0502030303020204" pitchFamily="34" charset="0"/>
                <a:ea typeface="Lato" panose="020F0502020204030203" pitchFamily="34" charset="0"/>
                <a:cs typeface="Lato" panose="020F0502020204030203" pitchFamily="34" charset="0"/>
              </a:rPr>
              <a:t>:</a:t>
            </a:r>
          </a:p>
          <a:p>
            <a:pPr>
              <a:lnSpc>
                <a:spcPct val="150000"/>
              </a:lnSpc>
            </a:pPr>
            <a:r>
              <a:rPr lang="pt-BR" sz="1400" dirty="0">
                <a:solidFill>
                  <a:srgbClr val="696969"/>
                </a:solidFill>
                <a:latin typeface="Candara" panose="020E0502030303020204" pitchFamily="34" charset="0"/>
                <a:ea typeface="Lato" panose="020F0502020204030203" pitchFamily="34" charset="0"/>
                <a:cs typeface="Lato" panose="020F0502020204030203" pitchFamily="34" charset="0"/>
              </a:rPr>
              <a:t>Em seu ambiente virtual ativado, digite: </a:t>
            </a:r>
            <a:r>
              <a:rPr lang="pt-BR" sz="1400" b="1" dirty="0" err="1">
                <a:latin typeface="Candara" panose="020E0502030303020204" pitchFamily="34" charset="0"/>
                <a:ea typeface="Lato" panose="020F0502020204030203" pitchFamily="34" charset="0"/>
                <a:cs typeface="Lato" panose="020F0502020204030203" pitchFamily="34" charset="0"/>
              </a:rPr>
              <a:t>pip</a:t>
            </a:r>
            <a:r>
              <a:rPr lang="pt-BR" sz="1400" b="1" dirty="0">
                <a:latin typeface="Candara" panose="020E0502030303020204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pt-BR" sz="1400" b="1" dirty="0" err="1">
                <a:latin typeface="Candara" panose="020E0502030303020204" pitchFamily="34" charset="0"/>
                <a:ea typeface="Lato" panose="020F0502020204030203" pitchFamily="34" charset="0"/>
                <a:cs typeface="Lato" panose="020F0502020204030203" pitchFamily="34" charset="0"/>
              </a:rPr>
              <a:t>install</a:t>
            </a:r>
            <a:r>
              <a:rPr lang="pt-BR" sz="1400" b="1" dirty="0">
                <a:latin typeface="Candara" panose="020E0502030303020204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pt-BR" sz="1400" b="1" dirty="0" err="1">
                <a:latin typeface="Candara" panose="020E0502030303020204" pitchFamily="34" charset="0"/>
                <a:ea typeface="Lato" panose="020F0502020204030203" pitchFamily="34" charset="0"/>
                <a:cs typeface="Lato" panose="020F0502020204030203" pitchFamily="34" charset="0"/>
              </a:rPr>
              <a:t>nome_do_pacote_python</a:t>
            </a:r>
            <a:endParaRPr lang="pt-BR" sz="1400" b="1" dirty="0">
              <a:solidFill>
                <a:srgbClr val="696969"/>
              </a:solidFill>
              <a:latin typeface="Candara" panose="020E0502030303020204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  <a:p>
            <a:pPr>
              <a:lnSpc>
                <a:spcPct val="150000"/>
              </a:lnSpc>
            </a:pPr>
            <a:r>
              <a:rPr lang="pt-BR" sz="1400" dirty="0">
                <a:solidFill>
                  <a:srgbClr val="696969"/>
                </a:solidFill>
                <a:latin typeface="Candara" panose="020E0502030303020204" pitchFamily="34" charset="0"/>
                <a:ea typeface="Lato" panose="020F0502020204030203" pitchFamily="34" charset="0"/>
                <a:cs typeface="Lato" panose="020F0502020204030203" pitchFamily="34" charset="0"/>
              </a:rPr>
              <a:t>Seu pacote será instalado em </a:t>
            </a:r>
            <a:r>
              <a:rPr lang="pt-BR" sz="1400" b="1" i="1" dirty="0">
                <a:latin typeface="Candara" panose="020E0502030303020204" pitchFamily="34" charset="0"/>
                <a:ea typeface="Lato" panose="020F0502020204030203" pitchFamily="34" charset="0"/>
                <a:cs typeface="Lato" panose="020F0502020204030203" pitchFamily="34" charset="0"/>
              </a:rPr>
              <a:t>&lt;</a:t>
            </a:r>
            <a:r>
              <a:rPr lang="pt-BR" sz="1400" b="1" i="1" dirty="0" err="1">
                <a:latin typeface="Candara" panose="020E0502030303020204" pitchFamily="34" charset="0"/>
                <a:ea typeface="Lato" panose="020F0502020204030203" pitchFamily="34" charset="0"/>
                <a:cs typeface="Lato" panose="020F0502020204030203" pitchFamily="34" charset="0"/>
              </a:rPr>
              <a:t>diretorio_do_ambiente_virtual</a:t>
            </a:r>
            <a:r>
              <a:rPr lang="pt-BR" sz="1400" b="1" i="1" dirty="0">
                <a:latin typeface="Candara" panose="020E0502030303020204" pitchFamily="34" charset="0"/>
                <a:ea typeface="Lato" panose="020F0502020204030203" pitchFamily="34" charset="0"/>
                <a:cs typeface="Lato" panose="020F0502020204030203" pitchFamily="34" charset="0"/>
              </a:rPr>
              <a:t>&gt;/</a:t>
            </a:r>
            <a:r>
              <a:rPr lang="pt-BR" sz="1400" b="1" i="1" dirty="0" err="1">
                <a:latin typeface="Candara" panose="020E0502030303020204" pitchFamily="34" charset="0"/>
                <a:ea typeface="Lato" panose="020F0502020204030203" pitchFamily="34" charset="0"/>
                <a:cs typeface="Lato" panose="020F0502020204030203" pitchFamily="34" charset="0"/>
              </a:rPr>
              <a:t>lib</a:t>
            </a:r>
            <a:r>
              <a:rPr lang="pt-BR" sz="1400" b="1" i="1" dirty="0">
                <a:latin typeface="Candara" panose="020E0502030303020204" pitchFamily="34" charset="0"/>
                <a:ea typeface="Lato" panose="020F0502020204030203" pitchFamily="34" charset="0"/>
                <a:cs typeface="Lato" panose="020F0502020204030203" pitchFamily="34" charset="0"/>
              </a:rPr>
              <a:t>/python3.x/site-</a:t>
            </a:r>
            <a:r>
              <a:rPr lang="pt-BR" sz="1400" b="1" i="1" dirty="0" err="1">
                <a:latin typeface="Candara" panose="020E0502030303020204" pitchFamily="34" charset="0"/>
                <a:ea typeface="Lato" panose="020F0502020204030203" pitchFamily="34" charset="0"/>
                <a:cs typeface="Lato" panose="020F0502020204030203" pitchFamily="34" charset="0"/>
              </a:rPr>
              <a:t>packages</a:t>
            </a:r>
            <a:r>
              <a:rPr lang="pt-BR" sz="1400" b="1" i="1" dirty="0">
                <a:latin typeface="Candara" panose="020E0502030303020204" pitchFamily="34" charset="0"/>
                <a:ea typeface="Lato" panose="020F0502020204030203" pitchFamily="34" charset="0"/>
                <a:cs typeface="Lato" panose="020F0502020204030203" pitchFamily="34" charset="0"/>
              </a:rPr>
              <a:t>/</a:t>
            </a:r>
            <a:r>
              <a:rPr lang="pt-BR" sz="1400" b="1" i="1" dirty="0" err="1">
                <a:latin typeface="Candara" panose="020E0502030303020204" pitchFamily="34" charset="0"/>
                <a:ea typeface="Lato" panose="020F0502020204030203" pitchFamily="34" charset="0"/>
                <a:cs typeface="Lato" panose="020F0502020204030203" pitchFamily="34" charset="0"/>
              </a:rPr>
              <a:t>nome_do_pacote_python</a:t>
            </a:r>
            <a:endParaRPr lang="pt-BR" sz="1400" b="1" i="1" dirty="0">
              <a:latin typeface="Candara" panose="020E0502030303020204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13" name="Rectangle 12"/>
          <p:cNvSpPr/>
          <p:nvPr/>
        </p:nvSpPr>
        <p:spPr>
          <a:xfrm rot="16200000">
            <a:off x="-2021984" y="4717094"/>
            <a:ext cx="3059113" cy="48610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6" name="Rectangle 15"/>
          <p:cNvSpPr/>
          <p:nvPr/>
        </p:nvSpPr>
        <p:spPr>
          <a:xfrm rot="16200000">
            <a:off x="-2021984" y="1654805"/>
            <a:ext cx="3059113" cy="486102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9" name="TextBox 18"/>
          <p:cNvSpPr txBox="1"/>
          <p:nvPr/>
        </p:nvSpPr>
        <p:spPr>
          <a:xfrm>
            <a:off x="369741" y="3150738"/>
            <a:ext cx="11449050" cy="705258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pt-BR" sz="1400" b="1" dirty="0">
                <a:latin typeface="Candara" panose="020E0502030303020204" pitchFamily="34" charset="0"/>
                <a:ea typeface="Lato" panose="020F0502020204030203" pitchFamily="34" charset="0"/>
                <a:cs typeface="Lato" panose="020F0502020204030203" pitchFamily="34" charset="0"/>
              </a:rPr>
              <a:t>Desinstalando pacotes </a:t>
            </a:r>
            <a:r>
              <a:rPr lang="pt-BR" sz="1400" b="1" dirty="0" err="1">
                <a:latin typeface="Candara" panose="020E0502030303020204" pitchFamily="34" charset="0"/>
                <a:ea typeface="Lato" panose="020F0502020204030203" pitchFamily="34" charset="0"/>
                <a:cs typeface="Lato" panose="020F0502020204030203" pitchFamily="34" charset="0"/>
              </a:rPr>
              <a:t>python</a:t>
            </a:r>
            <a:r>
              <a:rPr lang="pt-BR" sz="1400" b="1" dirty="0">
                <a:latin typeface="Candara" panose="020E0502030303020204" pitchFamily="34" charset="0"/>
                <a:ea typeface="Lato" panose="020F0502020204030203" pitchFamily="34" charset="0"/>
                <a:cs typeface="Lato" panose="020F0502020204030203" pitchFamily="34" charset="0"/>
              </a:rPr>
              <a:t>:</a:t>
            </a:r>
          </a:p>
          <a:p>
            <a:pPr>
              <a:lnSpc>
                <a:spcPct val="150000"/>
              </a:lnSpc>
            </a:pPr>
            <a:r>
              <a:rPr lang="pt-BR" sz="1400" dirty="0">
                <a:solidFill>
                  <a:srgbClr val="696969"/>
                </a:solidFill>
                <a:latin typeface="Candara" panose="020E0502030303020204" pitchFamily="34" charset="0"/>
                <a:ea typeface="Lato" panose="020F0502020204030203" pitchFamily="34" charset="0"/>
                <a:cs typeface="Lato" panose="020F0502020204030203" pitchFamily="34" charset="0"/>
              </a:rPr>
              <a:t>Em seu ambiente virtual ativado, digite: </a:t>
            </a:r>
            <a:r>
              <a:rPr lang="pt-BR" sz="1400" b="1" dirty="0" err="1">
                <a:latin typeface="Candara" panose="020E0502030303020204" pitchFamily="34" charset="0"/>
                <a:ea typeface="Lato" panose="020F0502020204030203" pitchFamily="34" charset="0"/>
                <a:cs typeface="Lato" panose="020F0502020204030203" pitchFamily="34" charset="0"/>
              </a:rPr>
              <a:t>pip</a:t>
            </a:r>
            <a:r>
              <a:rPr lang="pt-BR" sz="1400" b="1" dirty="0">
                <a:latin typeface="Candara" panose="020E0502030303020204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pt-BR" sz="1400" b="1" dirty="0" err="1">
                <a:latin typeface="Candara" panose="020E0502030303020204" pitchFamily="34" charset="0"/>
                <a:ea typeface="Lato" panose="020F0502020204030203" pitchFamily="34" charset="0"/>
                <a:cs typeface="Lato" panose="020F0502020204030203" pitchFamily="34" charset="0"/>
              </a:rPr>
              <a:t>uninstall</a:t>
            </a:r>
            <a:r>
              <a:rPr lang="pt-BR" sz="1400" b="1" dirty="0">
                <a:latin typeface="Candara" panose="020E0502030303020204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pt-BR" sz="1400" b="1" dirty="0" err="1">
                <a:latin typeface="Candara" panose="020E0502030303020204" pitchFamily="34" charset="0"/>
                <a:ea typeface="Lato" panose="020F0502020204030203" pitchFamily="34" charset="0"/>
                <a:cs typeface="Lato" panose="020F0502020204030203" pitchFamily="34" charset="0"/>
              </a:rPr>
              <a:t>nome_do_pacote_python</a:t>
            </a:r>
            <a:endParaRPr lang="pt-BR" sz="1400" b="1" dirty="0">
              <a:solidFill>
                <a:srgbClr val="696969"/>
              </a:solidFill>
              <a:latin typeface="Candara" panose="020E0502030303020204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369741" y="4122768"/>
            <a:ext cx="11449050" cy="1674754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pt-BR" sz="1400" b="1" dirty="0">
                <a:latin typeface="Candara" panose="020E0502030303020204" pitchFamily="34" charset="0"/>
                <a:ea typeface="Lato" panose="020F0502020204030203" pitchFamily="34" charset="0"/>
                <a:cs typeface="Lato" panose="020F0502020204030203" pitchFamily="34" charset="0"/>
              </a:rPr>
              <a:t>Instalação dos principais pacotes:</a:t>
            </a:r>
          </a:p>
          <a:p>
            <a:pPr>
              <a:lnSpc>
                <a:spcPct val="150000"/>
              </a:lnSpc>
            </a:pPr>
            <a:r>
              <a:rPr lang="pt-BR" sz="1400" dirty="0" err="1">
                <a:solidFill>
                  <a:srgbClr val="696969"/>
                </a:solidFill>
                <a:latin typeface="Candara" panose="020E0502030303020204" pitchFamily="34" charset="0"/>
                <a:ea typeface="Lato" panose="020F0502020204030203" pitchFamily="34" charset="0"/>
                <a:cs typeface="Lato" panose="020F0502020204030203" pitchFamily="34" charset="0"/>
              </a:rPr>
              <a:t>pip</a:t>
            </a:r>
            <a:r>
              <a:rPr lang="pt-BR" sz="1400" dirty="0">
                <a:solidFill>
                  <a:srgbClr val="696969"/>
                </a:solidFill>
                <a:latin typeface="Candara" panose="020E0502030303020204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pt-BR" sz="1400" dirty="0" err="1">
                <a:solidFill>
                  <a:srgbClr val="696969"/>
                </a:solidFill>
                <a:latin typeface="Candara" panose="020E0502030303020204" pitchFamily="34" charset="0"/>
                <a:ea typeface="Lato" panose="020F0502020204030203" pitchFamily="34" charset="0"/>
                <a:cs typeface="Lato" panose="020F0502020204030203" pitchFamily="34" charset="0"/>
              </a:rPr>
              <a:t>install</a:t>
            </a:r>
            <a:r>
              <a:rPr lang="pt-BR" sz="1400" dirty="0">
                <a:solidFill>
                  <a:srgbClr val="696969"/>
                </a:solidFill>
                <a:latin typeface="Candara" panose="020E0502030303020204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pt-BR" sz="1400" dirty="0" err="1">
                <a:solidFill>
                  <a:srgbClr val="696969"/>
                </a:solidFill>
                <a:latin typeface="Candara" panose="020E0502030303020204" pitchFamily="34" charset="0"/>
                <a:ea typeface="Lato" panose="020F0502020204030203" pitchFamily="34" charset="0"/>
                <a:cs typeface="Lato" panose="020F0502020204030203" pitchFamily="34" charset="0"/>
              </a:rPr>
              <a:t>ipython</a:t>
            </a:r>
            <a:r>
              <a:rPr lang="pt-BR" sz="1400" dirty="0">
                <a:solidFill>
                  <a:srgbClr val="696969"/>
                </a:solidFill>
                <a:latin typeface="Candara" panose="020E0502030303020204" pitchFamily="34" charset="0"/>
                <a:ea typeface="Lato" panose="020F0502020204030203" pitchFamily="34" charset="0"/>
                <a:cs typeface="Lato" panose="020F0502020204030203" pitchFamily="34" charset="0"/>
              </a:rPr>
              <a:t>		</a:t>
            </a:r>
            <a:r>
              <a:rPr lang="pt-BR" sz="1400" dirty="0" err="1">
                <a:solidFill>
                  <a:srgbClr val="696969"/>
                </a:solidFill>
                <a:latin typeface="Candara" panose="020E0502030303020204" pitchFamily="34" charset="0"/>
                <a:ea typeface="Lato" panose="020F0502020204030203" pitchFamily="34" charset="0"/>
                <a:cs typeface="Lato" panose="020F0502020204030203" pitchFamily="34" charset="0"/>
              </a:rPr>
              <a:t>pip</a:t>
            </a:r>
            <a:r>
              <a:rPr lang="pt-BR" sz="1400" dirty="0">
                <a:solidFill>
                  <a:srgbClr val="696969"/>
                </a:solidFill>
                <a:latin typeface="Candara" panose="020E0502030303020204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pt-BR" sz="1400" dirty="0" err="1">
                <a:solidFill>
                  <a:srgbClr val="696969"/>
                </a:solidFill>
                <a:latin typeface="Candara" panose="020E0502030303020204" pitchFamily="34" charset="0"/>
                <a:ea typeface="Lato" panose="020F0502020204030203" pitchFamily="34" charset="0"/>
                <a:cs typeface="Lato" panose="020F0502020204030203" pitchFamily="34" charset="0"/>
              </a:rPr>
              <a:t>install</a:t>
            </a:r>
            <a:r>
              <a:rPr lang="pt-BR" sz="1400" dirty="0">
                <a:solidFill>
                  <a:srgbClr val="696969"/>
                </a:solidFill>
                <a:latin typeface="Candara" panose="020E0502030303020204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pt-BR" sz="1400" dirty="0" err="1">
                <a:solidFill>
                  <a:srgbClr val="696969"/>
                </a:solidFill>
                <a:latin typeface="Candara" panose="020E0502030303020204" pitchFamily="34" charset="0"/>
                <a:ea typeface="Lato" panose="020F0502020204030203" pitchFamily="34" charset="0"/>
                <a:cs typeface="Lato" panose="020F0502020204030203" pitchFamily="34" charset="0"/>
              </a:rPr>
              <a:t>numpy</a:t>
            </a:r>
            <a:endParaRPr lang="pt-BR" sz="1400" dirty="0">
              <a:solidFill>
                <a:srgbClr val="696969"/>
              </a:solidFill>
              <a:latin typeface="Candara" panose="020E0502030303020204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  <a:p>
            <a:pPr>
              <a:lnSpc>
                <a:spcPct val="150000"/>
              </a:lnSpc>
            </a:pPr>
            <a:r>
              <a:rPr lang="pt-BR" sz="1400" dirty="0" err="1">
                <a:solidFill>
                  <a:srgbClr val="696969"/>
                </a:solidFill>
                <a:latin typeface="Candara" panose="020E0502030303020204" pitchFamily="34" charset="0"/>
                <a:ea typeface="Lato" panose="020F0502020204030203" pitchFamily="34" charset="0"/>
                <a:cs typeface="Lato" panose="020F0502020204030203" pitchFamily="34" charset="0"/>
              </a:rPr>
              <a:t>pip</a:t>
            </a:r>
            <a:r>
              <a:rPr lang="pt-BR" sz="1400" dirty="0">
                <a:solidFill>
                  <a:srgbClr val="696969"/>
                </a:solidFill>
                <a:latin typeface="Candara" panose="020E0502030303020204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pt-BR" sz="1400" dirty="0" err="1">
                <a:solidFill>
                  <a:srgbClr val="696969"/>
                </a:solidFill>
                <a:latin typeface="Candara" panose="020E0502030303020204" pitchFamily="34" charset="0"/>
                <a:ea typeface="Lato" panose="020F0502020204030203" pitchFamily="34" charset="0"/>
                <a:cs typeface="Lato" panose="020F0502020204030203" pitchFamily="34" charset="0"/>
              </a:rPr>
              <a:t>install</a:t>
            </a:r>
            <a:r>
              <a:rPr lang="pt-BR" sz="1400" dirty="0">
                <a:solidFill>
                  <a:srgbClr val="696969"/>
                </a:solidFill>
                <a:latin typeface="Candara" panose="020E0502030303020204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pt-BR" sz="1400" dirty="0" err="1">
                <a:solidFill>
                  <a:srgbClr val="696969"/>
                </a:solidFill>
                <a:latin typeface="Candara" panose="020E0502030303020204" pitchFamily="34" charset="0"/>
                <a:ea typeface="Lato" panose="020F0502020204030203" pitchFamily="34" charset="0"/>
                <a:cs typeface="Lato" panose="020F0502020204030203" pitchFamily="34" charset="0"/>
              </a:rPr>
              <a:t>sklearn</a:t>
            </a:r>
            <a:r>
              <a:rPr lang="pt-BR" sz="1400" dirty="0">
                <a:solidFill>
                  <a:srgbClr val="696969"/>
                </a:solidFill>
                <a:latin typeface="Candara" panose="020E0502030303020204" pitchFamily="34" charset="0"/>
                <a:ea typeface="Lato" panose="020F0502020204030203" pitchFamily="34" charset="0"/>
                <a:cs typeface="Lato" panose="020F0502020204030203" pitchFamily="34" charset="0"/>
              </a:rPr>
              <a:t>		</a:t>
            </a:r>
            <a:r>
              <a:rPr lang="pt-BR" sz="1400" dirty="0" err="1">
                <a:solidFill>
                  <a:srgbClr val="696969"/>
                </a:solidFill>
                <a:latin typeface="Candara" panose="020E0502030303020204" pitchFamily="34" charset="0"/>
                <a:ea typeface="Lato" panose="020F0502020204030203" pitchFamily="34" charset="0"/>
                <a:cs typeface="Lato" panose="020F0502020204030203" pitchFamily="34" charset="0"/>
              </a:rPr>
              <a:t>pip</a:t>
            </a:r>
            <a:r>
              <a:rPr lang="pt-BR" sz="1400" dirty="0">
                <a:solidFill>
                  <a:srgbClr val="696969"/>
                </a:solidFill>
                <a:latin typeface="Candara" panose="020E0502030303020204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pt-BR" sz="1400" dirty="0" err="1">
                <a:solidFill>
                  <a:srgbClr val="696969"/>
                </a:solidFill>
                <a:latin typeface="Candara" panose="020E0502030303020204" pitchFamily="34" charset="0"/>
                <a:ea typeface="Lato" panose="020F0502020204030203" pitchFamily="34" charset="0"/>
                <a:cs typeface="Lato" panose="020F0502020204030203" pitchFamily="34" charset="0"/>
              </a:rPr>
              <a:t>install</a:t>
            </a:r>
            <a:r>
              <a:rPr lang="pt-BR" sz="1400" dirty="0">
                <a:solidFill>
                  <a:srgbClr val="696969"/>
                </a:solidFill>
                <a:latin typeface="Candara" panose="020E0502030303020204" pitchFamily="34" charset="0"/>
                <a:ea typeface="Lato" panose="020F0502020204030203" pitchFamily="34" charset="0"/>
                <a:cs typeface="Lato" panose="020F0502020204030203" pitchFamily="34" charset="0"/>
              </a:rPr>
              <a:t> pandas</a:t>
            </a:r>
          </a:p>
          <a:p>
            <a:pPr>
              <a:lnSpc>
                <a:spcPct val="150000"/>
              </a:lnSpc>
            </a:pPr>
            <a:r>
              <a:rPr lang="pt-BR" sz="1400" dirty="0" err="1">
                <a:solidFill>
                  <a:srgbClr val="696969"/>
                </a:solidFill>
                <a:latin typeface="Candara" panose="020E0502030303020204" pitchFamily="34" charset="0"/>
                <a:ea typeface="Lato" panose="020F0502020204030203" pitchFamily="34" charset="0"/>
                <a:cs typeface="Lato" panose="020F0502020204030203" pitchFamily="34" charset="0"/>
              </a:rPr>
              <a:t>pip</a:t>
            </a:r>
            <a:r>
              <a:rPr lang="pt-BR" sz="1400" dirty="0">
                <a:solidFill>
                  <a:srgbClr val="696969"/>
                </a:solidFill>
                <a:latin typeface="Candara" panose="020E0502030303020204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pt-BR" sz="1400" dirty="0" err="1">
                <a:solidFill>
                  <a:srgbClr val="696969"/>
                </a:solidFill>
                <a:latin typeface="Candara" panose="020E0502030303020204" pitchFamily="34" charset="0"/>
                <a:ea typeface="Lato" panose="020F0502020204030203" pitchFamily="34" charset="0"/>
                <a:cs typeface="Lato" panose="020F0502020204030203" pitchFamily="34" charset="0"/>
              </a:rPr>
              <a:t>install</a:t>
            </a:r>
            <a:r>
              <a:rPr lang="pt-BR" sz="1400" dirty="0">
                <a:solidFill>
                  <a:srgbClr val="696969"/>
                </a:solidFill>
                <a:latin typeface="Candara" panose="020E0502030303020204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pt-BR" sz="1400" dirty="0" err="1">
                <a:solidFill>
                  <a:srgbClr val="696969"/>
                </a:solidFill>
                <a:latin typeface="Candara" panose="020E0502030303020204" pitchFamily="34" charset="0"/>
                <a:ea typeface="Lato" panose="020F0502020204030203" pitchFamily="34" charset="0"/>
                <a:cs typeface="Lato" panose="020F0502020204030203" pitchFamily="34" charset="0"/>
              </a:rPr>
              <a:t>jupyterlab</a:t>
            </a:r>
            <a:r>
              <a:rPr lang="pt-BR" sz="1400" dirty="0">
                <a:solidFill>
                  <a:srgbClr val="696969"/>
                </a:solidFill>
                <a:latin typeface="Candara" panose="020E0502030303020204" pitchFamily="34" charset="0"/>
                <a:ea typeface="Lato" panose="020F0502020204030203" pitchFamily="34" charset="0"/>
                <a:cs typeface="Lato" panose="020F0502020204030203" pitchFamily="34" charset="0"/>
              </a:rPr>
              <a:t>		</a:t>
            </a:r>
            <a:r>
              <a:rPr lang="pt-BR" sz="1400" dirty="0" err="1">
                <a:solidFill>
                  <a:srgbClr val="696969"/>
                </a:solidFill>
                <a:latin typeface="Candara" panose="020E0502030303020204" pitchFamily="34" charset="0"/>
                <a:ea typeface="Lato" panose="020F0502020204030203" pitchFamily="34" charset="0"/>
                <a:cs typeface="Lato" panose="020F0502020204030203" pitchFamily="34" charset="0"/>
              </a:rPr>
              <a:t>pip</a:t>
            </a:r>
            <a:r>
              <a:rPr lang="pt-BR" sz="1400" dirty="0">
                <a:solidFill>
                  <a:srgbClr val="696969"/>
                </a:solidFill>
                <a:latin typeface="Candara" panose="020E0502030303020204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pt-BR" sz="1400" dirty="0" err="1">
                <a:solidFill>
                  <a:srgbClr val="696969"/>
                </a:solidFill>
                <a:latin typeface="Candara" panose="020E0502030303020204" pitchFamily="34" charset="0"/>
                <a:ea typeface="Lato" panose="020F0502020204030203" pitchFamily="34" charset="0"/>
                <a:cs typeface="Lato" panose="020F0502020204030203" pitchFamily="34" charset="0"/>
              </a:rPr>
              <a:t>install</a:t>
            </a:r>
            <a:r>
              <a:rPr lang="pt-BR" sz="1400" dirty="0">
                <a:solidFill>
                  <a:srgbClr val="696969"/>
                </a:solidFill>
                <a:latin typeface="Candara" panose="020E0502030303020204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pt-BR" sz="1400" dirty="0" err="1">
                <a:solidFill>
                  <a:srgbClr val="696969"/>
                </a:solidFill>
                <a:latin typeface="Candara" panose="020E0502030303020204" pitchFamily="34" charset="0"/>
                <a:ea typeface="Lato" panose="020F0502020204030203" pitchFamily="34" charset="0"/>
                <a:cs typeface="Lato" panose="020F0502020204030203" pitchFamily="34" charset="0"/>
              </a:rPr>
              <a:t>matplotlib</a:t>
            </a:r>
            <a:endParaRPr lang="pt-BR" sz="1400" dirty="0">
              <a:solidFill>
                <a:srgbClr val="696969"/>
              </a:solidFill>
              <a:latin typeface="Candara" panose="020E0502030303020204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  <a:p>
            <a:pPr>
              <a:lnSpc>
                <a:spcPct val="150000"/>
              </a:lnSpc>
            </a:pPr>
            <a:r>
              <a:rPr lang="pt-BR" sz="1400" dirty="0" err="1">
                <a:solidFill>
                  <a:srgbClr val="696969"/>
                </a:solidFill>
                <a:latin typeface="Candara" panose="020E0502030303020204" pitchFamily="34" charset="0"/>
                <a:ea typeface="Lato" panose="020F0502020204030203" pitchFamily="34" charset="0"/>
                <a:cs typeface="Lato" panose="020F0502020204030203" pitchFamily="34" charset="0"/>
              </a:rPr>
              <a:t>pip</a:t>
            </a:r>
            <a:r>
              <a:rPr lang="pt-BR" sz="1400" dirty="0">
                <a:solidFill>
                  <a:srgbClr val="696969"/>
                </a:solidFill>
                <a:latin typeface="Candara" panose="020E0502030303020204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pt-BR" sz="1400" dirty="0" err="1">
                <a:solidFill>
                  <a:srgbClr val="696969"/>
                </a:solidFill>
                <a:latin typeface="Candara" panose="020E0502030303020204" pitchFamily="34" charset="0"/>
                <a:ea typeface="Lato" panose="020F0502020204030203" pitchFamily="34" charset="0"/>
                <a:cs typeface="Lato" panose="020F0502020204030203" pitchFamily="34" charset="0"/>
              </a:rPr>
              <a:t>install</a:t>
            </a:r>
            <a:r>
              <a:rPr lang="pt-BR" sz="1400" dirty="0">
                <a:solidFill>
                  <a:srgbClr val="696969"/>
                </a:solidFill>
                <a:latin typeface="Candara" panose="020E0502030303020204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pt-BR" sz="1400" dirty="0" err="1">
                <a:solidFill>
                  <a:srgbClr val="696969"/>
                </a:solidFill>
                <a:latin typeface="Candara" panose="020E0502030303020204" pitchFamily="34" charset="0"/>
                <a:ea typeface="Lato" panose="020F0502020204030203" pitchFamily="34" charset="0"/>
                <a:cs typeface="Lato" panose="020F0502020204030203" pitchFamily="34" charset="0"/>
              </a:rPr>
              <a:t>seaborn</a:t>
            </a:r>
            <a:r>
              <a:rPr lang="pt-BR" sz="1400" dirty="0">
                <a:solidFill>
                  <a:srgbClr val="696969"/>
                </a:solidFill>
                <a:latin typeface="Candara" panose="020E0502030303020204" pitchFamily="34" charset="0"/>
                <a:ea typeface="Lato" panose="020F0502020204030203" pitchFamily="34" charset="0"/>
                <a:cs typeface="Lato" panose="020F0502020204030203" pitchFamily="34" charset="0"/>
              </a:rPr>
              <a:t>		</a:t>
            </a:r>
            <a:r>
              <a:rPr lang="pt-BR" sz="1400" dirty="0" err="1">
                <a:solidFill>
                  <a:srgbClr val="696969"/>
                </a:solidFill>
                <a:latin typeface="Candara" panose="020E0502030303020204" pitchFamily="34" charset="0"/>
                <a:ea typeface="Lato" panose="020F0502020204030203" pitchFamily="34" charset="0"/>
                <a:cs typeface="Lato" panose="020F0502020204030203" pitchFamily="34" charset="0"/>
              </a:rPr>
              <a:t>pip</a:t>
            </a:r>
            <a:r>
              <a:rPr lang="pt-BR" sz="1400" dirty="0">
                <a:solidFill>
                  <a:srgbClr val="696969"/>
                </a:solidFill>
                <a:latin typeface="Candara" panose="020E0502030303020204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pt-BR" sz="1400" dirty="0" err="1">
                <a:solidFill>
                  <a:srgbClr val="696969"/>
                </a:solidFill>
                <a:latin typeface="Candara" panose="020E0502030303020204" pitchFamily="34" charset="0"/>
                <a:ea typeface="Lato" panose="020F0502020204030203" pitchFamily="34" charset="0"/>
                <a:cs typeface="Lato" panose="020F0502020204030203" pitchFamily="34" charset="0"/>
              </a:rPr>
              <a:t>install</a:t>
            </a:r>
            <a:r>
              <a:rPr lang="pt-BR" sz="1400" dirty="0">
                <a:solidFill>
                  <a:srgbClr val="696969"/>
                </a:solidFill>
                <a:latin typeface="Candara" panose="020E0502030303020204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pt-BR" sz="1400" dirty="0" err="1">
                <a:solidFill>
                  <a:srgbClr val="696969"/>
                </a:solidFill>
                <a:latin typeface="Candara" panose="020E0502030303020204" pitchFamily="34" charset="0"/>
                <a:ea typeface="Lato" panose="020F0502020204030203" pitchFamily="34" charset="0"/>
                <a:cs typeface="Lato" panose="020F0502020204030203" pitchFamily="34" charset="0"/>
              </a:rPr>
              <a:t>plotly</a:t>
            </a:r>
            <a:endParaRPr lang="pt-BR" sz="1400" dirty="0">
              <a:solidFill>
                <a:srgbClr val="696969"/>
              </a:solidFill>
              <a:latin typeface="Candara" panose="020E0502030303020204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3" name="TextBox 8">
            <a:extLst>
              <a:ext uri="{FF2B5EF4-FFF2-40B4-BE49-F238E27FC236}">
                <a16:creationId xmlns:a16="http://schemas.microsoft.com/office/drawing/2014/main" id="{116CDA3F-4FA0-63C9-9FF8-726095C4EB0C}"/>
              </a:ext>
            </a:extLst>
          </p:cNvPr>
          <p:cNvSpPr txBox="1"/>
          <p:nvPr/>
        </p:nvSpPr>
        <p:spPr>
          <a:xfrm>
            <a:off x="371475" y="1042909"/>
            <a:ext cx="11449050" cy="705258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pt-BR" sz="1400" b="1" dirty="0">
                <a:latin typeface="Candara" panose="020E0502030303020204" pitchFamily="34" charset="0"/>
                <a:ea typeface="Lato" panose="020F0502020204030203" pitchFamily="34" charset="0"/>
                <a:cs typeface="Lato" panose="020F0502020204030203" pitchFamily="34" charset="0"/>
              </a:rPr>
              <a:t>Listar pacotes instalados:</a:t>
            </a:r>
          </a:p>
          <a:p>
            <a:pPr>
              <a:lnSpc>
                <a:spcPct val="150000"/>
              </a:lnSpc>
            </a:pPr>
            <a:r>
              <a:rPr lang="pt-BR" sz="1400" dirty="0">
                <a:solidFill>
                  <a:srgbClr val="696969"/>
                </a:solidFill>
                <a:latin typeface="Candara" panose="020E0502030303020204" pitchFamily="34" charset="0"/>
                <a:ea typeface="Lato" panose="020F0502020204030203" pitchFamily="34" charset="0"/>
                <a:cs typeface="Lato" panose="020F0502020204030203" pitchFamily="34" charset="0"/>
              </a:rPr>
              <a:t>Em seu ambiente virtual ativado, digite: </a:t>
            </a:r>
            <a:r>
              <a:rPr lang="pt-BR" sz="1400" b="1" dirty="0" err="1">
                <a:latin typeface="Candara" panose="020E0502030303020204" pitchFamily="34" charset="0"/>
                <a:ea typeface="Lato" panose="020F0502020204030203" pitchFamily="34" charset="0"/>
                <a:cs typeface="Lato" panose="020F0502020204030203" pitchFamily="34" charset="0"/>
              </a:rPr>
              <a:t>pip</a:t>
            </a:r>
            <a:r>
              <a:rPr lang="pt-BR" sz="1400" b="1" dirty="0">
                <a:latin typeface="Candara" panose="020E0502030303020204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pt-BR" sz="1400" b="1" dirty="0" err="1">
                <a:latin typeface="Candara" panose="020E0502030303020204" pitchFamily="34" charset="0"/>
                <a:ea typeface="Lato" panose="020F0502020204030203" pitchFamily="34" charset="0"/>
                <a:cs typeface="Lato" panose="020F0502020204030203" pitchFamily="34" charset="0"/>
              </a:rPr>
              <a:t>list</a:t>
            </a:r>
            <a:endParaRPr lang="pt-BR" sz="1400" b="1" dirty="0">
              <a:solidFill>
                <a:srgbClr val="696969"/>
              </a:solidFill>
              <a:latin typeface="Candara" panose="020E0502030303020204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</p:spTree>
  </p:cSld>
  <p:clrMapOvr>
    <a:masterClrMapping/>
  </p:clrMapOvr>
  <p:transition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47A1EB-5142-CB48-AB43-FD63342FB24F}" type="slidenum">
              <a:rPr lang="en-US">
                <a:ea typeface="Lato" panose="020F0502020204030203" pitchFamily="34" charset="0"/>
                <a:cs typeface="Lato" panose="020F0502020204030203" pitchFamily="34" charset="0"/>
              </a:rPr>
              <a:t>8</a:t>
            </a:fld>
            <a:endParaRPr lang="en-US" dirty="0"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371475" y="272038"/>
            <a:ext cx="11449050" cy="58477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pt-BR" sz="3200" b="1" dirty="0" err="1">
                <a:solidFill>
                  <a:srgbClr val="0C509E"/>
                </a:solidFill>
                <a:latin typeface="PT Sans" panose="020B0503020203020204" pitchFamily="34" charset="77"/>
                <a:cs typeface="Helvetica LT Std" panose="020B0504020202020204" charset="0"/>
              </a:rPr>
              <a:t>Jupyter</a:t>
            </a:r>
            <a:r>
              <a:rPr lang="pt-BR" sz="3200" b="1" dirty="0">
                <a:solidFill>
                  <a:srgbClr val="0C509E"/>
                </a:solidFill>
                <a:latin typeface="PT Sans" panose="020B0503020203020204" pitchFamily="34" charset="77"/>
                <a:cs typeface="Helvetica LT Std" panose="020B0504020202020204" charset="0"/>
              </a:rPr>
              <a:t> </a:t>
            </a:r>
            <a:r>
              <a:rPr lang="pt-BR" sz="3200" b="1" dirty="0" err="1">
                <a:solidFill>
                  <a:srgbClr val="0C509E"/>
                </a:solidFill>
                <a:latin typeface="PT Sans" panose="020B0503020203020204" pitchFamily="34" charset="77"/>
                <a:cs typeface="Helvetica LT Std" panose="020B0504020202020204" charset="0"/>
              </a:rPr>
              <a:t>Lab</a:t>
            </a:r>
            <a:r>
              <a:rPr lang="pt-BR" sz="3200" b="1" dirty="0">
                <a:solidFill>
                  <a:srgbClr val="0C509E"/>
                </a:solidFill>
                <a:latin typeface="PT Sans" panose="020B0503020203020204" pitchFamily="34" charset="77"/>
                <a:cs typeface="Helvetica LT Std" panose="020B0504020202020204" charset="0"/>
              </a:rPr>
              <a:t> (</a:t>
            </a:r>
            <a:r>
              <a:rPr lang="pt-BR" sz="3200" b="1" dirty="0" err="1">
                <a:solidFill>
                  <a:srgbClr val="0C509E"/>
                </a:solidFill>
                <a:latin typeface="PT Sans" panose="020B0503020203020204" pitchFamily="34" charset="77"/>
                <a:cs typeface="Helvetica LT Std" panose="020B0504020202020204" charset="0"/>
              </a:rPr>
              <a:t>Jupyter</a:t>
            </a:r>
            <a:r>
              <a:rPr lang="pt-BR" sz="3200" b="1" dirty="0">
                <a:solidFill>
                  <a:srgbClr val="0C509E"/>
                </a:solidFill>
                <a:latin typeface="PT Sans" panose="020B0503020203020204" pitchFamily="34" charset="77"/>
                <a:cs typeface="Helvetica LT Std" panose="020B0504020202020204" charset="0"/>
              </a:rPr>
              <a:t> Notebook)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-3115" y="6782724"/>
            <a:ext cx="12194763" cy="75278"/>
          </a:xfrm>
          <a:prstGeom prst="rect">
            <a:avLst/>
          </a:prstGeom>
          <a:solidFill>
            <a:srgbClr val="0C509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195"/>
          </a:p>
        </p:txBody>
      </p:sp>
      <p:sp>
        <p:nvSpPr>
          <p:cNvPr id="7" name="Rectangle 6"/>
          <p:cNvSpPr/>
          <p:nvPr/>
        </p:nvSpPr>
        <p:spPr>
          <a:xfrm>
            <a:off x="371474" y="7101815"/>
            <a:ext cx="5726113" cy="48610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1" name="Rectangle 10"/>
          <p:cNvSpPr/>
          <p:nvPr/>
        </p:nvSpPr>
        <p:spPr>
          <a:xfrm>
            <a:off x="6104004" y="7101814"/>
            <a:ext cx="5726113" cy="486102"/>
          </a:xfrm>
          <a:prstGeom prst="rect">
            <a:avLst/>
          </a:prstGeom>
          <a:solidFill>
            <a:srgbClr val="FFD7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9" name="TextBox 8"/>
          <p:cNvSpPr txBox="1"/>
          <p:nvPr/>
        </p:nvSpPr>
        <p:spPr>
          <a:xfrm>
            <a:off x="371475" y="1042909"/>
            <a:ext cx="11449050" cy="1028358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pt-BR" sz="1400" dirty="0">
                <a:solidFill>
                  <a:srgbClr val="696969"/>
                </a:solidFill>
                <a:latin typeface="Candara" panose="020E0502030303020204" pitchFamily="34" charset="0"/>
                <a:ea typeface="Lato" panose="020F0502020204030203" pitchFamily="34" charset="0"/>
                <a:cs typeface="Lato" panose="020F0502020204030203" pitchFamily="34" charset="0"/>
              </a:rPr>
              <a:t>Ambiente web interativo para o desenvolvimento de códigos, exploração de dados, etc.</a:t>
            </a:r>
          </a:p>
          <a:p>
            <a:pPr>
              <a:lnSpc>
                <a:spcPct val="150000"/>
              </a:lnSpc>
            </a:pPr>
            <a:endParaRPr lang="pt-BR" sz="1400" dirty="0">
              <a:solidFill>
                <a:srgbClr val="696969"/>
              </a:solidFill>
              <a:latin typeface="Candara" panose="020E0502030303020204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  <a:p>
            <a:pPr>
              <a:lnSpc>
                <a:spcPct val="150000"/>
              </a:lnSpc>
            </a:pPr>
            <a:r>
              <a:rPr lang="pt-BR" sz="1400" dirty="0">
                <a:solidFill>
                  <a:srgbClr val="696969"/>
                </a:solidFill>
                <a:latin typeface="Candara" panose="020E0502030303020204" pitchFamily="34" charset="0"/>
                <a:ea typeface="Lato" panose="020F0502020204030203" pitchFamily="34" charset="0"/>
                <a:cs typeface="Lato" panose="020F0502020204030203" pitchFamily="34" charset="0"/>
              </a:rPr>
              <a:t>No terminal, dentro de sua pasta de trabalho, digite: </a:t>
            </a:r>
            <a:r>
              <a:rPr lang="pt-BR" sz="1400" b="1" i="1" dirty="0" err="1">
                <a:latin typeface="Candara" panose="020E0502030303020204" pitchFamily="34" charset="0"/>
                <a:ea typeface="Lato" panose="020F0502020204030203" pitchFamily="34" charset="0"/>
                <a:cs typeface="Lato" panose="020F0502020204030203" pitchFamily="34" charset="0"/>
              </a:rPr>
              <a:t>jupyter</a:t>
            </a:r>
            <a:r>
              <a:rPr lang="pt-BR" sz="1400" b="1" i="1" dirty="0">
                <a:latin typeface="Candara" panose="020E0502030303020204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pt-BR" sz="1400" b="1" i="1" dirty="0" err="1">
                <a:latin typeface="Candara" panose="020E0502030303020204" pitchFamily="34" charset="0"/>
                <a:ea typeface="Lato" panose="020F0502020204030203" pitchFamily="34" charset="0"/>
                <a:cs typeface="Lato" panose="020F0502020204030203" pitchFamily="34" charset="0"/>
              </a:rPr>
              <a:t>lab</a:t>
            </a:r>
            <a:endParaRPr lang="pt-BR" sz="1400" dirty="0">
              <a:latin typeface="Candara" panose="020E0502030303020204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13" name="Rectangle 12"/>
          <p:cNvSpPr/>
          <p:nvPr/>
        </p:nvSpPr>
        <p:spPr>
          <a:xfrm rot="16200000">
            <a:off x="-2021984" y="4717094"/>
            <a:ext cx="3059113" cy="48610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6" name="Rectangle 15"/>
          <p:cNvSpPr/>
          <p:nvPr/>
        </p:nvSpPr>
        <p:spPr>
          <a:xfrm rot="16200000">
            <a:off x="-2021984" y="1654805"/>
            <a:ext cx="3059113" cy="486102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grpSp>
        <p:nvGrpSpPr>
          <p:cNvPr id="5" name="Group 4"/>
          <p:cNvGrpSpPr/>
          <p:nvPr/>
        </p:nvGrpSpPr>
        <p:grpSpPr>
          <a:xfrm>
            <a:off x="3031642" y="2437018"/>
            <a:ext cx="6128717" cy="3553581"/>
            <a:chOff x="2100883" y="2437018"/>
            <a:chExt cx="6128717" cy="3553581"/>
          </a:xfrm>
        </p:grpSpPr>
        <p:pic>
          <p:nvPicPr>
            <p:cNvPr id="2" name="Picture 1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100883" y="2437018"/>
              <a:ext cx="6128717" cy="3553581"/>
            </a:xfrm>
            <a:prstGeom prst="rect">
              <a:avLst/>
            </a:prstGeom>
          </p:spPr>
        </p:pic>
        <p:sp>
          <p:nvSpPr>
            <p:cNvPr id="3" name="Rectangle 2"/>
            <p:cNvSpPr/>
            <p:nvPr/>
          </p:nvSpPr>
          <p:spPr>
            <a:xfrm>
              <a:off x="6093844" y="3284871"/>
              <a:ext cx="733676" cy="62802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7" name="Rectangle 16"/>
            <p:cNvSpPr/>
            <p:nvPr/>
          </p:nvSpPr>
          <p:spPr>
            <a:xfrm>
              <a:off x="6104004" y="4278650"/>
              <a:ext cx="733676" cy="67943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sp>
        <p:nvSpPr>
          <p:cNvPr id="6" name="Rectangle 5"/>
          <p:cNvSpPr/>
          <p:nvPr/>
        </p:nvSpPr>
        <p:spPr>
          <a:xfrm>
            <a:off x="2824480" y="2245360"/>
            <a:ext cx="2489200" cy="2123440"/>
          </a:xfrm>
          <a:prstGeom prst="rect">
            <a:avLst/>
          </a:prstGeom>
          <a:noFill/>
          <a:ln w="38100">
            <a:solidFill>
              <a:srgbClr val="EA423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8" name="Rectangle 7"/>
          <p:cNvSpPr/>
          <p:nvPr/>
        </p:nvSpPr>
        <p:spPr>
          <a:xfrm>
            <a:off x="1419928" y="3104247"/>
            <a:ext cx="1404552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sz="1200" dirty="0">
                <a:solidFill>
                  <a:srgbClr val="EA4239"/>
                </a:solidFill>
                <a:latin typeface="Candara" panose="020E0502030303020204" pitchFamily="34" charset="0"/>
                <a:ea typeface="Lato" panose="020F0502020204030203" pitchFamily="34" charset="0"/>
                <a:cs typeface="Lato" panose="020F0502020204030203" pitchFamily="34" charset="0"/>
              </a:rPr>
              <a:t>Arquivos dentro</a:t>
            </a:r>
          </a:p>
          <a:p>
            <a:r>
              <a:rPr lang="pt-BR" sz="1200" dirty="0">
                <a:solidFill>
                  <a:srgbClr val="EA4239"/>
                </a:solidFill>
                <a:latin typeface="Candara" panose="020E0502030303020204" pitchFamily="34" charset="0"/>
                <a:ea typeface="Lato" panose="020F0502020204030203" pitchFamily="34" charset="0"/>
                <a:cs typeface="Lato" panose="020F0502020204030203" pitchFamily="34" charset="0"/>
              </a:rPr>
              <a:t>de seu diretório de</a:t>
            </a:r>
          </a:p>
          <a:p>
            <a:r>
              <a:rPr lang="pt-BR" sz="1200" dirty="0">
                <a:solidFill>
                  <a:srgbClr val="EA4239"/>
                </a:solidFill>
                <a:latin typeface="Candara" panose="020E0502030303020204" pitchFamily="34" charset="0"/>
                <a:ea typeface="Lato" panose="020F0502020204030203" pitchFamily="34" charset="0"/>
                <a:cs typeface="Lato" panose="020F0502020204030203" pitchFamily="34" charset="0"/>
              </a:rPr>
              <a:t>trabalho</a:t>
            </a:r>
            <a:endParaRPr lang="pt-BR" sz="1200" dirty="0">
              <a:solidFill>
                <a:srgbClr val="EA4239"/>
              </a:solidFill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7024603" y="3434122"/>
            <a:ext cx="1651286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sz="1200" dirty="0">
                <a:solidFill>
                  <a:srgbClr val="EA4239"/>
                </a:solidFill>
              </a:rPr>
              <a:t>Para criar um notebook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380480" y="3232343"/>
            <a:ext cx="681176" cy="680556"/>
          </a:xfrm>
          <a:prstGeom prst="rect">
            <a:avLst/>
          </a:prstGeom>
          <a:noFill/>
          <a:ln w="38100">
            <a:solidFill>
              <a:srgbClr val="EA423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</p:cSld>
  <p:clrMapOvr>
    <a:masterClrMapping/>
  </p:clrMapOvr>
  <p:transition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47A1EB-5142-CB48-AB43-FD63342FB24F}" type="slidenum">
              <a:rPr lang="en-US">
                <a:ea typeface="Lato" panose="020F0502020204030203" pitchFamily="34" charset="0"/>
                <a:cs typeface="Lato" panose="020F0502020204030203" pitchFamily="34" charset="0"/>
              </a:rPr>
              <a:t>9</a:t>
            </a:fld>
            <a:endParaRPr lang="en-US" dirty="0"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371475" y="272038"/>
            <a:ext cx="11449050" cy="58477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pt-BR" sz="3200" b="1" dirty="0">
                <a:solidFill>
                  <a:srgbClr val="0C509E"/>
                </a:solidFill>
                <a:latin typeface="PT Sans" panose="020B0503020203020204" pitchFamily="34" charset="77"/>
                <a:cs typeface="Helvetica LT Std" panose="020B0504020202020204" charset="0"/>
              </a:rPr>
              <a:t>Ambientes Alternativos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-3115" y="6782724"/>
            <a:ext cx="12194763" cy="75278"/>
          </a:xfrm>
          <a:prstGeom prst="rect">
            <a:avLst/>
          </a:prstGeom>
          <a:solidFill>
            <a:srgbClr val="0C509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195"/>
          </a:p>
        </p:txBody>
      </p:sp>
      <p:sp>
        <p:nvSpPr>
          <p:cNvPr id="7" name="Rectangle 6"/>
          <p:cNvSpPr/>
          <p:nvPr/>
        </p:nvSpPr>
        <p:spPr>
          <a:xfrm>
            <a:off x="371474" y="7101815"/>
            <a:ext cx="5726113" cy="48610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1" name="Rectangle 10"/>
          <p:cNvSpPr/>
          <p:nvPr/>
        </p:nvSpPr>
        <p:spPr>
          <a:xfrm>
            <a:off x="6104004" y="7101814"/>
            <a:ext cx="5726113" cy="486102"/>
          </a:xfrm>
          <a:prstGeom prst="rect">
            <a:avLst/>
          </a:prstGeom>
          <a:solidFill>
            <a:srgbClr val="FFD7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9" name="TextBox 8"/>
          <p:cNvSpPr txBox="1"/>
          <p:nvPr/>
        </p:nvSpPr>
        <p:spPr>
          <a:xfrm>
            <a:off x="371475" y="1042909"/>
            <a:ext cx="11449050" cy="3290516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80604020202020204" pitchFamily="34" charset="0"/>
              <a:buChar char="•"/>
            </a:pPr>
            <a:r>
              <a:rPr lang="pt-BR" sz="1400" b="1" dirty="0">
                <a:latin typeface="Candara" panose="020E0502030303020204" pitchFamily="34" charset="0"/>
                <a:ea typeface="Lato" panose="020F0502020204030203" pitchFamily="34" charset="0"/>
                <a:cs typeface="Lato" panose="020F0502020204030203" pitchFamily="34" charset="0"/>
              </a:rPr>
              <a:t>Google </a:t>
            </a:r>
            <a:r>
              <a:rPr lang="pt-BR" sz="1400" b="1" dirty="0" err="1">
                <a:latin typeface="Candara" panose="020E0502030303020204" pitchFamily="34" charset="0"/>
                <a:ea typeface="Lato" panose="020F0502020204030203" pitchFamily="34" charset="0"/>
                <a:cs typeface="Lato" panose="020F0502020204030203" pitchFamily="34" charset="0"/>
              </a:rPr>
              <a:t>Colab</a:t>
            </a:r>
            <a:r>
              <a:rPr lang="pt-BR" sz="1400" b="1" dirty="0">
                <a:latin typeface="Candara" panose="020E0502030303020204" pitchFamily="34" charset="0"/>
                <a:ea typeface="Lato" panose="020F0502020204030203" pitchFamily="34" charset="0"/>
                <a:cs typeface="Lato" panose="020F0502020204030203" pitchFamily="34" charset="0"/>
              </a:rPr>
              <a:t>:</a:t>
            </a:r>
            <a:r>
              <a:rPr lang="pt-BR" sz="1400" dirty="0">
                <a:solidFill>
                  <a:srgbClr val="696969"/>
                </a:solidFill>
                <a:latin typeface="Candara" panose="020E0502030303020204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pt-BR" sz="1400" dirty="0">
                <a:solidFill>
                  <a:srgbClr val="696969"/>
                </a:solidFill>
                <a:latin typeface="Candara" panose="020E0502030303020204" pitchFamily="34" charset="0"/>
                <a:ea typeface="Lato" panose="020F0502020204030203" pitchFamily="34" charset="0"/>
                <a:cs typeface="Lato" panose="020F0502020204030203" pitchFamily="34" charset="0"/>
                <a:hlinkClick r:id="rId2"/>
              </a:rPr>
              <a:t>https://colab.research.google.com/</a:t>
            </a:r>
            <a:endParaRPr lang="pt-BR" sz="1400" dirty="0">
              <a:solidFill>
                <a:srgbClr val="696969"/>
              </a:solidFill>
              <a:latin typeface="Candara" panose="020E0502030303020204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  <a:p>
            <a:pPr marL="894715" lvl="1" indent="-285750">
              <a:lnSpc>
                <a:spcPct val="150000"/>
              </a:lnSpc>
              <a:buFont typeface="Arial" panose="02080604020202020204" pitchFamily="34" charset="0"/>
              <a:buChar char="•"/>
            </a:pPr>
            <a:r>
              <a:rPr lang="pt-BR" sz="1400" dirty="0">
                <a:solidFill>
                  <a:srgbClr val="696969"/>
                </a:solidFill>
                <a:latin typeface="Candara" panose="020E0502030303020204" pitchFamily="34" charset="0"/>
                <a:ea typeface="Lato" panose="020F0502020204030203" pitchFamily="34" charset="0"/>
                <a:cs typeface="Lato" panose="020F0502020204030203" pitchFamily="34" charset="0"/>
              </a:rPr>
              <a:t>É um “</a:t>
            </a:r>
            <a:r>
              <a:rPr lang="pt-BR" sz="1400" dirty="0" err="1">
                <a:solidFill>
                  <a:srgbClr val="696969"/>
                </a:solidFill>
                <a:latin typeface="Candara" panose="020E0502030303020204" pitchFamily="34" charset="0"/>
                <a:ea typeface="Lato" panose="020F0502020204030203" pitchFamily="34" charset="0"/>
                <a:cs typeface="Lato" panose="020F0502020204030203" pitchFamily="34" charset="0"/>
              </a:rPr>
              <a:t>Jupyter</a:t>
            </a:r>
            <a:r>
              <a:rPr lang="pt-BR" sz="1400" dirty="0">
                <a:solidFill>
                  <a:srgbClr val="696969"/>
                </a:solidFill>
                <a:latin typeface="Candara" panose="020E0502030303020204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pt-BR" sz="1400" dirty="0" err="1">
                <a:solidFill>
                  <a:srgbClr val="696969"/>
                </a:solidFill>
                <a:latin typeface="Candara" panose="020E0502030303020204" pitchFamily="34" charset="0"/>
                <a:ea typeface="Lato" panose="020F0502020204030203" pitchFamily="34" charset="0"/>
                <a:cs typeface="Lato" panose="020F0502020204030203" pitchFamily="34" charset="0"/>
              </a:rPr>
              <a:t>Lab</a:t>
            </a:r>
            <a:r>
              <a:rPr lang="pt-BR" sz="1400" dirty="0">
                <a:solidFill>
                  <a:srgbClr val="696969"/>
                </a:solidFill>
                <a:latin typeface="Candara" panose="020E0502030303020204" pitchFamily="34" charset="0"/>
                <a:ea typeface="Lato" panose="020F0502020204030203" pitchFamily="34" charset="0"/>
                <a:cs typeface="Lato" panose="020F0502020204030203" pitchFamily="34" charset="0"/>
              </a:rPr>
              <a:t>” na </a:t>
            </a:r>
            <a:r>
              <a:rPr lang="pt-BR" sz="1400" dirty="0" err="1">
                <a:solidFill>
                  <a:srgbClr val="696969"/>
                </a:solidFill>
                <a:latin typeface="Candara" panose="020E0502030303020204" pitchFamily="34" charset="0"/>
                <a:ea typeface="Lato" panose="020F0502020204030203" pitchFamily="34" charset="0"/>
                <a:cs typeface="Lato" panose="020F0502020204030203" pitchFamily="34" charset="0"/>
              </a:rPr>
              <a:t>cloud</a:t>
            </a:r>
            <a:r>
              <a:rPr lang="pt-BR" sz="1400" dirty="0">
                <a:solidFill>
                  <a:srgbClr val="696969"/>
                </a:solidFill>
                <a:latin typeface="Candara" panose="020E0502030303020204" pitchFamily="34" charset="0"/>
                <a:ea typeface="Lato" panose="020F0502020204030203" pitchFamily="34" charset="0"/>
                <a:cs typeface="Lato" panose="020F0502020204030203" pitchFamily="34" charset="0"/>
              </a:rPr>
              <a:t> do Google.</a:t>
            </a:r>
          </a:p>
          <a:p>
            <a:pPr marL="894715" lvl="1" indent="-285750">
              <a:lnSpc>
                <a:spcPct val="150000"/>
              </a:lnSpc>
              <a:buFont typeface="Arial" panose="02080604020202020204" pitchFamily="34" charset="0"/>
              <a:buChar char="•"/>
            </a:pPr>
            <a:r>
              <a:rPr lang="pt-BR" sz="1400" dirty="0">
                <a:solidFill>
                  <a:srgbClr val="696969"/>
                </a:solidFill>
                <a:latin typeface="Candara" panose="020E0502030303020204" pitchFamily="34" charset="0"/>
                <a:ea typeface="Lato" panose="020F0502020204030203" pitchFamily="34" charset="0"/>
                <a:cs typeface="Lato" panose="020F0502020204030203" pitchFamily="34" charset="0"/>
              </a:rPr>
              <a:t>Já traz o ambiente pronto pra uso, com os principais pacotes </a:t>
            </a:r>
            <a:r>
              <a:rPr lang="pt-BR" sz="1400" dirty="0" err="1">
                <a:solidFill>
                  <a:srgbClr val="696969"/>
                </a:solidFill>
                <a:latin typeface="Candara" panose="020E0502030303020204" pitchFamily="34" charset="0"/>
                <a:ea typeface="Lato" panose="020F0502020204030203" pitchFamily="34" charset="0"/>
                <a:cs typeface="Lato" panose="020F0502020204030203" pitchFamily="34" charset="0"/>
              </a:rPr>
              <a:t>python</a:t>
            </a:r>
            <a:r>
              <a:rPr lang="pt-BR" sz="1400" dirty="0">
                <a:solidFill>
                  <a:srgbClr val="696969"/>
                </a:solidFill>
                <a:latin typeface="Candara" panose="020E0502030303020204" pitchFamily="34" charset="0"/>
                <a:ea typeface="Lato" panose="020F0502020204030203" pitchFamily="34" charset="0"/>
                <a:cs typeface="Lato" panose="020F0502020204030203" pitchFamily="34" charset="0"/>
              </a:rPr>
              <a:t> instalados</a:t>
            </a:r>
          </a:p>
          <a:p>
            <a:pPr marL="894715" lvl="1" indent="-285750">
              <a:lnSpc>
                <a:spcPct val="150000"/>
              </a:lnSpc>
              <a:buFont typeface="Arial" panose="02080604020202020204" pitchFamily="34" charset="0"/>
              <a:buChar char="•"/>
            </a:pPr>
            <a:r>
              <a:rPr lang="pt-BR" sz="1400" dirty="0">
                <a:solidFill>
                  <a:srgbClr val="696969"/>
                </a:solidFill>
                <a:latin typeface="Candara" panose="020E0502030303020204" pitchFamily="34" charset="0"/>
                <a:ea typeface="Lato" panose="020F0502020204030203" pitchFamily="34" charset="0"/>
                <a:cs typeface="Lato" panose="020F0502020204030203" pitchFamily="34" charset="0"/>
              </a:rPr>
              <a:t>Todo os notebooks são salvos no Google Drive</a:t>
            </a:r>
          </a:p>
          <a:p>
            <a:pPr marL="894715" lvl="1" indent="-285750">
              <a:lnSpc>
                <a:spcPct val="150000"/>
              </a:lnSpc>
              <a:buFont typeface="Arial" panose="02080604020202020204" pitchFamily="34" charset="0"/>
              <a:buChar char="•"/>
            </a:pPr>
            <a:r>
              <a:rPr lang="pt-BR" sz="1400" dirty="0">
                <a:solidFill>
                  <a:srgbClr val="696969"/>
                </a:solidFill>
                <a:latin typeface="Candara" panose="020E0502030303020204" pitchFamily="34" charset="0"/>
                <a:ea typeface="Lato" panose="020F0502020204030203" pitchFamily="34" charset="0"/>
                <a:cs typeface="Lato" panose="020F0502020204030203" pitchFamily="34" charset="0"/>
              </a:rPr>
              <a:t>A interação com dados (importação e exportação) também é realizada via Google Drive</a:t>
            </a:r>
          </a:p>
          <a:p>
            <a:pPr>
              <a:lnSpc>
                <a:spcPct val="150000"/>
              </a:lnSpc>
            </a:pPr>
            <a:endParaRPr lang="pt-BR" sz="1400" dirty="0">
              <a:solidFill>
                <a:srgbClr val="696969"/>
              </a:solidFill>
              <a:latin typeface="Candara" panose="020E0502030303020204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  <a:p>
            <a:pPr marL="285750" indent="-285750">
              <a:lnSpc>
                <a:spcPct val="150000"/>
              </a:lnSpc>
              <a:buFont typeface="Arial" panose="02080604020202020204" pitchFamily="34" charset="0"/>
              <a:buChar char="•"/>
            </a:pPr>
            <a:r>
              <a:rPr lang="pt-BR" sz="1400" b="1" dirty="0" err="1">
                <a:latin typeface="Candara" panose="020E0502030303020204" pitchFamily="34" charset="0"/>
                <a:ea typeface="Lato" panose="020F0502020204030203" pitchFamily="34" charset="0"/>
                <a:cs typeface="Lato" panose="020F0502020204030203" pitchFamily="34" charset="0"/>
              </a:rPr>
              <a:t>Pycharm</a:t>
            </a:r>
            <a:endParaRPr lang="pt-BR" sz="1400" b="1" dirty="0">
              <a:latin typeface="Candara" panose="020E0502030303020204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  <a:p>
            <a:pPr marL="285750" indent="-285750">
              <a:lnSpc>
                <a:spcPct val="150000"/>
              </a:lnSpc>
              <a:buFont typeface="Arial" panose="02080604020202020204" pitchFamily="34" charset="0"/>
              <a:buChar char="•"/>
            </a:pPr>
            <a:r>
              <a:rPr lang="pt-BR" sz="1400" b="1" dirty="0">
                <a:latin typeface="Candara" panose="020E0502030303020204" pitchFamily="34" charset="0"/>
                <a:ea typeface="Lato" panose="020F0502020204030203" pitchFamily="34" charset="0"/>
                <a:cs typeface="Lato" panose="020F0502020204030203" pitchFamily="34" charset="0"/>
              </a:rPr>
              <a:t>Visual Studio </a:t>
            </a:r>
            <a:r>
              <a:rPr lang="pt-BR" sz="1400" b="1" dirty="0" err="1">
                <a:latin typeface="Candara" panose="020E0502030303020204" pitchFamily="34" charset="0"/>
                <a:ea typeface="Lato" panose="020F0502020204030203" pitchFamily="34" charset="0"/>
                <a:cs typeface="Lato" panose="020F0502020204030203" pitchFamily="34" charset="0"/>
              </a:rPr>
              <a:t>Code</a:t>
            </a:r>
            <a:endParaRPr lang="pt-BR" sz="1400" b="1" dirty="0">
              <a:latin typeface="Candara" panose="020E0502030303020204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  <a:p>
            <a:pPr marL="894715" lvl="1" indent="-285750">
              <a:lnSpc>
                <a:spcPct val="150000"/>
              </a:lnSpc>
              <a:buFont typeface="Arial" panose="02080604020202020204" pitchFamily="34" charset="0"/>
              <a:buChar char="•"/>
            </a:pPr>
            <a:r>
              <a:rPr lang="pt-BR" sz="1400" dirty="0">
                <a:solidFill>
                  <a:srgbClr val="696969"/>
                </a:solidFill>
                <a:latin typeface="Candara" panose="020E0502030303020204" pitchFamily="34" charset="0"/>
                <a:ea typeface="Lato" panose="020F0502020204030203" pitchFamily="34" charset="0"/>
                <a:cs typeface="Lato" panose="020F0502020204030203" pitchFamily="34" charset="0"/>
              </a:rPr>
              <a:t>Pacotes: Python e </a:t>
            </a:r>
            <a:r>
              <a:rPr lang="pt-BR" sz="1400" dirty="0" err="1">
                <a:solidFill>
                  <a:srgbClr val="696969"/>
                </a:solidFill>
                <a:latin typeface="Candara" panose="020E0502030303020204" pitchFamily="34" charset="0"/>
                <a:ea typeface="Lato" panose="020F0502020204030203" pitchFamily="34" charset="0"/>
                <a:cs typeface="Lato" panose="020F0502020204030203" pitchFamily="34" charset="0"/>
              </a:rPr>
              <a:t>Jupyter</a:t>
            </a:r>
            <a:endParaRPr lang="pt-BR" sz="1400" dirty="0">
              <a:solidFill>
                <a:srgbClr val="696969"/>
              </a:solidFill>
              <a:latin typeface="Candara" panose="020E0502030303020204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  <a:p>
            <a:pPr marL="894715" lvl="1" indent="-285750">
              <a:lnSpc>
                <a:spcPct val="150000"/>
              </a:lnSpc>
              <a:buFont typeface="Arial" panose="02080604020202020204" pitchFamily="34" charset="0"/>
              <a:buChar char="•"/>
            </a:pPr>
            <a:r>
              <a:rPr lang="pt-BR" sz="1400" dirty="0">
                <a:solidFill>
                  <a:srgbClr val="696969"/>
                </a:solidFill>
                <a:latin typeface="Candara" panose="020E0502030303020204" pitchFamily="34" charset="0"/>
                <a:ea typeface="Lato" panose="020F0502020204030203" pitchFamily="34" charset="0"/>
                <a:cs typeface="Lato" panose="020F0502020204030203" pitchFamily="34" charset="0"/>
              </a:rPr>
              <a:t>Dentro do pacote Python do VS </a:t>
            </a:r>
            <a:r>
              <a:rPr lang="pt-BR" sz="1400" dirty="0" err="1">
                <a:solidFill>
                  <a:srgbClr val="696969"/>
                </a:solidFill>
                <a:latin typeface="Candara" panose="020E0502030303020204" pitchFamily="34" charset="0"/>
                <a:ea typeface="Lato" panose="020F0502020204030203" pitchFamily="34" charset="0"/>
                <a:cs typeface="Lato" panose="020F0502020204030203" pitchFamily="34" charset="0"/>
              </a:rPr>
              <a:t>Code</a:t>
            </a:r>
            <a:r>
              <a:rPr lang="pt-BR" sz="1400" dirty="0">
                <a:solidFill>
                  <a:srgbClr val="696969"/>
                </a:solidFill>
                <a:latin typeface="Candara" panose="020E0502030303020204" pitchFamily="34" charset="0"/>
                <a:ea typeface="Lato" panose="020F0502020204030203" pitchFamily="34" charset="0"/>
                <a:cs typeface="Lato" panose="020F0502020204030203" pitchFamily="34" charset="0"/>
              </a:rPr>
              <a:t>, não se esqueça de escolher o interpretador </a:t>
            </a:r>
            <a:r>
              <a:rPr lang="pt-BR" sz="1400" dirty="0" err="1">
                <a:solidFill>
                  <a:srgbClr val="696969"/>
                </a:solidFill>
                <a:latin typeface="Candara" panose="020E0502030303020204" pitchFamily="34" charset="0"/>
                <a:ea typeface="Lato" panose="020F0502020204030203" pitchFamily="34" charset="0"/>
                <a:cs typeface="Lato" panose="020F0502020204030203" pitchFamily="34" charset="0"/>
              </a:rPr>
              <a:t>python</a:t>
            </a:r>
            <a:r>
              <a:rPr lang="pt-BR" sz="1400" dirty="0">
                <a:solidFill>
                  <a:srgbClr val="696969"/>
                </a:solidFill>
                <a:latin typeface="Candara" panose="020E0502030303020204" pitchFamily="34" charset="0"/>
                <a:ea typeface="Lato" panose="020F0502020204030203" pitchFamily="34" charset="0"/>
                <a:cs typeface="Lato" panose="020F0502020204030203" pitchFamily="34" charset="0"/>
              </a:rPr>
              <a:t> de seu ambiente virtual</a:t>
            </a:r>
          </a:p>
        </p:txBody>
      </p:sp>
      <p:sp>
        <p:nvSpPr>
          <p:cNvPr id="13" name="Rectangle 12"/>
          <p:cNvSpPr/>
          <p:nvPr/>
        </p:nvSpPr>
        <p:spPr>
          <a:xfrm rot="16200000">
            <a:off x="-2021984" y="4717094"/>
            <a:ext cx="3059113" cy="48610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6" name="Rectangle 15"/>
          <p:cNvSpPr/>
          <p:nvPr/>
        </p:nvSpPr>
        <p:spPr>
          <a:xfrm rot="16200000">
            <a:off x="-2021984" y="1654805"/>
            <a:ext cx="3059113" cy="486102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</p:cSld>
  <p:clrMapOvr>
    <a:masterClrMapping/>
  </p:clrMapOvr>
  <p:transition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47A1EB-5142-CB48-AB43-FD63342FB24F}" type="slidenum">
              <a:rPr lang="en-US">
                <a:ea typeface="Lato" panose="020F0502020204030203" pitchFamily="34" charset="0"/>
                <a:cs typeface="Lato" panose="020F0502020204030203" pitchFamily="34" charset="0"/>
              </a:rPr>
              <a:t>10</a:t>
            </a:fld>
            <a:endParaRPr lang="en-US" dirty="0"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371475" y="272038"/>
            <a:ext cx="11449050" cy="58477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pt-BR" sz="3200" b="1" dirty="0" err="1">
                <a:solidFill>
                  <a:srgbClr val="0C509E"/>
                </a:solidFill>
                <a:latin typeface="PT Sans" panose="020B0503020203020204" pitchFamily="34" charset="77"/>
                <a:cs typeface="Helvetica LT Std" panose="020B0504020202020204" charset="0"/>
              </a:rPr>
              <a:t>Let’s</a:t>
            </a:r>
            <a:r>
              <a:rPr lang="pt-BR" sz="3200" b="1" dirty="0">
                <a:solidFill>
                  <a:srgbClr val="0C509E"/>
                </a:solidFill>
                <a:latin typeface="PT Sans" panose="020B0503020203020204" pitchFamily="34" charset="77"/>
                <a:cs typeface="Helvetica LT Std" panose="020B0504020202020204" charset="0"/>
              </a:rPr>
              <a:t> </a:t>
            </a:r>
            <a:r>
              <a:rPr lang="pt-BR" sz="3200" b="1" dirty="0" err="1">
                <a:solidFill>
                  <a:srgbClr val="0C509E"/>
                </a:solidFill>
                <a:latin typeface="PT Sans" panose="020B0503020203020204" pitchFamily="34" charset="77"/>
                <a:cs typeface="Helvetica LT Std" panose="020B0504020202020204" charset="0"/>
              </a:rPr>
              <a:t>code</a:t>
            </a:r>
            <a:endParaRPr lang="pt-BR" sz="3200" b="1" dirty="0">
              <a:solidFill>
                <a:srgbClr val="0C509E"/>
              </a:solidFill>
              <a:latin typeface="PT Sans" panose="020B0503020203020204" pitchFamily="34" charset="77"/>
              <a:cs typeface="Helvetica LT Std" panose="020B0504020202020204" charset="0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-3115" y="6782724"/>
            <a:ext cx="12194763" cy="75278"/>
          </a:xfrm>
          <a:prstGeom prst="rect">
            <a:avLst/>
          </a:prstGeom>
          <a:solidFill>
            <a:srgbClr val="0C509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195"/>
          </a:p>
        </p:txBody>
      </p:sp>
      <p:sp>
        <p:nvSpPr>
          <p:cNvPr id="7" name="Rectangle 6"/>
          <p:cNvSpPr/>
          <p:nvPr/>
        </p:nvSpPr>
        <p:spPr>
          <a:xfrm>
            <a:off x="371474" y="7101815"/>
            <a:ext cx="5726113" cy="48610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1" name="Rectangle 10"/>
          <p:cNvSpPr/>
          <p:nvPr/>
        </p:nvSpPr>
        <p:spPr>
          <a:xfrm>
            <a:off x="6104004" y="7101814"/>
            <a:ext cx="5726113" cy="486102"/>
          </a:xfrm>
          <a:prstGeom prst="rect">
            <a:avLst/>
          </a:prstGeom>
          <a:solidFill>
            <a:srgbClr val="FFD7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9" name="TextBox 8"/>
          <p:cNvSpPr txBox="1"/>
          <p:nvPr/>
        </p:nvSpPr>
        <p:spPr>
          <a:xfrm>
            <a:off x="371475" y="1042909"/>
            <a:ext cx="11449050" cy="5552739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pt-BR" sz="1400" b="1" dirty="0" err="1">
                <a:latin typeface="Candara" panose="020E0502030303020204" pitchFamily="34" charset="0"/>
                <a:ea typeface="Lato" panose="020F0502020204030203" pitchFamily="34" charset="0"/>
                <a:cs typeface="Lato" panose="020F0502020204030203" pitchFamily="34" charset="0"/>
              </a:rPr>
              <a:t>To</a:t>
            </a:r>
            <a:r>
              <a:rPr lang="pt-BR" sz="1400" b="1" dirty="0">
                <a:latin typeface="Candara" panose="020E0502030303020204" pitchFamily="34" charset="0"/>
                <a:ea typeface="Lato" panose="020F0502020204030203" pitchFamily="34" charset="0"/>
                <a:cs typeface="Lato" panose="020F0502020204030203" pitchFamily="34" charset="0"/>
              </a:rPr>
              <a:t> Do:</a:t>
            </a:r>
            <a:endParaRPr lang="pt-BR" sz="1400" dirty="0">
              <a:solidFill>
                <a:srgbClr val="696969"/>
              </a:solidFill>
              <a:latin typeface="Candara" panose="020E0502030303020204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  <a:p>
            <a:pPr marL="285750" indent="-285750">
              <a:lnSpc>
                <a:spcPct val="150000"/>
              </a:lnSpc>
              <a:buFont typeface="Arial" panose="02080604020202020204" pitchFamily="34" charset="0"/>
              <a:buChar char="•"/>
            </a:pPr>
            <a:r>
              <a:rPr lang="pt-BR" sz="1400" dirty="0">
                <a:solidFill>
                  <a:srgbClr val="696969"/>
                </a:solidFill>
                <a:latin typeface="Candara" panose="020E0502030303020204" pitchFamily="34" charset="0"/>
                <a:ea typeface="Lato" panose="020F0502020204030203" pitchFamily="34" charset="0"/>
                <a:cs typeface="Lato" panose="020F0502020204030203" pitchFamily="34" charset="0"/>
              </a:rPr>
              <a:t>Ambiente do </a:t>
            </a:r>
            <a:r>
              <a:rPr lang="pt-BR" sz="1400" dirty="0" err="1">
                <a:solidFill>
                  <a:srgbClr val="696969"/>
                </a:solidFill>
                <a:latin typeface="Candara" panose="020E0502030303020204" pitchFamily="34" charset="0"/>
                <a:ea typeface="Lato" panose="020F0502020204030203" pitchFamily="34" charset="0"/>
                <a:cs typeface="Lato" panose="020F0502020204030203" pitchFamily="34" charset="0"/>
              </a:rPr>
              <a:t>Jupyter</a:t>
            </a:r>
            <a:r>
              <a:rPr lang="pt-BR" sz="1400" dirty="0">
                <a:solidFill>
                  <a:srgbClr val="696969"/>
                </a:solidFill>
                <a:latin typeface="Candara" panose="020E0502030303020204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pt-BR" sz="1400" dirty="0" err="1">
                <a:solidFill>
                  <a:srgbClr val="696969"/>
                </a:solidFill>
                <a:latin typeface="Candara" panose="020E0502030303020204" pitchFamily="34" charset="0"/>
                <a:ea typeface="Lato" panose="020F0502020204030203" pitchFamily="34" charset="0"/>
                <a:cs typeface="Lato" panose="020F0502020204030203" pitchFamily="34" charset="0"/>
              </a:rPr>
              <a:t>Lab</a:t>
            </a:r>
            <a:r>
              <a:rPr lang="pt-BR" sz="1400" dirty="0">
                <a:solidFill>
                  <a:srgbClr val="696969"/>
                </a:solidFill>
                <a:latin typeface="Candara" panose="020E0502030303020204" pitchFamily="34" charset="0"/>
                <a:ea typeface="Lato" panose="020F0502020204030203" pitchFamily="34" charset="0"/>
                <a:cs typeface="Lato" panose="020F0502020204030203" pitchFamily="34" charset="0"/>
              </a:rPr>
              <a:t> e Google </a:t>
            </a:r>
            <a:r>
              <a:rPr lang="pt-BR" sz="1400" dirty="0" err="1">
                <a:solidFill>
                  <a:srgbClr val="696969"/>
                </a:solidFill>
                <a:latin typeface="Candara" panose="020E0502030303020204" pitchFamily="34" charset="0"/>
                <a:ea typeface="Lato" panose="020F0502020204030203" pitchFamily="34" charset="0"/>
                <a:cs typeface="Lato" panose="020F0502020204030203" pitchFamily="34" charset="0"/>
              </a:rPr>
              <a:t>Colab</a:t>
            </a:r>
            <a:endParaRPr lang="pt-BR" sz="1400" dirty="0">
              <a:solidFill>
                <a:srgbClr val="696969"/>
              </a:solidFill>
              <a:latin typeface="Candara" panose="020E0502030303020204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  <a:p>
            <a:pPr marL="285750" indent="-285750">
              <a:lnSpc>
                <a:spcPct val="150000"/>
              </a:lnSpc>
              <a:buFont typeface="Arial" panose="02080604020202020204" pitchFamily="34" charset="0"/>
              <a:buChar char="•"/>
            </a:pPr>
            <a:r>
              <a:rPr lang="pt-BR" sz="1400" dirty="0">
                <a:solidFill>
                  <a:srgbClr val="696969"/>
                </a:solidFill>
                <a:latin typeface="Candara" panose="020E0502030303020204" pitchFamily="34" charset="0"/>
                <a:ea typeface="Lato" panose="020F0502020204030203" pitchFamily="34" charset="0"/>
                <a:cs typeface="Lato" panose="020F0502020204030203" pitchFamily="34" charset="0"/>
              </a:rPr>
              <a:t>Variáveis e tipos</a:t>
            </a:r>
          </a:p>
          <a:p>
            <a:pPr marL="894715" lvl="1" indent="-285750">
              <a:lnSpc>
                <a:spcPct val="150000"/>
              </a:lnSpc>
              <a:buFont typeface="Arial" panose="02080604020202020204" pitchFamily="34" charset="0"/>
              <a:buChar char="•"/>
            </a:pPr>
            <a:r>
              <a:rPr lang="pt-BR" sz="1400" dirty="0">
                <a:solidFill>
                  <a:srgbClr val="696969"/>
                </a:solidFill>
                <a:latin typeface="Candara" panose="020E0502030303020204" pitchFamily="34" charset="0"/>
                <a:ea typeface="Lato" panose="020F0502020204030203" pitchFamily="34" charset="0"/>
                <a:cs typeface="Lato" panose="020F0502020204030203" pitchFamily="34" charset="0"/>
              </a:rPr>
              <a:t>Case </a:t>
            </a:r>
            <a:r>
              <a:rPr lang="pt-BR" sz="1400" dirty="0" err="1">
                <a:solidFill>
                  <a:srgbClr val="696969"/>
                </a:solidFill>
                <a:latin typeface="Candara" panose="020E0502030303020204" pitchFamily="34" charset="0"/>
                <a:ea typeface="Lato" panose="020F0502020204030203" pitchFamily="34" charset="0"/>
                <a:cs typeface="Lato" panose="020F0502020204030203" pitchFamily="34" charset="0"/>
              </a:rPr>
              <a:t>sensitive</a:t>
            </a:r>
            <a:r>
              <a:rPr lang="pt-BR" sz="1400" dirty="0">
                <a:solidFill>
                  <a:srgbClr val="696969"/>
                </a:solidFill>
                <a:latin typeface="Candara" panose="020E0502030303020204" pitchFamily="34" charset="0"/>
                <a:ea typeface="Lato" panose="020F0502020204030203" pitchFamily="34" charset="0"/>
                <a:cs typeface="Lato" panose="020F0502020204030203" pitchFamily="34" charset="0"/>
              </a:rPr>
              <a:t>, atribuição simples, atribuição múltipla</a:t>
            </a:r>
          </a:p>
          <a:p>
            <a:pPr marL="894715" lvl="1" indent="-285750">
              <a:lnSpc>
                <a:spcPct val="150000"/>
              </a:lnSpc>
              <a:buFont typeface="Arial" panose="02080604020202020204" pitchFamily="34" charset="0"/>
              <a:buChar char="•"/>
            </a:pPr>
            <a:r>
              <a:rPr lang="pt-BR" sz="1400" dirty="0">
                <a:solidFill>
                  <a:srgbClr val="696969"/>
                </a:solidFill>
                <a:latin typeface="Candara" panose="020E0502030303020204" pitchFamily="34" charset="0"/>
                <a:ea typeface="Lato" panose="020F0502020204030203" pitchFamily="34" charset="0"/>
                <a:cs typeface="Lato" panose="020F0502020204030203" pitchFamily="34" charset="0"/>
              </a:rPr>
              <a:t>Python é fortemente </a:t>
            </a:r>
            <a:r>
              <a:rPr lang="pt-BR" sz="1400" dirty="0" err="1">
                <a:solidFill>
                  <a:srgbClr val="696969"/>
                </a:solidFill>
                <a:latin typeface="Candara" panose="020E0502030303020204" pitchFamily="34" charset="0"/>
                <a:ea typeface="Lato" panose="020F0502020204030203" pitchFamily="34" charset="0"/>
                <a:cs typeface="Lato" panose="020F0502020204030203" pitchFamily="34" charset="0"/>
              </a:rPr>
              <a:t>tipada</a:t>
            </a:r>
            <a:r>
              <a:rPr lang="pt-BR" sz="1400" dirty="0">
                <a:solidFill>
                  <a:srgbClr val="696969"/>
                </a:solidFill>
                <a:latin typeface="Candara" panose="020E0502030303020204" pitchFamily="34" charset="0"/>
                <a:ea typeface="Lato" panose="020F0502020204030203" pitchFamily="34" charset="0"/>
                <a:cs typeface="Lato" panose="020F0502020204030203" pitchFamily="34" charset="0"/>
              </a:rPr>
              <a:t> (um tipo de um valor não muda inesperadamente) e dinamicamente </a:t>
            </a:r>
            <a:r>
              <a:rPr lang="pt-BR" sz="1400" dirty="0" err="1">
                <a:solidFill>
                  <a:srgbClr val="696969"/>
                </a:solidFill>
                <a:latin typeface="Candara" panose="020E0502030303020204" pitchFamily="34" charset="0"/>
                <a:ea typeface="Lato" panose="020F0502020204030203" pitchFamily="34" charset="0"/>
                <a:cs typeface="Lato" panose="020F0502020204030203" pitchFamily="34" charset="0"/>
              </a:rPr>
              <a:t>tipada</a:t>
            </a:r>
            <a:r>
              <a:rPr lang="pt-BR" sz="1400" dirty="0">
                <a:solidFill>
                  <a:srgbClr val="696969"/>
                </a:solidFill>
                <a:latin typeface="Candara" panose="020E0502030303020204" pitchFamily="34" charset="0"/>
                <a:ea typeface="Lato" panose="020F0502020204030203" pitchFamily="34" charset="0"/>
                <a:cs typeface="Lato" panose="020F0502020204030203" pitchFamily="34" charset="0"/>
              </a:rPr>
              <a:t> (os tipos das variáveis podem mudar em tempo de execução)</a:t>
            </a:r>
          </a:p>
          <a:p>
            <a:pPr marL="894715" lvl="1" indent="-285750">
              <a:lnSpc>
                <a:spcPct val="150000"/>
              </a:lnSpc>
              <a:buFont typeface="Arial" panose="02080604020202020204" pitchFamily="34" charset="0"/>
              <a:buChar char="•"/>
            </a:pPr>
            <a:r>
              <a:rPr lang="pt-BR" sz="1400" dirty="0">
                <a:solidFill>
                  <a:srgbClr val="696969"/>
                </a:solidFill>
                <a:latin typeface="Candara" panose="020E0502030303020204" pitchFamily="34" charset="0"/>
                <a:ea typeface="Lato" panose="020F0502020204030203" pitchFamily="34" charset="0"/>
                <a:cs typeface="Lato" panose="020F0502020204030203" pitchFamily="34" charset="0"/>
              </a:rPr>
              <a:t>Conversão de tipos</a:t>
            </a:r>
          </a:p>
          <a:p>
            <a:pPr marL="285750" indent="-285750">
              <a:lnSpc>
                <a:spcPct val="150000"/>
              </a:lnSpc>
              <a:buFont typeface="Arial" panose="02080604020202020204" pitchFamily="34" charset="0"/>
              <a:buChar char="•"/>
            </a:pPr>
            <a:r>
              <a:rPr lang="pt-BR" sz="1400" dirty="0">
                <a:solidFill>
                  <a:srgbClr val="696969"/>
                </a:solidFill>
                <a:latin typeface="Candara" panose="020E0502030303020204" pitchFamily="34" charset="0"/>
                <a:ea typeface="Lato" panose="020F0502020204030203" pitchFamily="34" charset="0"/>
                <a:cs typeface="Lato" panose="020F0502020204030203" pitchFamily="34" charset="0"/>
              </a:rPr>
              <a:t>Funções:</a:t>
            </a:r>
          </a:p>
          <a:p>
            <a:pPr marL="894715" lvl="1" indent="-285750">
              <a:lnSpc>
                <a:spcPct val="150000"/>
              </a:lnSpc>
              <a:buFont typeface="Arial" panose="02080604020202020204" pitchFamily="34" charset="0"/>
              <a:buChar char="•"/>
            </a:pPr>
            <a:r>
              <a:rPr lang="pt-BR" sz="1400" dirty="0" err="1">
                <a:solidFill>
                  <a:srgbClr val="696969"/>
                </a:solidFill>
                <a:latin typeface="Candara" panose="020E0502030303020204" pitchFamily="34" charset="0"/>
                <a:ea typeface="Lato" panose="020F0502020204030203" pitchFamily="34" charset="0"/>
                <a:cs typeface="Lato" panose="020F0502020204030203" pitchFamily="34" charset="0"/>
              </a:rPr>
              <a:t>print</a:t>
            </a:r>
            <a:r>
              <a:rPr lang="pt-BR" sz="1400" dirty="0">
                <a:solidFill>
                  <a:srgbClr val="696969"/>
                </a:solidFill>
                <a:latin typeface="Candara" panose="020E0502030303020204" pitchFamily="34" charset="0"/>
                <a:ea typeface="Lato" panose="020F0502020204030203" pitchFamily="34" charset="0"/>
                <a:cs typeface="Lato" panose="020F0502020204030203" pitchFamily="34" charset="0"/>
              </a:rPr>
              <a:t> sem/com formatação</a:t>
            </a:r>
          </a:p>
          <a:p>
            <a:pPr marL="894715" lvl="1" indent="-285750">
              <a:lnSpc>
                <a:spcPct val="150000"/>
              </a:lnSpc>
              <a:buFont typeface="Arial" panose="02080604020202020204" pitchFamily="34" charset="0"/>
              <a:buChar char="•"/>
            </a:pPr>
            <a:r>
              <a:rPr lang="pt-BR" sz="1400" dirty="0">
                <a:solidFill>
                  <a:srgbClr val="696969"/>
                </a:solidFill>
                <a:latin typeface="Candara" panose="020E0502030303020204" pitchFamily="34" charset="0"/>
                <a:ea typeface="Lato" panose="020F0502020204030203" pitchFamily="34" charset="0"/>
                <a:cs typeface="Lato" panose="020F0502020204030203" pitchFamily="34" charset="0"/>
              </a:rPr>
              <a:t>Criando funções</a:t>
            </a:r>
          </a:p>
          <a:p>
            <a:pPr marL="1503680" lvl="2" indent="-285750">
              <a:lnSpc>
                <a:spcPct val="150000"/>
              </a:lnSpc>
              <a:buFont typeface="Arial" panose="02080604020202020204" pitchFamily="34" charset="0"/>
              <a:buChar char="•"/>
            </a:pPr>
            <a:r>
              <a:rPr lang="pt-BR" sz="1400" dirty="0">
                <a:solidFill>
                  <a:srgbClr val="696969"/>
                </a:solidFill>
                <a:latin typeface="Candara" panose="020E0502030303020204" pitchFamily="34" charset="0"/>
                <a:ea typeface="Lato" panose="020F0502020204030203" pitchFamily="34" charset="0"/>
                <a:cs typeface="Lato" panose="020F0502020204030203" pitchFamily="34" charset="0"/>
              </a:rPr>
              <a:t>Identação define escopo em Python</a:t>
            </a:r>
          </a:p>
          <a:p>
            <a:pPr marL="1503680" lvl="2" indent="-285750">
              <a:lnSpc>
                <a:spcPct val="150000"/>
              </a:lnSpc>
              <a:buFont typeface="Arial" panose="02080604020202020204" pitchFamily="34" charset="0"/>
              <a:buChar char="•"/>
            </a:pPr>
            <a:r>
              <a:rPr lang="pt-BR" sz="1400" dirty="0">
                <a:solidFill>
                  <a:srgbClr val="696969"/>
                </a:solidFill>
                <a:latin typeface="Candara" panose="020E0502030303020204" pitchFamily="34" charset="0"/>
                <a:ea typeface="Lato" panose="020F0502020204030203" pitchFamily="34" charset="0"/>
                <a:cs typeface="Lato" panose="020F0502020204030203" pitchFamily="34" charset="0"/>
              </a:rPr>
              <a:t>Funções sem/com retorno e com múltiplos retornos</a:t>
            </a:r>
          </a:p>
          <a:p>
            <a:pPr marL="1503680" lvl="2" indent="-285750">
              <a:lnSpc>
                <a:spcPct val="150000"/>
              </a:lnSpc>
              <a:buFont typeface="Arial" panose="02080604020202020204" pitchFamily="34" charset="0"/>
              <a:buChar char="•"/>
            </a:pPr>
            <a:r>
              <a:rPr lang="pt-BR" sz="1400" dirty="0">
                <a:solidFill>
                  <a:srgbClr val="696969"/>
                </a:solidFill>
                <a:latin typeface="Candara" panose="020E0502030303020204" pitchFamily="34" charset="0"/>
                <a:ea typeface="Lato" panose="020F0502020204030203" pitchFamily="34" charset="0"/>
                <a:cs typeface="Lato" panose="020F0502020204030203" pitchFamily="34" charset="0"/>
              </a:rPr>
              <a:t>Parâmetros default e parâmetros nomeados</a:t>
            </a:r>
          </a:p>
          <a:p>
            <a:pPr marL="1503680" lvl="2" indent="-285750">
              <a:lnSpc>
                <a:spcPct val="150000"/>
              </a:lnSpc>
              <a:buFont typeface="Arial" panose="02080604020202020204" pitchFamily="34" charset="0"/>
              <a:buChar char="•"/>
            </a:pPr>
            <a:r>
              <a:rPr lang="pt-BR" sz="1400" dirty="0" err="1">
                <a:solidFill>
                  <a:srgbClr val="696969"/>
                </a:solidFill>
                <a:latin typeface="Candara" panose="020E0502030303020204" pitchFamily="34" charset="0"/>
                <a:ea typeface="Lato" panose="020F0502020204030203" pitchFamily="34" charset="0"/>
                <a:cs typeface="Lato" panose="020F0502020204030203" pitchFamily="34" charset="0"/>
              </a:rPr>
              <a:t>Function</a:t>
            </a:r>
            <a:r>
              <a:rPr lang="pt-BR" sz="1400" dirty="0">
                <a:solidFill>
                  <a:srgbClr val="696969"/>
                </a:solidFill>
                <a:latin typeface="Candara" panose="020E0502030303020204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pt-BR" sz="1400" dirty="0" err="1">
                <a:solidFill>
                  <a:srgbClr val="696969"/>
                </a:solidFill>
                <a:latin typeface="Candara" panose="020E0502030303020204" pitchFamily="34" charset="0"/>
                <a:ea typeface="Lato" panose="020F0502020204030203" pitchFamily="34" charset="0"/>
                <a:cs typeface="Lato" panose="020F0502020204030203" pitchFamily="34" charset="0"/>
              </a:rPr>
              <a:t>Annotations</a:t>
            </a:r>
            <a:r>
              <a:rPr lang="pt-BR" sz="1400" dirty="0">
                <a:solidFill>
                  <a:srgbClr val="696969"/>
                </a:solidFill>
                <a:latin typeface="Candara" panose="020E0502030303020204" pitchFamily="34" charset="0"/>
                <a:ea typeface="Lato" panose="020F0502020204030203" pitchFamily="34" charset="0"/>
                <a:cs typeface="Lato" panose="020F0502020204030203" pitchFamily="34" charset="0"/>
              </a:rPr>
              <a:t> (PEP 3107)</a:t>
            </a:r>
          </a:p>
          <a:p>
            <a:pPr marL="285750" indent="-285750">
              <a:lnSpc>
                <a:spcPct val="150000"/>
              </a:lnSpc>
              <a:buFont typeface="Arial" panose="02080604020202020204" pitchFamily="34" charset="0"/>
              <a:buChar char="•"/>
            </a:pPr>
            <a:r>
              <a:rPr lang="pt-BR" sz="1400" dirty="0">
                <a:solidFill>
                  <a:srgbClr val="696969"/>
                </a:solidFill>
                <a:latin typeface="Candara" panose="020E0502030303020204" pitchFamily="34" charset="0"/>
                <a:ea typeface="Lato" panose="020F0502020204030203" pitchFamily="34" charset="0"/>
                <a:cs typeface="Lato" panose="020F0502020204030203" pitchFamily="34" charset="0"/>
              </a:rPr>
              <a:t>Condicionais</a:t>
            </a:r>
          </a:p>
          <a:p>
            <a:pPr marL="894715" lvl="1" indent="-285750">
              <a:lnSpc>
                <a:spcPct val="150000"/>
              </a:lnSpc>
              <a:buFont typeface="Arial" panose="02080604020202020204" pitchFamily="34" charset="0"/>
              <a:buChar char="•"/>
            </a:pPr>
            <a:r>
              <a:rPr lang="pt-BR" sz="1400" dirty="0" err="1">
                <a:solidFill>
                  <a:srgbClr val="696969"/>
                </a:solidFill>
                <a:latin typeface="Candara" panose="020E0502030303020204" pitchFamily="34" charset="0"/>
                <a:ea typeface="Lato" panose="020F0502020204030203" pitchFamily="34" charset="0"/>
                <a:cs typeface="Lato" panose="020F0502020204030203" pitchFamily="34" charset="0"/>
              </a:rPr>
              <a:t>if</a:t>
            </a:r>
            <a:r>
              <a:rPr lang="pt-BR" sz="1400" dirty="0">
                <a:solidFill>
                  <a:srgbClr val="696969"/>
                </a:solidFill>
                <a:latin typeface="Candara" panose="020E0502030303020204" pitchFamily="34" charset="0"/>
                <a:ea typeface="Lato" panose="020F0502020204030203" pitchFamily="34" charset="0"/>
                <a:cs typeface="Lato" panose="020F0502020204030203" pitchFamily="34" charset="0"/>
              </a:rPr>
              <a:t>, </a:t>
            </a:r>
            <a:r>
              <a:rPr lang="pt-BR" sz="1400" dirty="0" err="1">
                <a:solidFill>
                  <a:srgbClr val="696969"/>
                </a:solidFill>
                <a:latin typeface="Candara" panose="020E0502030303020204" pitchFamily="34" charset="0"/>
                <a:ea typeface="Lato" panose="020F0502020204030203" pitchFamily="34" charset="0"/>
                <a:cs typeface="Lato" panose="020F0502020204030203" pitchFamily="34" charset="0"/>
              </a:rPr>
              <a:t>if</a:t>
            </a:r>
            <a:r>
              <a:rPr lang="pt-BR" sz="1400" dirty="0">
                <a:solidFill>
                  <a:srgbClr val="696969"/>
                </a:solidFill>
                <a:latin typeface="Candara" panose="020E0502030303020204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pt-BR" sz="1400" dirty="0" err="1">
                <a:solidFill>
                  <a:srgbClr val="696969"/>
                </a:solidFill>
                <a:latin typeface="Candara" panose="020E0502030303020204" pitchFamily="34" charset="0"/>
                <a:ea typeface="Lato" panose="020F0502020204030203" pitchFamily="34" charset="0"/>
                <a:cs typeface="Lato" panose="020F0502020204030203" pitchFamily="34" charset="0"/>
              </a:rPr>
              <a:t>else</a:t>
            </a:r>
            <a:r>
              <a:rPr lang="pt-BR" sz="1400" dirty="0">
                <a:solidFill>
                  <a:srgbClr val="696969"/>
                </a:solidFill>
                <a:latin typeface="Candara" panose="020E0502030303020204" pitchFamily="34" charset="0"/>
                <a:ea typeface="Lato" panose="020F0502020204030203" pitchFamily="34" charset="0"/>
                <a:cs typeface="Lato" panose="020F0502020204030203" pitchFamily="34" charset="0"/>
              </a:rPr>
              <a:t>, </a:t>
            </a:r>
            <a:r>
              <a:rPr lang="pt-BR" sz="1400" dirty="0" err="1">
                <a:solidFill>
                  <a:srgbClr val="696969"/>
                </a:solidFill>
                <a:latin typeface="Candara" panose="020E0502030303020204" pitchFamily="34" charset="0"/>
                <a:ea typeface="Lato" panose="020F0502020204030203" pitchFamily="34" charset="0"/>
                <a:cs typeface="Lato" panose="020F0502020204030203" pitchFamily="34" charset="0"/>
              </a:rPr>
              <a:t>if</a:t>
            </a:r>
            <a:r>
              <a:rPr lang="pt-BR" sz="1400" dirty="0">
                <a:solidFill>
                  <a:srgbClr val="696969"/>
                </a:solidFill>
                <a:latin typeface="Candara" panose="020E0502030303020204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pt-BR" sz="1400" dirty="0" err="1">
                <a:solidFill>
                  <a:srgbClr val="696969"/>
                </a:solidFill>
                <a:latin typeface="Candara" panose="020E0502030303020204" pitchFamily="34" charset="0"/>
                <a:ea typeface="Lato" panose="020F0502020204030203" pitchFamily="34" charset="0"/>
                <a:cs typeface="Lato" panose="020F0502020204030203" pitchFamily="34" charset="0"/>
              </a:rPr>
              <a:t>elif</a:t>
            </a:r>
            <a:r>
              <a:rPr lang="pt-BR" sz="1400" dirty="0">
                <a:solidFill>
                  <a:srgbClr val="696969"/>
                </a:solidFill>
                <a:latin typeface="Candara" panose="020E0502030303020204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pt-BR" sz="1400" dirty="0" err="1">
                <a:solidFill>
                  <a:srgbClr val="696969"/>
                </a:solidFill>
                <a:latin typeface="Candara" panose="020E0502030303020204" pitchFamily="34" charset="0"/>
                <a:ea typeface="Lato" panose="020F0502020204030203" pitchFamily="34" charset="0"/>
                <a:cs typeface="Lato" panose="020F0502020204030203" pitchFamily="34" charset="0"/>
              </a:rPr>
              <a:t>else</a:t>
            </a:r>
            <a:endParaRPr lang="pt-BR" sz="1400" dirty="0">
              <a:solidFill>
                <a:srgbClr val="696969"/>
              </a:solidFill>
              <a:latin typeface="Candara" panose="020E0502030303020204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  <a:p>
            <a:pPr marL="894715" lvl="1" indent="-285750">
              <a:lnSpc>
                <a:spcPct val="150000"/>
              </a:lnSpc>
              <a:buFont typeface="Arial" panose="02080604020202020204" pitchFamily="34" charset="0"/>
              <a:buChar char="•"/>
            </a:pPr>
            <a:r>
              <a:rPr lang="pt-BR" sz="1400" dirty="0">
                <a:solidFill>
                  <a:srgbClr val="696969"/>
                </a:solidFill>
                <a:latin typeface="Candara" panose="020E0502030303020204" pitchFamily="34" charset="0"/>
                <a:ea typeface="Lato" panose="020F0502020204030203" pitchFamily="34" charset="0"/>
                <a:cs typeface="Lato" panose="020F0502020204030203" pitchFamily="34" charset="0"/>
              </a:rPr>
              <a:t>Condicional numa única linha</a:t>
            </a:r>
            <a:endParaRPr lang="pt-BR" sz="1400" b="1" dirty="0">
              <a:latin typeface="Candara" panose="020E0502030303020204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13" name="Rectangle 12"/>
          <p:cNvSpPr/>
          <p:nvPr/>
        </p:nvSpPr>
        <p:spPr>
          <a:xfrm rot="16200000">
            <a:off x="-2021984" y="4717094"/>
            <a:ext cx="3059113" cy="48610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6" name="Rectangle 15"/>
          <p:cNvSpPr/>
          <p:nvPr/>
        </p:nvSpPr>
        <p:spPr>
          <a:xfrm rot="16200000">
            <a:off x="-2021984" y="1654805"/>
            <a:ext cx="3059113" cy="486102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</p:cSld>
  <p:clrMapOvr>
    <a:masterClrMapping/>
  </p:clrMapOvr>
  <p:transition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47A1EB-5142-CB48-AB43-FD63342FB24F}" type="slidenum">
              <a:rPr lang="en-US">
                <a:ea typeface="Lato" panose="020F0502020204030203" pitchFamily="34" charset="0"/>
                <a:cs typeface="Lato" panose="020F0502020204030203" pitchFamily="34" charset="0"/>
              </a:rPr>
              <a:t>11</a:t>
            </a:fld>
            <a:endParaRPr lang="en-US" dirty="0"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371475" y="272038"/>
            <a:ext cx="11449050" cy="58477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pt-BR" sz="3200" b="1" dirty="0" err="1">
                <a:solidFill>
                  <a:srgbClr val="0C509E"/>
                </a:solidFill>
                <a:latin typeface="PT Sans" panose="020B0503020203020204" pitchFamily="34" charset="77"/>
                <a:cs typeface="Helvetica LT Std" panose="020B0504020202020204" charset="0"/>
              </a:rPr>
              <a:t>Let’s</a:t>
            </a:r>
            <a:r>
              <a:rPr lang="pt-BR" sz="3200" b="1" dirty="0">
                <a:solidFill>
                  <a:srgbClr val="0C509E"/>
                </a:solidFill>
                <a:latin typeface="PT Sans" panose="020B0503020203020204" pitchFamily="34" charset="77"/>
                <a:cs typeface="Helvetica LT Std" panose="020B0504020202020204" charset="0"/>
              </a:rPr>
              <a:t> </a:t>
            </a:r>
            <a:r>
              <a:rPr lang="pt-BR" sz="3200" b="1" dirty="0" err="1">
                <a:solidFill>
                  <a:srgbClr val="0C509E"/>
                </a:solidFill>
                <a:latin typeface="PT Sans" panose="020B0503020203020204" pitchFamily="34" charset="77"/>
                <a:cs typeface="Helvetica LT Std" panose="020B0504020202020204" charset="0"/>
              </a:rPr>
              <a:t>code</a:t>
            </a:r>
            <a:endParaRPr lang="pt-BR" sz="3200" b="1" dirty="0">
              <a:solidFill>
                <a:srgbClr val="0C509E"/>
              </a:solidFill>
              <a:latin typeface="PT Sans" panose="020B0503020203020204" pitchFamily="34" charset="77"/>
              <a:cs typeface="Helvetica LT Std" panose="020B0504020202020204" charset="0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-3115" y="6782724"/>
            <a:ext cx="12194763" cy="75278"/>
          </a:xfrm>
          <a:prstGeom prst="rect">
            <a:avLst/>
          </a:prstGeom>
          <a:solidFill>
            <a:srgbClr val="0C509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195"/>
          </a:p>
        </p:txBody>
      </p:sp>
      <p:sp>
        <p:nvSpPr>
          <p:cNvPr id="7" name="Rectangle 6"/>
          <p:cNvSpPr/>
          <p:nvPr/>
        </p:nvSpPr>
        <p:spPr>
          <a:xfrm>
            <a:off x="371474" y="7101815"/>
            <a:ext cx="5726113" cy="48610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1" name="Rectangle 10"/>
          <p:cNvSpPr/>
          <p:nvPr/>
        </p:nvSpPr>
        <p:spPr>
          <a:xfrm>
            <a:off x="6104004" y="7101814"/>
            <a:ext cx="5726113" cy="486102"/>
          </a:xfrm>
          <a:prstGeom prst="rect">
            <a:avLst/>
          </a:prstGeom>
          <a:solidFill>
            <a:srgbClr val="FFD7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9" name="TextBox 8"/>
          <p:cNvSpPr txBox="1"/>
          <p:nvPr/>
        </p:nvSpPr>
        <p:spPr>
          <a:xfrm>
            <a:off x="371475" y="1042909"/>
            <a:ext cx="11449050" cy="5552674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pt-BR" sz="1400" b="1" dirty="0" err="1">
                <a:latin typeface="Candara" panose="020E0502030303020204" pitchFamily="34" charset="0"/>
                <a:ea typeface="Lato" panose="020F0502020204030203" pitchFamily="34" charset="0"/>
                <a:cs typeface="Lato" panose="020F0502020204030203" pitchFamily="34" charset="0"/>
              </a:rPr>
              <a:t>To</a:t>
            </a:r>
            <a:r>
              <a:rPr lang="pt-BR" sz="1400" b="1" dirty="0">
                <a:latin typeface="Candara" panose="020E0502030303020204" pitchFamily="34" charset="0"/>
                <a:ea typeface="Lato" panose="020F0502020204030203" pitchFamily="34" charset="0"/>
                <a:cs typeface="Lato" panose="020F0502020204030203" pitchFamily="34" charset="0"/>
              </a:rPr>
              <a:t> Do:</a:t>
            </a:r>
            <a:endParaRPr lang="pt-BR" sz="1400" dirty="0">
              <a:solidFill>
                <a:srgbClr val="696969"/>
              </a:solidFill>
              <a:latin typeface="Candara" panose="020E0502030303020204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  <a:p>
            <a:pPr marL="285750" indent="-285750">
              <a:lnSpc>
                <a:spcPct val="150000"/>
              </a:lnSpc>
              <a:buFont typeface="Arial" panose="02080604020202020204" pitchFamily="34" charset="0"/>
              <a:buChar char="•"/>
            </a:pPr>
            <a:r>
              <a:rPr lang="pt-BR" sz="1400" dirty="0">
                <a:solidFill>
                  <a:srgbClr val="696969"/>
                </a:solidFill>
                <a:latin typeface="Candara" panose="020E0502030303020204" pitchFamily="34" charset="0"/>
                <a:ea typeface="Lato" panose="020F0502020204030203" pitchFamily="34" charset="0"/>
                <a:cs typeface="Lato" panose="020F0502020204030203" pitchFamily="34" charset="0"/>
              </a:rPr>
              <a:t>Loops:</a:t>
            </a:r>
          </a:p>
          <a:p>
            <a:pPr marL="894715" lvl="1" indent="-285750">
              <a:lnSpc>
                <a:spcPct val="150000"/>
              </a:lnSpc>
              <a:buFont typeface="Arial" panose="02080604020202020204" pitchFamily="34" charset="0"/>
              <a:buChar char="•"/>
            </a:pPr>
            <a:r>
              <a:rPr lang="pt-BR" sz="1400" dirty="0">
                <a:solidFill>
                  <a:srgbClr val="696969"/>
                </a:solidFill>
                <a:latin typeface="Candara" panose="020E0502030303020204" pitchFamily="34" charset="0"/>
                <a:ea typeface="Lato" panose="020F0502020204030203" pitchFamily="34" charset="0"/>
                <a:cs typeface="Lato" panose="020F0502020204030203" pitchFamily="34" charset="0"/>
              </a:rPr>
              <a:t>For com range</a:t>
            </a:r>
          </a:p>
          <a:p>
            <a:pPr marL="894715" lvl="1" indent="-285750">
              <a:lnSpc>
                <a:spcPct val="150000"/>
              </a:lnSpc>
              <a:buFont typeface="Arial" panose="02080604020202020204" pitchFamily="34" charset="0"/>
              <a:buChar char="•"/>
            </a:pPr>
            <a:r>
              <a:rPr lang="pt-BR" sz="1400" dirty="0" err="1">
                <a:solidFill>
                  <a:srgbClr val="696969"/>
                </a:solidFill>
                <a:latin typeface="Candara" panose="020E0502030303020204" pitchFamily="34" charset="0"/>
                <a:ea typeface="Lato" panose="020F0502020204030203" pitchFamily="34" charset="0"/>
                <a:cs typeface="Lato" panose="020F0502020204030203" pitchFamily="34" charset="0"/>
              </a:rPr>
              <a:t>While</a:t>
            </a:r>
            <a:endParaRPr lang="pt-BR" sz="1400" dirty="0">
              <a:solidFill>
                <a:srgbClr val="696969"/>
              </a:solidFill>
              <a:latin typeface="Candara" panose="020E0502030303020204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  <a:p>
            <a:pPr marL="285750" indent="-285750">
              <a:lnSpc>
                <a:spcPct val="150000"/>
              </a:lnSpc>
              <a:buFont typeface="Arial" panose="02080604020202020204" pitchFamily="34" charset="0"/>
              <a:buChar char="•"/>
            </a:pPr>
            <a:r>
              <a:rPr lang="pt-BR" sz="1400" dirty="0">
                <a:solidFill>
                  <a:srgbClr val="696969"/>
                </a:solidFill>
                <a:latin typeface="Candara" panose="020E0502030303020204" pitchFamily="34" charset="0"/>
                <a:ea typeface="Lato" panose="020F0502020204030203" pitchFamily="34" charset="0"/>
                <a:cs typeface="Lato" panose="020F0502020204030203" pitchFamily="34" charset="0"/>
              </a:rPr>
              <a:t>Listas</a:t>
            </a:r>
          </a:p>
          <a:p>
            <a:pPr marL="894715" lvl="1" indent="-285750">
              <a:lnSpc>
                <a:spcPct val="150000"/>
              </a:lnSpc>
              <a:buFont typeface="Arial" panose="02080604020202020204" pitchFamily="34" charset="0"/>
              <a:buChar char="•"/>
            </a:pPr>
            <a:r>
              <a:rPr lang="pt-BR" sz="1400" dirty="0">
                <a:solidFill>
                  <a:srgbClr val="696969"/>
                </a:solidFill>
                <a:latin typeface="Candara" panose="020E0502030303020204" pitchFamily="34" charset="0"/>
                <a:ea typeface="Lato" panose="020F0502020204030203" pitchFamily="34" charset="0"/>
                <a:cs typeface="Lato" panose="020F0502020204030203" pitchFamily="34" charset="0"/>
              </a:rPr>
              <a:t>Criação vazia (</a:t>
            </a:r>
            <a:r>
              <a:rPr lang="pt-BR" sz="1400" dirty="0" err="1">
                <a:solidFill>
                  <a:srgbClr val="696969"/>
                </a:solidFill>
                <a:latin typeface="Candara" panose="020E0502030303020204" pitchFamily="34" charset="0"/>
                <a:ea typeface="Lato" panose="020F0502020204030203" pitchFamily="34" charset="0"/>
                <a:cs typeface="Lato" panose="020F0502020204030203" pitchFamily="34" charset="0"/>
              </a:rPr>
              <a:t>list</a:t>
            </a:r>
            <a:r>
              <a:rPr lang="pt-BR" sz="1400" dirty="0">
                <a:solidFill>
                  <a:srgbClr val="696969"/>
                </a:solidFill>
                <a:latin typeface="Candara" panose="020E0502030303020204" pitchFamily="34" charset="0"/>
                <a:ea typeface="Lato" panose="020F0502020204030203" pitchFamily="34" charset="0"/>
                <a:cs typeface="Lato" panose="020F0502020204030203" pitchFamily="34" charset="0"/>
              </a:rPr>
              <a:t>(...) </a:t>
            </a:r>
            <a:r>
              <a:rPr lang="pt-BR" sz="1400" dirty="0" err="1">
                <a:solidFill>
                  <a:srgbClr val="696969"/>
                </a:solidFill>
                <a:latin typeface="Candara" panose="020E0502030303020204" pitchFamily="34" charset="0"/>
                <a:ea typeface="Lato" panose="020F0502020204030203" pitchFamily="34" charset="0"/>
                <a:cs typeface="Lato" panose="020F0502020204030203" pitchFamily="34" charset="0"/>
              </a:rPr>
              <a:t>or</a:t>
            </a:r>
            <a:r>
              <a:rPr lang="pt-BR" sz="1400" dirty="0">
                <a:solidFill>
                  <a:srgbClr val="696969"/>
                </a:solidFill>
                <a:latin typeface="Candara" panose="020E0502030303020204" pitchFamily="34" charset="0"/>
                <a:ea typeface="Lato" panose="020F0502020204030203" pitchFamily="34" charset="0"/>
                <a:cs typeface="Lato" panose="020F0502020204030203" pitchFamily="34" charset="0"/>
              </a:rPr>
              <a:t> []), com elementos de um único tipo, e com elementos de múltiplos tipos</a:t>
            </a:r>
          </a:p>
          <a:p>
            <a:pPr marL="894715" lvl="1" indent="-285750">
              <a:lnSpc>
                <a:spcPct val="150000"/>
              </a:lnSpc>
              <a:buFont typeface="Arial" panose="02080604020202020204" pitchFamily="34" charset="0"/>
              <a:buChar char="•"/>
            </a:pPr>
            <a:r>
              <a:rPr lang="pt-BR" sz="1400" dirty="0">
                <a:solidFill>
                  <a:srgbClr val="696969"/>
                </a:solidFill>
                <a:latin typeface="Candara" panose="020E0502030303020204" pitchFamily="34" charset="0"/>
                <a:ea typeface="Lato" panose="020F0502020204030203" pitchFamily="34" charset="0"/>
                <a:cs typeface="Lato" panose="020F0502020204030203" pitchFamily="34" charset="0"/>
              </a:rPr>
              <a:t>Acesso via índices</a:t>
            </a:r>
          </a:p>
          <a:p>
            <a:pPr marL="894715" lvl="1" indent="-285750">
              <a:lnSpc>
                <a:spcPct val="150000"/>
              </a:lnSpc>
              <a:buFont typeface="Arial" panose="02080604020202020204" pitchFamily="34" charset="0"/>
              <a:buChar char="•"/>
            </a:pPr>
            <a:r>
              <a:rPr lang="pt-BR" sz="1400" dirty="0" err="1">
                <a:solidFill>
                  <a:srgbClr val="696969"/>
                </a:solidFill>
                <a:latin typeface="Candara" panose="020E0502030303020204" pitchFamily="34" charset="0"/>
                <a:ea typeface="Lato" panose="020F0502020204030203" pitchFamily="34" charset="0"/>
                <a:cs typeface="Lato" panose="020F0502020204030203" pitchFamily="34" charset="0"/>
              </a:rPr>
              <a:t>append</a:t>
            </a:r>
            <a:r>
              <a:rPr lang="pt-BR" sz="1400" dirty="0">
                <a:solidFill>
                  <a:srgbClr val="696969"/>
                </a:solidFill>
                <a:latin typeface="Candara" panose="020E0502030303020204" pitchFamily="34" charset="0"/>
                <a:ea typeface="Lato" panose="020F0502020204030203" pitchFamily="34" charset="0"/>
                <a:cs typeface="Lato" panose="020F0502020204030203" pitchFamily="34" charset="0"/>
              </a:rPr>
              <a:t>, index, </a:t>
            </a:r>
            <a:r>
              <a:rPr lang="pt-BR" sz="1400" dirty="0" err="1">
                <a:solidFill>
                  <a:srgbClr val="696969"/>
                </a:solidFill>
                <a:latin typeface="Candara" panose="020E0502030303020204" pitchFamily="34" charset="0"/>
                <a:ea typeface="Lato" panose="020F0502020204030203" pitchFamily="34" charset="0"/>
                <a:cs typeface="Lato" panose="020F0502020204030203" pitchFamily="34" charset="0"/>
              </a:rPr>
              <a:t>insert</a:t>
            </a:r>
            <a:r>
              <a:rPr lang="pt-BR" sz="1400" dirty="0">
                <a:solidFill>
                  <a:srgbClr val="696969"/>
                </a:solidFill>
                <a:latin typeface="Candara" panose="020E0502030303020204" pitchFamily="34" charset="0"/>
                <a:ea typeface="Lato" panose="020F0502020204030203" pitchFamily="34" charset="0"/>
                <a:cs typeface="Lato" panose="020F0502020204030203" pitchFamily="34" charset="0"/>
              </a:rPr>
              <a:t>, remove, pop, </a:t>
            </a:r>
            <a:r>
              <a:rPr lang="pt-BR" sz="1400" dirty="0" err="1">
                <a:solidFill>
                  <a:srgbClr val="696969"/>
                </a:solidFill>
                <a:latin typeface="Candara" panose="020E0502030303020204" pitchFamily="34" charset="0"/>
                <a:ea typeface="Lato" panose="020F0502020204030203" pitchFamily="34" charset="0"/>
                <a:cs typeface="Lato" panose="020F0502020204030203" pitchFamily="34" charset="0"/>
              </a:rPr>
              <a:t>clear</a:t>
            </a:r>
            <a:r>
              <a:rPr lang="pt-BR" sz="1400" dirty="0">
                <a:solidFill>
                  <a:srgbClr val="696969"/>
                </a:solidFill>
                <a:latin typeface="Candara" panose="020E0502030303020204" pitchFamily="34" charset="0"/>
                <a:ea typeface="Lato" panose="020F0502020204030203" pitchFamily="34" charset="0"/>
                <a:cs typeface="Lato" panose="020F0502020204030203" pitchFamily="34" charset="0"/>
              </a:rPr>
              <a:t>, </a:t>
            </a:r>
            <a:r>
              <a:rPr lang="pt-BR" sz="1400" dirty="0" err="1">
                <a:solidFill>
                  <a:srgbClr val="696969"/>
                </a:solidFill>
                <a:latin typeface="Candara" panose="020E0502030303020204" pitchFamily="34" charset="0"/>
                <a:ea typeface="Lato" panose="020F0502020204030203" pitchFamily="34" charset="0"/>
                <a:cs typeface="Lato" panose="020F0502020204030203" pitchFamily="34" charset="0"/>
              </a:rPr>
              <a:t>copy</a:t>
            </a:r>
            <a:r>
              <a:rPr lang="pt-BR" sz="1400" dirty="0">
                <a:solidFill>
                  <a:srgbClr val="696969"/>
                </a:solidFill>
                <a:latin typeface="Candara" panose="020E0502030303020204" pitchFamily="34" charset="0"/>
                <a:ea typeface="Lato" panose="020F0502020204030203" pitchFamily="34" charset="0"/>
                <a:cs typeface="Lato" panose="020F0502020204030203" pitchFamily="34" charset="0"/>
              </a:rPr>
              <a:t>, e cópia com </a:t>
            </a:r>
            <a:r>
              <a:rPr lang="pt-BR" sz="1400" dirty="0" err="1">
                <a:solidFill>
                  <a:srgbClr val="696969"/>
                </a:solidFill>
                <a:latin typeface="Candara" panose="020E0502030303020204" pitchFamily="34" charset="0"/>
                <a:ea typeface="Lato" panose="020F0502020204030203" pitchFamily="34" charset="0"/>
                <a:cs typeface="Lato" panose="020F0502020204030203" pitchFamily="34" charset="0"/>
              </a:rPr>
              <a:t>list</a:t>
            </a:r>
            <a:r>
              <a:rPr lang="pt-BR" sz="1400" dirty="0">
                <a:solidFill>
                  <a:srgbClr val="696969"/>
                </a:solidFill>
                <a:latin typeface="Candara" panose="020E0502030303020204" pitchFamily="34" charset="0"/>
                <a:ea typeface="Lato" panose="020F0502020204030203" pitchFamily="34" charset="0"/>
                <a:cs typeface="Lato" panose="020F0502020204030203" pitchFamily="34" charset="0"/>
              </a:rPr>
              <a:t>( )</a:t>
            </a:r>
          </a:p>
          <a:p>
            <a:pPr marL="894715" lvl="1" indent="-285750">
              <a:lnSpc>
                <a:spcPct val="150000"/>
              </a:lnSpc>
              <a:buFont typeface="Arial" panose="02080604020202020204" pitchFamily="34" charset="0"/>
              <a:buChar char="•"/>
            </a:pPr>
            <a:r>
              <a:rPr lang="pt-BR" sz="1400" dirty="0" err="1">
                <a:solidFill>
                  <a:srgbClr val="696969"/>
                </a:solidFill>
                <a:latin typeface="Candara" panose="020E0502030303020204" pitchFamily="34" charset="0"/>
                <a:ea typeface="Lato" panose="020F0502020204030203" pitchFamily="34" charset="0"/>
                <a:cs typeface="Lato" panose="020F0502020204030203" pitchFamily="34" charset="0"/>
              </a:rPr>
              <a:t>count</a:t>
            </a:r>
            <a:r>
              <a:rPr lang="pt-BR" sz="1400" dirty="0">
                <a:solidFill>
                  <a:srgbClr val="696969"/>
                </a:solidFill>
                <a:latin typeface="Candara" panose="020E0502030303020204" pitchFamily="34" charset="0"/>
                <a:ea typeface="Lato" panose="020F0502020204030203" pitchFamily="34" charset="0"/>
                <a:cs typeface="Lato" panose="020F0502020204030203" pitchFamily="34" charset="0"/>
              </a:rPr>
              <a:t>, reverse, </a:t>
            </a:r>
            <a:r>
              <a:rPr lang="pt-BR" sz="1400" dirty="0" err="1">
                <a:solidFill>
                  <a:srgbClr val="696969"/>
                </a:solidFill>
                <a:latin typeface="Candara" panose="020E0502030303020204" pitchFamily="34" charset="0"/>
                <a:ea typeface="Lato" panose="020F0502020204030203" pitchFamily="34" charset="0"/>
                <a:cs typeface="Lato" panose="020F0502020204030203" pitchFamily="34" charset="0"/>
              </a:rPr>
              <a:t>sort</a:t>
            </a:r>
            <a:endParaRPr lang="pt-BR" sz="1400" dirty="0">
              <a:solidFill>
                <a:srgbClr val="696969"/>
              </a:solidFill>
              <a:latin typeface="Candara" panose="020E0502030303020204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  <a:p>
            <a:pPr marL="894715" lvl="1" indent="-285750">
              <a:lnSpc>
                <a:spcPct val="150000"/>
              </a:lnSpc>
              <a:buFont typeface="Arial" panose="02080604020202020204" pitchFamily="34" charset="0"/>
              <a:buChar char="•"/>
            </a:pPr>
            <a:r>
              <a:rPr lang="pt-BR" sz="1400" dirty="0" err="1">
                <a:solidFill>
                  <a:srgbClr val="696969"/>
                </a:solidFill>
                <a:latin typeface="Candara" panose="020E0502030303020204" pitchFamily="34" charset="0"/>
                <a:ea typeface="Lato" panose="020F0502020204030203" pitchFamily="34" charset="0"/>
                <a:cs typeface="Lato" panose="020F0502020204030203" pitchFamily="34" charset="0"/>
              </a:rPr>
              <a:t>List</a:t>
            </a:r>
            <a:r>
              <a:rPr lang="pt-BR" sz="1400" dirty="0">
                <a:solidFill>
                  <a:srgbClr val="696969"/>
                </a:solidFill>
                <a:latin typeface="Candara" panose="020E0502030303020204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pt-BR" sz="1400" dirty="0" err="1">
                <a:solidFill>
                  <a:srgbClr val="696969"/>
                </a:solidFill>
                <a:latin typeface="Candara" panose="020E0502030303020204" pitchFamily="34" charset="0"/>
                <a:ea typeface="Lato" panose="020F0502020204030203" pitchFamily="34" charset="0"/>
                <a:cs typeface="Lato" panose="020F0502020204030203" pitchFamily="34" charset="0"/>
              </a:rPr>
              <a:t>compreensions</a:t>
            </a:r>
            <a:r>
              <a:rPr lang="pt-BR" sz="1400" dirty="0">
                <a:solidFill>
                  <a:srgbClr val="696969"/>
                </a:solidFill>
                <a:latin typeface="Candara" panose="020E0502030303020204" pitchFamily="34" charset="0"/>
                <a:ea typeface="Lato" panose="020F0502020204030203" pitchFamily="34" charset="0"/>
                <a:cs typeface="Lato" panose="020F0502020204030203" pitchFamily="34" charset="0"/>
              </a:rPr>
              <a:t> (criar listas com range, com for, ...)</a:t>
            </a:r>
          </a:p>
          <a:p>
            <a:pPr marL="894715" lvl="1" indent="-285750">
              <a:lnSpc>
                <a:spcPct val="150000"/>
              </a:lnSpc>
              <a:buFont typeface="Arial" panose="02080604020202020204" pitchFamily="34" charset="0"/>
              <a:buChar char="•"/>
            </a:pPr>
            <a:r>
              <a:rPr lang="pt-BR" sz="1400" dirty="0" err="1">
                <a:solidFill>
                  <a:srgbClr val="696969"/>
                </a:solidFill>
                <a:latin typeface="Candara" panose="020E0502030303020204" pitchFamily="34" charset="0"/>
                <a:ea typeface="Lato" panose="020F0502020204030203" pitchFamily="34" charset="0"/>
                <a:cs typeface="Lato" panose="020F0502020204030203" pitchFamily="34" charset="0"/>
              </a:rPr>
              <a:t>Slices</a:t>
            </a:r>
            <a:r>
              <a:rPr lang="pt-BR" sz="1400" dirty="0">
                <a:solidFill>
                  <a:srgbClr val="696969"/>
                </a:solidFill>
                <a:latin typeface="Candara" panose="020E0502030303020204" pitchFamily="34" charset="0"/>
                <a:ea typeface="Lato" panose="020F0502020204030203" pitchFamily="34" charset="0"/>
                <a:cs typeface="Lato" panose="020F0502020204030203" pitchFamily="34" charset="0"/>
              </a:rPr>
              <a:t> (</a:t>
            </a:r>
            <a:r>
              <a:rPr lang="pt-BR" sz="1400" dirty="0" err="1">
                <a:solidFill>
                  <a:srgbClr val="696969"/>
                </a:solidFill>
                <a:latin typeface="Candara" panose="020E0502030303020204" pitchFamily="34" charset="0"/>
                <a:ea typeface="Lato" panose="020F0502020204030203" pitchFamily="34" charset="0"/>
                <a:cs typeface="Lato" panose="020F0502020204030203" pitchFamily="34" charset="0"/>
              </a:rPr>
              <a:t>views</a:t>
            </a:r>
            <a:r>
              <a:rPr lang="pt-BR" sz="1400" dirty="0">
                <a:solidFill>
                  <a:srgbClr val="696969"/>
                </a:solidFill>
                <a:latin typeface="Candara" panose="020E0502030303020204" pitchFamily="34" charset="0"/>
                <a:ea typeface="Lato" panose="020F0502020204030203" pitchFamily="34" charset="0"/>
                <a:cs typeface="Lato" panose="020F0502020204030203" pitchFamily="34" charset="0"/>
              </a:rPr>
              <a:t>/referências e cópias)</a:t>
            </a:r>
          </a:p>
          <a:p>
            <a:pPr marL="894715" lvl="1" indent="-285750">
              <a:lnSpc>
                <a:spcPct val="150000"/>
              </a:lnSpc>
              <a:buFont typeface="Arial" panose="02080604020202020204" pitchFamily="34" charset="0"/>
              <a:buChar char="•"/>
            </a:pPr>
            <a:r>
              <a:rPr lang="pt-BR" sz="1400" dirty="0">
                <a:solidFill>
                  <a:srgbClr val="696969"/>
                </a:solidFill>
                <a:latin typeface="Candara" panose="020E0502030303020204" pitchFamily="34" charset="0"/>
                <a:ea typeface="Lato" panose="020F0502020204030203" pitchFamily="34" charset="0"/>
                <a:cs typeface="Lato" panose="020F0502020204030203" pitchFamily="34" charset="0"/>
              </a:rPr>
              <a:t>Iterando com listas: índice e for-</a:t>
            </a:r>
            <a:r>
              <a:rPr lang="pt-BR" sz="1400" dirty="0" err="1">
                <a:solidFill>
                  <a:srgbClr val="696969"/>
                </a:solidFill>
                <a:latin typeface="Candara" panose="020E0502030303020204" pitchFamily="34" charset="0"/>
                <a:ea typeface="Lato" panose="020F0502020204030203" pitchFamily="34" charset="0"/>
                <a:cs typeface="Lato" panose="020F0502020204030203" pitchFamily="34" charset="0"/>
              </a:rPr>
              <a:t>each</a:t>
            </a:r>
            <a:endParaRPr lang="pt-BR" sz="1400" dirty="0">
              <a:solidFill>
                <a:srgbClr val="696969"/>
              </a:solidFill>
              <a:latin typeface="Candara" panose="020E0502030303020204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  <a:p>
            <a:pPr marL="285750" indent="-285750">
              <a:lnSpc>
                <a:spcPct val="150000"/>
              </a:lnSpc>
              <a:buFont typeface="Arial" panose="02080604020202020204" pitchFamily="34" charset="0"/>
              <a:buChar char="•"/>
            </a:pPr>
            <a:r>
              <a:rPr lang="pt-BR" sz="1400" dirty="0" err="1">
                <a:solidFill>
                  <a:srgbClr val="696969"/>
                </a:solidFill>
                <a:latin typeface="Candara" panose="020E0502030303020204" pitchFamily="34" charset="0"/>
                <a:ea typeface="Lato" panose="020F0502020204030203" pitchFamily="34" charset="0"/>
                <a:cs typeface="Lato" panose="020F0502020204030203" pitchFamily="34" charset="0"/>
              </a:rPr>
              <a:t>Strings</a:t>
            </a:r>
            <a:r>
              <a:rPr lang="pt-BR" sz="1400" dirty="0">
                <a:solidFill>
                  <a:srgbClr val="696969"/>
                </a:solidFill>
                <a:latin typeface="Candara" panose="020E0502030303020204" pitchFamily="34" charset="0"/>
                <a:ea typeface="Lato" panose="020F0502020204030203" pitchFamily="34" charset="0"/>
                <a:cs typeface="Lato" panose="020F0502020204030203" pitchFamily="34" charset="0"/>
              </a:rPr>
              <a:t>:</a:t>
            </a:r>
          </a:p>
          <a:p>
            <a:pPr marL="894715" lvl="1" indent="-285750">
              <a:lnSpc>
                <a:spcPct val="150000"/>
              </a:lnSpc>
              <a:buFont typeface="Arial" panose="02080604020202020204" pitchFamily="34" charset="0"/>
              <a:buChar char="•"/>
            </a:pPr>
            <a:r>
              <a:rPr lang="pt-BR" sz="1400" dirty="0">
                <a:solidFill>
                  <a:srgbClr val="696969"/>
                </a:solidFill>
                <a:latin typeface="Candara" panose="020E0502030303020204" pitchFamily="34" charset="0"/>
                <a:ea typeface="Lato" panose="020F0502020204030203" pitchFamily="34" charset="0"/>
                <a:cs typeface="Lato" panose="020F0502020204030203" pitchFamily="34" charset="0"/>
              </a:rPr>
              <a:t>Se comportam como listas</a:t>
            </a:r>
          </a:p>
          <a:p>
            <a:pPr marL="894715" lvl="1" indent="-285750">
              <a:lnSpc>
                <a:spcPct val="150000"/>
              </a:lnSpc>
              <a:buFont typeface="Arial" panose="02080604020202020204" pitchFamily="34" charset="0"/>
              <a:buChar char="•"/>
            </a:pPr>
            <a:r>
              <a:rPr lang="pt-BR" sz="1400" dirty="0" err="1">
                <a:solidFill>
                  <a:srgbClr val="696969"/>
                </a:solidFill>
                <a:latin typeface="Candara" panose="020E0502030303020204" pitchFamily="34" charset="0"/>
                <a:ea typeface="Lato" panose="020F0502020204030203" pitchFamily="34" charset="0"/>
                <a:cs typeface="Lato" panose="020F0502020204030203" pitchFamily="34" charset="0"/>
              </a:rPr>
              <a:t>split</a:t>
            </a:r>
            <a:r>
              <a:rPr lang="pt-BR" sz="1400" dirty="0">
                <a:solidFill>
                  <a:srgbClr val="696969"/>
                </a:solidFill>
                <a:latin typeface="Candara" panose="020E0502030303020204" pitchFamily="34" charset="0"/>
                <a:ea typeface="Lato" panose="020F0502020204030203" pitchFamily="34" charset="0"/>
                <a:cs typeface="Lato" panose="020F0502020204030203" pitchFamily="34" charset="0"/>
              </a:rPr>
              <a:t>, </a:t>
            </a:r>
            <a:r>
              <a:rPr lang="pt-BR" sz="1400" dirty="0" err="1">
                <a:solidFill>
                  <a:srgbClr val="696969"/>
                </a:solidFill>
                <a:latin typeface="Candara" panose="020E0502030303020204" pitchFamily="34" charset="0"/>
                <a:ea typeface="Lato" panose="020F0502020204030203" pitchFamily="34" charset="0"/>
                <a:cs typeface="Lato" panose="020F0502020204030203" pitchFamily="34" charset="0"/>
              </a:rPr>
              <a:t>upper</a:t>
            </a:r>
            <a:r>
              <a:rPr lang="pt-BR" sz="1400" dirty="0">
                <a:solidFill>
                  <a:srgbClr val="696969"/>
                </a:solidFill>
                <a:latin typeface="Candara" panose="020E0502030303020204" pitchFamily="34" charset="0"/>
                <a:ea typeface="Lato" panose="020F0502020204030203" pitchFamily="34" charset="0"/>
                <a:cs typeface="Lato" panose="020F0502020204030203" pitchFamily="34" charset="0"/>
              </a:rPr>
              <a:t>, </a:t>
            </a:r>
            <a:r>
              <a:rPr lang="pt-BR" sz="1400" dirty="0" err="1">
                <a:solidFill>
                  <a:srgbClr val="696969"/>
                </a:solidFill>
                <a:latin typeface="Candara" panose="020E0502030303020204" pitchFamily="34" charset="0"/>
                <a:ea typeface="Lato" panose="020F0502020204030203" pitchFamily="34" charset="0"/>
                <a:cs typeface="Lato" panose="020F0502020204030203" pitchFamily="34" charset="0"/>
              </a:rPr>
              <a:t>lower</a:t>
            </a:r>
            <a:r>
              <a:rPr lang="pt-BR" sz="1400" dirty="0">
                <a:solidFill>
                  <a:srgbClr val="696969"/>
                </a:solidFill>
                <a:latin typeface="Candara" panose="020E0502030303020204" pitchFamily="34" charset="0"/>
                <a:ea typeface="Lato" panose="020F0502020204030203" pitchFamily="34" charset="0"/>
                <a:cs typeface="Lato" panose="020F0502020204030203" pitchFamily="34" charset="0"/>
              </a:rPr>
              <a:t>, </a:t>
            </a:r>
            <a:r>
              <a:rPr lang="pt-BR" sz="1400" dirty="0" err="1">
                <a:solidFill>
                  <a:srgbClr val="696969"/>
                </a:solidFill>
                <a:latin typeface="Candara" panose="020E0502030303020204" pitchFamily="34" charset="0"/>
                <a:ea typeface="Lato" panose="020F0502020204030203" pitchFamily="34" charset="0"/>
                <a:cs typeface="Lato" panose="020F0502020204030203" pitchFamily="34" charset="0"/>
              </a:rPr>
              <a:t>endswith</a:t>
            </a:r>
            <a:r>
              <a:rPr lang="pt-BR" sz="1400" dirty="0">
                <a:solidFill>
                  <a:srgbClr val="696969"/>
                </a:solidFill>
                <a:latin typeface="Candara" panose="020E0502030303020204" pitchFamily="34" charset="0"/>
                <a:ea typeface="Lato" panose="020F0502020204030203" pitchFamily="34" charset="0"/>
                <a:cs typeface="Lato" panose="020F0502020204030203" pitchFamily="34" charset="0"/>
              </a:rPr>
              <a:t>, </a:t>
            </a:r>
            <a:r>
              <a:rPr lang="pt-BR" sz="1400" dirty="0" err="1">
                <a:solidFill>
                  <a:srgbClr val="696969"/>
                </a:solidFill>
                <a:latin typeface="Candara" panose="020E0502030303020204" pitchFamily="34" charset="0"/>
                <a:ea typeface="Lato" panose="020F0502020204030203" pitchFamily="34" charset="0"/>
                <a:cs typeface="Lato" panose="020F0502020204030203" pitchFamily="34" charset="0"/>
              </a:rPr>
              <a:t>replace</a:t>
            </a:r>
            <a:r>
              <a:rPr lang="pt-BR" sz="1400" dirty="0">
                <a:solidFill>
                  <a:srgbClr val="696969"/>
                </a:solidFill>
                <a:latin typeface="Candara" panose="020E0502030303020204" pitchFamily="34" charset="0"/>
                <a:ea typeface="Lato" panose="020F0502020204030203" pitchFamily="34" charset="0"/>
                <a:cs typeface="Lato" panose="020F0502020204030203" pitchFamily="34" charset="0"/>
              </a:rPr>
              <a:t>, </a:t>
            </a:r>
            <a:r>
              <a:rPr lang="pt-BR" sz="1400" dirty="0" err="1">
                <a:solidFill>
                  <a:srgbClr val="696969"/>
                </a:solidFill>
                <a:latin typeface="Candara" panose="020E0502030303020204" pitchFamily="34" charset="0"/>
                <a:ea typeface="Lato" panose="020F0502020204030203" pitchFamily="34" charset="0"/>
                <a:cs typeface="Lato" panose="020F0502020204030203" pitchFamily="34" charset="0"/>
              </a:rPr>
              <a:t>join</a:t>
            </a:r>
            <a:r>
              <a:rPr lang="pt-BR" sz="1400" dirty="0">
                <a:solidFill>
                  <a:srgbClr val="696969"/>
                </a:solidFill>
                <a:latin typeface="Candara" panose="020E0502030303020204" pitchFamily="34" charset="0"/>
                <a:ea typeface="Lato" panose="020F0502020204030203" pitchFamily="34" charset="0"/>
                <a:cs typeface="Lato" panose="020F0502020204030203" pitchFamily="34" charset="0"/>
              </a:rPr>
              <a:t>, +</a:t>
            </a:r>
          </a:p>
          <a:p>
            <a:pPr marL="894715" lvl="1" indent="-285750">
              <a:lnSpc>
                <a:spcPct val="150000"/>
              </a:lnSpc>
              <a:buFont typeface="Arial" panose="02080604020202020204" pitchFamily="34" charset="0"/>
              <a:buChar char="•"/>
            </a:pPr>
            <a:r>
              <a:rPr lang="pt-BR" sz="1400" dirty="0" err="1">
                <a:solidFill>
                  <a:srgbClr val="696969"/>
                </a:solidFill>
                <a:latin typeface="Candara" panose="020E0502030303020204" pitchFamily="34" charset="0"/>
                <a:ea typeface="Lato" panose="020F0502020204030203" pitchFamily="34" charset="0"/>
                <a:cs typeface="Lato" panose="020F0502020204030203" pitchFamily="34" charset="0"/>
              </a:rPr>
              <a:t>Slices</a:t>
            </a:r>
            <a:r>
              <a:rPr lang="pt-BR" sz="1400" dirty="0">
                <a:solidFill>
                  <a:srgbClr val="696969"/>
                </a:solidFill>
                <a:latin typeface="Candara" panose="020E0502030303020204" pitchFamily="34" charset="0"/>
                <a:ea typeface="Lato" panose="020F0502020204030203" pitchFamily="34" charset="0"/>
                <a:cs typeface="Lato" panose="020F0502020204030203" pitchFamily="34" charset="0"/>
              </a:rPr>
              <a:t> (</a:t>
            </a:r>
            <a:r>
              <a:rPr lang="pt-BR" sz="1400" dirty="0" err="1">
                <a:solidFill>
                  <a:srgbClr val="696969"/>
                </a:solidFill>
                <a:latin typeface="Candara" panose="020E0502030303020204" pitchFamily="34" charset="0"/>
                <a:ea typeface="Lato" panose="020F0502020204030203" pitchFamily="34" charset="0"/>
                <a:cs typeface="Lato" panose="020F0502020204030203" pitchFamily="34" charset="0"/>
              </a:rPr>
              <a:t>views</a:t>
            </a:r>
            <a:r>
              <a:rPr lang="pt-BR" sz="1400" dirty="0">
                <a:solidFill>
                  <a:srgbClr val="696969"/>
                </a:solidFill>
                <a:latin typeface="Candara" panose="020E0502030303020204" pitchFamily="34" charset="0"/>
                <a:ea typeface="Lato" panose="020F0502020204030203" pitchFamily="34" charset="0"/>
                <a:cs typeface="Lato" panose="020F0502020204030203" pitchFamily="34" charset="0"/>
              </a:rPr>
              <a:t>/referências e cópias)</a:t>
            </a:r>
          </a:p>
          <a:p>
            <a:pPr marL="894715" lvl="1" indent="-285750">
              <a:lnSpc>
                <a:spcPct val="150000"/>
              </a:lnSpc>
              <a:buFont typeface="Arial" panose="02080604020202020204" pitchFamily="34" charset="0"/>
              <a:buChar char="•"/>
            </a:pPr>
            <a:r>
              <a:rPr lang="pt-BR" sz="1400" dirty="0">
                <a:solidFill>
                  <a:srgbClr val="696969"/>
                </a:solidFill>
                <a:latin typeface="Candara" panose="020E0502030303020204" pitchFamily="34" charset="0"/>
                <a:ea typeface="Lato" panose="020F0502020204030203" pitchFamily="34" charset="0"/>
                <a:cs typeface="Lato" panose="020F0502020204030203" pitchFamily="34" charset="0"/>
              </a:rPr>
              <a:t>Comparação</a:t>
            </a:r>
          </a:p>
        </p:txBody>
      </p:sp>
      <p:sp>
        <p:nvSpPr>
          <p:cNvPr id="13" name="Rectangle 12"/>
          <p:cNvSpPr/>
          <p:nvPr/>
        </p:nvSpPr>
        <p:spPr>
          <a:xfrm rot="16200000">
            <a:off x="-2021984" y="4717094"/>
            <a:ext cx="3059113" cy="48610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6" name="Rectangle 15"/>
          <p:cNvSpPr/>
          <p:nvPr/>
        </p:nvSpPr>
        <p:spPr>
          <a:xfrm rot="16200000">
            <a:off x="-2021984" y="1654805"/>
            <a:ext cx="3059113" cy="486102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</p:cSld>
  <p:clrMapOvr>
    <a:masterClrMapping/>
  </p:clrMapOvr>
  <p:transition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47A1EB-5142-CB48-AB43-FD63342FB24F}" type="slidenum">
              <a:rPr lang="en-US">
                <a:ea typeface="Lato" panose="020F0502020204030203" pitchFamily="34" charset="0"/>
                <a:cs typeface="Lato" panose="020F0502020204030203" pitchFamily="34" charset="0"/>
              </a:rPr>
              <a:t>12</a:t>
            </a:fld>
            <a:endParaRPr lang="en-US" dirty="0"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371475" y="272038"/>
            <a:ext cx="11449050" cy="58477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pt-BR" sz="3200" b="1" dirty="0" err="1">
                <a:solidFill>
                  <a:srgbClr val="0C509E"/>
                </a:solidFill>
                <a:latin typeface="PT Sans" panose="020B0503020203020204" pitchFamily="34" charset="77"/>
                <a:cs typeface="Helvetica LT Std" panose="020B0504020202020204" charset="0"/>
              </a:rPr>
              <a:t>Let’s</a:t>
            </a:r>
            <a:r>
              <a:rPr lang="pt-BR" sz="3200" b="1" dirty="0">
                <a:solidFill>
                  <a:srgbClr val="0C509E"/>
                </a:solidFill>
                <a:latin typeface="PT Sans" panose="020B0503020203020204" pitchFamily="34" charset="77"/>
                <a:cs typeface="Helvetica LT Std" panose="020B0504020202020204" charset="0"/>
              </a:rPr>
              <a:t> </a:t>
            </a:r>
            <a:r>
              <a:rPr lang="pt-BR" sz="3200" b="1" dirty="0" err="1">
                <a:solidFill>
                  <a:srgbClr val="0C509E"/>
                </a:solidFill>
                <a:latin typeface="PT Sans" panose="020B0503020203020204" pitchFamily="34" charset="77"/>
                <a:cs typeface="Helvetica LT Std" panose="020B0504020202020204" charset="0"/>
              </a:rPr>
              <a:t>code</a:t>
            </a:r>
            <a:endParaRPr lang="pt-BR" sz="3200" b="1" dirty="0">
              <a:solidFill>
                <a:srgbClr val="0C509E"/>
              </a:solidFill>
              <a:latin typeface="PT Sans" panose="020B0503020203020204" pitchFamily="34" charset="77"/>
              <a:cs typeface="Helvetica LT Std" panose="020B0504020202020204" charset="0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-3115" y="6782724"/>
            <a:ext cx="12194763" cy="75278"/>
          </a:xfrm>
          <a:prstGeom prst="rect">
            <a:avLst/>
          </a:prstGeom>
          <a:solidFill>
            <a:srgbClr val="0C509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195"/>
          </a:p>
        </p:txBody>
      </p:sp>
      <p:sp>
        <p:nvSpPr>
          <p:cNvPr id="7" name="Rectangle 6"/>
          <p:cNvSpPr/>
          <p:nvPr/>
        </p:nvSpPr>
        <p:spPr>
          <a:xfrm>
            <a:off x="371474" y="7101815"/>
            <a:ext cx="5726113" cy="48610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1" name="Rectangle 10"/>
          <p:cNvSpPr/>
          <p:nvPr/>
        </p:nvSpPr>
        <p:spPr>
          <a:xfrm>
            <a:off x="6104004" y="7101814"/>
            <a:ext cx="5726113" cy="486102"/>
          </a:xfrm>
          <a:prstGeom prst="rect">
            <a:avLst/>
          </a:prstGeom>
          <a:solidFill>
            <a:srgbClr val="FFD7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9" name="TextBox 8"/>
          <p:cNvSpPr txBox="1"/>
          <p:nvPr/>
        </p:nvSpPr>
        <p:spPr>
          <a:xfrm>
            <a:off x="371475" y="1042909"/>
            <a:ext cx="11449050" cy="5552674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pt-BR" sz="1400" b="1" dirty="0" err="1">
                <a:latin typeface="Candara" panose="020E0502030303020204" pitchFamily="34" charset="0"/>
                <a:ea typeface="Lato" panose="020F0502020204030203" pitchFamily="34" charset="0"/>
                <a:cs typeface="Lato" panose="020F0502020204030203" pitchFamily="34" charset="0"/>
              </a:rPr>
              <a:t>To</a:t>
            </a:r>
            <a:r>
              <a:rPr lang="pt-BR" sz="1400" b="1" dirty="0">
                <a:latin typeface="Candara" panose="020E0502030303020204" pitchFamily="34" charset="0"/>
                <a:ea typeface="Lato" panose="020F0502020204030203" pitchFamily="34" charset="0"/>
                <a:cs typeface="Lato" panose="020F0502020204030203" pitchFamily="34" charset="0"/>
              </a:rPr>
              <a:t> Do:</a:t>
            </a:r>
            <a:endParaRPr lang="pt-BR" sz="1400" dirty="0">
              <a:solidFill>
                <a:srgbClr val="696969"/>
              </a:solidFill>
              <a:latin typeface="Candara" panose="020E0502030303020204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  <a:p>
            <a:pPr marL="285750" indent="-285750">
              <a:lnSpc>
                <a:spcPct val="150000"/>
              </a:lnSpc>
              <a:buFont typeface="Arial" panose="02080604020202020204" pitchFamily="34" charset="0"/>
              <a:buChar char="•"/>
            </a:pPr>
            <a:r>
              <a:rPr lang="pt-BR" sz="1400" dirty="0" err="1">
                <a:solidFill>
                  <a:srgbClr val="696969"/>
                </a:solidFill>
                <a:latin typeface="Candara" panose="020E0502030303020204" pitchFamily="34" charset="0"/>
                <a:ea typeface="Lato" panose="020F0502020204030203" pitchFamily="34" charset="0"/>
                <a:cs typeface="Lato" panose="020F0502020204030203" pitchFamily="34" charset="0"/>
              </a:rPr>
              <a:t>Tuplas</a:t>
            </a:r>
            <a:r>
              <a:rPr lang="pt-BR" sz="1400" dirty="0">
                <a:solidFill>
                  <a:srgbClr val="696969"/>
                </a:solidFill>
                <a:latin typeface="Candara" panose="020E0502030303020204" pitchFamily="34" charset="0"/>
                <a:ea typeface="Lato" panose="020F0502020204030203" pitchFamily="34" charset="0"/>
                <a:cs typeface="Lato" panose="020F0502020204030203" pitchFamily="34" charset="0"/>
              </a:rPr>
              <a:t>:</a:t>
            </a:r>
          </a:p>
          <a:p>
            <a:pPr marL="894715" lvl="1" indent="-285750">
              <a:lnSpc>
                <a:spcPct val="150000"/>
              </a:lnSpc>
              <a:buFont typeface="Arial" panose="02080604020202020204" pitchFamily="34" charset="0"/>
              <a:buChar char="•"/>
            </a:pPr>
            <a:r>
              <a:rPr lang="pt-BR" sz="1400" dirty="0">
                <a:solidFill>
                  <a:srgbClr val="696969"/>
                </a:solidFill>
                <a:latin typeface="Candara" panose="020E0502030303020204" pitchFamily="34" charset="0"/>
                <a:ea typeface="Lato" panose="020F0502020204030203" pitchFamily="34" charset="0"/>
                <a:cs typeface="Lato" panose="020F0502020204030203" pitchFamily="34" charset="0"/>
              </a:rPr>
              <a:t>Criação vazia (</a:t>
            </a:r>
            <a:r>
              <a:rPr lang="pt-BR" sz="1400" dirty="0" err="1">
                <a:solidFill>
                  <a:srgbClr val="696969"/>
                </a:solidFill>
                <a:latin typeface="Candara" panose="020E0502030303020204" pitchFamily="34" charset="0"/>
                <a:ea typeface="Lato" panose="020F0502020204030203" pitchFamily="34" charset="0"/>
                <a:cs typeface="Lato" panose="020F0502020204030203" pitchFamily="34" charset="0"/>
              </a:rPr>
              <a:t>tuple</a:t>
            </a:r>
            <a:r>
              <a:rPr lang="pt-BR" sz="1400" dirty="0">
                <a:solidFill>
                  <a:srgbClr val="696969"/>
                </a:solidFill>
                <a:latin typeface="Candara" panose="020E0502030303020204" pitchFamily="34" charset="0"/>
                <a:ea typeface="Lato" panose="020F0502020204030203" pitchFamily="34" charset="0"/>
                <a:cs typeface="Lato" panose="020F0502020204030203" pitchFamily="34" charset="0"/>
              </a:rPr>
              <a:t>(), ()), com elementos de um único tipo e com elementos de múltiplos tipos</a:t>
            </a:r>
          </a:p>
          <a:p>
            <a:pPr marL="894715" lvl="1" indent="-285750">
              <a:lnSpc>
                <a:spcPct val="150000"/>
              </a:lnSpc>
              <a:buFont typeface="Arial" panose="02080604020202020204" pitchFamily="34" charset="0"/>
              <a:buChar char="•"/>
            </a:pPr>
            <a:r>
              <a:rPr lang="pt-BR" sz="1400" dirty="0">
                <a:solidFill>
                  <a:srgbClr val="696969"/>
                </a:solidFill>
                <a:latin typeface="Candara" panose="020E0502030303020204" pitchFamily="34" charset="0"/>
                <a:ea typeface="Lato" panose="020F0502020204030203" pitchFamily="34" charset="0"/>
                <a:cs typeface="Lato" panose="020F0502020204030203" pitchFamily="34" charset="0"/>
              </a:rPr>
              <a:t>Conversão de listas para </a:t>
            </a:r>
            <a:r>
              <a:rPr lang="pt-BR" sz="1400" dirty="0" err="1">
                <a:solidFill>
                  <a:srgbClr val="696969"/>
                </a:solidFill>
                <a:latin typeface="Candara" panose="020E0502030303020204" pitchFamily="34" charset="0"/>
                <a:ea typeface="Lato" panose="020F0502020204030203" pitchFamily="34" charset="0"/>
                <a:cs typeface="Lato" panose="020F0502020204030203" pitchFamily="34" charset="0"/>
              </a:rPr>
              <a:t>tuplas</a:t>
            </a:r>
            <a:r>
              <a:rPr lang="pt-BR" sz="1400" dirty="0">
                <a:solidFill>
                  <a:srgbClr val="696969"/>
                </a:solidFill>
                <a:latin typeface="Candara" panose="020E0502030303020204" pitchFamily="34" charset="0"/>
                <a:ea typeface="Lato" panose="020F0502020204030203" pitchFamily="34" charset="0"/>
                <a:cs typeface="Lato" panose="020F0502020204030203" pitchFamily="34" charset="0"/>
              </a:rPr>
              <a:t> e vice-versa</a:t>
            </a:r>
          </a:p>
          <a:p>
            <a:pPr marL="894715" lvl="1" indent="-285750">
              <a:lnSpc>
                <a:spcPct val="150000"/>
              </a:lnSpc>
              <a:buFont typeface="Arial" panose="02080604020202020204" pitchFamily="34" charset="0"/>
              <a:buChar char="•"/>
            </a:pPr>
            <a:r>
              <a:rPr lang="pt-BR" sz="1400" dirty="0">
                <a:solidFill>
                  <a:srgbClr val="696969"/>
                </a:solidFill>
                <a:latin typeface="Candara" panose="020E0502030303020204" pitchFamily="34" charset="0"/>
                <a:ea typeface="Lato" panose="020F0502020204030203" pitchFamily="34" charset="0"/>
                <a:cs typeface="Lato" panose="020F0502020204030203" pitchFamily="34" charset="0"/>
              </a:rPr>
              <a:t>Acesso via índices</a:t>
            </a:r>
          </a:p>
          <a:p>
            <a:pPr marL="894715" lvl="1" indent="-285750">
              <a:lnSpc>
                <a:spcPct val="150000"/>
              </a:lnSpc>
              <a:buFont typeface="Arial" panose="02080604020202020204" pitchFamily="34" charset="0"/>
              <a:buChar char="•"/>
            </a:pPr>
            <a:r>
              <a:rPr lang="pt-BR" sz="1400" dirty="0">
                <a:solidFill>
                  <a:srgbClr val="696969"/>
                </a:solidFill>
                <a:latin typeface="Candara" panose="020E0502030303020204" pitchFamily="34" charset="0"/>
                <a:ea typeface="Lato" panose="020F0502020204030203" pitchFamily="34" charset="0"/>
                <a:cs typeface="Lato" panose="020F0502020204030203" pitchFamily="34" charset="0"/>
              </a:rPr>
              <a:t>Mostrar que é um tipo </a:t>
            </a:r>
            <a:r>
              <a:rPr lang="pt-BR" sz="1400" b="1" dirty="0">
                <a:solidFill>
                  <a:srgbClr val="696969"/>
                </a:solidFill>
                <a:latin typeface="Candara" panose="020E0502030303020204" pitchFamily="34" charset="0"/>
                <a:ea typeface="Lato" panose="020F0502020204030203" pitchFamily="34" charset="0"/>
                <a:cs typeface="Lato" panose="020F0502020204030203" pitchFamily="34" charset="0"/>
              </a:rPr>
              <a:t>imutável</a:t>
            </a:r>
            <a:endParaRPr lang="pt-BR" sz="1400" dirty="0">
              <a:solidFill>
                <a:srgbClr val="696969"/>
              </a:solidFill>
              <a:latin typeface="Candara" panose="020E0502030303020204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  <a:p>
            <a:pPr marL="894715" lvl="1" indent="-285750">
              <a:lnSpc>
                <a:spcPct val="150000"/>
              </a:lnSpc>
              <a:buFont typeface="Arial" panose="02080604020202020204" pitchFamily="34" charset="0"/>
              <a:buChar char="•"/>
            </a:pPr>
            <a:r>
              <a:rPr lang="pt-BR" sz="1400" dirty="0">
                <a:solidFill>
                  <a:srgbClr val="696969"/>
                </a:solidFill>
                <a:latin typeface="Candara" panose="020E0502030303020204" pitchFamily="34" charset="0"/>
                <a:ea typeface="Lato" panose="020F0502020204030203" pitchFamily="34" charset="0"/>
                <a:cs typeface="Lato" panose="020F0502020204030203" pitchFamily="34" charset="0"/>
              </a:rPr>
              <a:t>Iterando com </a:t>
            </a:r>
            <a:r>
              <a:rPr lang="pt-BR" sz="1400" dirty="0" err="1">
                <a:solidFill>
                  <a:srgbClr val="696969"/>
                </a:solidFill>
                <a:latin typeface="Candara" panose="020E0502030303020204" pitchFamily="34" charset="0"/>
                <a:ea typeface="Lato" panose="020F0502020204030203" pitchFamily="34" charset="0"/>
                <a:cs typeface="Lato" panose="020F0502020204030203" pitchFamily="34" charset="0"/>
              </a:rPr>
              <a:t>tuplas</a:t>
            </a:r>
            <a:r>
              <a:rPr lang="pt-BR" sz="1400" dirty="0">
                <a:solidFill>
                  <a:srgbClr val="696969"/>
                </a:solidFill>
                <a:latin typeface="Candara" panose="020E0502030303020204" pitchFamily="34" charset="0"/>
                <a:ea typeface="Lato" panose="020F0502020204030203" pitchFamily="34" charset="0"/>
                <a:cs typeface="Lato" panose="020F0502020204030203" pitchFamily="34" charset="0"/>
              </a:rPr>
              <a:t>: índices e for-</a:t>
            </a:r>
            <a:r>
              <a:rPr lang="pt-BR" sz="1400" dirty="0" err="1">
                <a:solidFill>
                  <a:srgbClr val="696969"/>
                </a:solidFill>
                <a:latin typeface="Candara" panose="020E0502030303020204" pitchFamily="34" charset="0"/>
                <a:ea typeface="Lato" panose="020F0502020204030203" pitchFamily="34" charset="0"/>
                <a:cs typeface="Lato" panose="020F0502020204030203" pitchFamily="34" charset="0"/>
              </a:rPr>
              <a:t>each</a:t>
            </a:r>
            <a:endParaRPr lang="pt-BR" sz="1400" dirty="0">
              <a:solidFill>
                <a:srgbClr val="696969"/>
              </a:solidFill>
              <a:latin typeface="Candara" panose="020E0502030303020204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  <a:p>
            <a:pPr marL="285750" indent="-285750">
              <a:lnSpc>
                <a:spcPct val="150000"/>
              </a:lnSpc>
              <a:buFont typeface="Arial" panose="02080604020202020204" pitchFamily="34" charset="0"/>
              <a:buChar char="•"/>
            </a:pPr>
            <a:r>
              <a:rPr lang="pt-BR" sz="1400" dirty="0">
                <a:solidFill>
                  <a:srgbClr val="696969"/>
                </a:solidFill>
                <a:latin typeface="Candara" panose="020E0502030303020204" pitchFamily="34" charset="0"/>
                <a:ea typeface="Lato" panose="020F0502020204030203" pitchFamily="34" charset="0"/>
                <a:cs typeface="Lato" panose="020F0502020204030203" pitchFamily="34" charset="0"/>
              </a:rPr>
              <a:t>Dicionários</a:t>
            </a:r>
          </a:p>
          <a:p>
            <a:pPr marL="894715" lvl="1" indent="-285750">
              <a:lnSpc>
                <a:spcPct val="150000"/>
              </a:lnSpc>
              <a:buFont typeface="Arial" panose="02080604020202020204" pitchFamily="34" charset="0"/>
              <a:buChar char="•"/>
            </a:pPr>
            <a:r>
              <a:rPr lang="pt-BR" sz="1400" dirty="0">
                <a:solidFill>
                  <a:srgbClr val="696969"/>
                </a:solidFill>
                <a:latin typeface="Candara" panose="020E0502030303020204" pitchFamily="34" charset="0"/>
                <a:ea typeface="Lato" panose="020F0502020204030203" pitchFamily="34" charset="0"/>
                <a:cs typeface="Lato" panose="020F0502020204030203" pitchFamily="34" charset="0"/>
              </a:rPr>
              <a:t>Criação vazia (</a:t>
            </a:r>
            <a:r>
              <a:rPr lang="pt-BR" sz="1400" dirty="0" err="1">
                <a:solidFill>
                  <a:srgbClr val="696969"/>
                </a:solidFill>
                <a:latin typeface="Candara" panose="020E0502030303020204" pitchFamily="34" charset="0"/>
                <a:ea typeface="Lato" panose="020F0502020204030203" pitchFamily="34" charset="0"/>
                <a:cs typeface="Lato" panose="020F0502020204030203" pitchFamily="34" charset="0"/>
              </a:rPr>
              <a:t>dict</a:t>
            </a:r>
            <a:r>
              <a:rPr lang="pt-BR" sz="1400" dirty="0">
                <a:solidFill>
                  <a:srgbClr val="696969"/>
                </a:solidFill>
                <a:latin typeface="Candara" panose="020E0502030303020204" pitchFamily="34" charset="0"/>
                <a:ea typeface="Lato" panose="020F0502020204030203" pitchFamily="34" charset="0"/>
                <a:cs typeface="Lato" panose="020F0502020204030203" pitchFamily="34" charset="0"/>
              </a:rPr>
              <a:t>() ou {}), com elementos de um único tipo para chave e outro para valor, e com elementos de múltiplos tipos</a:t>
            </a:r>
          </a:p>
          <a:p>
            <a:pPr marL="894715" lvl="1" indent="-285750">
              <a:lnSpc>
                <a:spcPct val="150000"/>
              </a:lnSpc>
              <a:buFont typeface="Arial" panose="02080604020202020204" pitchFamily="34" charset="0"/>
              <a:buChar char="•"/>
            </a:pPr>
            <a:r>
              <a:rPr lang="pt-BR" sz="1400" dirty="0">
                <a:solidFill>
                  <a:srgbClr val="696969"/>
                </a:solidFill>
                <a:latin typeface="Candara" panose="020E0502030303020204" pitchFamily="34" charset="0"/>
                <a:ea typeface="Lato" panose="020F0502020204030203" pitchFamily="34" charset="0"/>
                <a:cs typeface="Lato" panose="020F0502020204030203" pitchFamily="34" charset="0"/>
              </a:rPr>
              <a:t>Acesso via chaves</a:t>
            </a:r>
          </a:p>
          <a:p>
            <a:pPr marL="894715" lvl="1" indent="-285750">
              <a:lnSpc>
                <a:spcPct val="150000"/>
              </a:lnSpc>
              <a:buFont typeface="Arial" panose="02080604020202020204" pitchFamily="34" charset="0"/>
              <a:buChar char="•"/>
            </a:pPr>
            <a:r>
              <a:rPr lang="pt-BR" sz="1400" dirty="0">
                <a:solidFill>
                  <a:srgbClr val="696969"/>
                </a:solidFill>
                <a:latin typeface="Candara" panose="020E0502030303020204" pitchFamily="34" charset="0"/>
                <a:ea typeface="Lato" panose="020F0502020204030203" pitchFamily="34" charset="0"/>
                <a:cs typeface="Lato" panose="020F0502020204030203" pitchFamily="34" charset="0"/>
              </a:rPr>
              <a:t>Atribuição via chaves</a:t>
            </a:r>
          </a:p>
          <a:p>
            <a:pPr marL="894715" lvl="1" indent="-285750">
              <a:lnSpc>
                <a:spcPct val="150000"/>
              </a:lnSpc>
              <a:buFont typeface="Arial" panose="02080604020202020204" pitchFamily="34" charset="0"/>
              <a:buChar char="•"/>
            </a:pPr>
            <a:r>
              <a:rPr lang="pt-BR" sz="1400" dirty="0">
                <a:solidFill>
                  <a:srgbClr val="696969"/>
                </a:solidFill>
                <a:latin typeface="Candara" panose="020E0502030303020204" pitchFamily="34" charset="0"/>
                <a:ea typeface="Lato" panose="020F0502020204030203" pitchFamily="34" charset="0"/>
                <a:cs typeface="Lato" panose="020F0502020204030203" pitchFamily="34" charset="0"/>
              </a:rPr>
              <a:t>.</a:t>
            </a:r>
            <a:r>
              <a:rPr lang="pt-BR" sz="1400" dirty="0" err="1">
                <a:solidFill>
                  <a:srgbClr val="696969"/>
                </a:solidFill>
                <a:latin typeface="Candara" panose="020E0502030303020204" pitchFamily="34" charset="0"/>
                <a:ea typeface="Lato" panose="020F0502020204030203" pitchFamily="34" charset="0"/>
                <a:cs typeface="Lato" panose="020F0502020204030203" pitchFamily="34" charset="0"/>
              </a:rPr>
              <a:t>keys</a:t>
            </a:r>
            <a:r>
              <a:rPr lang="pt-BR" sz="1400" dirty="0">
                <a:solidFill>
                  <a:srgbClr val="696969"/>
                </a:solidFill>
                <a:latin typeface="Candara" panose="020E0502030303020204" pitchFamily="34" charset="0"/>
                <a:ea typeface="Lato" panose="020F0502020204030203" pitchFamily="34" charset="0"/>
                <a:cs typeface="Lato" panose="020F0502020204030203" pitchFamily="34" charset="0"/>
              </a:rPr>
              <a:t>() e iteração via .</a:t>
            </a:r>
            <a:r>
              <a:rPr lang="pt-BR" sz="1400" dirty="0" err="1">
                <a:solidFill>
                  <a:srgbClr val="696969"/>
                </a:solidFill>
                <a:latin typeface="Candara" panose="020E0502030303020204" pitchFamily="34" charset="0"/>
                <a:ea typeface="Lato" panose="020F0502020204030203" pitchFamily="34" charset="0"/>
                <a:cs typeface="Lato" panose="020F0502020204030203" pitchFamily="34" charset="0"/>
              </a:rPr>
              <a:t>items</a:t>
            </a:r>
            <a:r>
              <a:rPr lang="pt-BR" sz="1400" dirty="0">
                <a:solidFill>
                  <a:srgbClr val="696969"/>
                </a:solidFill>
                <a:latin typeface="Candara" panose="020E0502030303020204" pitchFamily="34" charset="0"/>
                <a:ea typeface="Lato" panose="020F0502020204030203" pitchFamily="34" charset="0"/>
                <a:cs typeface="Lato" panose="020F0502020204030203" pitchFamily="34" charset="0"/>
              </a:rPr>
              <a:t>()</a:t>
            </a:r>
          </a:p>
          <a:p>
            <a:pPr marL="285750" indent="-285750">
              <a:lnSpc>
                <a:spcPct val="150000"/>
              </a:lnSpc>
              <a:buFont typeface="Arial" panose="02080604020202020204" pitchFamily="34" charset="0"/>
              <a:buChar char="•"/>
            </a:pPr>
            <a:r>
              <a:rPr lang="pt-BR" sz="1400" dirty="0">
                <a:solidFill>
                  <a:srgbClr val="696969"/>
                </a:solidFill>
                <a:latin typeface="Candara" panose="020E0502030303020204" pitchFamily="34" charset="0"/>
                <a:ea typeface="Lato" panose="020F0502020204030203" pitchFamily="34" charset="0"/>
                <a:cs typeface="Lato" panose="020F0502020204030203" pitchFamily="34" charset="0"/>
              </a:rPr>
              <a:t>Comentários e </a:t>
            </a:r>
            <a:r>
              <a:rPr lang="pt-BR" sz="1400" dirty="0" err="1">
                <a:solidFill>
                  <a:srgbClr val="696969"/>
                </a:solidFill>
                <a:latin typeface="Candara" panose="020E0502030303020204" pitchFamily="34" charset="0"/>
                <a:ea typeface="Lato" panose="020F0502020204030203" pitchFamily="34" charset="0"/>
                <a:cs typeface="Lato" panose="020F0502020204030203" pitchFamily="34" charset="0"/>
              </a:rPr>
              <a:t>Docstrings</a:t>
            </a:r>
            <a:endParaRPr lang="pt-BR" sz="1400" dirty="0">
              <a:solidFill>
                <a:srgbClr val="696969"/>
              </a:solidFill>
              <a:latin typeface="Candara" panose="020E0502030303020204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  <a:p>
            <a:pPr marL="285750" indent="-285750">
              <a:lnSpc>
                <a:spcPct val="150000"/>
              </a:lnSpc>
              <a:buFont typeface="Arial" panose="02080604020202020204" pitchFamily="34" charset="0"/>
              <a:buChar char="•"/>
            </a:pPr>
            <a:r>
              <a:rPr lang="pt-BR" sz="1400" dirty="0">
                <a:solidFill>
                  <a:srgbClr val="696969"/>
                </a:solidFill>
                <a:latin typeface="Candara" panose="020E0502030303020204" pitchFamily="34" charset="0"/>
                <a:ea typeface="Lato" panose="020F0502020204030203" pitchFamily="34" charset="0"/>
                <a:cs typeface="Lato" panose="020F0502020204030203" pitchFamily="34" charset="0"/>
              </a:rPr>
              <a:t>Módulos:</a:t>
            </a:r>
          </a:p>
          <a:p>
            <a:pPr marL="894715" lvl="1" indent="-285750">
              <a:lnSpc>
                <a:spcPct val="150000"/>
              </a:lnSpc>
              <a:buFont typeface="Arial" panose="02080604020202020204" pitchFamily="34" charset="0"/>
              <a:buChar char="•"/>
            </a:pPr>
            <a:r>
              <a:rPr lang="pt-BR" sz="1400" dirty="0">
                <a:solidFill>
                  <a:srgbClr val="696969"/>
                </a:solidFill>
                <a:latin typeface="Candara" panose="020E0502030303020204" pitchFamily="34" charset="0"/>
                <a:ea typeface="Lato" panose="020F0502020204030203" pitchFamily="34" charset="0"/>
                <a:cs typeface="Lato" panose="020F0502020204030203" pitchFamily="34" charset="0"/>
              </a:rPr>
              <a:t>Importação de módulos (</a:t>
            </a:r>
            <a:r>
              <a:rPr lang="pt-BR" sz="1400" dirty="0" err="1">
                <a:solidFill>
                  <a:srgbClr val="696969"/>
                </a:solidFill>
                <a:latin typeface="Candara" panose="020E0502030303020204" pitchFamily="34" charset="0"/>
                <a:ea typeface="Lato" panose="020F0502020204030203" pitchFamily="34" charset="0"/>
                <a:cs typeface="Lato" panose="020F0502020204030203" pitchFamily="34" charset="0"/>
              </a:rPr>
              <a:t>e.x</a:t>
            </a:r>
            <a:r>
              <a:rPr lang="pt-BR" sz="1400" dirty="0">
                <a:solidFill>
                  <a:srgbClr val="696969"/>
                </a:solidFill>
                <a:latin typeface="Candara" panose="020E0502030303020204" pitchFamily="34" charset="0"/>
                <a:ea typeface="Lato" panose="020F0502020204030203" pitchFamily="34" charset="0"/>
                <a:cs typeface="Lato" panose="020F0502020204030203" pitchFamily="34" charset="0"/>
              </a:rPr>
              <a:t>., </a:t>
            </a:r>
            <a:r>
              <a:rPr lang="pt-BR" sz="1400" dirty="0" err="1">
                <a:solidFill>
                  <a:srgbClr val="696969"/>
                </a:solidFill>
                <a:latin typeface="Candara" panose="020E0502030303020204" pitchFamily="34" charset="0"/>
                <a:ea typeface="Lato" panose="020F0502020204030203" pitchFamily="34" charset="0"/>
                <a:cs typeface="Lato" panose="020F0502020204030203" pitchFamily="34" charset="0"/>
              </a:rPr>
              <a:t>pprint</a:t>
            </a:r>
            <a:r>
              <a:rPr lang="pt-BR" sz="1400">
                <a:solidFill>
                  <a:srgbClr val="696969"/>
                </a:solidFill>
                <a:latin typeface="Candara" panose="020E0502030303020204" pitchFamily="34" charset="0"/>
                <a:ea typeface="Lato" panose="020F0502020204030203" pitchFamily="34" charset="0"/>
                <a:cs typeface="Lato" panose="020F0502020204030203" pitchFamily="34" charset="0"/>
              </a:rPr>
              <a:t>,</a:t>
            </a:r>
            <a:r>
              <a:rPr lang="pt-BR" sz="1400" dirty="0">
                <a:solidFill>
                  <a:srgbClr val="696969"/>
                </a:solidFill>
                <a:latin typeface="Candara" panose="020E0502030303020204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pt-BR" sz="1400">
                <a:solidFill>
                  <a:srgbClr val="696969"/>
                </a:solidFill>
                <a:latin typeface="Candara" panose="020E0502030303020204" pitchFamily="34" charset="0"/>
                <a:ea typeface="Lato" panose="020F0502020204030203" pitchFamily="34" charset="0"/>
                <a:cs typeface="Lato" panose="020F0502020204030203" pitchFamily="34" charset="0"/>
              </a:rPr>
              <a:t>math</a:t>
            </a:r>
            <a:r>
              <a:rPr lang="pt-BR" sz="1400" dirty="0">
                <a:solidFill>
                  <a:srgbClr val="696969"/>
                </a:solidFill>
                <a:latin typeface="Candara" panose="020E0502030303020204" pitchFamily="34" charset="0"/>
                <a:ea typeface="Lato" panose="020F0502020204030203" pitchFamily="34" charset="0"/>
                <a:cs typeface="Lato" panose="020F0502020204030203" pitchFamily="34" charset="0"/>
              </a:rPr>
              <a:t>, </a:t>
            </a:r>
            <a:r>
              <a:rPr lang="pt-BR" sz="1400" dirty="0" err="1">
                <a:solidFill>
                  <a:srgbClr val="696969"/>
                </a:solidFill>
                <a:latin typeface="Candara" panose="020E0502030303020204" pitchFamily="34" charset="0"/>
                <a:ea typeface="Lato" panose="020F0502020204030203" pitchFamily="34" charset="0"/>
                <a:cs typeface="Lato" panose="020F0502020204030203" pitchFamily="34" charset="0"/>
              </a:rPr>
              <a:t>randint</a:t>
            </a:r>
            <a:r>
              <a:rPr lang="pt-BR" sz="1400" dirty="0">
                <a:solidFill>
                  <a:srgbClr val="696969"/>
                </a:solidFill>
                <a:latin typeface="Candara" panose="020E0502030303020204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pt-BR" sz="1400" dirty="0" err="1">
                <a:solidFill>
                  <a:srgbClr val="696969"/>
                </a:solidFill>
                <a:latin typeface="Candara" panose="020E0502030303020204" pitchFamily="34" charset="0"/>
                <a:ea typeface="Lato" panose="020F0502020204030203" pitchFamily="34" charset="0"/>
                <a:cs typeface="Lato" panose="020F0502020204030203" pitchFamily="34" charset="0"/>
              </a:rPr>
              <a:t>from</a:t>
            </a:r>
            <a:r>
              <a:rPr lang="pt-BR" sz="1400" dirty="0">
                <a:solidFill>
                  <a:srgbClr val="696969"/>
                </a:solidFill>
                <a:latin typeface="Candara" panose="020E0502030303020204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pt-BR" sz="1400" dirty="0" err="1">
                <a:solidFill>
                  <a:srgbClr val="696969"/>
                </a:solidFill>
                <a:latin typeface="Candara" panose="020E0502030303020204" pitchFamily="34" charset="0"/>
                <a:ea typeface="Lato" panose="020F0502020204030203" pitchFamily="34" charset="0"/>
                <a:cs typeface="Lato" panose="020F0502020204030203" pitchFamily="34" charset="0"/>
              </a:rPr>
              <a:t>random</a:t>
            </a:r>
            <a:r>
              <a:rPr lang="pt-BR" sz="1400" dirty="0">
                <a:solidFill>
                  <a:srgbClr val="696969"/>
                </a:solidFill>
                <a:latin typeface="Candara" panose="020E0502030303020204" pitchFamily="34" charset="0"/>
                <a:ea typeface="Lato" panose="020F0502020204030203" pitchFamily="34" charset="0"/>
                <a:cs typeface="Lato" panose="020F0502020204030203" pitchFamily="34" charset="0"/>
              </a:rPr>
              <a:t>)</a:t>
            </a:r>
          </a:p>
          <a:p>
            <a:pPr marL="285750" indent="-285750">
              <a:lnSpc>
                <a:spcPct val="150000"/>
              </a:lnSpc>
              <a:buFont typeface="Arial" panose="02080604020202020204" pitchFamily="34" charset="0"/>
              <a:buChar char="•"/>
            </a:pPr>
            <a:r>
              <a:rPr lang="pt-BR" sz="1400" dirty="0">
                <a:solidFill>
                  <a:srgbClr val="696969"/>
                </a:solidFill>
                <a:latin typeface="Candara" panose="020E0502030303020204" pitchFamily="34" charset="0"/>
                <a:ea typeface="Lato" panose="020F0502020204030203" pitchFamily="34" charset="0"/>
                <a:cs typeface="Lato" panose="020F0502020204030203" pitchFamily="34" charset="0"/>
              </a:rPr>
              <a:t>Programando em arquivos .</a:t>
            </a:r>
            <a:r>
              <a:rPr lang="pt-BR" sz="1400" dirty="0" err="1">
                <a:solidFill>
                  <a:srgbClr val="696969"/>
                </a:solidFill>
                <a:latin typeface="Candara" panose="020E0502030303020204" pitchFamily="34" charset="0"/>
                <a:ea typeface="Lato" panose="020F0502020204030203" pitchFamily="34" charset="0"/>
                <a:cs typeface="Lato" panose="020F0502020204030203" pitchFamily="34" charset="0"/>
              </a:rPr>
              <a:t>py</a:t>
            </a:r>
            <a:endParaRPr lang="pt-BR" sz="1400" dirty="0">
              <a:solidFill>
                <a:srgbClr val="696969"/>
              </a:solidFill>
              <a:latin typeface="Candara" panose="020E0502030303020204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  <a:p>
            <a:pPr marL="894715" lvl="1" indent="-285750">
              <a:lnSpc>
                <a:spcPct val="150000"/>
              </a:lnSpc>
              <a:buFont typeface="Arial" panose="02080604020202020204" pitchFamily="34" charset="0"/>
              <a:buChar char="•"/>
            </a:pPr>
            <a:r>
              <a:rPr lang="pt-BR" sz="1400" dirty="0">
                <a:solidFill>
                  <a:srgbClr val="696969"/>
                </a:solidFill>
                <a:latin typeface="Candara" panose="020E0502030303020204" pitchFamily="34" charset="0"/>
                <a:ea typeface="Lato" panose="020F0502020204030203" pitchFamily="34" charset="0"/>
                <a:cs typeface="Lato" panose="020F0502020204030203" pitchFamily="34" charset="0"/>
              </a:rPr>
              <a:t>__</a:t>
            </a:r>
            <a:r>
              <a:rPr lang="pt-BR" sz="1400" dirty="0" err="1">
                <a:solidFill>
                  <a:srgbClr val="696969"/>
                </a:solidFill>
                <a:latin typeface="Candara" panose="020E0502030303020204" pitchFamily="34" charset="0"/>
                <a:ea typeface="Lato" panose="020F0502020204030203" pitchFamily="34" charset="0"/>
                <a:cs typeface="Lato" panose="020F0502020204030203" pitchFamily="34" charset="0"/>
              </a:rPr>
              <a:t>name</a:t>
            </a:r>
            <a:r>
              <a:rPr lang="pt-BR" sz="1400" dirty="0">
                <a:solidFill>
                  <a:srgbClr val="696969"/>
                </a:solidFill>
                <a:latin typeface="Candara" panose="020E0502030303020204" pitchFamily="34" charset="0"/>
                <a:ea typeface="Lato" panose="020F0502020204030203" pitchFamily="34" charset="0"/>
                <a:cs typeface="Lato" panose="020F0502020204030203" pitchFamily="34" charset="0"/>
              </a:rPr>
              <a:t>__ == “__</a:t>
            </a:r>
            <a:r>
              <a:rPr lang="pt-BR" sz="1400" dirty="0" err="1">
                <a:solidFill>
                  <a:srgbClr val="696969"/>
                </a:solidFill>
                <a:latin typeface="Candara" panose="020E0502030303020204" pitchFamily="34" charset="0"/>
                <a:ea typeface="Lato" panose="020F0502020204030203" pitchFamily="34" charset="0"/>
                <a:cs typeface="Lato" panose="020F0502020204030203" pitchFamily="34" charset="0"/>
              </a:rPr>
              <a:t>main</a:t>
            </a:r>
            <a:r>
              <a:rPr lang="pt-BR" sz="1400" dirty="0">
                <a:solidFill>
                  <a:srgbClr val="696969"/>
                </a:solidFill>
                <a:latin typeface="Candara" panose="020E0502030303020204" pitchFamily="34" charset="0"/>
                <a:ea typeface="Lato" panose="020F0502020204030203" pitchFamily="34" charset="0"/>
                <a:cs typeface="Lato" panose="020F0502020204030203" pitchFamily="34" charset="0"/>
              </a:rPr>
              <a:t>__”</a:t>
            </a:r>
          </a:p>
        </p:txBody>
      </p:sp>
      <p:sp>
        <p:nvSpPr>
          <p:cNvPr id="13" name="Rectangle 12"/>
          <p:cNvSpPr/>
          <p:nvPr/>
        </p:nvSpPr>
        <p:spPr>
          <a:xfrm rot="16200000">
            <a:off x="-2021984" y="4717094"/>
            <a:ext cx="3059113" cy="48610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6" name="Rectangle 15"/>
          <p:cNvSpPr/>
          <p:nvPr/>
        </p:nvSpPr>
        <p:spPr>
          <a:xfrm rot="16200000">
            <a:off x="-2021984" y="1654805"/>
            <a:ext cx="3059113" cy="486102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</p:cSld>
  <p:clrMapOvr>
    <a:masterClrMapping/>
  </p:clrMapOvr>
  <p:transition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47A1EB-5142-CB48-AB43-FD63342FB24F}" type="slidenum">
              <a:rPr lang="en-US">
                <a:ea typeface="Lato" panose="020F0502020204030203" pitchFamily="34" charset="0"/>
                <a:cs typeface="Lato" panose="020F0502020204030203" pitchFamily="34" charset="0"/>
              </a:rPr>
              <a:t>13</a:t>
            </a:fld>
            <a:endParaRPr lang="en-US" dirty="0"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371475" y="272038"/>
            <a:ext cx="11449050" cy="58477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pt-BR" sz="3200" b="1" dirty="0" err="1">
                <a:solidFill>
                  <a:srgbClr val="0C509E"/>
                </a:solidFill>
                <a:latin typeface="PT Sans" panose="020B0503020203020204" pitchFamily="34" charset="77"/>
                <a:cs typeface="Helvetica LT Std" panose="020B0504020202020204" charset="0"/>
              </a:rPr>
              <a:t>Let’s</a:t>
            </a:r>
            <a:r>
              <a:rPr lang="pt-BR" sz="3200" b="1" dirty="0">
                <a:solidFill>
                  <a:srgbClr val="0C509E"/>
                </a:solidFill>
                <a:latin typeface="PT Sans" panose="020B0503020203020204" pitchFamily="34" charset="77"/>
                <a:cs typeface="Helvetica LT Std" panose="020B0504020202020204" charset="0"/>
              </a:rPr>
              <a:t> </a:t>
            </a:r>
            <a:r>
              <a:rPr lang="pt-BR" sz="3200" b="1" dirty="0" err="1">
                <a:solidFill>
                  <a:srgbClr val="0C509E"/>
                </a:solidFill>
                <a:latin typeface="PT Sans" panose="020B0503020203020204" pitchFamily="34" charset="77"/>
                <a:cs typeface="Helvetica LT Std" panose="020B0504020202020204" charset="0"/>
              </a:rPr>
              <a:t>code</a:t>
            </a:r>
            <a:endParaRPr lang="pt-BR" sz="3200" b="1" dirty="0">
              <a:solidFill>
                <a:srgbClr val="0C509E"/>
              </a:solidFill>
              <a:latin typeface="PT Sans" panose="020B0503020203020204" pitchFamily="34" charset="77"/>
              <a:cs typeface="Helvetica LT Std" panose="020B0504020202020204" charset="0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-3115" y="6782724"/>
            <a:ext cx="12194763" cy="75278"/>
          </a:xfrm>
          <a:prstGeom prst="rect">
            <a:avLst/>
          </a:prstGeom>
          <a:solidFill>
            <a:srgbClr val="0C509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195"/>
          </a:p>
        </p:txBody>
      </p:sp>
      <p:sp>
        <p:nvSpPr>
          <p:cNvPr id="7" name="Rectangle 6"/>
          <p:cNvSpPr/>
          <p:nvPr/>
        </p:nvSpPr>
        <p:spPr>
          <a:xfrm>
            <a:off x="371474" y="7101815"/>
            <a:ext cx="5726113" cy="48610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1" name="Rectangle 10"/>
          <p:cNvSpPr/>
          <p:nvPr/>
        </p:nvSpPr>
        <p:spPr>
          <a:xfrm>
            <a:off x="6104004" y="7101814"/>
            <a:ext cx="5726113" cy="486102"/>
          </a:xfrm>
          <a:prstGeom prst="rect">
            <a:avLst/>
          </a:prstGeom>
          <a:solidFill>
            <a:srgbClr val="FFD7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9" name="TextBox 8"/>
          <p:cNvSpPr txBox="1"/>
          <p:nvPr/>
        </p:nvSpPr>
        <p:spPr>
          <a:xfrm>
            <a:off x="371475" y="1042909"/>
            <a:ext cx="11449050" cy="1674689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pt-BR" sz="1400" b="1" dirty="0" err="1">
                <a:latin typeface="Candara" panose="020E0502030303020204" pitchFamily="34" charset="0"/>
                <a:ea typeface="Lato" panose="020F0502020204030203" pitchFamily="34" charset="0"/>
                <a:cs typeface="Lato" panose="020F0502020204030203" pitchFamily="34" charset="0"/>
              </a:rPr>
              <a:t>To</a:t>
            </a:r>
            <a:r>
              <a:rPr lang="pt-BR" sz="1400" b="1" dirty="0">
                <a:latin typeface="Candara" panose="020E0502030303020204" pitchFamily="34" charset="0"/>
                <a:ea typeface="Lato" panose="020F0502020204030203" pitchFamily="34" charset="0"/>
                <a:cs typeface="Lato" panose="020F0502020204030203" pitchFamily="34" charset="0"/>
              </a:rPr>
              <a:t> Do:</a:t>
            </a:r>
            <a:endParaRPr lang="pt-BR" sz="1400" dirty="0">
              <a:solidFill>
                <a:srgbClr val="696969"/>
              </a:solidFill>
              <a:latin typeface="Candara" panose="020E0502030303020204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  <a:p>
            <a:pPr marL="285750" indent="-285750">
              <a:lnSpc>
                <a:spcPct val="150000"/>
              </a:lnSpc>
              <a:buFont typeface="Arial" panose="02080604020202020204" pitchFamily="34" charset="0"/>
              <a:buChar char="•"/>
            </a:pPr>
            <a:r>
              <a:rPr lang="pt-BR" sz="1400" dirty="0">
                <a:solidFill>
                  <a:srgbClr val="696969"/>
                </a:solidFill>
                <a:latin typeface="Candara" panose="020E0502030303020204" pitchFamily="34" charset="0"/>
                <a:ea typeface="Lato" panose="020F0502020204030203" pitchFamily="34" charset="0"/>
                <a:cs typeface="Lato" panose="020F0502020204030203" pitchFamily="34" charset="0"/>
              </a:rPr>
              <a:t>Outros tópicos</a:t>
            </a:r>
          </a:p>
          <a:p>
            <a:pPr marL="894715" lvl="1" indent="-285750">
              <a:lnSpc>
                <a:spcPct val="150000"/>
              </a:lnSpc>
              <a:buFont typeface="Arial" panose="02080604020202020204" pitchFamily="34" charset="0"/>
              <a:buChar char="•"/>
            </a:pPr>
            <a:r>
              <a:rPr lang="pt-BR" sz="1400" dirty="0">
                <a:solidFill>
                  <a:srgbClr val="696969"/>
                </a:solidFill>
                <a:latin typeface="Candara" panose="020E0502030303020204" pitchFamily="34" charset="0"/>
                <a:ea typeface="Lato" panose="020F0502020204030203" pitchFamily="34" charset="0"/>
                <a:cs typeface="Lato" panose="020F0502020204030203" pitchFamily="34" charset="0"/>
              </a:rPr>
              <a:t>Arquivos</a:t>
            </a:r>
          </a:p>
          <a:p>
            <a:pPr marL="894715" lvl="1" indent="-285750">
              <a:lnSpc>
                <a:spcPct val="150000"/>
              </a:lnSpc>
              <a:buFont typeface="Arial" panose="02080604020202020204" pitchFamily="34" charset="0"/>
              <a:buChar char="•"/>
            </a:pPr>
            <a:r>
              <a:rPr lang="pt-BR" sz="1400" dirty="0">
                <a:solidFill>
                  <a:srgbClr val="696969"/>
                </a:solidFill>
                <a:latin typeface="Candara" panose="020E0502030303020204" pitchFamily="34" charset="0"/>
                <a:ea typeface="Lato" panose="020F0502020204030203" pitchFamily="34" charset="0"/>
                <a:cs typeface="Lato" panose="020F0502020204030203" pitchFamily="34" charset="0"/>
              </a:rPr>
              <a:t>Pacotes</a:t>
            </a:r>
          </a:p>
          <a:p>
            <a:pPr marL="894715" lvl="1" indent="-285750">
              <a:lnSpc>
                <a:spcPct val="150000"/>
              </a:lnSpc>
              <a:buFont typeface="Arial" panose="02080604020202020204" pitchFamily="34" charset="0"/>
              <a:buChar char="•"/>
            </a:pPr>
            <a:r>
              <a:rPr lang="pt-BR" sz="1400" dirty="0">
                <a:solidFill>
                  <a:srgbClr val="696969"/>
                </a:solidFill>
                <a:latin typeface="Candara" panose="020E0502030303020204" pitchFamily="34" charset="0"/>
                <a:ea typeface="Lato" panose="020F0502020204030203" pitchFamily="34" charset="0"/>
                <a:cs typeface="Lato" panose="020F0502020204030203" pitchFamily="34" charset="0"/>
              </a:rPr>
              <a:t>Classes</a:t>
            </a:r>
          </a:p>
        </p:txBody>
      </p:sp>
      <p:sp>
        <p:nvSpPr>
          <p:cNvPr id="13" name="Rectangle 12"/>
          <p:cNvSpPr/>
          <p:nvPr/>
        </p:nvSpPr>
        <p:spPr>
          <a:xfrm rot="16200000">
            <a:off x="-2021984" y="4717094"/>
            <a:ext cx="3059113" cy="48610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6" name="Rectangle 15"/>
          <p:cNvSpPr/>
          <p:nvPr/>
        </p:nvSpPr>
        <p:spPr>
          <a:xfrm rot="16200000">
            <a:off x="-2021984" y="1654805"/>
            <a:ext cx="3059113" cy="486102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</p:cSld>
  <p:clrMapOvr>
    <a:masterClrMapping/>
  </p:clrMapOvr>
  <p:transition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47A1EB-5142-CB48-AB43-FD63342FB24F}" type="slidenum">
              <a:rPr lang="en-US">
                <a:ea typeface="Lato" panose="020F0502020204030203" pitchFamily="34" charset="0"/>
                <a:cs typeface="Lato" panose="020F0502020204030203" pitchFamily="34" charset="0"/>
              </a:rPr>
              <a:t>14</a:t>
            </a:fld>
            <a:endParaRPr lang="en-US" dirty="0"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371475" y="272038"/>
            <a:ext cx="11449050" cy="58477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pt-BR" sz="3200" b="1" dirty="0">
                <a:solidFill>
                  <a:srgbClr val="0C509E"/>
                </a:solidFill>
                <a:latin typeface="PT Sans" panose="020B0503020203020204" pitchFamily="34" charset="77"/>
                <a:cs typeface="Helvetica LT Std" panose="020B0504020202020204" charset="0"/>
              </a:rPr>
              <a:t>Exercícios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-3115" y="6782724"/>
            <a:ext cx="12194763" cy="75278"/>
          </a:xfrm>
          <a:prstGeom prst="rect">
            <a:avLst/>
          </a:prstGeom>
          <a:solidFill>
            <a:srgbClr val="0C509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195"/>
          </a:p>
        </p:txBody>
      </p:sp>
      <p:sp>
        <p:nvSpPr>
          <p:cNvPr id="7" name="Rectangle 6"/>
          <p:cNvSpPr/>
          <p:nvPr/>
        </p:nvSpPr>
        <p:spPr>
          <a:xfrm>
            <a:off x="371474" y="7101815"/>
            <a:ext cx="5726113" cy="48610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1" name="Rectangle 10"/>
          <p:cNvSpPr/>
          <p:nvPr/>
        </p:nvSpPr>
        <p:spPr>
          <a:xfrm>
            <a:off x="6104004" y="7101814"/>
            <a:ext cx="5726113" cy="486102"/>
          </a:xfrm>
          <a:prstGeom prst="rect">
            <a:avLst/>
          </a:prstGeom>
          <a:solidFill>
            <a:srgbClr val="FFD7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3" name="Rectangle 12"/>
          <p:cNvSpPr/>
          <p:nvPr/>
        </p:nvSpPr>
        <p:spPr>
          <a:xfrm rot="16200000">
            <a:off x="-2021984" y="4717094"/>
            <a:ext cx="3059113" cy="48610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6" name="Rectangle 15"/>
          <p:cNvSpPr/>
          <p:nvPr/>
        </p:nvSpPr>
        <p:spPr>
          <a:xfrm rot="16200000">
            <a:off x="-2021984" y="1654805"/>
            <a:ext cx="3059113" cy="486102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9" name="TextBox 8"/>
          <p:cNvSpPr txBox="1"/>
          <p:nvPr/>
        </p:nvSpPr>
        <p:spPr>
          <a:xfrm>
            <a:off x="371475" y="1042909"/>
            <a:ext cx="11449050" cy="5552674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42900" indent="-342900">
              <a:lnSpc>
                <a:spcPct val="150000"/>
              </a:lnSpc>
              <a:buAutoNum type="arabicParenR"/>
            </a:pPr>
            <a:r>
              <a:rPr lang="pt-BR" sz="1400" dirty="0">
                <a:solidFill>
                  <a:srgbClr val="696969"/>
                </a:solidFill>
                <a:latin typeface="Candara" panose="020E0502030303020204" pitchFamily="34" charset="0"/>
                <a:ea typeface="Lato" panose="020F0502020204030203" pitchFamily="34" charset="0"/>
                <a:cs typeface="Lato" panose="020F0502020204030203" pitchFamily="34" charset="0"/>
              </a:rPr>
              <a:t>Faça um script </a:t>
            </a:r>
            <a:r>
              <a:rPr lang="pt-BR" sz="1400" dirty="0" err="1">
                <a:solidFill>
                  <a:srgbClr val="696969"/>
                </a:solidFill>
                <a:latin typeface="Candara" panose="020E0502030303020204" pitchFamily="34" charset="0"/>
                <a:ea typeface="Lato" panose="020F0502020204030203" pitchFamily="34" charset="0"/>
                <a:cs typeface="Lato" panose="020F0502020204030203" pitchFamily="34" charset="0"/>
              </a:rPr>
              <a:t>python</a:t>
            </a:r>
            <a:r>
              <a:rPr lang="pt-BR" sz="1400" dirty="0">
                <a:solidFill>
                  <a:srgbClr val="696969"/>
                </a:solidFill>
                <a:latin typeface="Candara" panose="020E0502030303020204" pitchFamily="34" charset="0"/>
                <a:ea typeface="Lato" panose="020F0502020204030203" pitchFamily="34" charset="0"/>
                <a:cs typeface="Lato" panose="020F0502020204030203" pitchFamily="34" charset="0"/>
              </a:rPr>
              <a:t> que receba o peso e altura de uma pessoa e compute seu IMC. Você deve usar uma função pra isso.</a:t>
            </a:r>
          </a:p>
          <a:p>
            <a:pPr marL="342900" indent="-342900">
              <a:lnSpc>
                <a:spcPct val="150000"/>
              </a:lnSpc>
              <a:buAutoNum type="arabicParenR"/>
            </a:pPr>
            <a:r>
              <a:rPr lang="pt-BR" sz="1400" dirty="0">
                <a:solidFill>
                  <a:srgbClr val="696969"/>
                </a:solidFill>
                <a:latin typeface="Candara" panose="020E0502030303020204" pitchFamily="34" charset="0"/>
                <a:ea typeface="Lato" panose="020F0502020204030203" pitchFamily="34" charset="0"/>
                <a:cs typeface="Lato" panose="020F0502020204030203" pitchFamily="34" charset="0"/>
              </a:rPr>
              <a:t>Faça um programa que receba a lista de notas dos alunos de Inteligência Artificial. Crie uma função que retorne, nesta ordem, a maior nota, menor nota e nota média.</a:t>
            </a:r>
          </a:p>
          <a:p>
            <a:pPr marL="342900" indent="-342900">
              <a:lnSpc>
                <a:spcPct val="150000"/>
              </a:lnSpc>
              <a:buAutoNum type="arabicParenR"/>
            </a:pPr>
            <a:r>
              <a:rPr lang="pt-BR" sz="1400" dirty="0">
                <a:solidFill>
                  <a:srgbClr val="696969"/>
                </a:solidFill>
                <a:latin typeface="Candara" panose="020E0502030303020204" pitchFamily="34" charset="0"/>
                <a:ea typeface="Lato" panose="020F0502020204030203" pitchFamily="34" charset="0"/>
                <a:cs typeface="Lato" panose="020F0502020204030203" pitchFamily="34" charset="0"/>
              </a:rPr>
              <a:t>Utilizando listas faça um programa que faça 5 perguntas para uma pessoa sobre um crime. As perguntas são:</a:t>
            </a:r>
          </a:p>
          <a:p>
            <a:pPr lvl="1">
              <a:lnSpc>
                <a:spcPct val="150000"/>
              </a:lnSpc>
            </a:pPr>
            <a:r>
              <a:rPr lang="pt-BR" sz="1400" dirty="0">
                <a:solidFill>
                  <a:srgbClr val="696969"/>
                </a:solidFill>
                <a:latin typeface="Candara" panose="020E0502030303020204" pitchFamily="34" charset="0"/>
                <a:ea typeface="Lato" panose="020F0502020204030203" pitchFamily="34" charset="0"/>
                <a:cs typeface="Lato" panose="020F0502020204030203" pitchFamily="34" charset="0"/>
              </a:rPr>
              <a:t>"Telefonou para a vítima?”</a:t>
            </a:r>
            <a:br>
              <a:rPr lang="pt-BR" sz="1400" dirty="0">
                <a:solidFill>
                  <a:srgbClr val="696969"/>
                </a:solidFill>
                <a:latin typeface="Candara" panose="020E0502030303020204" pitchFamily="34" charset="0"/>
                <a:ea typeface="Lato" panose="020F0502020204030203" pitchFamily="34" charset="0"/>
                <a:cs typeface="Lato" panose="020F0502020204030203" pitchFamily="34" charset="0"/>
              </a:rPr>
            </a:br>
            <a:r>
              <a:rPr lang="pt-BR" sz="1400" dirty="0">
                <a:solidFill>
                  <a:srgbClr val="696969"/>
                </a:solidFill>
                <a:latin typeface="Candara" panose="020E0502030303020204" pitchFamily="34" charset="0"/>
                <a:ea typeface="Lato" panose="020F0502020204030203" pitchFamily="34" charset="0"/>
                <a:cs typeface="Lato" panose="020F0502020204030203" pitchFamily="34" charset="0"/>
              </a:rPr>
              <a:t>"Esteve no local do crime?”</a:t>
            </a:r>
            <a:br>
              <a:rPr lang="pt-BR" sz="1400" dirty="0">
                <a:solidFill>
                  <a:srgbClr val="696969"/>
                </a:solidFill>
                <a:latin typeface="Candara" panose="020E0502030303020204" pitchFamily="34" charset="0"/>
                <a:ea typeface="Lato" panose="020F0502020204030203" pitchFamily="34" charset="0"/>
                <a:cs typeface="Lato" panose="020F0502020204030203" pitchFamily="34" charset="0"/>
              </a:rPr>
            </a:br>
            <a:r>
              <a:rPr lang="pt-BR" sz="1400" dirty="0">
                <a:solidFill>
                  <a:srgbClr val="696969"/>
                </a:solidFill>
                <a:latin typeface="Candara" panose="020E0502030303020204" pitchFamily="34" charset="0"/>
                <a:ea typeface="Lato" panose="020F0502020204030203" pitchFamily="34" charset="0"/>
                <a:cs typeface="Lato" panose="020F0502020204030203" pitchFamily="34" charset="0"/>
              </a:rPr>
              <a:t>"Mora perto da vítima?”</a:t>
            </a:r>
            <a:br>
              <a:rPr lang="pt-BR" sz="1400" dirty="0">
                <a:solidFill>
                  <a:srgbClr val="696969"/>
                </a:solidFill>
                <a:latin typeface="Candara" panose="020E0502030303020204" pitchFamily="34" charset="0"/>
                <a:ea typeface="Lato" panose="020F0502020204030203" pitchFamily="34" charset="0"/>
                <a:cs typeface="Lato" panose="020F0502020204030203" pitchFamily="34" charset="0"/>
              </a:rPr>
            </a:br>
            <a:r>
              <a:rPr lang="pt-BR" sz="1400" dirty="0">
                <a:solidFill>
                  <a:srgbClr val="696969"/>
                </a:solidFill>
                <a:latin typeface="Candara" panose="020E0502030303020204" pitchFamily="34" charset="0"/>
                <a:ea typeface="Lato" panose="020F0502020204030203" pitchFamily="34" charset="0"/>
                <a:cs typeface="Lato" panose="020F0502020204030203" pitchFamily="34" charset="0"/>
              </a:rPr>
              <a:t>"Devia para a vítima?”</a:t>
            </a:r>
          </a:p>
          <a:p>
            <a:pPr lvl="1">
              <a:lnSpc>
                <a:spcPct val="150000"/>
              </a:lnSpc>
            </a:pPr>
            <a:r>
              <a:rPr lang="pt-BR" sz="1400" dirty="0">
                <a:solidFill>
                  <a:srgbClr val="696969"/>
                </a:solidFill>
                <a:latin typeface="Candara" panose="020E0502030303020204" pitchFamily="34" charset="0"/>
                <a:ea typeface="Lato" panose="020F0502020204030203" pitchFamily="34" charset="0"/>
                <a:cs typeface="Lato" panose="020F0502020204030203" pitchFamily="34" charset="0"/>
              </a:rPr>
              <a:t>"Já trabalhou com a vítima?”</a:t>
            </a:r>
          </a:p>
          <a:p>
            <a:pPr lvl="1">
              <a:lnSpc>
                <a:spcPct val="150000"/>
              </a:lnSpc>
            </a:pPr>
            <a:r>
              <a:rPr lang="pt-BR" sz="1400" dirty="0">
                <a:solidFill>
                  <a:srgbClr val="696969"/>
                </a:solidFill>
                <a:latin typeface="Candara" panose="020E0502030303020204" pitchFamily="34" charset="0"/>
                <a:ea typeface="Lato" panose="020F0502020204030203" pitchFamily="34" charset="0"/>
                <a:cs typeface="Lato" panose="020F0502020204030203" pitchFamily="34" charset="0"/>
              </a:rPr>
              <a:t>O programa deve no final emitir uma classificação sobre a participação da pessoa no crime. Se a pessoa responder positivamente a 2 questões ela deve ser classificada como "Suspeita", entre 3 e 4 como "Cúmplice" e 5 como "Assassino". Caso contrário, ele será classificado como "Inocente".</a:t>
            </a:r>
          </a:p>
          <a:p>
            <a:pPr lvl="1">
              <a:lnSpc>
                <a:spcPct val="150000"/>
              </a:lnSpc>
            </a:pPr>
            <a:r>
              <a:rPr lang="pt-BR" sz="1400" dirty="0">
                <a:solidFill>
                  <a:srgbClr val="696969"/>
                </a:solidFill>
                <a:latin typeface="Candara" panose="020E0502030303020204" pitchFamily="34" charset="0"/>
                <a:ea typeface="Lato" panose="020F0502020204030203" pitchFamily="34" charset="0"/>
                <a:cs typeface="Lato" panose="020F0502020204030203" pitchFamily="34" charset="0"/>
              </a:rPr>
              <a:t>Utilize o comando </a:t>
            </a:r>
            <a:r>
              <a:rPr lang="pt-BR" sz="1400" b="1" dirty="0">
                <a:solidFill>
                  <a:srgbClr val="696969"/>
                </a:solidFill>
                <a:latin typeface="Candara" panose="020E0502030303020204" pitchFamily="34" charset="0"/>
                <a:ea typeface="Lato" panose="020F0502020204030203" pitchFamily="34" charset="0"/>
                <a:cs typeface="Lato" panose="020F0502020204030203" pitchFamily="34" charset="0"/>
              </a:rPr>
              <a:t>input()</a:t>
            </a:r>
            <a:r>
              <a:rPr lang="pt-BR" sz="1400" dirty="0">
                <a:solidFill>
                  <a:srgbClr val="696969"/>
                </a:solidFill>
                <a:latin typeface="Candara" panose="020E0502030303020204" pitchFamily="34" charset="0"/>
                <a:ea typeface="Lato" panose="020F0502020204030203" pitchFamily="34" charset="0"/>
                <a:cs typeface="Lato" panose="020F0502020204030203" pitchFamily="34" charset="0"/>
              </a:rPr>
              <a:t> para ler os valores.</a:t>
            </a:r>
          </a:p>
          <a:p>
            <a:pPr>
              <a:lnSpc>
                <a:spcPct val="150000"/>
              </a:lnSpc>
            </a:pPr>
            <a:r>
              <a:rPr lang="pt-BR" sz="1400" dirty="0">
                <a:solidFill>
                  <a:srgbClr val="696969"/>
                </a:solidFill>
                <a:latin typeface="Candara" panose="020E0502030303020204" pitchFamily="34" charset="0"/>
                <a:ea typeface="Lato" panose="020F0502020204030203" pitchFamily="34" charset="0"/>
                <a:cs typeface="Lato" panose="020F0502020204030203" pitchFamily="34" charset="0"/>
              </a:rPr>
              <a:t>4) Faça um script que gere uma lista com N números inteiros aleatórios e que conte quantos números pares e ímpares tal lista possui.</a:t>
            </a:r>
          </a:p>
          <a:p>
            <a:pPr>
              <a:lnSpc>
                <a:spcPct val="150000"/>
              </a:lnSpc>
            </a:pPr>
            <a:r>
              <a:rPr lang="pt-BR" sz="1400" dirty="0">
                <a:solidFill>
                  <a:srgbClr val="696969"/>
                </a:solidFill>
                <a:latin typeface="Candara" panose="020E0502030303020204" pitchFamily="34" charset="0"/>
                <a:ea typeface="Lato" panose="020F0502020204030203" pitchFamily="34" charset="0"/>
                <a:cs typeface="Lato" panose="020F0502020204030203" pitchFamily="34" charset="0"/>
              </a:rPr>
              <a:t>5) Faça um script </a:t>
            </a:r>
            <a:r>
              <a:rPr lang="pt-BR" sz="1400" dirty="0" err="1">
                <a:solidFill>
                  <a:srgbClr val="696969"/>
                </a:solidFill>
                <a:latin typeface="Candara" panose="020E0502030303020204" pitchFamily="34" charset="0"/>
                <a:ea typeface="Lato" panose="020F0502020204030203" pitchFamily="34" charset="0"/>
                <a:cs typeface="Lato" panose="020F0502020204030203" pitchFamily="34" charset="0"/>
              </a:rPr>
              <a:t>python</a:t>
            </a:r>
            <a:r>
              <a:rPr lang="pt-BR" sz="1400" dirty="0">
                <a:solidFill>
                  <a:srgbClr val="696969"/>
                </a:solidFill>
                <a:latin typeface="Candara" panose="020E0502030303020204" pitchFamily="34" charset="0"/>
                <a:ea typeface="Lato" panose="020F0502020204030203" pitchFamily="34" charset="0"/>
                <a:cs typeface="Lato" panose="020F0502020204030203" pitchFamily="34" charset="0"/>
              </a:rPr>
              <a:t> que, dado um texto, indexe suas palavras de acordo com sua inicial. Ignore vírgulas e case-</a:t>
            </a:r>
            <a:r>
              <a:rPr lang="pt-BR" sz="1400" dirty="0" err="1">
                <a:solidFill>
                  <a:srgbClr val="696969"/>
                </a:solidFill>
                <a:latin typeface="Candara" panose="020E0502030303020204" pitchFamily="34" charset="0"/>
                <a:ea typeface="Lato" panose="020F0502020204030203" pitchFamily="34" charset="0"/>
                <a:cs typeface="Lato" panose="020F0502020204030203" pitchFamily="34" charset="0"/>
              </a:rPr>
              <a:t>sensitive</a:t>
            </a:r>
            <a:r>
              <a:rPr lang="pt-BR" sz="1400" dirty="0">
                <a:solidFill>
                  <a:srgbClr val="696969"/>
                </a:solidFill>
                <a:latin typeface="Candara" panose="020E0502030303020204" pitchFamily="34" charset="0"/>
                <a:ea typeface="Lato" panose="020F0502020204030203" pitchFamily="34" charset="0"/>
                <a:cs typeface="Lato" panose="020F0502020204030203" pitchFamily="34" charset="0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pt-BR" sz="1400" dirty="0">
                <a:solidFill>
                  <a:srgbClr val="696969"/>
                </a:solidFill>
                <a:latin typeface="Candara" panose="020E0502030303020204" pitchFamily="34" charset="0"/>
                <a:ea typeface="Lato" panose="020F0502020204030203" pitchFamily="34" charset="0"/>
                <a:cs typeface="Lato" panose="020F0502020204030203" pitchFamily="34" charset="0"/>
              </a:rPr>
              <a:t>P. </a:t>
            </a:r>
            <a:r>
              <a:rPr lang="pt-BR" sz="1400" dirty="0" err="1">
                <a:solidFill>
                  <a:srgbClr val="696969"/>
                </a:solidFill>
                <a:latin typeface="Candara" panose="020E0502030303020204" pitchFamily="34" charset="0"/>
                <a:ea typeface="Lato" panose="020F0502020204030203" pitchFamily="34" charset="0"/>
                <a:cs typeface="Lato" panose="020F0502020204030203" pitchFamily="34" charset="0"/>
              </a:rPr>
              <a:t>ex</a:t>
            </a:r>
            <a:r>
              <a:rPr lang="pt-BR" sz="1400" dirty="0">
                <a:solidFill>
                  <a:srgbClr val="696969"/>
                </a:solidFill>
                <a:latin typeface="Candara" panose="020E0502030303020204" pitchFamily="34" charset="0"/>
                <a:ea typeface="Lato" panose="020F0502020204030203" pitchFamily="34" charset="0"/>
                <a:cs typeface="Lato" panose="020F0502020204030203" pitchFamily="34" charset="0"/>
              </a:rPr>
              <a:t>: “o sapo não lava o pé, mas o rato roeu a roupa.”</a:t>
            </a:r>
          </a:p>
          <a:p>
            <a:pPr>
              <a:lnSpc>
                <a:spcPct val="150000"/>
              </a:lnSpc>
            </a:pPr>
            <a:r>
              <a:rPr lang="pt-BR" sz="1400" dirty="0">
                <a:solidFill>
                  <a:srgbClr val="696969"/>
                </a:solidFill>
                <a:latin typeface="Candara" panose="020E0502030303020204" pitchFamily="34" charset="0"/>
                <a:ea typeface="Lato" panose="020F0502020204030203" pitchFamily="34" charset="0"/>
                <a:cs typeface="Lato" panose="020F0502020204030203" pitchFamily="34" charset="0"/>
              </a:rPr>
              <a:t>Resultado: {‘</a:t>
            </a:r>
            <a:r>
              <a:rPr lang="pt-BR" sz="1400" dirty="0" err="1">
                <a:solidFill>
                  <a:srgbClr val="696969"/>
                </a:solidFill>
                <a:latin typeface="Candara" panose="020E0502030303020204" pitchFamily="34" charset="0"/>
                <a:ea typeface="Lato" panose="020F0502020204030203" pitchFamily="34" charset="0"/>
                <a:cs typeface="Lato" panose="020F0502020204030203" pitchFamily="34" charset="0"/>
              </a:rPr>
              <a:t>r</a:t>
            </a:r>
            <a:r>
              <a:rPr lang="pt-BR" sz="1400" dirty="0">
                <a:solidFill>
                  <a:srgbClr val="696969"/>
                </a:solidFill>
                <a:latin typeface="Candara" panose="020E0502030303020204" pitchFamily="34" charset="0"/>
                <a:ea typeface="Lato" panose="020F0502020204030203" pitchFamily="34" charset="0"/>
                <a:cs typeface="Lato" panose="020F0502020204030203" pitchFamily="34" charset="0"/>
              </a:rPr>
              <a:t>’: [‘rato’, ‘roeu’, ‘roupa’], ‘</a:t>
            </a:r>
            <a:r>
              <a:rPr lang="pt-BR" sz="1400" dirty="0" err="1">
                <a:solidFill>
                  <a:srgbClr val="696969"/>
                </a:solidFill>
                <a:latin typeface="Candara" panose="020E0502030303020204" pitchFamily="34" charset="0"/>
                <a:ea typeface="Lato" panose="020F0502020204030203" pitchFamily="34" charset="0"/>
                <a:cs typeface="Lato" panose="020F0502020204030203" pitchFamily="34" charset="0"/>
              </a:rPr>
              <a:t>s</a:t>
            </a:r>
            <a:r>
              <a:rPr lang="pt-BR" sz="1400" dirty="0">
                <a:solidFill>
                  <a:srgbClr val="696969"/>
                </a:solidFill>
                <a:latin typeface="Candara" panose="020E0502030303020204" pitchFamily="34" charset="0"/>
                <a:ea typeface="Lato" panose="020F0502020204030203" pitchFamily="34" charset="0"/>
                <a:cs typeface="Lato" panose="020F0502020204030203" pitchFamily="34" charset="0"/>
              </a:rPr>
              <a:t>’: [‘sapo’], ...}</a:t>
            </a:r>
          </a:p>
        </p:txBody>
      </p:sp>
    </p:spTree>
  </p:cSld>
  <p:clrMapOvr>
    <a:masterClrMapping/>
  </p:clrMapOvr>
  <p:transition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47A1EB-5142-CB48-AB43-FD63342FB24F}" type="slidenum">
              <a:rPr lang="en-US">
                <a:ea typeface="Lato" panose="020F0502020204030203" pitchFamily="34" charset="0"/>
                <a:cs typeface="Lato" panose="020F0502020204030203" pitchFamily="34" charset="0"/>
              </a:rPr>
              <a:t>15</a:t>
            </a:fld>
            <a:endParaRPr lang="en-US" dirty="0"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371475" y="272038"/>
            <a:ext cx="11449050" cy="58477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pt-BR" sz="3200" b="1" dirty="0">
                <a:solidFill>
                  <a:srgbClr val="0C509E"/>
                </a:solidFill>
                <a:latin typeface="PT Sans" panose="020B0503020203020204" pitchFamily="34" charset="77"/>
                <a:cs typeface="Helvetica LT Std" panose="020B0504020202020204" charset="0"/>
              </a:rPr>
              <a:t>Para além da Aula</a:t>
            </a:r>
          </a:p>
        </p:txBody>
      </p:sp>
      <p:sp>
        <p:nvSpPr>
          <p:cNvPr id="15" name="Rectangle 14"/>
          <p:cNvSpPr/>
          <p:nvPr/>
        </p:nvSpPr>
        <p:spPr>
          <a:xfrm>
            <a:off x="-3115" y="6782724"/>
            <a:ext cx="12194763" cy="75278"/>
          </a:xfrm>
          <a:prstGeom prst="rect">
            <a:avLst/>
          </a:prstGeom>
          <a:solidFill>
            <a:srgbClr val="0C509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195"/>
          </a:p>
        </p:txBody>
      </p:sp>
      <p:sp>
        <p:nvSpPr>
          <p:cNvPr id="7" name="Rectangle 6"/>
          <p:cNvSpPr/>
          <p:nvPr/>
        </p:nvSpPr>
        <p:spPr>
          <a:xfrm>
            <a:off x="371474" y="7101815"/>
            <a:ext cx="5726113" cy="48610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1" name="Rectangle 10"/>
          <p:cNvSpPr/>
          <p:nvPr/>
        </p:nvSpPr>
        <p:spPr>
          <a:xfrm>
            <a:off x="6104004" y="7101814"/>
            <a:ext cx="5726113" cy="486102"/>
          </a:xfrm>
          <a:prstGeom prst="rect">
            <a:avLst/>
          </a:prstGeom>
          <a:solidFill>
            <a:srgbClr val="FFD7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grpSp>
        <p:nvGrpSpPr>
          <p:cNvPr id="5" name="Group 4"/>
          <p:cNvGrpSpPr/>
          <p:nvPr/>
        </p:nvGrpSpPr>
        <p:grpSpPr>
          <a:xfrm>
            <a:off x="416286" y="1439882"/>
            <a:ext cx="4735603" cy="3978237"/>
            <a:chOff x="416286" y="2394497"/>
            <a:chExt cx="4735603" cy="3978237"/>
          </a:xfrm>
        </p:grpSpPr>
        <p:sp>
          <p:nvSpPr>
            <p:cNvPr id="9" name="TextBox 8"/>
            <p:cNvSpPr txBox="1"/>
            <p:nvPr/>
          </p:nvSpPr>
          <p:spPr>
            <a:xfrm>
              <a:off x="416286" y="5021146"/>
              <a:ext cx="4735603" cy="1351588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lstStyle/>
            <a:p>
              <a:pPr algn="ctr">
                <a:lnSpc>
                  <a:spcPct val="150000"/>
                </a:lnSpc>
              </a:pPr>
              <a:r>
                <a:rPr lang="pt-BR" sz="1400" b="1" dirty="0">
                  <a:latin typeface="Candara" panose="020E0502030303020204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Curso de Python 3 (Curso em Vídeo)</a:t>
              </a:r>
            </a:p>
            <a:p>
              <a:pPr algn="ctr">
                <a:lnSpc>
                  <a:spcPct val="150000"/>
                </a:lnSpc>
              </a:pPr>
              <a:r>
                <a:rPr lang="pt-BR" sz="1400" dirty="0">
                  <a:solidFill>
                    <a:srgbClr val="696969"/>
                  </a:solidFill>
                  <a:latin typeface="Candara" panose="020E0502030303020204" pitchFamily="34" charset="0"/>
                  <a:ea typeface="Lato" panose="020F0502020204030203" pitchFamily="34" charset="0"/>
                  <a:cs typeface="Lato" panose="020F0502020204030203" pitchFamily="34" charset="0"/>
                  <a:hlinkClick r:id="rId2"/>
                </a:rPr>
                <a:t>https://www.youtube.com/playlist?list=PLHz_AreHm4dlKP6QQCekuIPky1CiwmdI6</a:t>
              </a:r>
              <a:endParaRPr lang="pt-BR" sz="1400" dirty="0">
                <a:solidFill>
                  <a:srgbClr val="696969"/>
                </a:solidFill>
                <a:latin typeface="Candara" panose="020E0502030303020204" pitchFamily="34" charset="0"/>
                <a:ea typeface="Lato" panose="020F0502020204030203" pitchFamily="34" charset="0"/>
                <a:cs typeface="Lato" panose="020F0502020204030203" pitchFamily="34" charset="0"/>
              </a:endParaRPr>
            </a:p>
          </p:txBody>
        </p:sp>
        <p:pic>
          <p:nvPicPr>
            <p:cNvPr id="2" name="Picture 1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98088" y="2394497"/>
              <a:ext cx="4572000" cy="2565400"/>
            </a:xfrm>
            <a:prstGeom prst="rect">
              <a:avLst/>
            </a:prstGeom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</p:pic>
      </p:grpSp>
      <p:grpSp>
        <p:nvGrpSpPr>
          <p:cNvPr id="6" name="Group 5"/>
          <p:cNvGrpSpPr/>
          <p:nvPr/>
        </p:nvGrpSpPr>
        <p:grpSpPr>
          <a:xfrm>
            <a:off x="6094266" y="1111009"/>
            <a:ext cx="4517075" cy="5344475"/>
            <a:chOff x="6094266" y="1111009"/>
            <a:chExt cx="4517075" cy="5344475"/>
          </a:xfrm>
        </p:grpSpPr>
        <p:pic>
          <p:nvPicPr>
            <p:cNvPr id="3" name="Picture 2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094266" y="1111009"/>
              <a:ext cx="4517075" cy="4639158"/>
            </a:xfrm>
            <a:prstGeom prst="rect">
              <a:avLst/>
            </a:prstGeom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</p:pic>
        <p:sp>
          <p:nvSpPr>
            <p:cNvPr id="12" name="TextBox 11"/>
            <p:cNvSpPr txBox="1"/>
            <p:nvPr/>
          </p:nvSpPr>
          <p:spPr>
            <a:xfrm>
              <a:off x="6573839" y="5750226"/>
              <a:ext cx="3557929" cy="705258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lstStyle/>
            <a:p>
              <a:pPr algn="ctr">
                <a:lnSpc>
                  <a:spcPct val="150000"/>
                </a:lnSpc>
              </a:pPr>
              <a:r>
                <a:rPr lang="pt-BR" sz="1400" b="1" dirty="0">
                  <a:latin typeface="Candara" panose="020E0502030303020204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Python (</a:t>
              </a:r>
              <a:r>
                <a:rPr lang="pt-BR" sz="1400" b="1" dirty="0" err="1">
                  <a:latin typeface="Candara" panose="020E0502030303020204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Kaggle</a:t>
              </a:r>
              <a:r>
                <a:rPr lang="pt-BR" sz="1400" b="1" dirty="0">
                  <a:latin typeface="Candara" panose="020E0502030303020204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)</a:t>
              </a:r>
            </a:p>
            <a:p>
              <a:pPr algn="ctr">
                <a:lnSpc>
                  <a:spcPct val="150000"/>
                </a:lnSpc>
              </a:pPr>
              <a:r>
                <a:rPr lang="pt-BR" sz="1400" dirty="0">
                  <a:solidFill>
                    <a:srgbClr val="696969"/>
                  </a:solidFill>
                  <a:latin typeface="Candara" panose="020E0502030303020204" pitchFamily="34" charset="0"/>
                  <a:ea typeface="Lato" panose="020F0502020204030203" pitchFamily="34" charset="0"/>
                  <a:cs typeface="Lato" panose="020F0502020204030203" pitchFamily="34" charset="0"/>
                  <a:hlinkClick r:id="rId5"/>
                </a:rPr>
                <a:t>https://www.kaggle.com/learn/python</a:t>
              </a:r>
              <a:endParaRPr lang="pt-BR" sz="1400" dirty="0">
                <a:solidFill>
                  <a:srgbClr val="696969"/>
                </a:solidFill>
                <a:latin typeface="Candara" panose="020E0502030303020204" pitchFamily="34" charset="0"/>
                <a:ea typeface="Lato" panose="020F0502020204030203" pitchFamily="34" charset="0"/>
                <a:cs typeface="Lato" panose="020F0502020204030203" pitchFamily="34" charset="0"/>
              </a:endParaRPr>
            </a:p>
          </p:txBody>
        </p:sp>
      </p:grpSp>
    </p:spTree>
  </p:cSld>
  <p:clrMapOvr>
    <a:masterClrMapping/>
  </p:clrMapOvr>
  <p:transition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47A1EB-5142-CB48-AB43-FD63342FB24F}" type="slidenum">
              <a:rPr lang="en-US"/>
              <a:t>16</a:t>
            </a:fld>
            <a:endParaRPr lang="en-US"/>
          </a:p>
        </p:txBody>
      </p:sp>
      <p:pic>
        <p:nvPicPr>
          <p:cNvPr id="17" name="Imagem 4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555" t="12712" r="7073" b="11593"/>
          <a:stretch>
            <a:fillRect/>
          </a:stretch>
        </p:blipFill>
        <p:spPr>
          <a:xfrm>
            <a:off x="10016480" y="5689298"/>
            <a:ext cx="1804045" cy="785762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-3115" y="6782724"/>
            <a:ext cx="12194763" cy="75278"/>
          </a:xfrm>
          <a:prstGeom prst="rect">
            <a:avLst/>
          </a:prstGeom>
          <a:solidFill>
            <a:srgbClr val="0C509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195"/>
          </a:p>
        </p:txBody>
      </p:sp>
      <p:sp>
        <p:nvSpPr>
          <p:cNvPr id="3" name="Rectangle 2"/>
          <p:cNvSpPr/>
          <p:nvPr/>
        </p:nvSpPr>
        <p:spPr>
          <a:xfrm>
            <a:off x="11400386" y="6422269"/>
            <a:ext cx="306993" cy="22266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195"/>
          </a:p>
        </p:txBody>
      </p:sp>
      <p:sp>
        <p:nvSpPr>
          <p:cNvPr id="19" name="TextBox 18"/>
          <p:cNvSpPr txBox="1"/>
          <p:nvPr/>
        </p:nvSpPr>
        <p:spPr>
          <a:xfrm>
            <a:off x="556132" y="798274"/>
            <a:ext cx="1107973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tabLst>
                <a:tab pos="3902710" algn="l"/>
              </a:tabLst>
            </a:pPr>
            <a:r>
              <a:rPr lang="pt-BR" sz="3600" b="1" dirty="0">
                <a:solidFill>
                  <a:srgbClr val="0C509E"/>
                </a:solidFill>
                <a:latin typeface="PT Sans" panose="020B0503020203020204" pitchFamily="34" charset="77"/>
                <a:ea typeface="Lato" panose="020F0502020204030203" pitchFamily="34" charset="0"/>
                <a:cs typeface="Lato" panose="020F0502020204030203" pitchFamily="34" charset="0"/>
              </a:rPr>
              <a:t>INTI6 – Inteligência Artificial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56132" y="2808830"/>
            <a:ext cx="1107973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tabLst>
                <a:tab pos="3902710" algn="l"/>
              </a:tabLst>
            </a:pPr>
            <a:r>
              <a:rPr lang="pt-BR" sz="3600" b="1" dirty="0">
                <a:solidFill>
                  <a:srgbClr val="303030"/>
                </a:solidFill>
                <a:latin typeface="PT Sans" panose="020B0503020203020204" pitchFamily="34" charset="77"/>
                <a:ea typeface="Lato" panose="020F0502020204030203" pitchFamily="34" charset="0"/>
                <a:cs typeface="Lato" panose="020F0502020204030203" pitchFamily="34" charset="0"/>
              </a:rPr>
              <a:t>Introdução ao Python</a:t>
            </a:r>
          </a:p>
        </p:txBody>
      </p:sp>
      <p:sp>
        <p:nvSpPr>
          <p:cNvPr id="21" name="Shape 120"/>
          <p:cNvSpPr/>
          <p:nvPr/>
        </p:nvSpPr>
        <p:spPr>
          <a:xfrm>
            <a:off x="4802022" y="4842245"/>
            <a:ext cx="2584490" cy="707886"/>
          </a:xfrm>
          <a:prstGeom prst="rect">
            <a:avLst/>
          </a:prstGeom>
          <a:ln w="25400">
            <a:miter lim="400000"/>
          </a:ln>
        </p:spPr>
        <p:txBody>
          <a:bodyPr wrap="none" tIns="45720" bIns="45720">
            <a:spAutoFit/>
          </a:bodyPr>
          <a:lstStyle/>
          <a:p>
            <a:pPr algn="ctr">
              <a:defRPr sz="4800">
                <a:solidFill>
                  <a:srgbClr val="333333"/>
                </a:solidFill>
              </a:defRPr>
            </a:pPr>
            <a:r>
              <a:rPr lang="en-US" sz="2400" dirty="0">
                <a:latin typeface="Candara" panose="020E0502030303020204" pitchFamily="34" charset="0"/>
                <a:ea typeface="Lato" panose="020F0502020204030203" pitchFamily="34" charset="0"/>
                <a:cs typeface="Lato" panose="020F0502020204030203" pitchFamily="34" charset="0"/>
              </a:rPr>
              <a:t>Prof. </a:t>
            </a:r>
            <a:r>
              <a:rPr lang="pt-BR" sz="2400" dirty="0">
                <a:latin typeface="Candara" panose="020E0502030303020204" pitchFamily="34" charset="0"/>
                <a:ea typeface="Lato" panose="020F0502020204030203" pitchFamily="34" charset="0"/>
                <a:cs typeface="Lato" panose="020F0502020204030203" pitchFamily="34" charset="0"/>
              </a:rPr>
              <a:t>Everton Silva</a:t>
            </a:r>
            <a:endParaRPr sz="2400" dirty="0">
              <a:latin typeface="Candara" panose="020E0502030303020204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  <a:p>
            <a:pPr algn="ctr">
              <a:defRPr i="1">
                <a:solidFill>
                  <a:srgbClr val="333333"/>
                </a:solidFill>
              </a:defRPr>
            </a:pPr>
            <a:r>
              <a:rPr lang="pt-BR" sz="1600" dirty="0" err="1">
                <a:latin typeface="Candara" panose="020E0502030303020204" pitchFamily="34" charset="0"/>
                <a:ea typeface="Lato" panose="020F0502020204030203" pitchFamily="34" charset="0"/>
                <a:cs typeface="Lato" panose="020F0502020204030203" pitchFamily="34" charset="0"/>
              </a:rPr>
              <a:t>everton.silva</a:t>
            </a:r>
            <a:r>
              <a:rPr sz="1600" dirty="0">
                <a:latin typeface="Candara" panose="020E0502030303020204" pitchFamily="34" charset="0"/>
                <a:ea typeface="Lato" panose="020F0502020204030203" pitchFamily="34" charset="0"/>
                <a:cs typeface="Lato" panose="020F0502020204030203" pitchFamily="34" charset="0"/>
              </a:rPr>
              <a:t>@ifsp.edu.br</a:t>
            </a:r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1475" y="6034751"/>
            <a:ext cx="1306353" cy="454949"/>
          </a:xfrm>
          <a:prstGeom prst="rect">
            <a:avLst/>
          </a:prstGeom>
        </p:spPr>
      </p:pic>
      <p:pic>
        <p:nvPicPr>
          <p:cNvPr id="14" name="Picture 13"/>
          <p:cNvPicPr>
            <a:picLocks noChangeAspect="1"/>
          </p:cNvPicPr>
          <p:nvPr/>
        </p:nvPicPr>
        <p:blipFill rotWithShape="1">
          <a:blip r:embed="rId5"/>
          <a:srcRect l="22116" t="5968" r="20863" b="4429"/>
          <a:stretch>
            <a:fillRect/>
          </a:stretch>
        </p:blipFill>
        <p:spPr>
          <a:xfrm>
            <a:off x="10293206" y="523611"/>
            <a:ext cx="1250592" cy="1215661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2154621" y="7169306"/>
            <a:ext cx="6096000" cy="1199367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dirty="0"/>
              <a:t>https://</a:t>
            </a:r>
            <a:r>
              <a:rPr lang="en-US" dirty="0" err="1"/>
              <a:t>www.kindpng.com</a:t>
            </a:r>
            <a:r>
              <a:rPr lang="en-US" dirty="0"/>
              <a:t>/</a:t>
            </a:r>
            <a:r>
              <a:rPr lang="en-US" dirty="0" err="1"/>
              <a:t>imgv</a:t>
            </a:r>
            <a:r>
              <a:rPr lang="en-US" dirty="0"/>
              <a:t>/ohoRxJ_psychology-icon-brain-artificial-intelligence-icon-hd-png/</a:t>
            </a:r>
          </a:p>
        </p:txBody>
      </p:sp>
      <p:sp>
        <p:nvSpPr>
          <p:cNvPr id="2" name="Shape 120">
            <a:extLst>
              <a:ext uri="{FF2B5EF4-FFF2-40B4-BE49-F238E27FC236}">
                <a16:creationId xmlns:a16="http://schemas.microsoft.com/office/drawing/2014/main" id="{02F0BD67-35E3-1C6C-C5ED-D8FD47DD2E48}"/>
              </a:ext>
            </a:extLst>
          </p:cNvPr>
          <p:cNvSpPr/>
          <p:nvPr/>
        </p:nvSpPr>
        <p:spPr>
          <a:xfrm>
            <a:off x="3397059" y="5705783"/>
            <a:ext cx="5394426" cy="584775"/>
          </a:xfrm>
          <a:prstGeom prst="rect">
            <a:avLst/>
          </a:prstGeom>
          <a:ln w="25400">
            <a:miter lim="400000"/>
          </a:ln>
        </p:spPr>
        <p:txBody>
          <a:bodyPr wrap="none" tIns="45720" bIns="45720">
            <a:spAutoFit/>
          </a:bodyPr>
          <a:lstStyle/>
          <a:p>
            <a:pPr algn="ctr">
              <a:defRPr sz="4800">
                <a:solidFill>
                  <a:srgbClr val="333333"/>
                </a:solidFill>
              </a:defRPr>
            </a:pPr>
            <a:r>
              <a:rPr lang="en-US" sz="1600" dirty="0">
                <a:latin typeface="Candara" panose="020E0502030303020204" pitchFamily="34" charset="0"/>
                <a:ea typeface="Lato" panose="020F0502020204030203" pitchFamily="34" charset="0"/>
                <a:cs typeface="Lato" panose="020F0502020204030203" pitchFamily="34" charset="0"/>
              </a:rPr>
              <a:t>*</a:t>
            </a:r>
            <a:r>
              <a:rPr lang="pt-BR" sz="1600" dirty="0">
                <a:latin typeface="Candara" panose="020E0502030303020204" pitchFamily="34" charset="0"/>
                <a:ea typeface="Lato" panose="020F0502020204030203" pitchFamily="34" charset="0"/>
                <a:cs typeface="Lato" panose="020F0502020204030203" pitchFamily="34" charset="0"/>
              </a:rPr>
              <a:t>Adaptação do material produzido por Prof. Samuel Martins</a:t>
            </a:r>
          </a:p>
          <a:p>
            <a:pPr algn="ctr">
              <a:defRPr i="1">
                <a:solidFill>
                  <a:srgbClr val="333333"/>
                </a:solidFill>
              </a:defRPr>
            </a:pPr>
            <a:r>
              <a:rPr lang="pt-BR" sz="1600" dirty="0">
                <a:latin typeface="Candara" panose="020E0502030303020204" pitchFamily="34" charset="0"/>
                <a:ea typeface="Lato" panose="020F0502020204030203" pitchFamily="34" charset="0"/>
                <a:cs typeface="Lato" panose="020F0502020204030203" pitchFamily="34" charset="0"/>
              </a:rPr>
              <a:t>samuel.martins@ifsp.edu.br</a:t>
            </a:r>
          </a:p>
        </p:txBody>
      </p:sp>
    </p:spTree>
    <p:extLst>
      <p:ext uri="{BB962C8B-B14F-4D97-AF65-F5344CB8AC3E}">
        <p14:creationId xmlns:p14="http://schemas.microsoft.com/office/powerpoint/2010/main" val="328868932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959</TotalTime>
  <Words>1477</Words>
  <Application>Microsoft Office PowerPoint</Application>
  <PresentationFormat>Widescreen</PresentationFormat>
  <Paragraphs>176</Paragraphs>
  <Slides>16</Slides>
  <Notes>2</Notes>
  <HiddenSlides>0</HiddenSlides>
  <MMClips>0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16</vt:i4>
      </vt:variant>
    </vt:vector>
  </HeadingPairs>
  <TitlesOfParts>
    <vt:vector size="22" baseType="lpstr">
      <vt:lpstr>Arial</vt:lpstr>
      <vt:lpstr>Calibri</vt:lpstr>
      <vt:lpstr>Candara</vt:lpstr>
      <vt:lpstr>Lato</vt:lpstr>
      <vt:lpstr>PT Sans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Microsoft Office User</dc:creator>
  <cp:lastModifiedBy>Everton</cp:lastModifiedBy>
  <cp:revision>1427</cp:revision>
  <cp:lastPrinted>2021-03-23T14:26:16Z</cp:lastPrinted>
  <dcterms:created xsi:type="dcterms:W3CDTF">2021-03-23T14:26:16Z</dcterms:created>
  <dcterms:modified xsi:type="dcterms:W3CDTF">2025-08-13T16:47:49Z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1033-11.1.0.10161</vt:lpwstr>
  </property>
</Properties>
</file>