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708" r:id="rId2"/>
  </p:sldIdLst>
  <p:sldSz cx="12192000" cy="6858000"/>
  <p:notesSz cx="6858000" cy="9144000"/>
  <p:defaultTextStyle>
    <a:defPPr>
      <a:defRPr lang="en-US"/>
    </a:defPPr>
    <a:lvl1pPr marL="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8965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793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6895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586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546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4425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3390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2355" algn="l" defTabSz="12179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34">
          <p15:clr>
            <a:srgbClr val="A4A3A4"/>
          </p15:clr>
        </p15:guide>
        <p15:guide id="3" pos="7446">
          <p15:clr>
            <a:srgbClr val="A4A3A4"/>
          </p15:clr>
        </p15:guide>
        <p15:guide id="4" orient="horz" pos="232">
          <p15:clr>
            <a:srgbClr val="A4A3A4"/>
          </p15:clr>
        </p15:guide>
        <p15:guide id="5" orient="horz" pos="4088">
          <p15:clr>
            <a:srgbClr val="A4A3A4"/>
          </p15:clr>
        </p15:guide>
        <p15:guide id="6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FFD7A3"/>
    <a:srgbClr val="D8C7E8"/>
    <a:srgbClr val="A9E4D7"/>
    <a:srgbClr val="A7C7E7"/>
    <a:srgbClr val="FFB3AB"/>
    <a:srgbClr val="0C509E"/>
    <a:srgbClr val="EA4239"/>
    <a:srgbClr val="0FC391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505"/>
  </p:normalViewPr>
  <p:slideViewPr>
    <p:cSldViewPr snapToGrid="0" snapToObjects="1">
      <p:cViewPr varScale="1">
        <p:scale>
          <a:sx n="105" d="100"/>
          <a:sy n="105" d="100"/>
        </p:scale>
        <p:origin x="2406" y="102"/>
      </p:cViewPr>
      <p:guideLst>
        <p:guide orient="horz" pos="2161"/>
        <p:guide pos="234"/>
        <p:guide pos="7446"/>
        <p:guide orient="horz" pos="232"/>
        <p:guide orient="horz" pos="4088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A1013-C2E4-944B-8BB6-DA4F49F7AB2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53CDB-704C-C449-BB6D-492BC646F14B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8965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793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6895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586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546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4425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3390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2355" algn="l" defTabSz="121793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BE443-A809-0641-A759-0EB11E0A6813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T Sans" panose="020B05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>
                <a:latin typeface="Candara" panose="020E0502030303020204" pitchFamily="34" charset="0"/>
              </a:defRPr>
            </a:lvl1pPr>
            <a:lvl2pPr>
              <a:defRPr sz="1800">
                <a:latin typeface="Candara" panose="020E0502030303020204" pitchFamily="34" charset="0"/>
              </a:defRPr>
            </a:lvl2pPr>
            <a:lvl3pPr>
              <a:defRPr sz="1600">
                <a:latin typeface="Candara" panose="020E0502030303020204" pitchFamily="34" charset="0"/>
              </a:defRPr>
            </a:lvl3pPr>
            <a:lvl4pPr>
              <a:defRPr sz="1400">
                <a:latin typeface="Candara" panose="020E0502030303020204" pitchFamily="34" charset="0"/>
              </a:defRPr>
            </a:lvl4pPr>
            <a:lvl5pPr>
              <a:defRPr sz="140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T Sans" panose="020B0503020203020204" pitchFamily="34" charset="77"/>
              </a:defRPr>
            </a:lvl1pPr>
          </a:lstStyle>
          <a:p>
            <a:fld id="{07E468B8-64E1-FC4B-AEF3-5B2B6E654BF3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T Sans" panose="020B0503020203020204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T Sans" panose="020B0503020203020204" pitchFamily="34" charset="77"/>
              </a:defRPr>
            </a:lvl1pPr>
          </a:lstStyle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C37C-948C-254A-8BDB-87C6C2810A1A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9004-6EFE-BB4C-A1A6-F6EF0A0089B7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D806F-5EFF-0F43-B32F-D8E9CDA51F32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3D9EA-08DC-6B40-BE3A-03FE8BCC64D8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21D3-6D26-AF49-9771-A50414644A9F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2C5B-1E82-AA4A-A840-6A126809F543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61B6-9F3E-524B-9046-97D19C9808F8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688D5-41CE-1644-AC59-E835FC614502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0005-AE24-1E48-A126-EFE4843706BC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fld id="{F1745ED5-B5E2-7A4E-9C88-104873B26853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706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fld id="{F547A1EB-5142-CB48-AB43-FD63342FB24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T Sans" panose="020B0503020203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f"/><Relationship Id="rId13" Type="http://schemas.openxmlformats.org/officeDocument/2006/relationships/hyperlink" Target="http://www.olafusimichael.com/2016/11/november-webinar-data-cleaning-with.html" TargetMode="External"/><Relationship Id="rId3" Type="http://schemas.openxmlformats.org/officeDocument/2006/relationships/image" Target="../media/image2.tiff"/><Relationship Id="rId7" Type="http://schemas.openxmlformats.org/officeDocument/2006/relationships/image" Target="../media/image6.tiff"/><Relationship Id="rId12" Type="http://schemas.openxmlformats.org/officeDocument/2006/relationships/hyperlink" Target="https://icon-library.com/icon/machine-learning-icon-5.html" TargetMode="External"/><Relationship Id="rId17" Type="http://schemas.openxmlformats.org/officeDocument/2006/relationships/hyperlink" Target="https://www.youtube.com/watch?v=cugl5t-W1sE" TargetMode="External"/><Relationship Id="rId2" Type="http://schemas.openxmlformats.org/officeDocument/2006/relationships/image" Target="../media/image1.tiff"/><Relationship Id="rId16" Type="http://schemas.openxmlformats.org/officeDocument/2006/relationships/hyperlink" Target="https://www.researchgate.net/publication/327612291_Disease_networks_and_their_contribution_to_disease_understanding_and_drug_repurposing_A_survey_of_the_state_of_the_art/figures?lo=1&amp;utm_source=google&amp;utm_medium=organic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iff"/><Relationship Id="rId11" Type="http://schemas.openxmlformats.org/officeDocument/2006/relationships/hyperlink" Target="https://www.flaticon.com/free-icon/evaluation_1484635" TargetMode="External"/><Relationship Id="rId5" Type="http://schemas.openxmlformats.org/officeDocument/2006/relationships/image" Target="../media/image4.tiff"/><Relationship Id="rId15" Type="http://schemas.openxmlformats.org/officeDocument/2006/relationships/hyperlink" Target="https://www.ibm.com/blogs/cloud-computing/2014/02/10/cloud-computing-and-big-data-an-ideal-combination-2/" TargetMode="External"/><Relationship Id="rId10" Type="http://schemas.openxmlformats.org/officeDocument/2006/relationships/hyperlink" Target="https://icons-for-free.com/chart+finance+financial+financial+report+flipchart+report-1320167737228728676/" TargetMode="External"/><Relationship Id="rId4" Type="http://schemas.openxmlformats.org/officeDocument/2006/relationships/image" Target="../media/image3.tiff"/><Relationship Id="rId9" Type="http://schemas.openxmlformats.org/officeDocument/2006/relationships/image" Target="../media/image8.tiff"/><Relationship Id="rId14" Type="http://schemas.openxmlformats.org/officeDocument/2006/relationships/hyperlink" Target="https://www.dataentry4os.com/ecommerce-catalog-management-service/data-cleaning-scrubbing-servic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0C5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sp>
        <p:nvSpPr>
          <p:cNvPr id="7" name="Rectangle 6"/>
          <p:cNvSpPr/>
          <p:nvPr/>
        </p:nvSpPr>
        <p:spPr>
          <a:xfrm>
            <a:off x="371474" y="7101815"/>
            <a:ext cx="5726113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6104004" y="7101814"/>
            <a:ext cx="5726113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974" y="7066165"/>
            <a:ext cx="6815328" cy="38336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57079" y="8384649"/>
            <a:ext cx="4919005" cy="2320613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1047" y="1755122"/>
            <a:ext cx="5080000" cy="3810000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7C0E4C7-27A7-D32B-CB37-9286246A8CD9}"/>
              </a:ext>
            </a:extLst>
          </p:cNvPr>
          <p:cNvGrpSpPr/>
          <p:nvPr/>
        </p:nvGrpSpPr>
        <p:grpSpPr>
          <a:xfrm>
            <a:off x="540664" y="675354"/>
            <a:ext cx="11190652" cy="4678115"/>
            <a:chOff x="540664" y="675354"/>
            <a:chExt cx="11190652" cy="4678115"/>
          </a:xfrm>
        </p:grpSpPr>
        <p:sp>
          <p:nvSpPr>
            <p:cNvPr id="44" name="TextBox 43"/>
            <p:cNvSpPr txBox="1"/>
            <p:nvPr/>
          </p:nvSpPr>
          <p:spPr>
            <a:xfrm>
              <a:off x="540664" y="675354"/>
              <a:ext cx="5393792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BR" sz="3200" b="1" dirty="0">
                  <a:solidFill>
                    <a:srgbClr val="0C509E"/>
                  </a:solidFill>
                  <a:latin typeface="PT Sans" panose="020B0503020203020204" pitchFamily="34" charset="77"/>
                  <a:cs typeface="Helvetica LT Std" panose="020B0504020202020204" charset="0"/>
                </a:rPr>
                <a:t>Pipeline de Ciência de Dados</a:t>
              </a: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5"/>
            <a:srcRect b="38667"/>
            <a:stretch>
              <a:fillRect/>
            </a:stretch>
          </p:blipFill>
          <p:spPr>
            <a:xfrm>
              <a:off x="4280289" y="2162890"/>
              <a:ext cx="869602" cy="53143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608838" y="2550450"/>
              <a:ext cx="1289304" cy="630936"/>
            </a:xfrm>
            <a:prstGeom prst="rect">
              <a:avLst/>
            </a:prstGeom>
            <a:solidFill>
              <a:srgbClr val="FFB3A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Entendimento do Negócio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945189" y="2550450"/>
              <a:ext cx="1289304" cy="630936"/>
            </a:xfrm>
            <a:prstGeom prst="rect">
              <a:avLst/>
            </a:prstGeom>
            <a:solidFill>
              <a:srgbClr val="A7C7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Coleta de Dados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281540" y="2550450"/>
              <a:ext cx="1289304" cy="630936"/>
            </a:xfrm>
            <a:prstGeom prst="rect">
              <a:avLst/>
            </a:prstGeom>
            <a:solidFill>
              <a:srgbClr val="A7C7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Limpeza de Dados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17891" y="2550450"/>
              <a:ext cx="1289304" cy="630936"/>
            </a:xfrm>
            <a:prstGeom prst="rect">
              <a:avLst/>
            </a:prstGeom>
            <a:solidFill>
              <a:srgbClr val="A7C7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Exploração dos Dados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954242" y="2550450"/>
              <a:ext cx="1289304" cy="630936"/>
            </a:xfrm>
            <a:prstGeom prst="rect">
              <a:avLst/>
            </a:prstGeom>
            <a:solidFill>
              <a:srgbClr val="A7C7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Modelagem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777013" y="4625141"/>
              <a:ext cx="1289304" cy="630936"/>
            </a:xfrm>
            <a:prstGeom prst="rect">
              <a:avLst/>
            </a:prstGeom>
            <a:solidFill>
              <a:srgbClr val="A9E4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Algoritmos de ML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743140" y="1666539"/>
              <a:ext cx="1375156" cy="630936"/>
            </a:xfrm>
            <a:prstGeom prst="rect">
              <a:avLst/>
            </a:prstGeom>
            <a:solidFill>
              <a:srgbClr val="A7C7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Pré-processamento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13364" y="4625141"/>
              <a:ext cx="1289304" cy="630936"/>
            </a:xfrm>
            <a:prstGeom prst="rect">
              <a:avLst/>
            </a:prstGeom>
            <a:solidFill>
              <a:srgbClr val="A9E4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Validação /</a:t>
              </a:r>
            </a:p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Avaliação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49715" y="4625141"/>
              <a:ext cx="1289304" cy="630936"/>
            </a:xfrm>
            <a:prstGeom prst="rect">
              <a:avLst/>
            </a:prstGeom>
            <a:solidFill>
              <a:srgbClr val="D8C7E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Apresentação</a:t>
              </a:r>
            </a:p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(</a:t>
              </a:r>
              <a:r>
                <a:rPr lang="pt-BR" sz="1400" dirty="0" err="1">
                  <a:solidFill>
                    <a:srgbClr val="333333"/>
                  </a:solidFill>
                </a:rPr>
                <a:t>Storytelling</a:t>
              </a:r>
              <a:r>
                <a:rPr lang="pt-BR" sz="1400" dirty="0">
                  <a:solidFill>
                    <a:srgbClr val="333333"/>
                  </a:solidFill>
                </a:rPr>
                <a:t>)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786066" y="4625141"/>
              <a:ext cx="1289304" cy="630936"/>
            </a:xfrm>
            <a:prstGeom prst="rect">
              <a:avLst/>
            </a:prstGeom>
            <a:solidFill>
              <a:srgbClr val="FFD7A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333333"/>
                  </a:solidFill>
                </a:rPr>
                <a:t>Modelo em Produção</a:t>
              </a:r>
            </a:p>
          </p:txBody>
        </p:sp>
        <p:cxnSp>
          <p:nvCxnSpPr>
            <p:cNvPr id="28" name="Straight Arrow Connector 27"/>
            <p:cNvCxnSpPr>
              <a:stCxn id="6" idx="3"/>
              <a:endCxn id="12" idx="1"/>
            </p:cNvCxnSpPr>
            <p:nvPr/>
          </p:nvCxnSpPr>
          <p:spPr>
            <a:xfrm>
              <a:off x="1898142" y="2865918"/>
              <a:ext cx="1047047" cy="0"/>
            </a:xfrm>
            <a:prstGeom prst="straightConnector1">
              <a:avLst/>
            </a:prstGeom>
            <a:ln w="57150">
              <a:solidFill>
                <a:srgbClr val="69696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2" idx="3"/>
              <a:endCxn id="16" idx="1"/>
            </p:cNvCxnSpPr>
            <p:nvPr/>
          </p:nvCxnSpPr>
          <p:spPr>
            <a:xfrm>
              <a:off x="4234493" y="2865918"/>
              <a:ext cx="1047047" cy="0"/>
            </a:xfrm>
            <a:prstGeom prst="straightConnector1">
              <a:avLst/>
            </a:prstGeom>
            <a:ln w="57150">
              <a:solidFill>
                <a:srgbClr val="69696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6" idx="3"/>
              <a:endCxn id="17" idx="1"/>
            </p:cNvCxnSpPr>
            <p:nvPr/>
          </p:nvCxnSpPr>
          <p:spPr>
            <a:xfrm>
              <a:off x="6570844" y="2865918"/>
              <a:ext cx="1047047" cy="0"/>
            </a:xfrm>
            <a:prstGeom prst="straightConnector1">
              <a:avLst/>
            </a:prstGeom>
            <a:ln w="57150">
              <a:solidFill>
                <a:srgbClr val="69696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7" idx="0"/>
              <a:endCxn id="20" idx="1"/>
            </p:cNvCxnSpPr>
            <p:nvPr/>
          </p:nvCxnSpPr>
          <p:spPr>
            <a:xfrm flipV="1">
              <a:off x="8262543" y="1982007"/>
              <a:ext cx="480597" cy="568443"/>
            </a:xfrm>
            <a:prstGeom prst="straightConnector1">
              <a:avLst/>
            </a:prstGeom>
            <a:ln w="57150">
              <a:solidFill>
                <a:srgbClr val="69696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20" idx="3"/>
              <a:endCxn id="18" idx="0"/>
            </p:cNvCxnSpPr>
            <p:nvPr/>
          </p:nvCxnSpPr>
          <p:spPr>
            <a:xfrm>
              <a:off x="10118296" y="1982007"/>
              <a:ext cx="480598" cy="568443"/>
            </a:xfrm>
            <a:prstGeom prst="straightConnector1">
              <a:avLst/>
            </a:prstGeom>
            <a:ln w="57150">
              <a:solidFill>
                <a:srgbClr val="69696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7" idx="3"/>
              <a:endCxn id="18" idx="1"/>
            </p:cNvCxnSpPr>
            <p:nvPr/>
          </p:nvCxnSpPr>
          <p:spPr>
            <a:xfrm>
              <a:off x="8907195" y="2865918"/>
              <a:ext cx="1047047" cy="0"/>
            </a:xfrm>
            <a:prstGeom prst="straightConnector1">
              <a:avLst/>
            </a:prstGeom>
            <a:ln w="57150">
              <a:solidFill>
                <a:srgbClr val="696969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37"/>
            <p:cNvCxnSpPr>
              <a:stCxn id="18" idx="2"/>
              <a:endCxn id="19" idx="1"/>
            </p:cNvCxnSpPr>
            <p:nvPr/>
          </p:nvCxnSpPr>
          <p:spPr>
            <a:xfrm rot="5400000">
              <a:off x="5308343" y="-349943"/>
              <a:ext cx="1759223" cy="8821881"/>
            </a:xfrm>
            <a:prstGeom prst="bentConnector4">
              <a:avLst>
                <a:gd name="adj1" fmla="val 26802"/>
                <a:gd name="adj2" fmla="val 105182"/>
              </a:avLst>
            </a:prstGeom>
            <a:ln w="57150">
              <a:solidFill>
                <a:srgbClr val="69696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19" idx="3"/>
              <a:endCxn id="21" idx="1"/>
            </p:cNvCxnSpPr>
            <p:nvPr/>
          </p:nvCxnSpPr>
          <p:spPr>
            <a:xfrm>
              <a:off x="3066317" y="4940609"/>
              <a:ext cx="1047047" cy="0"/>
            </a:xfrm>
            <a:prstGeom prst="straightConnector1">
              <a:avLst/>
            </a:prstGeom>
            <a:ln w="57150">
              <a:solidFill>
                <a:srgbClr val="69696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21" idx="3"/>
              <a:endCxn id="22" idx="1"/>
            </p:cNvCxnSpPr>
            <p:nvPr/>
          </p:nvCxnSpPr>
          <p:spPr>
            <a:xfrm>
              <a:off x="5402668" y="4940609"/>
              <a:ext cx="1047047" cy="0"/>
            </a:xfrm>
            <a:prstGeom prst="straightConnector1">
              <a:avLst/>
            </a:prstGeom>
            <a:ln w="57150">
              <a:solidFill>
                <a:srgbClr val="69696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22" idx="3"/>
              <a:endCxn id="23" idx="1"/>
            </p:cNvCxnSpPr>
            <p:nvPr/>
          </p:nvCxnSpPr>
          <p:spPr>
            <a:xfrm>
              <a:off x="7739019" y="4940609"/>
              <a:ext cx="1047047" cy="0"/>
            </a:xfrm>
            <a:prstGeom prst="straightConnector1">
              <a:avLst/>
            </a:prstGeom>
            <a:ln w="57150">
              <a:solidFill>
                <a:srgbClr val="696969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/>
            <p:cNvSpPr/>
            <p:nvPr/>
          </p:nvSpPr>
          <p:spPr>
            <a:xfrm>
              <a:off x="2175470" y="2258769"/>
              <a:ext cx="34817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sz="3600" dirty="0">
                  <a:latin typeface="Candara" panose="020E0502030303020204" pitchFamily="34" charset="0"/>
                </a:rPr>
                <a:t>?</a:t>
              </a:r>
              <a:endParaRPr lang="pt-BR" sz="3200" dirty="0"/>
            </a:p>
          </p:txBody>
        </p:sp>
        <p:pic>
          <p:nvPicPr>
            <p:cNvPr id="68" name="Picture 67"/>
            <p:cNvPicPr>
              <a:picLocks noChangeAspect="1"/>
            </p:cNvPicPr>
            <p:nvPr/>
          </p:nvPicPr>
          <p:blipFill rotWithShape="1">
            <a:blip r:embed="rId6"/>
            <a:srcRect l="8588" r="8465"/>
            <a:stretch>
              <a:fillRect/>
            </a:stretch>
          </p:blipFill>
          <p:spPr>
            <a:xfrm>
              <a:off x="6700760" y="2053663"/>
              <a:ext cx="771805" cy="697854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84061" y="1504532"/>
              <a:ext cx="874319" cy="717695"/>
            </a:xfrm>
            <a:prstGeom prst="rect">
              <a:avLst/>
            </a:prstGeom>
          </p:spPr>
        </p:pic>
        <p:pic>
          <p:nvPicPr>
            <p:cNvPr id="70" name="Picture 69"/>
            <p:cNvPicPr>
              <a:picLocks noChangeAspect="1"/>
            </p:cNvPicPr>
            <p:nvPr/>
          </p:nvPicPr>
          <p:blipFill rotWithShape="1">
            <a:blip r:embed="rId4"/>
            <a:srcRect l="37065" t="24653" r="47596" b="54497"/>
            <a:stretch>
              <a:fillRect/>
            </a:stretch>
          </p:blipFill>
          <p:spPr>
            <a:xfrm>
              <a:off x="3200254" y="4095351"/>
              <a:ext cx="779174" cy="794384"/>
            </a:xfrm>
            <a:prstGeom prst="rect">
              <a:avLst/>
            </a:prstGeom>
          </p:spPr>
        </p:pic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75546" y="4141897"/>
              <a:ext cx="701292" cy="701292"/>
            </a:xfrm>
            <a:prstGeom prst="rect">
              <a:avLst/>
            </a:prstGeom>
          </p:spPr>
        </p:pic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05129" y="4135129"/>
              <a:ext cx="714829" cy="714829"/>
            </a:xfrm>
            <a:prstGeom prst="rect">
              <a:avLst/>
            </a:prstGeom>
          </p:spPr>
        </p:pic>
        <p:cxnSp>
          <p:nvCxnSpPr>
            <p:cNvPr id="74" name="Straight Arrow Connector 73"/>
            <p:cNvCxnSpPr>
              <a:stCxn id="23" idx="3"/>
              <a:endCxn id="77" idx="1"/>
            </p:cNvCxnSpPr>
            <p:nvPr/>
          </p:nvCxnSpPr>
          <p:spPr>
            <a:xfrm flipV="1">
              <a:off x="10075370" y="4935276"/>
              <a:ext cx="1027761" cy="5333"/>
            </a:xfrm>
            <a:prstGeom prst="straightConnector1">
              <a:avLst/>
            </a:prstGeom>
            <a:ln w="57150">
              <a:solidFill>
                <a:srgbClr val="696969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7" name="Picture 76"/>
            <p:cNvPicPr>
              <a:picLocks noChangeAspect="1"/>
            </p:cNvPicPr>
            <p:nvPr/>
          </p:nvPicPr>
          <p:blipFill rotWithShape="1">
            <a:blip r:embed="rId4"/>
            <a:srcRect l="21483" t="23347" r="66150" b="54701"/>
            <a:stretch>
              <a:fillRect/>
            </a:stretch>
          </p:blipFill>
          <p:spPr>
            <a:xfrm>
              <a:off x="11103131" y="4517083"/>
              <a:ext cx="628185" cy="836386"/>
            </a:xfrm>
            <a:prstGeom prst="rect">
              <a:avLst/>
            </a:prstGeom>
          </p:spPr>
        </p:pic>
      </p:grpSp>
      <p:sp>
        <p:nvSpPr>
          <p:cNvPr id="82" name="Rectangle 81"/>
          <p:cNvSpPr/>
          <p:nvPr/>
        </p:nvSpPr>
        <p:spPr>
          <a:xfrm>
            <a:off x="12621047" y="-1585050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000" dirty="0">
                <a:hlinkClick r:id="rId10"/>
              </a:rPr>
              <a:t>https://icons-for-free.com/chart+finance+financial+financial+report+flipchart+report-1320167737228728676/</a:t>
            </a:r>
            <a:endParaRPr lang="pt-BR" sz="1000" dirty="0"/>
          </a:p>
          <a:p>
            <a:endParaRPr lang="pt-BR" sz="1000" dirty="0"/>
          </a:p>
          <a:p>
            <a:r>
              <a:rPr lang="pt-BR" sz="1000" dirty="0">
                <a:hlinkClick r:id="rId11"/>
              </a:rPr>
              <a:t>https://www.flaticon.com/free-icon/evaluation_1484635</a:t>
            </a:r>
            <a:endParaRPr lang="pt-BR" sz="1000" dirty="0"/>
          </a:p>
          <a:p>
            <a:endParaRPr lang="pt-BR" sz="1000" dirty="0"/>
          </a:p>
          <a:p>
            <a:r>
              <a:rPr lang="pt-BR" sz="1000" dirty="0">
                <a:hlinkClick r:id="rId12"/>
              </a:rPr>
              <a:t>https://icon-library.com/icon/machine-learning-icon-5.html</a:t>
            </a:r>
            <a:endParaRPr lang="pt-BR" sz="1000" dirty="0"/>
          </a:p>
          <a:p>
            <a:endParaRPr lang="pt-BR" sz="1000" dirty="0"/>
          </a:p>
          <a:p>
            <a:r>
              <a:rPr lang="pt-BR" sz="1000" dirty="0">
                <a:hlinkClick r:id="rId13"/>
              </a:rPr>
              <a:t>http://www.olafusimichael.com/2016/11/november-webinar-data-cleaning-with.html</a:t>
            </a:r>
            <a:endParaRPr lang="pt-BR" sz="1000" dirty="0"/>
          </a:p>
          <a:p>
            <a:endParaRPr lang="pt-BR" sz="1000" dirty="0"/>
          </a:p>
          <a:p>
            <a:r>
              <a:rPr lang="pt-BR" sz="1000" dirty="0">
                <a:hlinkClick r:id="rId14"/>
              </a:rPr>
              <a:t>https://www.dataentry4os.com/ecommerce-catalog-management-service/data-cleaning-scrubbing-services/</a:t>
            </a:r>
            <a:endParaRPr lang="pt-BR" sz="1000" dirty="0"/>
          </a:p>
          <a:p>
            <a:endParaRPr lang="pt-BR" sz="1000" dirty="0"/>
          </a:p>
          <a:p>
            <a:r>
              <a:rPr lang="pt-BR" sz="1000" dirty="0">
                <a:hlinkClick r:id="rId15"/>
              </a:rPr>
              <a:t>https://www.ibm.com/blogs/cloud-computing/2014/02/10/cloud-computing-and-big-data-an-ideal-combination-2/</a:t>
            </a:r>
            <a:endParaRPr lang="pt-BR" sz="1000" dirty="0"/>
          </a:p>
          <a:p>
            <a:endParaRPr lang="pt-BR" sz="1000" dirty="0"/>
          </a:p>
          <a:p>
            <a:r>
              <a:rPr lang="pt-BR" sz="1000" dirty="0">
                <a:hlinkClick r:id="rId16"/>
              </a:rPr>
              <a:t>https://www.researchgate.net/publication/327612291_Disease_networks_and_their_contribution_to_disease_understanding_and_drug_repurposing_A_survey_of_the_state_of_the_art/figures?lo=1&amp;utm_source=google&amp;utm_medium=organic</a:t>
            </a:r>
            <a:endParaRPr lang="pt-BR" sz="1000" dirty="0"/>
          </a:p>
          <a:p>
            <a:endParaRPr lang="pt-BR" sz="1000" dirty="0"/>
          </a:p>
          <a:p>
            <a:r>
              <a:rPr lang="pt-BR" sz="1000" dirty="0">
                <a:hlinkClick r:id="rId17"/>
              </a:rPr>
              <a:t>https://www.youtube.com/watch?v=cugl5t-W1sE</a:t>
            </a:r>
            <a:endParaRPr lang="pt-BR" sz="1000" dirty="0"/>
          </a:p>
          <a:p>
            <a:endParaRPr lang="pt-BR" sz="1000" dirty="0"/>
          </a:p>
          <a:p>
            <a:endParaRPr lang="pt-BR" sz="10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199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Candara</vt:lpstr>
      <vt:lpstr>Lato</vt:lpstr>
      <vt:lpstr>PT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Everton Josue Meyer da Silva</cp:lastModifiedBy>
  <cp:revision>1410</cp:revision>
  <cp:lastPrinted>2021-03-23T14:25:38Z</cp:lastPrinted>
  <dcterms:created xsi:type="dcterms:W3CDTF">2021-03-23T14:25:38Z</dcterms:created>
  <dcterms:modified xsi:type="dcterms:W3CDTF">2025-09-22T19:39:26Z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1033-11.1.0.10161</vt:lpwstr>
  </property>
</Properties>
</file>